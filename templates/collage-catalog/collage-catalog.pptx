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assets/collage/cutouts/critter-bacillus-1.png.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assets/collage/cutouts/bacteria-sand-grain-1.png.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assets/collage/cutouts/cute-bacterium-1.png.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assets/collage/cutouts/earthworm-paper-1.png.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assets/collage/cutouts/flagellate-ciliate-1.png.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assets/collage/cutouts/fungal-hyphae-1.png.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assets/collage/cutouts/fungi-tie-crumbs-1.png.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assets/collage/cutouts/mushroom-paper-1.png.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assets/collage/cutouts/nematode-1.png.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assets/collage/cutouts/soil-crumb-1.png.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assets/collage/cutouts/bird-beetle-wildflower-1.png.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assets/collage/cutouts/dandelion-short-root-1.png.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assets/collage/cutouts/dried-flowers-1-1.png.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assets/collage/cutouts/dried-flowers-2-1.png.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assets/collage/cutouts/happy-seedling-1.png.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assets/collage/cutouts/leaf-frame-1.png.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assets/collage/cutouts/leaf-sprig-paper-1.png.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assets/collage/cutouts/lettuce-long-root-1.png.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assets/collage/cutouts/seedling-tray-1.png.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assets/collage/cutouts/tithonia-flower-1.png.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assets/collage/originals/tree-compaction-1.png.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assets/collage/cutouts/tree-deep-roots-1.png.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assets/collage/cutouts/cupcakes-cookies-root-1.png.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assets/collage/cutouts/cupcakes-root-microbes-1.png.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assets/collage/cutouts/eggs-milk-1.png.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assets/collage/cutouts/flour-sack-1.png.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assets/collage/cutouts/mixing-bowl-root-1.png.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assets/collage/cutouts/pizza-box-root-1.png.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assets/collage/cutouts/sugar-jars-1.png.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assets/collage/cutouts/banana-bunch-1.png.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assets/collage/cutouts/biochar-compost-1.png.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assets/collage/cutouts/cacao-pod-1.png.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assets/collage/cutouts/citrus-orange-1.png.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assets/collage/cutouts/cocoa-beans-1.png.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assets/collage/cutouts/coffee-beans-paper-1.png.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assets/collage/cutouts/coffee-cherries-branch-1.png.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assets/collage/cutouts/coffee-cup-paper-1.png.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assets/collage/cutouts/pineapple-1.png.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assets/collage/originals/city-block-weed-1.png.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assets/collage/cutouts/cow-poop-sticker-1.png.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assets/collage/cutouts/dot-green-1.png.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assets/collage/cutouts/dot-red-1.png.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assets/collage/cutouts/dot-yellow-1.png.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assets/collage/cutouts/microscope-paper-1.png.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assets/collage/cutouts/periodic-table-1.png.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assets/collage/cutouts/poop-sticker-1.png.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Piece: assets/collage/originals/woodlot-pasture-1.png. Made with flux-2-pro and style-reference.png (tools/collage_generate.py).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000500"/>
            <a:ext cx="876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3F1EA"/>
                </a:solidFill>
                <a:latin typeface="Montserrat"/>
              </a:rPr>
              <a:t>Paper-cut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334000"/>
            <a:ext cx="8763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B1BCB1"/>
                </a:solidFill>
                <a:latin typeface="Source Sans 3"/>
              </a:rPr>
              <a:t>The Soil Food Web Foundation collage library</a:t>
            </a:r>
          </a:p>
        </p:txBody>
      </p:sp>
      <p:pic>
        <p:nvPicPr>
          <p:cNvPr id="4" name="Picture 3" descr="founda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8572500"/>
            <a:ext cx="1714500" cy="15414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Soil food web creatures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1 pieces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FOOD WEB CREATURES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Rod-shaped bacterium (bacillus)</a:t>
            </a:r>
          </a:p>
        </p:txBody>
      </p:sp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68" y="2857500"/>
            <a:ext cx="827246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9 pieces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Bacteria on a sand grain</a:t>
            </a:r>
          </a:p>
        </p:txBody>
      </p:sp>
      <p:pic>
        <p:nvPicPr>
          <p:cNvPr id="4" name="Picture 3" descr="bacteria-sand-grai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144771"/>
            <a:ext cx="8382000" cy="856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Bacterium</a:t>
            </a:r>
          </a:p>
        </p:txBody>
      </p:sp>
      <p:pic>
        <p:nvPicPr>
          <p:cNvPr id="4" name="Picture 3" descr="cute-bacteriu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06" y="2857500"/>
            <a:ext cx="812958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Earthworm</a:t>
            </a:r>
          </a:p>
        </p:txBody>
      </p:sp>
      <p:pic>
        <p:nvPicPr>
          <p:cNvPr id="4" name="Picture 3" descr="earthworm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90887"/>
            <a:ext cx="8382000" cy="8277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Flagellate and ciliate</a:t>
            </a:r>
          </a:p>
        </p:txBody>
      </p:sp>
      <p:pic>
        <p:nvPicPr>
          <p:cNvPr id="4" name="Picture 3" descr="flagellate-cilia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677245"/>
            <a:ext cx="8382000" cy="7504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Fungal hyphae</a:t>
            </a:r>
          </a:p>
        </p:txBody>
      </p:sp>
      <p:pic>
        <p:nvPicPr>
          <p:cNvPr id="4" name="Picture 3" descr="fungal-hypha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959100"/>
            <a:ext cx="8381999" cy="894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Fungi tying soil crumbs</a:t>
            </a:r>
          </a:p>
        </p:txBody>
      </p:sp>
      <p:pic>
        <p:nvPicPr>
          <p:cNvPr id="4" name="Picture 3" descr="fungi-tie-crumb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651051"/>
            <a:ext cx="8382000" cy="7556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Mushroom</a:t>
            </a:r>
          </a:p>
        </p:txBody>
      </p:sp>
      <p:pic>
        <p:nvPicPr>
          <p:cNvPr id="4" name="Picture 3" descr="mushroom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936635"/>
            <a:ext cx="8382000" cy="89857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Nematode</a:t>
            </a:r>
          </a:p>
        </p:txBody>
      </p:sp>
      <p:pic>
        <p:nvPicPr>
          <p:cNvPr id="4" name="Picture 3" descr="nemato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218" y="2857500"/>
            <a:ext cx="221456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SOIL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Soil crumb (micro aggregate)</a:t>
            </a:r>
          </a:p>
        </p:txBody>
      </p:sp>
      <p:pic>
        <p:nvPicPr>
          <p:cNvPr id="4" name="Picture 3" descr="soil-crumb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349823"/>
            <a:ext cx="8382000" cy="81593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12 pieces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Bird, beetle and wildflower</a:t>
            </a:r>
          </a:p>
        </p:txBody>
      </p:sp>
      <p:pic>
        <p:nvPicPr>
          <p:cNvPr id="4" name="Picture 3" descr="bird-beetle-wild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1941"/>
            <a:ext cx="8381999" cy="83951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Dandelion, short root</a:t>
            </a:r>
          </a:p>
        </p:txBody>
      </p:sp>
      <p:pic>
        <p:nvPicPr>
          <p:cNvPr id="4" name="Picture 3" descr="dandelion-short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2" y="2857500"/>
            <a:ext cx="517207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Dried flowers</a:t>
            </a:r>
          </a:p>
        </p:txBody>
      </p:sp>
      <p:pic>
        <p:nvPicPr>
          <p:cNvPr id="4" name="Picture 3" descr="dried-flowers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857500"/>
            <a:ext cx="7086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Dried flower sprig</a:t>
            </a:r>
          </a:p>
        </p:txBody>
      </p:sp>
      <p:pic>
        <p:nvPicPr>
          <p:cNvPr id="4" name="Picture 3" descr="dried-flowers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406" y="2857500"/>
            <a:ext cx="607218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Happy seedling</a:t>
            </a:r>
          </a:p>
        </p:txBody>
      </p:sp>
      <p:pic>
        <p:nvPicPr>
          <p:cNvPr id="4" name="Picture 3" descr="happy-seedl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857500"/>
            <a:ext cx="81153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Leaf frame</a:t>
            </a:r>
          </a:p>
        </p:txBody>
      </p:sp>
      <p:pic>
        <p:nvPicPr>
          <p:cNvPr id="4" name="Picture 3" descr="leaf-fram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8500"/>
            <a:ext cx="83820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Leaf sprig</a:t>
            </a:r>
          </a:p>
        </p:txBody>
      </p:sp>
      <p:pic>
        <p:nvPicPr>
          <p:cNvPr id="4" name="Picture 3" descr="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57500"/>
            <a:ext cx="5715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Lettuce, long root</a:t>
            </a:r>
          </a:p>
        </p:txBody>
      </p:sp>
      <p:pic>
        <p:nvPicPr>
          <p:cNvPr id="4" name="Picture 3" descr="lettuce-long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56" y="2857500"/>
            <a:ext cx="527208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Seedling tray</a:t>
            </a:r>
          </a:p>
        </p:txBody>
      </p:sp>
      <p:pic>
        <p:nvPicPr>
          <p:cNvPr id="4" name="Picture 3" descr="seedling-tra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482703"/>
            <a:ext cx="8382000" cy="58935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Tithonia</a:t>
            </a:r>
          </a:p>
        </p:txBody>
      </p:sp>
      <p:pic>
        <p:nvPicPr>
          <p:cNvPr id="4" name="Picture 3" descr="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7" y="2857500"/>
            <a:ext cx="477202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Tree on a compacted layer</a:t>
            </a:r>
          </a:p>
        </p:txBody>
      </p:sp>
      <p:pic>
        <p:nvPicPr>
          <p:cNvPr id="4" name="Picture 3" descr="tree-compactio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8500"/>
            <a:ext cx="83820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PLANTS AND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Tree with deep roots</a:t>
            </a:r>
          </a:p>
        </p:txBody>
      </p:sp>
      <p:pic>
        <p:nvPicPr>
          <p:cNvPr id="4" name="Picture 3" descr="tree-deep-roo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2857500"/>
            <a:ext cx="485775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7 pieces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Cupcakes and cookies on a root</a:t>
            </a:r>
          </a:p>
        </p:txBody>
      </p:sp>
      <p:pic>
        <p:nvPicPr>
          <p:cNvPr id="4" name="Picture 3" descr="cupcakes-cookies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519267"/>
            <a:ext cx="8382000" cy="18204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Cupcakes, a root and microbes</a:t>
            </a:r>
          </a:p>
        </p:txBody>
      </p:sp>
      <p:pic>
        <p:nvPicPr>
          <p:cNvPr id="4" name="Picture 3" descr="cupcakes-root-microbe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2857500"/>
            <a:ext cx="58293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Eggs and milk</a:t>
            </a:r>
          </a:p>
        </p:txBody>
      </p:sp>
      <p:pic>
        <p:nvPicPr>
          <p:cNvPr id="4" name="Picture 3" descr="eggs-mil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565921"/>
            <a:ext cx="8382000" cy="77271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Flour sack</a:t>
            </a:r>
          </a:p>
        </p:txBody>
      </p:sp>
      <p:pic>
        <p:nvPicPr>
          <p:cNvPr id="4" name="Picture 3" descr="flour-sac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043" y="2857500"/>
            <a:ext cx="730091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Mixing bowl on a root</a:t>
            </a:r>
          </a:p>
        </p:txBody>
      </p:sp>
      <p:pic>
        <p:nvPicPr>
          <p:cNvPr id="4" name="Picture 3" descr="mixing-bowl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387" y="2857500"/>
            <a:ext cx="637222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Pizza box with a root</a:t>
            </a:r>
          </a:p>
        </p:txBody>
      </p:sp>
      <p:pic>
        <p:nvPicPr>
          <p:cNvPr id="4" name="Picture 3" descr="pizza-box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317081"/>
            <a:ext cx="8382000" cy="82248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KITCHEN AND EXUDATES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Sugar, honey and molasses</a:t>
            </a:r>
          </a:p>
        </p:txBody>
      </p:sp>
      <p:pic>
        <p:nvPicPr>
          <p:cNvPr id="4" name="Picture 3" descr="sugar-jar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246959"/>
            <a:ext cx="8382000" cy="636508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9 pieces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Bananas</a:t>
            </a:r>
          </a:p>
        </p:txBody>
      </p:sp>
      <p:pic>
        <p:nvPicPr>
          <p:cNvPr id="4" name="Picture 3" descr="banana-bun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508651"/>
            <a:ext cx="8382000" cy="78416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Biochar and compost</a:t>
            </a:r>
          </a:p>
        </p:txBody>
      </p:sp>
      <p:pic>
        <p:nvPicPr>
          <p:cNvPr id="4" name="Picture 3" descr="biochar-compos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18762"/>
            <a:ext cx="8382000" cy="84214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Cacao pod</a:t>
            </a:r>
          </a:p>
        </p:txBody>
      </p:sp>
      <p:pic>
        <p:nvPicPr>
          <p:cNvPr id="4" name="Picture 3" descr="cacao-pod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857500"/>
            <a:ext cx="4343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Orange</a:t>
            </a:r>
          </a:p>
        </p:txBody>
      </p:sp>
      <p:pic>
        <p:nvPicPr>
          <p:cNvPr id="4" name="Picture 3" descr="citrus-oran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644503"/>
            <a:ext cx="8382000" cy="756999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Cocoa beans</a:t>
            </a:r>
          </a:p>
        </p:txBody>
      </p:sp>
      <p:pic>
        <p:nvPicPr>
          <p:cNvPr id="4" name="Picture 3" descr="cocoa-bean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075214"/>
            <a:ext cx="8382000" cy="87085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Coffee beans</a:t>
            </a:r>
          </a:p>
        </p:txBody>
      </p:sp>
      <p:pic>
        <p:nvPicPr>
          <p:cNvPr id="4" name="Picture 3" descr="coffee-beans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448050"/>
            <a:ext cx="8382000" cy="7962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Coffee cherries</a:t>
            </a:r>
          </a:p>
        </p:txBody>
      </p:sp>
      <p:pic>
        <p:nvPicPr>
          <p:cNvPr id="4" name="Picture 3" descr="coffee-cherries-bran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151605"/>
            <a:ext cx="8382000" cy="855578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Coffee cup</a:t>
            </a:r>
          </a:p>
        </p:txBody>
      </p:sp>
      <p:pic>
        <p:nvPicPr>
          <p:cNvPr id="4" name="Picture 3" descr="coffee-cup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109442"/>
            <a:ext cx="8382000" cy="66401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FARM AND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Pineapple</a:t>
            </a:r>
          </a:p>
        </p:txBody>
      </p:sp>
      <p:pic>
        <p:nvPicPr>
          <p:cNvPr id="4" name="Picture 3" descr="pineapp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2857500"/>
            <a:ext cx="49149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0"/>
            <a:ext cx="8763000" cy="190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3F1EA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239000"/>
            <a:ext cx="8763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B1BCB1"/>
                </a:solidFill>
                <a:latin typeface="Source Sans 3"/>
              </a:rPr>
              <a:t>9 pieces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Weed in a cracked sidewalk</a:t>
            </a:r>
          </a:p>
        </p:txBody>
      </p:sp>
      <p:pic>
        <p:nvPicPr>
          <p:cNvPr id="4" name="Picture 3" descr="city-block-wee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8500"/>
            <a:ext cx="83820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Cow pat</a:t>
            </a:r>
          </a:p>
        </p:txBody>
      </p:sp>
      <p:pic>
        <p:nvPicPr>
          <p:cNvPr id="4" name="Picture 3" descr="cow-poop-stick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58145"/>
            <a:ext cx="8382000" cy="834270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Green dot</a:t>
            </a:r>
          </a:p>
        </p:txBody>
      </p:sp>
      <p:pic>
        <p:nvPicPr>
          <p:cNvPr id="4" name="Picture 3" descr="dot-gree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45048"/>
            <a:ext cx="8382000" cy="836890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Red dot</a:t>
            </a:r>
          </a:p>
        </p:txBody>
      </p:sp>
      <p:pic>
        <p:nvPicPr>
          <p:cNvPr id="4" name="Picture 3" descr="dot-red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382565"/>
            <a:ext cx="8382000" cy="809386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Yellow dot</a:t>
            </a:r>
          </a:p>
        </p:txBody>
      </p:sp>
      <p:pic>
        <p:nvPicPr>
          <p:cNvPr id="4" name="Picture 3" descr="dot-yellow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434953"/>
            <a:ext cx="8382000" cy="798909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Microscope</a:t>
            </a:r>
          </a:p>
        </p:txBody>
      </p:sp>
      <p:pic>
        <p:nvPicPr>
          <p:cNvPr id="4" name="Picture 3" descr="microscope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57500"/>
            <a:ext cx="8001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Periodic table</a:t>
            </a:r>
          </a:p>
        </p:txBody>
      </p:sp>
      <p:pic>
        <p:nvPicPr>
          <p:cNvPr id="4" name="Picture 3" descr="periodic-tab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240410"/>
            <a:ext cx="8382000" cy="637817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Poop</a:t>
            </a:r>
          </a:p>
        </p:txBody>
      </p:sp>
      <p:pic>
        <p:nvPicPr>
          <p:cNvPr id="4" name="Picture 3" descr="poop-stick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834407"/>
            <a:ext cx="8382000" cy="71901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200">
                <a:solidFill>
                  <a:srgbClr val="B1BCB1"/>
                </a:solidFill>
                <a:latin typeface="Montserrat"/>
              </a:rPr>
              <a:t>PLACES AND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95375"/>
            <a:ext cx="8763000" cy="133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3F1EA"/>
                </a:solidFill>
                <a:latin typeface="Montserrat"/>
              </a:rPr>
              <a:t>Woodlot and pasture</a:t>
            </a:r>
          </a:p>
        </p:txBody>
      </p:sp>
      <p:pic>
        <p:nvPicPr>
          <p:cNvPr id="4" name="Picture 3" descr="woodlot-pastur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8500"/>
            <a:ext cx="8382000" cy="838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