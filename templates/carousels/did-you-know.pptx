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Photo: assets/microscopy/fungal-spores-in-suspension.jpg (brightfield soil sample: round spores and short bacterial rods). Swap to match the fact. Fact must have a named source before posting.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Mechanism STEP 1.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Mechanism STEP 2.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Mechanism STEP 3. One line only. Diagram: draw it, or use assets/illustration; label parts in plain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Close. One line, tied to the reader's own 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C3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444411490657852451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638175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DID YOU KNOW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6953250"/>
            <a:ext cx="9144000" cy="438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FFFFFF"/>
                </a:solidFill>
                <a:latin typeface="Montserrat"/>
              </a:rPr>
              <a:t>[COPY: Allison] One surprising fact. Name the organism.</a:t>
            </a:r>
          </a:p>
        </p:txBody>
      </p:sp>
      <p:pic>
        <p:nvPicPr>
          <p:cNvPr id="5" name="Picture 4" descr="st47039640848802919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480000">
            <a:off x="6667500" y="4476750"/>
            <a:ext cx="4038600" cy="30289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Swipe for the mechanism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STEP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[DIAGRAM: mechanism, step 1]</a:t>
            </a:r>
          </a:p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Step one, one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pic>
        <p:nvPicPr>
          <p:cNvPr id="7" name="Picture 6" descr="st23980598898863133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40000">
            <a:off x="6572250" y="5334000"/>
            <a:ext cx="3943350" cy="29622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STEP 2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[DIAGRAM: mechanism, step 2]</a:t>
            </a:r>
          </a:p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Step two, one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pic>
        <p:nvPicPr>
          <p:cNvPr id="7" name="Picture 6" descr="st72292428365535018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420000">
            <a:off x="6572250" y="5334000"/>
            <a:ext cx="3943350" cy="29622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156826"/>
                </a:solidFill>
                <a:latin typeface="Montserrat"/>
              </a:rPr>
              <a:t>STEP 3</a:t>
            </a:r>
          </a:p>
        </p:txBody>
      </p:sp>
      <p:sp>
        <p:nvSpPr>
          <p:cNvPr id="3" name="Rectangle 2"/>
          <p:cNvSpPr/>
          <p:nvPr/>
        </p:nvSpPr>
        <p:spPr>
          <a:xfrm>
            <a:off x="571500" y="1238250"/>
            <a:ext cx="9144000" cy="6096000"/>
          </a:xfrm>
          <a:prstGeom prst="rect">
            <a:avLst/>
          </a:prstGeom>
          <a:solidFill>
            <a:srgbClr val="E6EADC"/>
          </a:solidFill>
          <a:ln w="28575">
            <a:solidFill>
              <a:srgbClr val="A7B0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7250" y="1238250"/>
            <a:ext cx="8572500" cy="609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[DIAGRAM: mechanism, step 3]</a:t>
            </a:r>
          </a:p>
          <a:p>
            <a:pPr algn="ctr"/>
            <a:r>
              <a:rPr sz="3000" b="1" i="0">
                <a:solidFill>
                  <a:srgbClr val="6A665C"/>
                </a:solidFill>
                <a:latin typeface="Montserrat"/>
              </a:rPr>
              <a:t>Label parts in plain 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7905750"/>
            <a:ext cx="9144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0" i="0">
                <a:solidFill>
                  <a:srgbClr val="22371F"/>
                </a:solidFill>
                <a:latin typeface="EB Garamond"/>
              </a:rPr>
              <a:t>[COPY: Allison] Step three, one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1334750"/>
            <a:ext cx="914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 i="0">
                <a:solidFill>
                  <a:srgbClr val="6A665C"/>
                </a:solidFill>
                <a:latin typeface="Source Sans 3"/>
              </a:rPr>
              <a:t>[COPY: Allison] Source: who, where, year.</a:t>
            </a:r>
          </a:p>
        </p:txBody>
      </p:sp>
      <p:pic>
        <p:nvPicPr>
          <p:cNvPr id="7" name="Picture 6" descr="st391196007904088659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120000">
            <a:off x="6572250" y="5334000"/>
            <a:ext cx="3943350" cy="29622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1500" y="571500"/>
            <a:ext cx="914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WHY THIS MATTERS FOR YOUR SOIL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" y="2857500"/>
            <a:ext cx="9144000" cy="571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700" b="1" i="0">
                <a:solidFill>
                  <a:srgbClr val="FFFFFF"/>
                </a:solidFill>
                <a:latin typeface="Montserrat"/>
              </a:rPr>
              <a:t>[COPY: Allison] One line for their own soil.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9525000"/>
            <a:ext cx="9144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0" i="1">
                <a:solidFill>
                  <a:srgbClr val="DBE6A7"/>
                </a:solidFill>
                <a:latin typeface="EB Garamond"/>
              </a:rPr>
              <a:t>[COPY: Allison] One call to action, or none.</a:t>
            </a:r>
          </a:p>
        </p:txBody>
      </p:sp>
      <p:pic>
        <p:nvPicPr>
          <p:cNvPr id="5" name="Picture 4" descr="st72425936029189373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40000">
            <a:off x="5715000" y="8382000"/>
            <a:ext cx="4800600" cy="35528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