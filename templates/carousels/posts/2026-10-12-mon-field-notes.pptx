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12 Oct 2026 | Field Notes</a:t>
            </a:r>
          </a:p>
          <a:p>
            <a:r>
              <a:t>Cover. Place and season, e.g. 'Spring 2026'. Trial name from the graduate's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12 Oct 2026 | Field Notes</a:t>
            </a:r>
          </a:p>
          <a:p>
            <a:r>
              <a:t>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12 Oct 2026 | Field Notes</a:t>
            </a:r>
          </a:p>
          <a:p>
            <a:r>
              <a:t>Slide 4 in series: the method. Name the control plot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12 Oct 2026 | Field Notes</a:t>
            </a:r>
          </a:p>
          <a:p>
            <a:r>
              <a:t>The result. One measure, bars from zero, units stated. Report and year in the source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12 Oct 2026 | Field Notes</a:t>
            </a:r>
          </a:p>
          <a:p>
            <a:r>
              <a:t>Series promise: we publish what the trial found, including when results disappoint.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Mon 12 Oct 2026 | Field Notes</a:t>
            </a:r>
          </a:p>
          <a:p>
            <a:r>
              <a:t>Who ran it. Portrait needs written consent.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 i="0">
                <a:solidFill>
                  <a:srgbClr val="156826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3000" b="1" i="0">
                <a:solidFill>
                  <a:srgbClr val="156826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FIELD 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3810000"/>
            <a:ext cx="809625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700" b="1" i="0">
                <a:solidFill>
                  <a:srgbClr val="22371F"/>
                </a:solidFill>
                <a:latin typeface="Montserrat"/>
              </a:rPr>
              <a:t>[COPY: Allison] Trial name, as the graduate titled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7429500"/>
            <a:ext cx="80962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1">
                <a:solidFill>
                  <a:srgbClr val="156826"/>
                </a:solidFill>
                <a:latin typeface="EB Garamond"/>
              </a:rPr>
              <a:t>[COPY: Allison] Place</a:t>
            </a:r>
          </a:p>
          <a:p>
            <a:pPr algn="l"/>
            <a:r>
              <a:rPr sz="5700" b="0" i="1">
                <a:solidFill>
                  <a:srgbClr val="156826"/>
                </a:solidFill>
                <a:latin typeface="EB Garamond"/>
              </a:rPr>
              <a:t>Season and year</a:t>
            </a:r>
          </a:p>
        </p:txBody>
      </p:sp>
      <p:pic>
        <p:nvPicPr>
          <p:cNvPr id="26" name="Picture 25" descr="st90049323922595621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20000">
            <a:off x="5715000" y="8572500"/>
            <a:ext cx="4419600" cy="3286125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 i="0">
                <a:solidFill>
                  <a:srgbClr val="156826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3000" b="1" i="0">
                <a:solidFill>
                  <a:srgbClr val="156826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THE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2190750"/>
            <a:ext cx="8096250" cy="7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22371F"/>
                </a:solidFill>
                <a:latin typeface="EB Garamond"/>
              </a:rPr>
              <a:t>[COPY: Allison] The question they tested.</a:t>
            </a:r>
          </a:p>
        </p:txBody>
      </p:sp>
      <p:sp>
        <p:nvSpPr>
          <p:cNvPr id="25" name="Oval 24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 i="0">
                <a:solidFill>
                  <a:srgbClr val="156826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3000" b="1" i="0">
                <a:solidFill>
                  <a:srgbClr val="156826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THE METHOD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22098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56826"/>
                </a:solidFill>
                <a:latin typeface="Montserrat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0750" y="2286000"/>
            <a:ext cx="71437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22371F"/>
                </a:solidFill>
                <a:latin typeface="EB Garamond"/>
              </a:rPr>
              <a:t>[COPY: Allison] Line 1: the plots.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50" y="45720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56826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4648200"/>
            <a:ext cx="71437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22371F"/>
                </a:solidFill>
                <a:latin typeface="EB Garamond"/>
              </a:rPr>
              <a:t>[COPY: Allison] Line 2: the control.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69342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56826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0750" y="7010400"/>
            <a:ext cx="71437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22371F"/>
                </a:solidFill>
                <a:latin typeface="EB Garamond"/>
              </a:rPr>
              <a:t>[COPY: Allison] Line 3: what was measured.</a:t>
            </a:r>
          </a:p>
        </p:txBody>
      </p:sp>
      <p:sp>
        <p:nvSpPr>
          <p:cNvPr id="30" name="Oval 29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 i="0">
                <a:solidFill>
                  <a:srgbClr val="156826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3000" b="1" i="0">
                <a:solidFill>
                  <a:srgbClr val="156826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THE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180975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[COPY: Allison] Big number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8250" y="2286000"/>
            <a:ext cx="8096250" cy="190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0" b="1" i="0">
                <a:solidFill>
                  <a:srgbClr val="156826"/>
                </a:solidFill>
                <a:latin typeface="Montserrat"/>
              </a:rPr>
              <a:t>[Big number]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8250" y="4476750"/>
            <a:ext cx="8096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0">
                <a:solidFill>
                  <a:srgbClr val="22371F"/>
                </a:solidFill>
                <a:latin typeface="EB Garamond"/>
              </a:rPr>
              <a:t>[COPY: Allison] What it measures, against what.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8250" y="10287000"/>
            <a:ext cx="7810500" cy="28575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0750" y="8382000"/>
            <a:ext cx="2095500" cy="19050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0" y="7048500"/>
            <a:ext cx="2095500" cy="3238500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05000" y="1043940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29250" y="10439400"/>
            <a:ext cx="2667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Trial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8250" y="11525250"/>
            <a:ext cx="8096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6A665C"/>
                </a:solidFill>
                <a:latin typeface="Source Sans 3"/>
              </a:rPr>
              <a:t>[COPY: Allison] Source: who, where, year.</a:t>
            </a:r>
          </a:p>
        </p:txBody>
      </p:sp>
      <p:sp>
        <p:nvSpPr>
          <p:cNvPr id="33" name="Oval 32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 i="0">
                <a:solidFill>
                  <a:srgbClr val="156826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3000" b="1" i="0">
                <a:solidFill>
                  <a:srgbClr val="156826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THE SURPRISE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2190750"/>
            <a:ext cx="8096250" cy="7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22371F"/>
                </a:solidFill>
                <a:latin typeface="EB Garamond"/>
              </a:rPr>
              <a:t>[COPY: Allison] What surprised them, including what disappointed.</a:t>
            </a:r>
          </a:p>
        </p:txBody>
      </p:sp>
      <p:sp>
        <p:nvSpPr>
          <p:cNvPr id="25" name="Oval 24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4287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93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098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2004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7909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3815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49720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55626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531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7437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73342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79248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85153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91059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6964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02870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08775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146810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2058650"/>
            <a:ext cx="10287000" cy="190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0"/>
            <a:ext cx="28575" cy="12858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0" y="381000"/>
            <a:ext cx="4381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 i="0">
                <a:solidFill>
                  <a:srgbClr val="156826"/>
                </a:solidFill>
                <a:latin typeface="Montserrat"/>
              </a:rPr>
              <a:t>[COPY: Allison] DD Mon YYYY</a:t>
            </a:r>
          </a:p>
          <a:p>
            <a:pPr algn="r"/>
            <a:r>
              <a:rPr sz="3000" b="1" i="0">
                <a:solidFill>
                  <a:srgbClr val="156826"/>
                </a:solidFill>
                <a:latin typeface="Montserrat"/>
              </a:rPr>
              <a:t>Place, Region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5715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56826"/>
                </a:solidFill>
                <a:latin typeface="Montserrat"/>
              </a:rPr>
              <a:t>WHO RAN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8250" y="2190750"/>
            <a:ext cx="2857500" cy="285750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28750" y="2190750"/>
            <a:ext cx="2476500" cy="285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2371F"/>
                </a:solidFill>
                <a:latin typeface="Montserrat"/>
              </a:rPr>
              <a:t>[PHOTO: Small portrait]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6750" y="2381250"/>
            <a:ext cx="485775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750" b="1" i="0">
                <a:solidFill>
                  <a:srgbClr val="22371F"/>
                </a:solidFill>
                <a:latin typeface="Montserrat"/>
              </a:rPr>
              <a:t>[COPY: Allison] Graduate name</a:t>
            </a:r>
          </a:p>
          <a:p>
            <a:pPr algn="l">
              <a:lnSpc>
                <a:spcPct val="105000"/>
              </a:lnSpc>
            </a:pPr>
            <a:r>
              <a:rPr sz="3750" b="1" i="0">
                <a:solidFill>
                  <a:srgbClr val="22371F"/>
                </a:solidFill>
                <a:latin typeface="Montserrat"/>
              </a:rPr>
              <a:t>Place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8250" y="6286500"/>
            <a:ext cx="809625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0" i="0">
                <a:solidFill>
                  <a:srgbClr val="22371F"/>
                </a:solidFill>
                <a:latin typeface="EB Garamond"/>
              </a:rPr>
              <a:t>[COPY: Allison] Their ground, their crop, their years.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8250" y="11430000"/>
            <a:ext cx="8096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29" name="Oval 2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Mon 12 Oct 2026 | Field Notes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