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Did you know #1</a:t>
            </a:r>
          </a:p>
          <a:p>
            <a:r>
              <a:t>Cover. Photo: assets/microscopy/fungal-spores-in-suspension.jpg (brightfield soil sample: round spores and short bacterial rods). Swap to match the fact. Fact must have a named source before posting.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Did you know #1</a:t>
            </a:r>
          </a:p>
          <a:p>
            <a:r>
              <a:t>Mechanism STEP 1.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Did you know #1</a:t>
            </a:r>
          </a:p>
          <a:p>
            <a:r>
              <a:t>Mechanism STEP 2.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Did you know #1</a:t>
            </a:r>
          </a:p>
          <a:p>
            <a:r>
              <a:t>Mechanism STEP 3. One line only. Diagram: draw it, or use assets/illustration; label parts in plain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5 Oct 2026 | Did you know #1</a:t>
            </a:r>
          </a:p>
          <a:p>
            <a:r>
              <a:t>Close. One line, tied to the reader's own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873049174432105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38175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953250"/>
            <a:ext cx="9144000" cy="438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0" b="1" i="0">
                <a:solidFill>
                  <a:srgbClr val="FFFFFF"/>
                </a:solidFill>
                <a:latin typeface="Montserrat"/>
              </a:rPr>
              <a:t>[COPY: Allison] One surprising fact, specific and nerdy. Name the organism or the molecule.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BE6A7"/>
                </a:solidFill>
                <a:latin typeface="Montserrat"/>
              </a:rPr>
              <a:t>Swipe for the mechanism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STEP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[DIAGRAM: mechanism, step 1]</a:t>
            </a:r>
          </a:p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0" i="0">
                <a:solidFill>
                  <a:srgbClr val="22371F"/>
                </a:solidFill>
                <a:latin typeface="EB Garamond"/>
              </a:rPr>
              <a:t>[COPY: Allison] First step of the mechanism, one line. Name the organism, enzyme or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STEP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[DIAGRAM: mechanism, step 2]</a:t>
            </a:r>
          </a:p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0" i="0">
                <a:solidFill>
                  <a:srgbClr val="22371F"/>
                </a:solidFill>
                <a:latin typeface="EB Garamond"/>
              </a:rPr>
              <a:t>[COPY: Allison] Second step, one line. Chemical or microbial level: what moves, what is released.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56826"/>
                </a:solidFill>
                <a:latin typeface="Montserrat"/>
              </a:rPr>
              <a:t>STEP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38250"/>
            <a:ext cx="9144000" cy="6096000"/>
          </a:xfrm>
          <a:prstGeom prst="rect">
            <a:avLst/>
          </a:prstGeom>
          <a:solidFill>
            <a:srgbClr val="E6EADC"/>
          </a:solidFill>
          <a:ln w="28575">
            <a:solidFill>
              <a:srgbClr val="A7B0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1238250"/>
            <a:ext cx="85725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[DIAGRAM: mechanism, step 3]</a:t>
            </a:r>
          </a:p>
          <a:p>
            <a:pPr algn="ctr"/>
            <a:r>
              <a:rPr sz="2400" b="1" i="0">
                <a:solidFill>
                  <a:srgbClr val="6A665C"/>
                </a:solidFill>
                <a:latin typeface="Montserrat"/>
              </a:rPr>
              <a:t>Label parts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905750"/>
            <a:ext cx="9144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50" b="0" i="0">
                <a:solidFill>
                  <a:srgbClr val="22371F"/>
                </a:solidFill>
                <a:latin typeface="EB Garamond"/>
              </a:rPr>
              <a:t>[COPY: Allison] Third step, one line. Where it ends up: in the soil, in the root, in the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33475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6A665C"/>
                </a:solidFill>
                <a:latin typeface="Source Sans 3"/>
              </a:rPr>
              <a:t>[COPY: Allison] Source line: who measured it, where, which year. No source, no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 i="0">
                <a:solidFill>
                  <a:srgbClr val="DBE6A7"/>
                </a:solidFill>
                <a:latin typeface="Montserrat"/>
              </a:rPr>
              <a:t>WHY THIS MATTERS FOR YOUR SOIL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857500"/>
            <a:ext cx="9144000" cy="571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Montserrat"/>
              </a:rPr>
              <a:t>[COPY: Allison] One line. What the reader can now look for or do on their own ground.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525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0" i="1">
                <a:solidFill>
                  <a:srgbClr val="DBE6A7"/>
                </a:solidFill>
                <a:latin typeface="EB Garamond"/>
              </a:rPr>
              <a:t>[COPY: Allison] One call to action only, or none.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A7B097"/>
                </a:solidFill>
                <a:latin typeface="Montserrat"/>
              </a:rPr>
              <a:t>@soilfoodwebschool</a:t>
            </a:r>
          </a:p>
        </p:txBody>
      </p:sp>
      <p:sp>
        <p:nvSpPr>
          <p:cNvPr id="6" name="Oval 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Mon 5 Oct 2026 | Did you know #1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