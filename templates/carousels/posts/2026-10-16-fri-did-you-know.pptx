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16 Oct 2026 | Did you know #2</a:t>
            </a:r>
          </a:p>
          <a:p>
            <a:r>
              <a:t>Cover. Photo: assets/microscopy/sfw-amoeba-still-wide.jpg (still from the amoeba microscopy loop). Swap to match the fact. Fact must have a named source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16 Oct 2026 | Did you know #2</a:t>
            </a:r>
          </a:p>
          <a:p>
            <a:r>
              <a:t>Mechanism STEP 1.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16 Oct 2026 | Did you know #2</a:t>
            </a:r>
          </a:p>
          <a:p>
            <a:r>
              <a:t>Mechanism STEP 2.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16 Oct 2026 | Did you know #2</a:t>
            </a:r>
          </a:p>
          <a:p>
            <a:r>
              <a:t>Mechanism STEP 3.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Fri 16 Oct 2026 | Did you know #2</a:t>
            </a:r>
          </a:p>
          <a:p>
            <a:r>
              <a:t>Close. One line, tied to the reader's own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C3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2005543396848132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6381750"/>
            <a:ext cx="666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DBE6A7"/>
                </a:solidFill>
                <a:latin typeface="Montserrat"/>
              </a:rPr>
              <a:t>DID YOU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953250"/>
            <a:ext cx="9144000" cy="438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750" b="1" i="0">
                <a:solidFill>
                  <a:srgbClr val="FFFFFF"/>
                </a:solidFill>
                <a:latin typeface="Montserrat"/>
              </a:rPr>
              <a:t>[COPY: Allison] One surprising fact, specific and nerdy. Name the organism or the molecule.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DBE6A7"/>
                </a:solidFill>
                <a:latin typeface="Montserrat"/>
              </a:rPr>
              <a:t>Swipe for the mechanism</a:t>
            </a:r>
          </a:p>
        </p:txBody>
      </p:sp>
      <p:sp>
        <p:nvSpPr>
          <p:cNvPr id="6" name="Oval 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STEP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6A665C"/>
                </a:solidFill>
                <a:latin typeface="Montserrat"/>
              </a:rPr>
              <a:t>[DIAGRAM: mechanism, step 1]</a:t>
            </a:r>
          </a:p>
          <a:p>
            <a:pPr algn="ctr"/>
            <a:r>
              <a:rPr sz="24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50" b="0" i="0">
                <a:solidFill>
                  <a:srgbClr val="22371F"/>
                </a:solidFill>
                <a:latin typeface="EB Garamond"/>
              </a:rPr>
              <a:t>[COPY: Allison] First step of the mechanism, one line. Name the organism, enzyme or compound.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" b="0" i="0">
                <a:solidFill>
                  <a:srgbClr val="6A665C"/>
                </a:solidFill>
                <a:latin typeface="Source Sans 3"/>
              </a:rPr>
              <a:t>[COPY: Allison] Source line: who measured it, where, which year. No source, no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STEP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6A665C"/>
                </a:solidFill>
                <a:latin typeface="Montserrat"/>
              </a:rPr>
              <a:t>[DIAGRAM: mechanism, step 2]</a:t>
            </a:r>
          </a:p>
          <a:p>
            <a:pPr algn="ctr"/>
            <a:r>
              <a:rPr sz="24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50" b="0" i="0">
                <a:solidFill>
                  <a:srgbClr val="22371F"/>
                </a:solidFill>
                <a:latin typeface="EB Garamond"/>
              </a:rPr>
              <a:t>[COPY: Allison] Second step, one line. Chemical or microbial level: what moves, what is released.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" b="0" i="0">
                <a:solidFill>
                  <a:srgbClr val="6A665C"/>
                </a:solidFill>
                <a:latin typeface="Source Sans 3"/>
              </a:rPr>
              <a:t>[COPY: Allison] Source line: who measured it, where, which year. No source, no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56826"/>
                </a:solidFill>
                <a:latin typeface="Montserrat"/>
              </a:rPr>
              <a:t>STEP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6A665C"/>
                </a:solidFill>
                <a:latin typeface="Montserrat"/>
              </a:rPr>
              <a:t>[DIAGRAM: mechanism, step 3]</a:t>
            </a:r>
          </a:p>
          <a:p>
            <a:pPr algn="ctr"/>
            <a:r>
              <a:rPr sz="24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50" b="0" i="0">
                <a:solidFill>
                  <a:srgbClr val="22371F"/>
                </a:solidFill>
                <a:latin typeface="EB Garamond"/>
              </a:rPr>
              <a:t>[COPY: Allison] Third step, one line. Where it ends up: in the soil, in the root, in the plant.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50" b="0" i="0">
                <a:solidFill>
                  <a:srgbClr val="6A665C"/>
                </a:solidFill>
                <a:latin typeface="Source Sans 3"/>
              </a:rPr>
              <a:t>[COPY: Allison] Source line: who measured it, where, which year. No source, no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857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50" b="1" i="0">
                <a:solidFill>
                  <a:srgbClr val="DBE6A7"/>
                </a:solidFill>
                <a:latin typeface="Montserrat"/>
              </a:rPr>
              <a:t>WHY THIS MATTERS FOR YOUR SOIL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2857500"/>
            <a:ext cx="9144000" cy="571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 i="0">
                <a:solidFill>
                  <a:srgbClr val="FFFFFF"/>
                </a:solidFill>
                <a:latin typeface="Montserrat"/>
              </a:rPr>
              <a:t>[COPY: Allison] One line. What the reader can now look for or do on their own ground.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525000"/>
            <a:ext cx="9144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0" i="1">
                <a:solidFill>
                  <a:srgbClr val="DBE6A7"/>
                </a:solidFill>
                <a:latin typeface="EB Garamond"/>
              </a:rPr>
              <a:t>[COPY: Allison] One call to action only, or none.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6" name="Oval 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Fri 16 Oct 2026 | Did you know #2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