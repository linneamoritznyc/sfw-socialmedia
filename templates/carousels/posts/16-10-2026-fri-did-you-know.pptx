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POST: 16-10-2026 Fri | Did you know #2</a:t>
            </a:r>
          </a:p>
          <a:p>
            <a:r>
              <a:t>Cover. Photo: assets/microscopy/sfw-amoeba-still-wide.jpg (still from the amoeba microscopy loop). Swap to match the fact. Fact must have a named source before posting.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POST: 16-10-2026 Fri | Did you know #2</a:t>
            </a:r>
          </a:p>
          <a:p>
            <a:r>
              <a:t>Mechanism STEP 1. One line only. Diagram: draw it, or use assets/illustration; label parts in plain words.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POST: 16-10-2026 Fri | Did you know #2</a:t>
            </a:r>
          </a:p>
          <a:p>
            <a:r>
              <a:t>Mechanism STEP 2. One line only. Diagram: draw it, or use assets/illustration; label parts in plain words.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POST: 16-10-2026 Fri | Did you know #2</a:t>
            </a:r>
          </a:p>
          <a:p>
            <a:r>
              <a:t>Mechanism STEP 3. One line only. Diagram: draw it, or use assets/illustration; label parts in plain words.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POST: 16-10-2026 Fri | Did you know #2</a:t>
            </a:r>
          </a:p>
          <a:p>
            <a:r>
              <a:t>Close. One line, tied to the reader's own ground.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C384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875475524207900308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6096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6381750"/>
            <a:ext cx="9144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B1BCB1"/>
                </a:solidFill>
                <a:latin typeface="Montserrat"/>
              </a:rPr>
              <a:t>DID YOU KNOW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6953250"/>
            <a:ext cx="9144000" cy="438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700" b="1" i="0">
                <a:solidFill>
                  <a:srgbClr val="FFFFFF"/>
                </a:solidFill>
                <a:latin typeface="Montserrat"/>
              </a:rPr>
              <a:t>[COPY: Allison] One surprising fact. Name the organism.</a:t>
            </a:r>
          </a:p>
        </p:txBody>
      </p:sp>
      <p:pic>
        <p:nvPicPr>
          <p:cNvPr id="5" name="Picture 4" descr="st255846756097100875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480000">
            <a:off x="6667500" y="4476750"/>
            <a:ext cx="4038600" cy="30289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12192000"/>
            <a:ext cx="9144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B1BCB1"/>
                </a:solidFill>
                <a:latin typeface="Montserrat"/>
              </a:rPr>
              <a:t>Swipe for the mechanism</a:t>
            </a:r>
          </a:p>
        </p:txBody>
      </p:sp>
      <p:sp>
        <p:nvSpPr>
          <p:cNvPr id="7" name="Oval 6"/>
          <p:cNvSpPr/>
          <p:nvPr/>
        </p:nvSpPr>
        <p:spPr>
          <a:xfrm>
            <a:off x="8286750" y="12363450"/>
            <a:ext cx="152400" cy="152400"/>
          </a:xfrm>
          <a:prstGeom prst="ellipse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72500" y="12363450"/>
            <a:ext cx="152400" cy="152400"/>
          </a:xfrm>
          <a:prstGeom prst="ellipse">
            <a:avLst/>
          </a:prstGeom>
          <a:solidFill>
            <a:srgbClr val="1E3F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58250" y="12363450"/>
            <a:ext cx="152400" cy="152400"/>
          </a:xfrm>
          <a:prstGeom prst="ellipse">
            <a:avLst/>
          </a:prstGeom>
          <a:solidFill>
            <a:srgbClr val="1E3F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0" y="12363450"/>
            <a:ext cx="152400" cy="152400"/>
          </a:xfrm>
          <a:prstGeom prst="ellipse">
            <a:avLst/>
          </a:prstGeom>
          <a:solidFill>
            <a:srgbClr val="1E3F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429750" y="12363450"/>
            <a:ext cx="152400" cy="152400"/>
          </a:xfrm>
          <a:prstGeom prst="ellipse">
            <a:avLst/>
          </a:prstGeom>
          <a:solidFill>
            <a:srgbClr val="1E3F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571500"/>
            <a:ext cx="3810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31662F"/>
                </a:solidFill>
                <a:latin typeface="Montserrat"/>
              </a:rPr>
              <a:t>STEP 1</a:t>
            </a:r>
          </a:p>
        </p:txBody>
      </p:sp>
      <p:sp>
        <p:nvSpPr>
          <p:cNvPr id="3" name="Rectangle 2"/>
          <p:cNvSpPr/>
          <p:nvPr/>
        </p:nvSpPr>
        <p:spPr>
          <a:xfrm>
            <a:off x="571500" y="1238250"/>
            <a:ext cx="9144000" cy="6096000"/>
          </a:xfrm>
          <a:prstGeom prst="rect">
            <a:avLst/>
          </a:prstGeom>
          <a:solidFill>
            <a:srgbClr val="E6EADC"/>
          </a:solidFill>
          <a:ln w="28575">
            <a:solidFill>
              <a:srgbClr val="B1BC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7250" y="1238250"/>
            <a:ext cx="8572500" cy="609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6A665C"/>
                </a:solidFill>
                <a:latin typeface="Montserrat"/>
              </a:rPr>
              <a:t>[DIAGRAM: mechanism, step 1]</a:t>
            </a:r>
          </a:p>
          <a:p>
            <a:pPr algn="ctr"/>
            <a:r>
              <a:rPr sz="3000" b="1" i="0">
                <a:solidFill>
                  <a:srgbClr val="6A665C"/>
                </a:solidFill>
                <a:latin typeface="Montserrat"/>
              </a:rPr>
              <a:t>Label parts in plain words.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7905750"/>
            <a:ext cx="914400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700" b="0" i="0">
                <a:solidFill>
                  <a:srgbClr val="1E3F1D"/>
                </a:solidFill>
                <a:latin typeface="EB Garamond"/>
              </a:rPr>
              <a:t>[COPY: Allison] Step one, one line.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1334750"/>
            <a:ext cx="9144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6A665C"/>
                </a:solidFill>
                <a:latin typeface="Source Sans 3"/>
              </a:rPr>
              <a:t>[COPY: Allison] Source: who, where, year.</a:t>
            </a:r>
          </a:p>
        </p:txBody>
      </p:sp>
      <p:pic>
        <p:nvPicPr>
          <p:cNvPr id="7" name="Picture 6" descr="st71448035087165432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240000">
            <a:off x="6572250" y="5334000"/>
            <a:ext cx="3943350" cy="29622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12192000"/>
            <a:ext cx="9144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6A665C"/>
                </a:solidFill>
                <a:latin typeface="Montserrat"/>
              </a:rPr>
              <a:t>@soilfoodwebschool</a:t>
            </a:r>
          </a:p>
        </p:txBody>
      </p:sp>
      <p:sp>
        <p:nvSpPr>
          <p:cNvPr id="9" name="Oval 8"/>
          <p:cNvSpPr/>
          <p:nvPr/>
        </p:nvSpPr>
        <p:spPr>
          <a:xfrm>
            <a:off x="8286750" y="12363450"/>
            <a:ext cx="152400" cy="152400"/>
          </a:xfrm>
          <a:prstGeom prst="ellipse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572500" y="12363450"/>
            <a:ext cx="152400" cy="152400"/>
          </a:xfrm>
          <a:prstGeom prst="ellipse">
            <a:avLst/>
          </a:pr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858250" y="12363450"/>
            <a:ext cx="152400" cy="152400"/>
          </a:xfrm>
          <a:prstGeom prst="ellipse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0" y="12363450"/>
            <a:ext cx="152400" cy="152400"/>
          </a:xfrm>
          <a:prstGeom prst="ellipse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429750" y="12363450"/>
            <a:ext cx="152400" cy="152400"/>
          </a:xfrm>
          <a:prstGeom prst="ellipse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571500"/>
            <a:ext cx="3810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31662F"/>
                </a:solidFill>
                <a:latin typeface="Montserrat"/>
              </a:rPr>
              <a:t>STEP 2</a:t>
            </a:r>
          </a:p>
        </p:txBody>
      </p:sp>
      <p:sp>
        <p:nvSpPr>
          <p:cNvPr id="3" name="Rectangle 2"/>
          <p:cNvSpPr/>
          <p:nvPr/>
        </p:nvSpPr>
        <p:spPr>
          <a:xfrm>
            <a:off x="571500" y="1238250"/>
            <a:ext cx="9144000" cy="6096000"/>
          </a:xfrm>
          <a:prstGeom prst="rect">
            <a:avLst/>
          </a:prstGeom>
          <a:solidFill>
            <a:srgbClr val="E6EADC"/>
          </a:solidFill>
          <a:ln w="28575">
            <a:solidFill>
              <a:srgbClr val="B1BC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7250" y="1238250"/>
            <a:ext cx="8572500" cy="609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6A665C"/>
                </a:solidFill>
                <a:latin typeface="Montserrat"/>
              </a:rPr>
              <a:t>[DIAGRAM: mechanism, step 2]</a:t>
            </a:r>
          </a:p>
          <a:p>
            <a:pPr algn="ctr"/>
            <a:r>
              <a:rPr sz="3000" b="1" i="0">
                <a:solidFill>
                  <a:srgbClr val="6A665C"/>
                </a:solidFill>
                <a:latin typeface="Montserrat"/>
              </a:rPr>
              <a:t>Label parts in plain words.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7905750"/>
            <a:ext cx="914400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700" b="0" i="0">
                <a:solidFill>
                  <a:srgbClr val="1E3F1D"/>
                </a:solidFill>
                <a:latin typeface="EB Garamond"/>
              </a:rPr>
              <a:t>[COPY: Allison] Step two, one line.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1334750"/>
            <a:ext cx="9144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6A665C"/>
                </a:solidFill>
                <a:latin typeface="Source Sans 3"/>
              </a:rPr>
              <a:t>[COPY: Allison] Source: who, where, year.</a:t>
            </a:r>
          </a:p>
        </p:txBody>
      </p:sp>
      <p:pic>
        <p:nvPicPr>
          <p:cNvPr id="7" name="Picture 6" descr="st25238962906475655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420000">
            <a:off x="6572250" y="5334000"/>
            <a:ext cx="3943350" cy="29622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12192000"/>
            <a:ext cx="9144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6A665C"/>
                </a:solidFill>
                <a:latin typeface="Montserrat"/>
              </a:rPr>
              <a:t>@soilfoodwebschool</a:t>
            </a:r>
          </a:p>
        </p:txBody>
      </p:sp>
      <p:sp>
        <p:nvSpPr>
          <p:cNvPr id="9" name="Oval 8"/>
          <p:cNvSpPr/>
          <p:nvPr/>
        </p:nvSpPr>
        <p:spPr>
          <a:xfrm>
            <a:off x="8286750" y="12363450"/>
            <a:ext cx="152400" cy="152400"/>
          </a:xfrm>
          <a:prstGeom prst="ellipse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572500" y="12363450"/>
            <a:ext cx="152400" cy="152400"/>
          </a:xfrm>
          <a:prstGeom prst="ellipse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858250" y="12363450"/>
            <a:ext cx="152400" cy="152400"/>
          </a:xfrm>
          <a:prstGeom prst="ellipse">
            <a:avLst/>
          </a:pr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0" y="12363450"/>
            <a:ext cx="152400" cy="152400"/>
          </a:xfrm>
          <a:prstGeom prst="ellipse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429750" y="12363450"/>
            <a:ext cx="152400" cy="152400"/>
          </a:xfrm>
          <a:prstGeom prst="ellipse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571500"/>
            <a:ext cx="3810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31662F"/>
                </a:solidFill>
                <a:latin typeface="Montserrat"/>
              </a:rPr>
              <a:t>STEP 3</a:t>
            </a:r>
          </a:p>
        </p:txBody>
      </p:sp>
      <p:sp>
        <p:nvSpPr>
          <p:cNvPr id="3" name="Rectangle 2"/>
          <p:cNvSpPr/>
          <p:nvPr/>
        </p:nvSpPr>
        <p:spPr>
          <a:xfrm>
            <a:off x="571500" y="1238250"/>
            <a:ext cx="9144000" cy="6096000"/>
          </a:xfrm>
          <a:prstGeom prst="rect">
            <a:avLst/>
          </a:prstGeom>
          <a:solidFill>
            <a:srgbClr val="E6EADC"/>
          </a:solidFill>
          <a:ln w="28575">
            <a:solidFill>
              <a:srgbClr val="B1BC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7250" y="1238250"/>
            <a:ext cx="8572500" cy="609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6A665C"/>
                </a:solidFill>
                <a:latin typeface="Montserrat"/>
              </a:rPr>
              <a:t>[DIAGRAM: mechanism, step 3]</a:t>
            </a:r>
          </a:p>
          <a:p>
            <a:pPr algn="ctr"/>
            <a:r>
              <a:rPr sz="3000" b="1" i="0">
                <a:solidFill>
                  <a:srgbClr val="6A665C"/>
                </a:solidFill>
                <a:latin typeface="Montserrat"/>
              </a:rPr>
              <a:t>Label parts in plain words.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7905750"/>
            <a:ext cx="914400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700" b="0" i="0">
                <a:solidFill>
                  <a:srgbClr val="1E3F1D"/>
                </a:solidFill>
                <a:latin typeface="EB Garamond"/>
              </a:rPr>
              <a:t>[COPY: Allison] Step three, one line.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1334750"/>
            <a:ext cx="9144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6A665C"/>
                </a:solidFill>
                <a:latin typeface="Source Sans 3"/>
              </a:rPr>
              <a:t>[COPY: Allison] Source: who, where, year.</a:t>
            </a:r>
          </a:p>
        </p:txBody>
      </p:sp>
      <p:pic>
        <p:nvPicPr>
          <p:cNvPr id="7" name="Picture 6" descr="st475079894545617318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120000">
            <a:off x="6572250" y="5334000"/>
            <a:ext cx="3943350" cy="29622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12192000"/>
            <a:ext cx="9144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6A665C"/>
                </a:solidFill>
                <a:latin typeface="Montserrat"/>
              </a:rPr>
              <a:t>@soilfoodwebschool</a:t>
            </a:r>
          </a:p>
        </p:txBody>
      </p:sp>
      <p:sp>
        <p:nvSpPr>
          <p:cNvPr id="9" name="Oval 8"/>
          <p:cNvSpPr/>
          <p:nvPr/>
        </p:nvSpPr>
        <p:spPr>
          <a:xfrm>
            <a:off x="8286750" y="12363450"/>
            <a:ext cx="152400" cy="152400"/>
          </a:xfrm>
          <a:prstGeom prst="ellipse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572500" y="12363450"/>
            <a:ext cx="152400" cy="152400"/>
          </a:xfrm>
          <a:prstGeom prst="ellipse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858250" y="12363450"/>
            <a:ext cx="152400" cy="152400"/>
          </a:xfrm>
          <a:prstGeom prst="ellipse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0" y="12363450"/>
            <a:ext cx="152400" cy="152400"/>
          </a:xfrm>
          <a:prstGeom prst="ellipse">
            <a:avLst/>
          </a:pr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429750" y="12363450"/>
            <a:ext cx="152400" cy="152400"/>
          </a:xfrm>
          <a:prstGeom prst="ellipse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571500"/>
            <a:ext cx="9144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B1BCB1"/>
                </a:solidFill>
                <a:latin typeface="Montserrat"/>
              </a:rPr>
              <a:t>WHY THIS MATTERS FOR YOUR SOIL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2857500"/>
            <a:ext cx="9144000" cy="57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700" b="1" i="0">
                <a:solidFill>
                  <a:srgbClr val="FFFFFF"/>
                </a:solidFill>
                <a:latin typeface="Montserrat"/>
              </a:rPr>
              <a:t>[COPY: Allison] One line for their own soil.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9525000"/>
            <a:ext cx="91440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700" b="0" i="1">
                <a:solidFill>
                  <a:srgbClr val="B1BCB1"/>
                </a:solidFill>
                <a:latin typeface="EB Garamond"/>
              </a:rPr>
              <a:t>[COPY: Allison] One call to action, or none.</a:t>
            </a:r>
          </a:p>
        </p:txBody>
      </p:sp>
      <p:pic>
        <p:nvPicPr>
          <p:cNvPr id="5" name="Picture 4" descr="st77301673522285614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240000">
            <a:off x="5715000" y="8382000"/>
            <a:ext cx="4800600" cy="35528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12192000"/>
            <a:ext cx="9144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B1BCB1"/>
                </a:solidFill>
                <a:latin typeface="Montserrat"/>
              </a:rPr>
              <a:t>@soilfoodwebschool</a:t>
            </a:r>
          </a:p>
        </p:txBody>
      </p:sp>
      <p:sp>
        <p:nvSpPr>
          <p:cNvPr id="7" name="Oval 6"/>
          <p:cNvSpPr/>
          <p:nvPr/>
        </p:nvSpPr>
        <p:spPr>
          <a:xfrm>
            <a:off x="8286750" y="12363450"/>
            <a:ext cx="152400" cy="152400"/>
          </a:xfrm>
          <a:prstGeom prst="ellipse">
            <a:avLst/>
          </a:prstGeom>
          <a:solidFill>
            <a:srgbClr val="3C3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72500" y="12363450"/>
            <a:ext cx="152400" cy="152400"/>
          </a:xfrm>
          <a:prstGeom prst="ellipse">
            <a:avLst/>
          </a:prstGeom>
          <a:solidFill>
            <a:srgbClr val="3C3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58250" y="12363450"/>
            <a:ext cx="152400" cy="152400"/>
          </a:xfrm>
          <a:prstGeom prst="ellipse">
            <a:avLst/>
          </a:prstGeom>
          <a:solidFill>
            <a:srgbClr val="3C3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0" y="12363450"/>
            <a:ext cx="152400" cy="152400"/>
          </a:xfrm>
          <a:prstGeom prst="ellipse">
            <a:avLst/>
          </a:prstGeom>
          <a:solidFill>
            <a:srgbClr val="3C3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429750" y="12363450"/>
            <a:ext cx="152400" cy="152400"/>
          </a:xfrm>
          <a:prstGeom prst="ellipse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POST: 16-10-2026 Fri | Did you know #2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