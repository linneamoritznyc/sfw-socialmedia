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Place and season, e.g. 'Spring 2026'. Trial name from the graduate's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in series: the method. Name the control plot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result. One measure, bars from zero, units stated.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Series promise: we publish what the trial found, including when results disappoint.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ran it. Portrait needs written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FIELD 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3810000"/>
            <a:ext cx="809625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950" b="1" i="0">
                <a:solidFill>
                  <a:srgbClr val="22371F"/>
                </a:solidFill>
                <a:latin typeface="Montserrat"/>
              </a:rPr>
              <a:t>[COPY: Allison] Trial name, as the graduate titled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7429500"/>
            <a:ext cx="80962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50" b="0" i="1">
                <a:solidFill>
                  <a:srgbClr val="156826"/>
                </a:solidFill>
                <a:latin typeface="EB Garamond"/>
              </a:rPr>
              <a:t>[COPY: Allison] Place</a:t>
            </a:r>
          </a:p>
          <a:p>
            <a:pPr algn="l"/>
            <a:r>
              <a:rPr sz="3450" b="0" i="1">
                <a:solidFill>
                  <a:srgbClr val="156826"/>
                </a:solidFill>
                <a:latin typeface="EB Garamond"/>
              </a:rPr>
              <a:t>Season and year</a:t>
            </a:r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THE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0" i="0">
                <a:solidFill>
                  <a:srgbClr val="22371F"/>
                </a:solidFill>
                <a:latin typeface="EB Garamond"/>
              </a:rPr>
              <a:t>[COPY: Allison] The one question they tested, as a question. Use the graduate's own hypothesis.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THE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2098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0750" y="22860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750" b="0" i="0">
                <a:solidFill>
                  <a:srgbClr val="22371F"/>
                </a:solidFill>
                <a:latin typeface="EB Garamond"/>
              </a:rPr>
              <a:t>[COPY: Allison] Line 1: the plots and what each one got.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5720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46482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750" b="0" i="0">
                <a:solidFill>
                  <a:srgbClr val="22371F"/>
                </a:solidFill>
                <a:latin typeface="EB Garamond"/>
              </a:rPr>
              <a:t>[COPY: Allison] Line 2: the control, named.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69342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0750" y="70104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750" b="0" i="0">
                <a:solidFill>
                  <a:srgbClr val="22371F"/>
                </a:solidFill>
                <a:latin typeface="EB Garamond"/>
              </a:rPr>
              <a:t>[COPY: Allison] Line 3: what was measured, and when.</a:t>
            </a:r>
          </a:p>
        </p:txBody>
      </p:sp>
      <p:sp>
        <p:nvSpPr>
          <p:cNvPr id="30" name="Oval 2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THE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180975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1" i="0">
                <a:solidFill>
                  <a:srgbClr val="156826"/>
                </a:solidFill>
                <a:latin typeface="Montserrat"/>
              </a:rPr>
              <a:t>[COPY: Allison] Big number, from the source below.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2286000"/>
            <a:ext cx="8096250" cy="2190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750" b="1" i="0">
                <a:solidFill>
                  <a:srgbClr val="156826"/>
                </a:solidFill>
                <a:latin typeface="Montserrat"/>
              </a:rPr>
              <a:t>[Big number]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953000"/>
            <a:ext cx="8096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22371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8250" y="10287000"/>
            <a:ext cx="7810500" cy="285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90750" y="7810500"/>
            <a:ext cx="2095500" cy="2476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5905500"/>
            <a:ext cx="2095500" cy="43815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0500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22371F"/>
                </a:solidFill>
                <a:latin typeface="Montserrat"/>
              </a:rPr>
              <a:t>[COPY: Allison] Control [value]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925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22371F"/>
                </a:solidFill>
                <a:latin typeface="Montserrat"/>
              </a:rPr>
              <a:t>[COPY: Allison] Trial [value]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8250" y="11525250"/>
            <a:ext cx="809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33" name="Oval 32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WHAT SURPRISED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 i="0">
                <a:solidFill>
                  <a:srgbClr val="22371F"/>
                </a:solidFill>
                <a:latin typeface="EB Garamond"/>
              </a:rPr>
              <a:t>[COPY: Allison] What surprised them. Include what disappointed or failed: hail, pests, a plot that came out level. This slide is not optional.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195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WHO RAN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8250" y="2190750"/>
            <a:ext cx="2857500" cy="2857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8750" y="2190750"/>
            <a:ext cx="24765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22371F"/>
                </a:solidFill>
                <a:latin typeface="Montserrat"/>
              </a:rPr>
              <a:t>[PHOTO: Small portrait]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6750" y="2381250"/>
            <a:ext cx="4857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22371F"/>
                </a:solidFill>
                <a:latin typeface="Montserrat"/>
              </a:rPr>
              <a:t>[COPY: Allison] Graduate name</a:t>
            </a:r>
          </a:p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22371F"/>
                </a:solidFill>
                <a:latin typeface="Montserrat"/>
              </a:rPr>
              <a:t>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5905500"/>
            <a:ext cx="8096250" cy="38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50" b="0" i="0">
                <a:solidFill>
                  <a:srgbClr val="22371F"/>
                </a:solidFill>
                <a:latin typeface="EB Garamond"/>
              </a:rPr>
              <a:t>[COPY: Allison] One or two lines: their ground, their crop, their years growing. Link to the full report if it exists.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114300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9" name="Oval 2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