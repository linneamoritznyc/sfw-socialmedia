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Place and season, e.g. 'Spring 2026'. Trial name from the graduate's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in series: the method. Name the control plot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result. One measure, bars from zero, units stated. Report and year in the source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Series promise: we publish what the trial found, including when results disappoint.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ran it. Portrait needs written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FIELD 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3810000"/>
            <a:ext cx="809625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700" b="1" i="0">
                <a:solidFill>
                  <a:srgbClr val="1E3F1D"/>
                </a:solidFill>
                <a:latin typeface="Montserrat"/>
              </a:rPr>
              <a:t>[COPY: Allison] Trial name, as the graduate titled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7429500"/>
            <a:ext cx="80962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31662F"/>
                </a:solidFill>
                <a:latin typeface="EB Garamond"/>
              </a:rPr>
              <a:t>[COPY: Allison] Place</a:t>
            </a:r>
          </a:p>
          <a:p>
            <a:pPr algn="l"/>
            <a:r>
              <a:rPr sz="5700" b="0" i="1">
                <a:solidFill>
                  <a:srgbClr val="31662F"/>
                </a:solidFill>
                <a:latin typeface="EB Garamond"/>
              </a:rPr>
              <a:t>Season and year</a:t>
            </a:r>
          </a:p>
        </p:txBody>
      </p:sp>
      <p:pic>
        <p:nvPicPr>
          <p:cNvPr id="26" name="Picture 25" descr="st50278113363024560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5715000" y="8572500"/>
            <a:ext cx="4419600" cy="3286125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THE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The question they tested.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THE 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2098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31662F"/>
                </a:solidFill>
                <a:latin typeface="Montserrat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0750" y="22860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Line 1: the plots.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5720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31662F"/>
                </a:solidFill>
                <a:latin typeface="Montserrat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46482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Line 2: the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69342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31662F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0750" y="7010400"/>
            <a:ext cx="7143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Line 3: what was measured.</a:t>
            </a:r>
          </a:p>
        </p:txBody>
      </p:sp>
      <p:sp>
        <p:nvSpPr>
          <p:cNvPr id="30" name="Oval 2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THE RESULT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180975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[COPY: Allison] Big number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2286000"/>
            <a:ext cx="809625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0" b="1" i="0">
                <a:solidFill>
                  <a:srgbClr val="31662F"/>
                </a:solidFill>
                <a:latin typeface="Montserrat"/>
              </a:rPr>
              <a:t>[Big number]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4476750"/>
            <a:ext cx="8096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0">
                <a:solidFill>
                  <a:srgbClr val="1E3F1D"/>
                </a:solidFill>
                <a:latin typeface="EB Garamond"/>
              </a:rPr>
              <a:t>[COPY: Allison] What it measures, against what.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8250" y="10287000"/>
            <a:ext cx="7810500" cy="28575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90750" y="8382000"/>
            <a:ext cx="2095500" cy="19050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0" y="7048500"/>
            <a:ext cx="2095500" cy="32385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0500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9250" y="10439400"/>
            <a:ext cx="266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Trial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250" y="11525250"/>
            <a:ext cx="8096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33" name="Oval 32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THE SURPRISE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2190750"/>
            <a:ext cx="8096250" cy="7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What surprised them, including what disappointed.</a:t>
            </a:r>
          </a:p>
        </p:txBody>
      </p:sp>
      <p:sp>
        <p:nvSpPr>
          <p:cNvPr id="25" name="Oval 24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4287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93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98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2004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7909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43815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9720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5626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531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7437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73342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79248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5153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91059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6964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02870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08775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146810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12058650"/>
            <a:ext cx="10287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0"/>
            <a:ext cx="28575" cy="128587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381000"/>
            <a:ext cx="4381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[COPY: Allison] DD Mon YYYY</a:t>
            </a:r>
          </a:p>
          <a:p>
            <a:pPr algn="r"/>
            <a:r>
              <a:rPr sz="3000" b="1" i="0">
                <a:solidFill>
                  <a:srgbClr val="31662F"/>
                </a:solidFill>
                <a:latin typeface="Montserrat"/>
              </a:rPr>
              <a:t>Place,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8250" y="5715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31662F"/>
                </a:solidFill>
                <a:latin typeface="Montserrat"/>
              </a:rPr>
              <a:t>WHO RAN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8250" y="2190750"/>
            <a:ext cx="2857500" cy="28575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28750" y="2190750"/>
            <a:ext cx="2476500" cy="285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E3F1D"/>
                </a:solidFill>
                <a:latin typeface="Montserrat"/>
              </a:rPr>
              <a:t>[PHOTO: Small portrait]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50" y="2381250"/>
            <a:ext cx="4857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1E3F1D"/>
                </a:solidFill>
                <a:latin typeface="Montserrat"/>
              </a:rPr>
              <a:t>[COPY: Allison] Graduate name</a:t>
            </a:r>
          </a:p>
          <a:p>
            <a:pPr algn="l">
              <a:lnSpc>
                <a:spcPct val="105000"/>
              </a:lnSpc>
            </a:pPr>
            <a:r>
              <a:rPr sz="3750" b="1" i="0">
                <a:solidFill>
                  <a:srgbClr val="1E3F1D"/>
                </a:solidFill>
                <a:latin typeface="Montserrat"/>
              </a:rPr>
              <a:t>Place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6286500"/>
            <a:ext cx="809625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1E3F1D"/>
                </a:solidFill>
                <a:latin typeface="EB Garamond"/>
              </a:rPr>
              <a:t>[COPY: Allison] Their ground, their crop, their years.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11430000"/>
            <a:ext cx="809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9" name="Oval 2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