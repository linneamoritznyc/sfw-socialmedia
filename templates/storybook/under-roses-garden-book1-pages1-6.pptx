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5240000" cy="1143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1, above ground. Scene: garden after rain. Rose holds her strawberry lollipop.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2, above ground. The lollipop sinks into the soft soil; Rose runs in for dinner.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3, underground. First look at the town: tunnel streets, crumb houses, brown glow, Old Oak's roots.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4, underground. Sugar rain. Barry tastes it and splits into two Barrys. Barry = critter-bacillus.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5, underground. Sixteen Barrys fill the street (copies of the same cut-out, all movable). Myco the postman (critter-mycorrhiza v2) passes the news from root to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Page 6, underground. Pip and Ama arrive for the party; the town shakes as Grandma Worm wakes.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jp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jp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garde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pic>
        <p:nvPicPr>
          <p:cNvPr id="3" name="Picture 2" descr="book-rose-lollipop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5375" y="2150599"/>
            <a:ext cx="4476750" cy="90338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62000" y="762000"/>
            <a:ext cx="7239000" cy="40005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1100" y="1085850"/>
            <a:ext cx="6400800" cy="335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It had rained all afternoon, and now the garden smelled of wet leaves and worms.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Rose sat on the edge of the vegetable bed in her yellow boots, licking a strawberry lollipop.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garde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pic>
        <p:nvPicPr>
          <p:cNvPr id="3" name="Picture 2" descr="book-lollipop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7880000">
            <a:off x="4429125" y="7121769"/>
            <a:ext cx="1047750" cy="2901461"/>
          </a:xfrm>
          <a:prstGeom prst="rect">
            <a:avLst/>
          </a:prstGeom>
        </p:spPr>
      </p:pic>
      <p:pic>
        <p:nvPicPr>
          <p:cNvPr id="4" name="Picture 3" descr="book-rose-running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6000" y="4602078"/>
            <a:ext cx="4000500" cy="451184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2000" y="762000"/>
            <a:ext cx="7810500" cy="447675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1100" y="1085850"/>
            <a:ext cx="6972300" cy="38290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“Rose! Dinner!”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Rose jumped. The lollipop slipped out of her fingers and landed, plop, in the soft wet soil. By the time she looked back, it had sunk out of sight.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“Night night, dirt!” she called, and ran inside.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tow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2000" y="7239000"/>
            <a:ext cx="137160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1100" y="7562850"/>
            <a:ext cx="12877800" cy="278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200">
                <a:solidFill>
                  <a:srgbClr val="333130"/>
                </a:solidFill>
                <a:latin typeface="EB Garamond"/>
              </a:rPr>
              <a:t>Far below Rose's boots there was a whole town. Its streets were tunnels. Its houses were soil crumbs, round and snug. Its lights were a soft brown glow.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200">
                <a:solidFill>
                  <a:srgbClr val="333130"/>
                </a:solidFill>
                <a:latin typeface="EB Garamond"/>
              </a:rPr>
              <a:t>And tonight, something strange was happening to the ceiling.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sugar-rai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pic>
        <p:nvPicPr>
          <p:cNvPr id="3" name="Picture 2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4728607"/>
            <a:ext cx="2476500" cy="2734785"/>
          </a:xfrm>
          <a:prstGeom prst="rect">
            <a:avLst/>
          </a:prstGeom>
        </p:spPr>
      </p:pic>
      <p:pic>
        <p:nvPicPr>
          <p:cNvPr id="4" name="Picture 3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1430000" y="5300107"/>
            <a:ext cx="2476500" cy="273478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62000" y="762000"/>
            <a:ext cx="7429500" cy="59055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1100" y="1085850"/>
            <a:ext cx="6591300" cy="5257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Drip. Drip. Drip. Something red and sticky was raining down.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Barry the Bacterium had a taste. “Sugar!” he gasped. And because Barry was a bacterium, and that is what bacteria do when they eat, he split in two.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“Which Barry am I?” said Barry.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“I was going to ask you that,” said Barry.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sugar-rai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pic>
        <p:nvPicPr>
          <p:cNvPr id="3" name="Picture 2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125" y="4545119"/>
            <a:ext cx="1428750" cy="1577760"/>
          </a:xfrm>
          <a:prstGeom prst="rect">
            <a:avLst/>
          </a:prstGeom>
        </p:spPr>
      </p:pic>
      <p:pic>
        <p:nvPicPr>
          <p:cNvPr id="4" name="Picture 3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286625" y="4545119"/>
            <a:ext cx="1428750" cy="1577760"/>
          </a:xfrm>
          <a:prstGeom prst="rect">
            <a:avLst/>
          </a:prstGeom>
        </p:spPr>
      </p:pic>
      <p:pic>
        <p:nvPicPr>
          <p:cNvPr id="5" name="Picture 4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25" y="4545119"/>
            <a:ext cx="1428750" cy="1577760"/>
          </a:xfrm>
          <a:prstGeom prst="rect">
            <a:avLst/>
          </a:prstGeom>
        </p:spPr>
      </p:pic>
      <p:pic>
        <p:nvPicPr>
          <p:cNvPr id="6" name="Picture 5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9953625" y="4545119"/>
            <a:ext cx="1428750" cy="1577760"/>
          </a:xfrm>
          <a:prstGeom prst="rect">
            <a:avLst/>
          </a:prstGeom>
        </p:spPr>
      </p:pic>
      <p:pic>
        <p:nvPicPr>
          <p:cNvPr id="7" name="Picture 6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87125" y="4545119"/>
            <a:ext cx="1428750" cy="1577760"/>
          </a:xfrm>
          <a:prstGeom prst="rect">
            <a:avLst/>
          </a:prstGeom>
        </p:spPr>
      </p:pic>
      <p:pic>
        <p:nvPicPr>
          <p:cNvPr id="8" name="Picture 7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2620625" y="4545119"/>
            <a:ext cx="1428750" cy="1577760"/>
          </a:xfrm>
          <a:prstGeom prst="rect">
            <a:avLst/>
          </a:prstGeom>
        </p:spPr>
      </p:pic>
      <p:pic>
        <p:nvPicPr>
          <p:cNvPr id="9" name="Picture 8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4125" y="5973869"/>
            <a:ext cx="1428750" cy="1577760"/>
          </a:xfrm>
          <a:prstGeom prst="rect">
            <a:avLst/>
          </a:prstGeom>
        </p:spPr>
      </p:pic>
      <p:pic>
        <p:nvPicPr>
          <p:cNvPr id="10" name="Picture 9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7667625" y="5973869"/>
            <a:ext cx="1428750" cy="1577760"/>
          </a:xfrm>
          <a:prstGeom prst="rect">
            <a:avLst/>
          </a:prstGeom>
        </p:spPr>
      </p:pic>
      <p:pic>
        <p:nvPicPr>
          <p:cNvPr id="11" name="Picture 10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1125" y="5973869"/>
            <a:ext cx="1428750" cy="1577760"/>
          </a:xfrm>
          <a:prstGeom prst="rect">
            <a:avLst/>
          </a:prstGeom>
        </p:spPr>
      </p:pic>
      <p:pic>
        <p:nvPicPr>
          <p:cNvPr id="12" name="Picture 11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334625" y="5973869"/>
            <a:ext cx="1428750" cy="1577760"/>
          </a:xfrm>
          <a:prstGeom prst="rect">
            <a:avLst/>
          </a:prstGeom>
        </p:spPr>
      </p:pic>
      <p:pic>
        <p:nvPicPr>
          <p:cNvPr id="13" name="Picture 12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68125" y="5973869"/>
            <a:ext cx="1428750" cy="1577760"/>
          </a:xfrm>
          <a:prstGeom prst="rect">
            <a:avLst/>
          </a:prstGeom>
        </p:spPr>
      </p:pic>
      <p:pic>
        <p:nvPicPr>
          <p:cNvPr id="14" name="Picture 13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3001625" y="5973869"/>
            <a:ext cx="1428750" cy="1577760"/>
          </a:xfrm>
          <a:prstGeom prst="rect">
            <a:avLst/>
          </a:prstGeom>
        </p:spPr>
      </p:pic>
      <p:pic>
        <p:nvPicPr>
          <p:cNvPr id="15" name="Picture 14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125" y="7402619"/>
            <a:ext cx="1428750" cy="1577760"/>
          </a:xfrm>
          <a:prstGeom prst="rect">
            <a:avLst/>
          </a:prstGeom>
        </p:spPr>
      </p:pic>
      <p:pic>
        <p:nvPicPr>
          <p:cNvPr id="16" name="Picture 15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8048625" y="7402619"/>
            <a:ext cx="1428750" cy="1577760"/>
          </a:xfrm>
          <a:prstGeom prst="rect">
            <a:avLst/>
          </a:prstGeom>
        </p:spPr>
      </p:pic>
      <p:pic>
        <p:nvPicPr>
          <p:cNvPr id="17" name="Picture 16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2125" y="7402619"/>
            <a:ext cx="1428750" cy="1577760"/>
          </a:xfrm>
          <a:prstGeom prst="rect">
            <a:avLst/>
          </a:prstGeom>
        </p:spPr>
      </p:pic>
      <p:pic>
        <p:nvPicPr>
          <p:cNvPr id="18" name="Picture 17" descr="critter-bacillus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10715625" y="7402619"/>
            <a:ext cx="1428750" cy="1577760"/>
          </a:xfrm>
          <a:prstGeom prst="rect">
            <a:avLst/>
          </a:prstGeom>
        </p:spPr>
      </p:pic>
      <p:pic>
        <p:nvPicPr>
          <p:cNvPr id="19" name="Picture 18" descr="critter-mycorrhiza-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8750" y="6852265"/>
            <a:ext cx="3429000" cy="3440468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62000" y="666750"/>
            <a:ext cx="8572500" cy="3810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1100" y="990600"/>
            <a:ext cx="7734300" cy="3162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800">
                <a:solidFill>
                  <a:srgbClr val="333130"/>
                </a:solidFill>
                <a:latin typeface="EB Garamond"/>
              </a:rPr>
              <a:t>Two Barrys became four. Four became eight. Eight became sixteen. Soon the whole street was full of Barrys, all eating, all splitting, all asking which Barry they were.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2800">
                <a:solidFill>
                  <a:srgbClr val="333130"/>
                </a:solidFill>
                <a:latin typeface="EB Garamond"/>
              </a:rPr>
              <a:t>Myco the postman stretched his long, long arms from root to root and house to house: “Sugar on Crumb Street! Pass it on!”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ook-scene-town-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5240000" cy="11430000"/>
          </a:xfrm>
          <a:prstGeom prst="rect">
            <a:avLst/>
          </a:prstGeom>
        </p:spPr>
      </p:pic>
      <p:pic>
        <p:nvPicPr>
          <p:cNvPr id="3" name="Picture 2" descr="book-pip-flagellat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6875" y="3910942"/>
            <a:ext cx="2381250" cy="2846115"/>
          </a:xfrm>
          <a:prstGeom prst="rect">
            <a:avLst/>
          </a:prstGeom>
        </p:spPr>
      </p:pic>
      <p:pic>
        <p:nvPicPr>
          <p:cNvPr id="4" name="Picture 3" descr="book-ama-amoeba-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8250" y="4360512"/>
            <a:ext cx="2476500" cy="2518474"/>
          </a:xfrm>
          <a:prstGeom prst="rect">
            <a:avLst/>
          </a:prstGeom>
        </p:spPr>
      </p:pic>
      <p:pic>
        <p:nvPicPr>
          <p:cNvPr id="5" name="Picture 4" descr="book-grandma-worm-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87000" y="2889250"/>
            <a:ext cx="4762500" cy="79375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2000" y="7239000"/>
            <a:ext cx="13716000" cy="3429000"/>
          </a:xfrm>
          <a:prstGeom prst="rect">
            <a:avLst/>
          </a:pr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1100" y="7562850"/>
            <a:ext cx="12877800" cy="278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Pip the Flagellate came zooming in on his two long tails. Ama the Amoeba came drifting after him, and Pip forgot how to swim.</a:t>
            </a:r>
          </a:p>
          <a:p>
            <a:pPr>
              <a:lnSpc>
                <a:spcPct val="118000"/>
              </a:lnSpc>
              <a:spcAft>
                <a:spcPts val="1000"/>
              </a:spcAft>
            </a:pPr>
            <a:r>
              <a:rPr sz="3000">
                <a:solidFill>
                  <a:srgbClr val="333130"/>
                </a:solidFill>
                <a:latin typeface="EB Garamond"/>
              </a:rPr>
              <a:t>Then the floor began to tremble and the teacups began to rattle. “WHO,” rumbled Grandma Worm, “is making all that NOISE?”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0915650"/>
            <a:ext cx="762000" cy="3429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>
                <a:solidFill>
                  <a:srgbClr val="F3F1EA"/>
                </a:solidFill>
                <a:latin typeface="EB Garamond"/>
              </a:rPr>
              <a:t>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