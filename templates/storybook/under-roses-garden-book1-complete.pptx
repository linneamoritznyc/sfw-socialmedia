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9372600" cy="7543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page.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Dedication page (left blank for Linnea to fill in).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1. The garden after rain, nobody in it yet.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2. Close-up: the flowers, still dripping.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3. Rose and her strawberry lollipop.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4. Close-up: the lollipop has dropped into the soft soil.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5. Rose runs inside for dinner and says goodnight to the ground.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6. Underground: the town under the garden, quiet. Someone heard her.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7. Barry's crumb house, Barry outside it.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8. A single pale sugar drop hangs from the ceiling.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9. Barry under the drop, tasting it.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10. Barry has split into two Barrys (two copies of the same cut-out).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11. Four Barrys on the street.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12. Cut away, above ground: Rose at dinner, looking out at the rainy garden.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13. Myco the postman on a root road (critter-mycorrhiza v2).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14. Pip and Ama arrive.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15. Everyone together on the street: four Barrys, Pip, Ama and Myco.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16. The sugar drop again, quiet. Cliffhanger: the lollipop stick is coming (next pages).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17. The lollipop stick has come down into the street. The candy has melted away.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18. Barry tries to eat it.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19. Pip pokes it.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20. Myco wraps his arms around it, looking for something to trade.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21. Myco begins to explain. True science: soil life breaks food down with enzymes that fit things that were once alive.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22. The keys image: each kind of food has a key that unlocks it.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23. True science: plastic is long chains the soil's enzymes mostly cannot unlock. It does not rot away; it slowly breaks into tiny bits (microplastics) and lasts hundreds of years.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24. Pip and Ama. Pip's crush: one small step in every book.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25. Morning, above ground. Rose finds the stick and pulls it out.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26. Rose plants an apple core instead: good food for the soil.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27. The town at night; the Barrys answer Rose's goodnight.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28. Rose asleep. She never knows who answered.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29. Last page, and a hint of Book 2 (The Apple Core): roots and fungal threads reach for it.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End.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divider.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Appendix, character: Rose, three poses.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Appendix, character: Barry = critter-bacillus.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Appendix, character: Myco = critter-mycorrhiza v2.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Appendix, character: Pip.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Appendix, character: Ama.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Appendix, character: Ned (book-ned-nematode), Cilia (critter-paramecium), a bacterial-feeding nematode.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Appendix, character: Cocci, testate amoeba, the lollipop cut-out.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scene library assets/collage/originals/book-scene-garden-1.png, assets/collage/originals/book-scene-flowers-1.png, assets/collage/originals/book-scene-lollipop-soil-1.png, assets/collage/originals/book-scene-town-1.png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scene library assets/collage/originals/book-scene-barry-house-1.png, assets/collage/originals/book-scene-sugar-drop-1.png, assets/collage/originals/book-scene-root-road-1.png, assets/collage/originals/book-scene-rose-dinner-1.png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scene library assets/collage/originals/book-scene-stick-street-1.png, assets/collage/originals/book-scene-garden-morning-1.png, assets/collage/originals/book-scene-apple-core-1.png, assets/collage/originals/book-scene-town-night-1.png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scene library assets/collage/originals/book-scene-rose-bed-1.png, assets/collage/originals/book-scene-apple-below-1.png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the world.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running threads and later books.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the science behind Book 1.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print notes. PRINT: 10 x 8 in landscape trim, 0.125 in bleed (page 10.25 x 8.25 in), text 0.5 in inside trim, 300 DPI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Relationship Id="rId4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jpg"/><Relationship Id="rId4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jpg"/><Relationship Id="rId4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jpg"/><Relationship Id="rId4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jp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jp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jp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jp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jp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jp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jpg"/><Relationship Id="rId4" Type="http://schemas.openxmlformats.org/officeDocument/2006/relationships/image" Target="../media/image19.png"/><Relationship Id="rId5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jpg"/><Relationship Id="rId4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jp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jpg"/><Relationship Id="rId4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jpg"/><Relationship Id="rId4" Type="http://schemas.openxmlformats.org/officeDocument/2006/relationships/image" Target="../media/image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jp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0.jpg"/><Relationship Id="rId4" Type="http://schemas.openxmlformats.org/officeDocument/2006/relationships/image" Target="../media/image31.jpg"/><Relationship Id="rId5" Type="http://schemas.openxmlformats.org/officeDocument/2006/relationships/image" Target="../media/image32.jpg"/><Relationship Id="rId6" Type="http://schemas.openxmlformats.org/officeDocument/2006/relationships/image" Target="../media/image33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4.jp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8.jpg"/><Relationship Id="rId4" Type="http://schemas.openxmlformats.org/officeDocument/2006/relationships/image" Target="../media/image39.jpg"/><Relationship Id="rId5" Type="http://schemas.openxmlformats.org/officeDocument/2006/relationships/image" Target="../media/image40.jpg"/><Relationship Id="rId6" Type="http://schemas.openxmlformats.org/officeDocument/2006/relationships/image" Target="../media/image4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2.jpg"/><Relationship Id="rId4" Type="http://schemas.openxmlformats.org/officeDocument/2006/relationships/image" Target="../media/image43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garden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fade-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372600" cy="377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800100"/>
            <a:ext cx="822960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800" i="0">
                <a:solidFill>
                  <a:srgbClr val="1A1A1A"/>
                </a:solidFill>
                <a:latin typeface="EB Garamond"/>
              </a:rPr>
              <a:t>Under Rose's Garden</a:t>
            </a:r>
          </a:p>
          <a:p>
            <a:pPr algn="ctr">
              <a:spcAft>
                <a:spcPts val="800"/>
              </a:spcAft>
            </a:pPr>
            <a:r>
              <a:rPr sz="2200" i="1">
                <a:solidFill>
                  <a:srgbClr val="1A1A1A"/>
                </a:solidFill>
                <a:latin typeface="EB Garamond"/>
              </a:rPr>
              <a:t>Book 1: The Lollipop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372600" cy="754380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2971800"/>
            <a:ext cx="8229600" cy="400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i="1">
                <a:solidFill>
                  <a:srgbClr val="1A1A1A"/>
                </a:solidFill>
                <a:latin typeface="EB Garamond"/>
              </a:rPr>
              <a:t>For 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garden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fade-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3726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628650"/>
            <a:ext cx="8229600" cy="971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It had rained all afternoon.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flowers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fade-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3726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628650"/>
            <a:ext cx="8229600" cy="971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Everything was still dripping.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garden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book-rose-lollipop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9193" y="1920401"/>
            <a:ext cx="2460307" cy="4960297"/>
          </a:xfrm>
          <a:prstGeom prst="rect">
            <a:avLst/>
          </a:prstGeom>
        </p:spPr>
      </p:pic>
      <p:pic>
        <p:nvPicPr>
          <p:cNvPr id="4" name="Picture 3" descr="fade-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3726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628650"/>
            <a:ext cx="8229600" cy="971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Rose had a strawberry lollipop.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lollipop-soil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fade-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83480"/>
            <a:ext cx="93726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943600"/>
            <a:ext cx="8229600" cy="971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>
                <a:solidFill>
                  <a:srgbClr val="1A1A1A"/>
                </a:solidFill>
                <a:latin typeface="EB Garamond"/>
              </a:rPr>
              <a:t>Plop.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garden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book-rose-running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0717" y="3203960"/>
            <a:ext cx="2343150" cy="2644638"/>
          </a:xfrm>
          <a:prstGeom prst="rect">
            <a:avLst/>
          </a:prstGeom>
        </p:spPr>
      </p:pic>
      <p:pic>
        <p:nvPicPr>
          <p:cNvPr id="4" name="Picture 3" descr="fade-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3726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628650"/>
            <a:ext cx="8229600" cy="971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“Rose! Dinner!”</a:t>
            </a:r>
          </a:p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“Night night, dirt!”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town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fade-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83480"/>
            <a:ext cx="93726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943600"/>
            <a:ext cx="8229600" cy="971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Down below, someone heard 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barry-house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critter-bacillus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032" y="3608911"/>
            <a:ext cx="2343150" cy="2589116"/>
          </a:xfrm>
          <a:prstGeom prst="rect">
            <a:avLst/>
          </a:prstGeom>
        </p:spPr>
      </p:pic>
      <p:pic>
        <p:nvPicPr>
          <p:cNvPr id="4" name="Picture 3" descr="fade-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3726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628650"/>
            <a:ext cx="8229600" cy="971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This is Barry. He lives in a crumb house.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sugar-drop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fade-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83480"/>
            <a:ext cx="93726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943600"/>
            <a:ext cx="8229600" cy="971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>
                <a:solidFill>
                  <a:srgbClr val="1A1A1A"/>
                </a:solidFill>
                <a:latin typeface="EB Garamond"/>
              </a:rPr>
              <a:t>Drip.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sugar-drop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critter-bacillus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1882" y="2355337"/>
            <a:ext cx="2108835" cy="2330204"/>
          </a:xfrm>
          <a:prstGeom prst="rect">
            <a:avLst/>
          </a:prstGeom>
        </p:spPr>
      </p:pic>
      <p:pic>
        <p:nvPicPr>
          <p:cNvPr id="4" name="Picture 3" descr="fade-bott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83480"/>
            <a:ext cx="93726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943600"/>
            <a:ext cx="8229600" cy="971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Barry had a taste.</a:t>
            </a:r>
          </a:p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“Sugar!”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barry-house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critter-bacillus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930" y="3738367"/>
            <a:ext cx="2108835" cy="2330204"/>
          </a:xfrm>
          <a:prstGeom prst="rect">
            <a:avLst/>
          </a:prstGeom>
        </p:spPr>
      </p:pic>
      <p:pic>
        <p:nvPicPr>
          <p:cNvPr id="4" name="Picture 3" descr="critter-bacillus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912292" y="3738367"/>
            <a:ext cx="2108835" cy="2330204"/>
          </a:xfrm>
          <a:prstGeom prst="rect">
            <a:avLst/>
          </a:prstGeom>
        </p:spPr>
      </p:pic>
      <p:pic>
        <p:nvPicPr>
          <p:cNvPr id="5" name="Picture 4" descr="fade-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37260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28650"/>
            <a:ext cx="8229600" cy="971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And then there were two Barrys.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town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critter-bacillus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311" y="4309741"/>
            <a:ext cx="1757362" cy="1941837"/>
          </a:xfrm>
          <a:prstGeom prst="rect">
            <a:avLst/>
          </a:prstGeom>
        </p:spPr>
      </p:pic>
      <p:pic>
        <p:nvPicPr>
          <p:cNvPr id="4" name="Picture 3" descr="critter-bacillus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104673" y="4498336"/>
            <a:ext cx="1757362" cy="1941837"/>
          </a:xfrm>
          <a:prstGeom prst="rect">
            <a:avLst/>
          </a:prstGeom>
        </p:spPr>
      </p:pic>
      <p:pic>
        <p:nvPicPr>
          <p:cNvPr id="5" name="Picture 4" descr="critter-bacillus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036" y="4309741"/>
            <a:ext cx="1757362" cy="1941837"/>
          </a:xfrm>
          <a:prstGeom prst="rect">
            <a:avLst/>
          </a:prstGeom>
        </p:spPr>
      </p:pic>
      <p:pic>
        <p:nvPicPr>
          <p:cNvPr id="6" name="Picture 5" descr="critter-bacillus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619398" y="4498336"/>
            <a:ext cx="1757362" cy="1941837"/>
          </a:xfrm>
          <a:prstGeom prst="rect">
            <a:avLst/>
          </a:prstGeom>
        </p:spPr>
      </p:pic>
      <p:pic>
        <p:nvPicPr>
          <p:cNvPr id="7" name="Picture 6" descr="fade-bott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83480"/>
            <a:ext cx="937260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943600"/>
            <a:ext cx="8229600" cy="971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“Which Barry am I?” asked Barry.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rose-dinner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fade-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83480"/>
            <a:ext cx="93726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943600"/>
            <a:ext cx="8229600" cy="971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Up above, Rose was having her soup.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root-road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critter-mycorrhiza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358" y="2201954"/>
            <a:ext cx="3631882" cy="3642810"/>
          </a:xfrm>
          <a:prstGeom prst="rect">
            <a:avLst/>
          </a:prstGeom>
        </p:spPr>
      </p:pic>
      <p:pic>
        <p:nvPicPr>
          <p:cNvPr id="4" name="Picture 3" descr="fade-bott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83480"/>
            <a:ext cx="93726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943600"/>
            <a:ext cx="8229600" cy="971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Myco the postman carried the news.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town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book-pip-flagellat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3098" y="3447995"/>
            <a:ext cx="2225992" cy="2659489"/>
          </a:xfrm>
          <a:prstGeom prst="rect">
            <a:avLst/>
          </a:prstGeom>
        </p:spPr>
      </p:pic>
      <p:pic>
        <p:nvPicPr>
          <p:cNvPr id="4" name="Picture 3" descr="book-ama-amoeba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9193" y="3653313"/>
            <a:ext cx="2460307" cy="2500312"/>
          </a:xfrm>
          <a:prstGeom prst="rect">
            <a:avLst/>
          </a:prstGeom>
        </p:spPr>
      </p:pic>
      <p:pic>
        <p:nvPicPr>
          <p:cNvPr id="5" name="Picture 4" descr="fade-botto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983480"/>
            <a:ext cx="937260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943600"/>
            <a:ext cx="8229600" cy="971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Pip came zooming. Ama came drifting.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town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critter-bacillus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128" y="4660156"/>
            <a:ext cx="1464468" cy="1618197"/>
          </a:xfrm>
          <a:prstGeom prst="rect">
            <a:avLst/>
          </a:prstGeom>
        </p:spPr>
      </p:pic>
      <p:pic>
        <p:nvPicPr>
          <p:cNvPr id="4" name="Picture 3" descr="critter-bacillus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313860" y="4785886"/>
            <a:ext cx="1464468" cy="1618197"/>
          </a:xfrm>
          <a:prstGeom prst="rect">
            <a:avLst/>
          </a:prstGeom>
        </p:spPr>
      </p:pic>
      <p:pic>
        <p:nvPicPr>
          <p:cNvPr id="5" name="Picture 4" descr="critter-bacillus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058" y="4723021"/>
            <a:ext cx="1464468" cy="1618197"/>
          </a:xfrm>
          <a:prstGeom prst="rect">
            <a:avLst/>
          </a:prstGeom>
        </p:spPr>
      </p:pic>
      <p:pic>
        <p:nvPicPr>
          <p:cNvPr id="6" name="Picture 5" descr="critter-bacillus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468790" y="4848751"/>
            <a:ext cx="1464468" cy="1618197"/>
          </a:xfrm>
          <a:prstGeom prst="rect">
            <a:avLst/>
          </a:prstGeom>
        </p:spPr>
      </p:pic>
      <p:pic>
        <p:nvPicPr>
          <p:cNvPr id="7" name="Picture 6" descr="book-pip-flagellate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303" y="3727941"/>
            <a:ext cx="1757362" cy="2099596"/>
          </a:xfrm>
          <a:prstGeom prst="rect">
            <a:avLst/>
          </a:prstGeom>
        </p:spPr>
      </p:pic>
      <p:pic>
        <p:nvPicPr>
          <p:cNvPr id="8" name="Picture 7" descr="book-ama-amoeba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4013835"/>
            <a:ext cx="1874520" cy="1905000"/>
          </a:xfrm>
          <a:prstGeom prst="rect">
            <a:avLst/>
          </a:prstGeom>
        </p:spPr>
      </p:pic>
      <p:pic>
        <p:nvPicPr>
          <p:cNvPr id="9" name="Picture 8" descr="fade-botto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983480"/>
            <a:ext cx="9372600" cy="2560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943600"/>
            <a:ext cx="8229600" cy="971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It turned into a party.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sugar-drop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fade-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83480"/>
            <a:ext cx="93726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943600"/>
            <a:ext cx="8229600" cy="971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Then something much bigger began to come down.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stick-street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fade-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83480"/>
            <a:ext cx="93726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943600"/>
            <a:ext cx="8229600" cy="971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>
                <a:solidFill>
                  <a:srgbClr val="1A1A1A"/>
                </a:solidFill>
                <a:latin typeface="EB Garamond"/>
              </a:rPr>
              <a:t>It was a stick.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stick-street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critter-bacillus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036" y="3544184"/>
            <a:ext cx="2460307" cy="2718571"/>
          </a:xfrm>
          <a:prstGeom prst="rect">
            <a:avLst/>
          </a:prstGeom>
        </p:spPr>
      </p:pic>
      <p:pic>
        <p:nvPicPr>
          <p:cNvPr id="4" name="Picture 3" descr="fade-bott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83480"/>
            <a:ext cx="93726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943600"/>
            <a:ext cx="8229600" cy="971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Barry took a bite.</a:t>
            </a:r>
          </a:p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Nothing happened.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stick-street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book-pip-flagellat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0256" y="3308022"/>
            <a:ext cx="2460307" cy="2939435"/>
          </a:xfrm>
          <a:prstGeom prst="rect">
            <a:avLst/>
          </a:prstGeom>
        </p:spPr>
      </p:pic>
      <p:pic>
        <p:nvPicPr>
          <p:cNvPr id="4" name="Picture 3" descr="fade-bott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83480"/>
            <a:ext cx="93726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943600"/>
            <a:ext cx="8229600" cy="971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Pip gave it a poke.</a:t>
            </a:r>
          </a:p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Nothing happened.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stick-street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critter-mycorrhiza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2872919"/>
            <a:ext cx="3046095" cy="3055260"/>
          </a:xfrm>
          <a:prstGeom prst="rect">
            <a:avLst/>
          </a:prstGeom>
        </p:spPr>
      </p:pic>
      <p:pic>
        <p:nvPicPr>
          <p:cNvPr id="4" name="Picture 3" descr="fade-bott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83480"/>
            <a:ext cx="93726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943600"/>
            <a:ext cx="8229600" cy="971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Myco wrapped his arms around it.</a:t>
            </a:r>
          </a:p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There was nothing to trade.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root-road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critter-mycorrhiza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6095" y="2378219"/>
            <a:ext cx="3280410" cy="3290280"/>
          </a:xfrm>
          <a:prstGeom prst="rect">
            <a:avLst/>
          </a:prstGeom>
        </p:spPr>
      </p:pic>
      <p:pic>
        <p:nvPicPr>
          <p:cNvPr id="4" name="Picture 3" descr="fade-bott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83480"/>
            <a:ext cx="93726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943600"/>
            <a:ext cx="8229600" cy="971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“We can eat anything that was once alive,” said Myco.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town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critter-mycorrhiza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0410" y="3367619"/>
            <a:ext cx="2811780" cy="2820240"/>
          </a:xfrm>
          <a:prstGeom prst="rect">
            <a:avLst/>
          </a:prstGeom>
        </p:spPr>
      </p:pic>
      <p:pic>
        <p:nvPicPr>
          <p:cNvPr id="4" name="Picture 3" descr="fade-bott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83480"/>
            <a:ext cx="93726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943600"/>
            <a:ext cx="8229600" cy="971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“Leaves. Apples. Bread. Sugar.</a:t>
            </a:r>
          </a:p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We have a key for each of them.”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22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stick-street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critter-mycorrhiza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0717" y="3485129"/>
            <a:ext cx="2577465" cy="2585220"/>
          </a:xfrm>
          <a:prstGeom prst="rect">
            <a:avLst/>
          </a:prstGeom>
        </p:spPr>
      </p:pic>
      <p:pic>
        <p:nvPicPr>
          <p:cNvPr id="4" name="Picture 3" descr="fade-bott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83480"/>
            <a:ext cx="93726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943600"/>
            <a:ext cx="8229600" cy="971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“But this is plastic.</a:t>
            </a:r>
          </a:p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Nobody down here has a key for it.”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town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book-pip-flagellat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358" y="3839428"/>
            <a:ext cx="1991677" cy="2379543"/>
          </a:xfrm>
          <a:prstGeom prst="rect">
            <a:avLst/>
          </a:prstGeom>
        </p:spPr>
      </p:pic>
      <p:pic>
        <p:nvPicPr>
          <p:cNvPr id="4" name="Picture 3" descr="book-ama-amoeba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3457" y="4083367"/>
            <a:ext cx="2108835" cy="2143125"/>
          </a:xfrm>
          <a:prstGeom prst="rect">
            <a:avLst/>
          </a:prstGeom>
        </p:spPr>
      </p:pic>
      <p:pic>
        <p:nvPicPr>
          <p:cNvPr id="5" name="Picture 4" descr="fade-botto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983480"/>
            <a:ext cx="937260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943600"/>
            <a:ext cx="8229600" cy="971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Pip tried to say hello to Ama.</a:t>
            </a:r>
          </a:p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Maybe tomorrow.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24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garden-morning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book-rose-pulling-stick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2275051"/>
            <a:ext cx="2928937" cy="4250997"/>
          </a:xfrm>
          <a:prstGeom prst="rect">
            <a:avLst/>
          </a:prstGeom>
        </p:spPr>
      </p:pic>
      <p:pic>
        <p:nvPicPr>
          <p:cNvPr id="4" name="Picture 3" descr="fade-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3726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628650"/>
            <a:ext cx="8229600" cy="971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In the morning, Rose found the stick.</a:t>
            </a:r>
          </a:p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She put it in the bin.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apple-core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fade-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83480"/>
            <a:ext cx="93726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943600"/>
            <a:ext cx="8229600" cy="971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Then she planted an apple core.</a:t>
            </a:r>
          </a:p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“Night night, dirt!”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town-night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critter-bacillus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575" y="4004730"/>
            <a:ext cx="1171575" cy="1294558"/>
          </a:xfrm>
          <a:prstGeom prst="rect">
            <a:avLst/>
          </a:prstGeom>
        </p:spPr>
      </p:pic>
      <p:pic>
        <p:nvPicPr>
          <p:cNvPr id="4" name="Picture 3" descr="critter-bacillus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225992" y="4193325"/>
            <a:ext cx="1171575" cy="1294558"/>
          </a:xfrm>
          <a:prstGeom prst="rect">
            <a:avLst/>
          </a:prstGeom>
        </p:spPr>
      </p:pic>
      <p:pic>
        <p:nvPicPr>
          <p:cNvPr id="5" name="Picture 4" descr="critter-bacillus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0410" y="4004730"/>
            <a:ext cx="1171575" cy="1294558"/>
          </a:xfrm>
          <a:prstGeom prst="rect">
            <a:avLst/>
          </a:prstGeom>
        </p:spPr>
      </p:pic>
      <p:pic>
        <p:nvPicPr>
          <p:cNvPr id="6" name="Picture 5" descr="critter-bacillus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334827" y="4193325"/>
            <a:ext cx="1171575" cy="1294558"/>
          </a:xfrm>
          <a:prstGeom prst="rect">
            <a:avLst/>
          </a:prstGeom>
        </p:spPr>
      </p:pic>
      <p:pic>
        <p:nvPicPr>
          <p:cNvPr id="7" name="Picture 6" descr="critter-bacillus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9245" y="4004730"/>
            <a:ext cx="1171575" cy="1294558"/>
          </a:xfrm>
          <a:prstGeom prst="rect">
            <a:avLst/>
          </a:prstGeom>
        </p:spPr>
      </p:pic>
      <p:pic>
        <p:nvPicPr>
          <p:cNvPr id="8" name="Picture 7" descr="critter-bacillus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443662" y="4193325"/>
            <a:ext cx="1171575" cy="1294558"/>
          </a:xfrm>
          <a:prstGeom prst="rect">
            <a:avLst/>
          </a:prstGeom>
        </p:spPr>
      </p:pic>
      <p:pic>
        <p:nvPicPr>
          <p:cNvPr id="9" name="Picture 8" descr="fade-bott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83480"/>
            <a:ext cx="9372600" cy="2560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943600"/>
            <a:ext cx="8229600" cy="971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Down below, all the sleepy Barrys said,</a:t>
            </a:r>
          </a:p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“Night night, Rose.”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27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rose-bed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fade-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3726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628650"/>
            <a:ext cx="8229600" cy="971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Rose didn't hear them.</a:t>
            </a:r>
          </a:p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But she smiled in her sleep.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28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apple-below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fade-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83480"/>
            <a:ext cx="93726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943600"/>
            <a:ext cx="8229600" cy="971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>
                <a:solidFill>
                  <a:srgbClr val="1A1A1A"/>
                </a:solidFill>
                <a:latin typeface="EB Garamond"/>
              </a:rPr>
              <a:t>And down in the dark, someone smelled apples.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7700" y="6800850"/>
            <a:ext cx="457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3F1EA"/>
                </a:solidFill>
                <a:latin typeface="EB Garamond"/>
              </a:rPr>
              <a:t>29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-scene-flowers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900" y="0"/>
            <a:ext cx="10058400" cy="7543800"/>
          </a:xfrm>
          <a:prstGeom prst="rect">
            <a:avLst/>
          </a:prstGeom>
        </p:spPr>
      </p:pic>
      <p:pic>
        <p:nvPicPr>
          <p:cNvPr id="3" name="Picture 2" descr="fade-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372600" cy="377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800100"/>
            <a:ext cx="822960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800" i="0">
                <a:solidFill>
                  <a:srgbClr val="1A1A1A"/>
                </a:solidFill>
                <a:latin typeface="EB Garamond"/>
              </a:rPr>
              <a:t>The End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372600" cy="7543800"/>
          </a:xfrm>
          <a:prstGeom prst="rect">
            <a:avLst/>
          </a:prstGeom>
          <a:solidFill>
            <a:srgbClr val="E9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24003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i="0">
                <a:solidFill>
                  <a:srgbClr val="1A1A1A"/>
                </a:solidFill>
                <a:latin typeface="EB Garamond"/>
              </a:rPr>
              <a:t>Appendix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i="1">
                <a:solidFill>
                  <a:srgbClr val="1A1A1A"/>
                </a:solidFill>
                <a:latin typeface="EB Garamond"/>
              </a:rPr>
              <a:t>Characters, scenes, story notes and print notes.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i="1">
                <a:solidFill>
                  <a:srgbClr val="1A1A1A"/>
                </a:solidFill>
                <a:latin typeface="EB Garamond"/>
              </a:rPr>
              <a:t>Not part of the printed book.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372600" cy="754380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571500"/>
            <a:ext cx="8229600" cy="97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i="0">
                <a:solidFill>
                  <a:srgbClr val="1A1A1A"/>
                </a:solidFill>
                <a:latin typeface="EB Garamond"/>
              </a:rPr>
              <a:t>Rose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i="0">
                <a:solidFill>
                  <a:srgbClr val="1A1A1A"/>
                </a:solidFill>
                <a:latin typeface="EB Garamond"/>
              </a:rPr>
              <a:t>About 6. Curious, messy and kind. She talks to the ground (“Night night, dirt!”) and never knows anyone hears her.</a:t>
            </a:r>
          </a:p>
        </p:txBody>
      </p:sp>
      <p:pic>
        <p:nvPicPr>
          <p:cNvPr id="4" name="Picture 3" descr="book-rose-lollipop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417" y="2286000"/>
            <a:ext cx="2239365" cy="4514850"/>
          </a:xfrm>
          <a:prstGeom prst="rect">
            <a:avLst/>
          </a:prstGeom>
        </p:spPr>
      </p:pic>
      <p:pic>
        <p:nvPicPr>
          <p:cNvPr id="5" name="Picture 4" descr="book-rose-running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124350"/>
            <a:ext cx="2514600" cy="2838148"/>
          </a:xfrm>
          <a:prstGeom prst="rect">
            <a:avLst/>
          </a:prstGeom>
        </p:spPr>
      </p:pic>
      <p:pic>
        <p:nvPicPr>
          <p:cNvPr id="6" name="Picture 5" descr="book-rose-pulling-stick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718606"/>
            <a:ext cx="2514600" cy="364963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372600" cy="754380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571500"/>
            <a:ext cx="8229600" cy="97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i="0">
                <a:solidFill>
                  <a:srgbClr val="1A1A1A"/>
                </a:solidFill>
                <a:latin typeface="EB Garamond"/>
              </a:rPr>
              <a:t>Barry the Bacterium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i="0">
                <a:solidFill>
                  <a:srgbClr val="1A1A1A"/>
                </a:solidFill>
                <a:latin typeface="EB Garamond"/>
              </a:rPr>
              <a:t>Rod-shaped and always hungry. When he eats sugar he splits into two Barrys, then four. He never knows which Barry he is.</a:t>
            </a:r>
          </a:p>
        </p:txBody>
      </p:sp>
      <p:pic>
        <p:nvPicPr>
          <p:cNvPr id="4" name="Picture 3" descr="critter-bacillus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330" y="2286000"/>
            <a:ext cx="4085939" cy="45148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372600" cy="754380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571500"/>
            <a:ext cx="8229600" cy="97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i="0">
                <a:solidFill>
                  <a:srgbClr val="1A1A1A"/>
                </a:solidFill>
                <a:latin typeface="EB Garamond"/>
              </a:rPr>
              <a:t>Myco the mycorrhizal fungus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i="0">
                <a:solidFill>
                  <a:srgbClr val="1A1A1A"/>
                </a:solidFill>
                <a:latin typeface="EB Garamond"/>
              </a:rPr>
              <a:t>The town's postman. His long arms reach everywhere and hold hands with the tree roots, trading minerals for the sugars the roots make. In Book 1 he explains plastic.</a:t>
            </a:r>
          </a:p>
        </p:txBody>
      </p:sp>
      <p:pic>
        <p:nvPicPr>
          <p:cNvPr id="4" name="Picture 3" descr="critter-mycorrhiza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647" y="2286000"/>
            <a:ext cx="4501305" cy="45148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372600" cy="754380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571500"/>
            <a:ext cx="8229600" cy="97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i="0">
                <a:solidFill>
                  <a:srgbClr val="1A1A1A"/>
                </a:solidFill>
                <a:latin typeface="EB Garamond"/>
              </a:rPr>
              <a:t>Pip the Flagellate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i="0">
                <a:solidFill>
                  <a:srgbClr val="1A1A1A"/>
                </a:solidFill>
                <a:latin typeface="EB Garamond"/>
              </a:rPr>
              <a:t>Small, fast and nervous, with two long tails. He has a crush on Ama.</a:t>
            </a:r>
          </a:p>
        </p:txBody>
      </p:sp>
      <p:pic>
        <p:nvPicPr>
          <p:cNvPr id="4" name="Picture 3" descr="book-pip-flagellat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835" y="2286000"/>
            <a:ext cx="3778929" cy="451485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372600" cy="754380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571500"/>
            <a:ext cx="8229600" cy="97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i="0">
                <a:solidFill>
                  <a:srgbClr val="1A1A1A"/>
                </a:solidFill>
                <a:latin typeface="EB Garamond"/>
              </a:rPr>
              <a:t>Ama the Amoeba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i="0">
                <a:solidFill>
                  <a:srgbClr val="1A1A1A"/>
                </a:solidFill>
                <a:latin typeface="EB Garamond"/>
              </a:rPr>
              <a:t>Changes shape when she's embarrassed.</a:t>
            </a:r>
          </a:p>
        </p:txBody>
      </p:sp>
      <p:pic>
        <p:nvPicPr>
          <p:cNvPr id="4" name="Picture 3" descr="book-ama-amoeba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993" y="2286000"/>
            <a:ext cx="4442612" cy="451485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372600" cy="754380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571500"/>
            <a:ext cx="8229600" cy="97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i="0">
                <a:solidFill>
                  <a:srgbClr val="1A1A1A"/>
                </a:solidFill>
                <a:latin typeface="EB Garamond"/>
              </a:rPr>
              <a:t>For later books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i="0">
                <a:solidFill>
                  <a:srgbClr val="1A1A1A"/>
                </a:solidFill>
                <a:latin typeface="EB Garamond"/>
              </a:rPr>
              <a:t>Ned the Nematode (night watchman), Cilia the Ciliate (arrives when the soil runs out of air), and more of the soil food web.</a:t>
            </a:r>
          </a:p>
        </p:txBody>
      </p:sp>
      <p:pic>
        <p:nvPicPr>
          <p:cNvPr id="4" name="Picture 3" descr="small-book-ned-nematode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86125"/>
            <a:ext cx="2514600" cy="2514600"/>
          </a:xfrm>
          <a:prstGeom prst="rect">
            <a:avLst/>
          </a:prstGeom>
        </p:spPr>
      </p:pic>
      <p:pic>
        <p:nvPicPr>
          <p:cNvPr id="5" name="Picture 4" descr="critter-paramecium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5349" y="2286000"/>
            <a:ext cx="2401900" cy="4514850"/>
          </a:xfrm>
          <a:prstGeom prst="rect">
            <a:avLst/>
          </a:prstGeom>
        </p:spPr>
      </p:pic>
      <p:pic>
        <p:nvPicPr>
          <p:cNvPr id="6" name="Picture 5" descr="critter-nematode-bacterial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0965" y="2286000"/>
            <a:ext cx="1237068" cy="451485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372600" cy="754380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571500"/>
            <a:ext cx="8229600" cy="97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i="0">
                <a:solidFill>
                  <a:srgbClr val="1A1A1A"/>
                </a:solidFill>
                <a:latin typeface="EB Garamond"/>
              </a:rPr>
              <a:t>More creatures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i="0">
                <a:solidFill>
                  <a:srgbClr val="1A1A1A"/>
                </a:solidFill>
                <a:latin typeface="EB Garamond"/>
              </a:rPr>
              <a:t>From the creature set, for future books.</a:t>
            </a:r>
          </a:p>
        </p:txBody>
      </p:sp>
      <p:pic>
        <p:nvPicPr>
          <p:cNvPr id="4" name="Picture 3" descr="critter-cocci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45802"/>
            <a:ext cx="2514600" cy="2195245"/>
          </a:xfrm>
          <a:prstGeom prst="rect">
            <a:avLst/>
          </a:prstGeom>
        </p:spPr>
      </p:pic>
      <p:pic>
        <p:nvPicPr>
          <p:cNvPr id="5" name="Picture 4" descr="critter-testate-amoeba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035871"/>
            <a:ext cx="2514600" cy="3015107"/>
          </a:xfrm>
          <a:prstGeom prst="rect">
            <a:avLst/>
          </a:prstGeom>
        </p:spPr>
      </p:pic>
      <p:pic>
        <p:nvPicPr>
          <p:cNvPr id="6" name="Picture 5" descr="book-lollipop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569" y="2286000"/>
            <a:ext cx="1629860" cy="451485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372600" cy="754380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5715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i="0">
                <a:solidFill>
                  <a:srgbClr val="1A1A1A"/>
                </a:solidFill>
                <a:latin typeface="EB Garamond"/>
              </a:rPr>
              <a:t>Scene library</a:t>
            </a:r>
          </a:p>
        </p:txBody>
      </p:sp>
      <p:pic>
        <p:nvPicPr>
          <p:cNvPr id="4" name="Picture 3" descr="small-book-scene-garden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1200150"/>
            <a:ext cx="3505199" cy="26288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3840480"/>
            <a:ext cx="4000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i="0">
                <a:solidFill>
                  <a:srgbClr val="1A1A1A"/>
                </a:solidFill>
                <a:latin typeface="EB Garamond"/>
              </a:rPr>
              <a:t>garden</a:t>
            </a:r>
          </a:p>
        </p:txBody>
      </p:sp>
      <p:pic>
        <p:nvPicPr>
          <p:cNvPr id="6" name="Picture 5" descr="small-book-scene-flowers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0" y="1200150"/>
            <a:ext cx="3505199" cy="26288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00600" y="3840480"/>
            <a:ext cx="4000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i="0">
                <a:solidFill>
                  <a:srgbClr val="1A1A1A"/>
                </a:solidFill>
                <a:latin typeface="EB Garamond"/>
              </a:rPr>
              <a:t>flowers</a:t>
            </a:r>
          </a:p>
        </p:txBody>
      </p:sp>
      <p:pic>
        <p:nvPicPr>
          <p:cNvPr id="8" name="Picture 7" descr="small-book-scene-lollipop-soil-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4114800"/>
            <a:ext cx="3505199" cy="26288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6755130"/>
            <a:ext cx="4000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i="0">
                <a:solidFill>
                  <a:srgbClr val="1A1A1A"/>
                </a:solidFill>
                <a:latin typeface="EB Garamond"/>
              </a:rPr>
              <a:t>lolly-soil</a:t>
            </a:r>
          </a:p>
        </p:txBody>
      </p:sp>
      <p:pic>
        <p:nvPicPr>
          <p:cNvPr id="10" name="Picture 9" descr="small-book-scene-town-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250" y="4114800"/>
            <a:ext cx="3505199" cy="26288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00600" y="6755130"/>
            <a:ext cx="4000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i="0">
                <a:solidFill>
                  <a:srgbClr val="1A1A1A"/>
                </a:solidFill>
                <a:latin typeface="EB Garamond"/>
              </a:rPr>
              <a:t>town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372600" cy="754380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5715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i="0">
                <a:solidFill>
                  <a:srgbClr val="1A1A1A"/>
                </a:solidFill>
                <a:latin typeface="EB Garamond"/>
              </a:rPr>
              <a:t>Scene library</a:t>
            </a:r>
          </a:p>
        </p:txBody>
      </p:sp>
      <p:pic>
        <p:nvPicPr>
          <p:cNvPr id="4" name="Picture 3" descr="small-book-scene-barry-house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1200150"/>
            <a:ext cx="3505199" cy="26288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3840480"/>
            <a:ext cx="4000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i="0">
                <a:solidFill>
                  <a:srgbClr val="1A1A1A"/>
                </a:solidFill>
                <a:latin typeface="EB Garamond"/>
              </a:rPr>
              <a:t>house</a:t>
            </a:r>
          </a:p>
        </p:txBody>
      </p:sp>
      <p:pic>
        <p:nvPicPr>
          <p:cNvPr id="6" name="Picture 5" descr="small-book-scene-sugar-drop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0" y="1200150"/>
            <a:ext cx="3505199" cy="26288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00600" y="3840480"/>
            <a:ext cx="4000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i="0">
                <a:solidFill>
                  <a:srgbClr val="1A1A1A"/>
                </a:solidFill>
                <a:latin typeface="EB Garamond"/>
              </a:rPr>
              <a:t>drop</a:t>
            </a:r>
          </a:p>
        </p:txBody>
      </p:sp>
      <p:pic>
        <p:nvPicPr>
          <p:cNvPr id="8" name="Picture 7" descr="small-book-scene-root-road-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4114800"/>
            <a:ext cx="3505199" cy="26288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6755130"/>
            <a:ext cx="4000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i="0">
                <a:solidFill>
                  <a:srgbClr val="1A1A1A"/>
                </a:solidFill>
                <a:latin typeface="EB Garamond"/>
              </a:rPr>
              <a:t>root-road</a:t>
            </a:r>
          </a:p>
        </p:txBody>
      </p:sp>
      <p:pic>
        <p:nvPicPr>
          <p:cNvPr id="10" name="Picture 9" descr="small-book-scene-rose-dinner-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250" y="4114800"/>
            <a:ext cx="3505199" cy="26288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00600" y="6755130"/>
            <a:ext cx="4000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i="0">
                <a:solidFill>
                  <a:srgbClr val="1A1A1A"/>
                </a:solidFill>
                <a:latin typeface="EB Garamond"/>
              </a:rPr>
              <a:t>dinner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372600" cy="754380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5715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i="0">
                <a:solidFill>
                  <a:srgbClr val="1A1A1A"/>
                </a:solidFill>
                <a:latin typeface="EB Garamond"/>
              </a:rPr>
              <a:t>Scene library</a:t>
            </a:r>
          </a:p>
        </p:txBody>
      </p:sp>
      <p:pic>
        <p:nvPicPr>
          <p:cNvPr id="4" name="Picture 3" descr="small-book-scene-stick-street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1200150"/>
            <a:ext cx="3505199" cy="26288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3840480"/>
            <a:ext cx="4000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i="0">
                <a:solidFill>
                  <a:srgbClr val="1A1A1A"/>
                </a:solidFill>
                <a:latin typeface="EB Garamond"/>
              </a:rPr>
              <a:t>stick</a:t>
            </a:r>
          </a:p>
        </p:txBody>
      </p:sp>
      <p:pic>
        <p:nvPicPr>
          <p:cNvPr id="6" name="Picture 5" descr="small-book-scene-garden-morning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0" y="1200150"/>
            <a:ext cx="3505199" cy="26288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00600" y="3840480"/>
            <a:ext cx="4000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i="0">
                <a:solidFill>
                  <a:srgbClr val="1A1A1A"/>
                </a:solidFill>
                <a:latin typeface="EB Garamond"/>
              </a:rPr>
              <a:t>morning</a:t>
            </a:r>
          </a:p>
        </p:txBody>
      </p:sp>
      <p:pic>
        <p:nvPicPr>
          <p:cNvPr id="8" name="Picture 7" descr="small-book-scene-apple-core-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4114800"/>
            <a:ext cx="3505199" cy="26288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6755130"/>
            <a:ext cx="4000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i="0">
                <a:solidFill>
                  <a:srgbClr val="1A1A1A"/>
                </a:solidFill>
                <a:latin typeface="EB Garamond"/>
              </a:rPr>
              <a:t>apple</a:t>
            </a:r>
          </a:p>
        </p:txBody>
      </p:sp>
      <p:pic>
        <p:nvPicPr>
          <p:cNvPr id="10" name="Picture 9" descr="small-book-scene-town-night-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250" y="4114800"/>
            <a:ext cx="3505199" cy="26288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00600" y="6755130"/>
            <a:ext cx="4000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i="0">
                <a:solidFill>
                  <a:srgbClr val="1A1A1A"/>
                </a:solidFill>
                <a:latin typeface="EB Garamond"/>
              </a:rPr>
              <a:t>night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372600" cy="754380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5715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i="0">
                <a:solidFill>
                  <a:srgbClr val="1A1A1A"/>
                </a:solidFill>
                <a:latin typeface="EB Garamond"/>
              </a:rPr>
              <a:t>Scene library</a:t>
            </a:r>
          </a:p>
        </p:txBody>
      </p:sp>
      <p:pic>
        <p:nvPicPr>
          <p:cNvPr id="4" name="Picture 3" descr="small-book-scene-rose-bed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1200150"/>
            <a:ext cx="3505199" cy="26288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3840480"/>
            <a:ext cx="4000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i="0">
                <a:solidFill>
                  <a:srgbClr val="1A1A1A"/>
                </a:solidFill>
                <a:latin typeface="EB Garamond"/>
              </a:rPr>
              <a:t>bed</a:t>
            </a:r>
          </a:p>
        </p:txBody>
      </p:sp>
      <p:pic>
        <p:nvPicPr>
          <p:cNvPr id="6" name="Picture 5" descr="small-book-scene-apple-below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0" y="1200150"/>
            <a:ext cx="3505199" cy="26288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00600" y="3840480"/>
            <a:ext cx="4000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i="0">
                <a:solidFill>
                  <a:srgbClr val="1A1A1A"/>
                </a:solidFill>
                <a:latin typeface="EB Garamond"/>
              </a:rPr>
              <a:t>apple-below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372600" cy="754380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571500"/>
            <a:ext cx="8229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i="0">
                <a:solidFill>
                  <a:srgbClr val="1A1A1A"/>
                </a:solidFill>
                <a:latin typeface="EB Garamond"/>
              </a:rPr>
              <a:t>The world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i="0">
                <a:solidFill>
                  <a:srgbClr val="1A1A1A"/>
                </a:solidFill>
                <a:latin typeface="EB Garamond"/>
              </a:rPr>
              <a:t>Above ground is Rose's garden. Below it is a whole town in the soil, lit by a soft brown glow, with tunnels for streets and soil crumbs for houses.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i="0">
                <a:solidFill>
                  <a:srgbClr val="1A1A1A"/>
                </a:solidFill>
                <a:latin typeface="EB Garamond"/>
              </a:rPr>
              <a:t>Every story starts with something Rose does up top, and the town lives with the result.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i="0">
                <a:solidFill>
                  <a:srgbClr val="1A1A1A"/>
                </a:solidFill>
                <a:latin typeface="EB Garamond"/>
              </a:rPr>
              <a:t>Every book ends with Rose learning one new thing about what the garden likes, without ever knowing who taught her.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372600" cy="754380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571500"/>
            <a:ext cx="8229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i="0">
                <a:solidFill>
                  <a:srgbClr val="1A1A1A"/>
                </a:solidFill>
                <a:latin typeface="EB Garamond"/>
              </a:rPr>
              <a:t>Running threads and later books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i="0">
                <a:solidFill>
                  <a:srgbClr val="1A1A1A"/>
                </a:solidFill>
                <a:latin typeface="EB Garamond"/>
              </a:rPr>
              <a:t>Barry's hunger: how many Barrys there are shows how much food came down.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i="0">
                <a:solidFill>
                  <a:srgbClr val="1A1A1A"/>
                </a:solidFill>
                <a:latin typeface="EB Garamond"/>
              </a:rPr>
              <a:t>Pip and Ama: Pip gets one small step closer in each book.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i="0">
                <a:solidFill>
                  <a:srgbClr val="1A1A1A"/>
                </a:solidFill>
                <a:latin typeface="EB Garamond"/>
              </a:rPr>
              <a:t>Cilia's warnings: when she arrives, the soil needs air.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i="0">
                <a:solidFill>
                  <a:srgbClr val="1A1A1A"/>
                </a:solidFill>
                <a:latin typeface="EB Garamond"/>
              </a:rPr>
              <a:t>Later books: The Apple Core (a happy feast), The Flood (too much water, Cilia arrives), The Spade (Myco's arms are cut and regrow), Spike's Raid (a root-nibbling nematode; Pip is brave), Winter Sleep (the town slows down).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372600" cy="754380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571500"/>
            <a:ext cx="8229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i="0">
                <a:solidFill>
                  <a:srgbClr val="1A1A1A"/>
                </a:solidFill>
                <a:latin typeface="EB Garamond"/>
              </a:rPr>
              <a:t>The science behind Book 1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i="0">
                <a:solidFill>
                  <a:srgbClr val="1A1A1A"/>
                </a:solidFill>
                <a:latin typeface="EB Garamond"/>
              </a:rPr>
              <a:t>Soil microbes break food down with enzymes that fit things that were once alive: leaves, fruit, bread, sugar. In the book these are the “keys”.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i="0">
                <a:solidFill>
                  <a:srgbClr val="1A1A1A"/>
                </a:solidFill>
                <a:latin typeface="EB Garamond"/>
              </a:rPr>
              <a:t>Plastic is made of long chains that soil enzymes mostly cannot unlock. It does not rot away; it slowly breaks into tiny pieces (microplastics) and can last hundreds of years.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i="0">
                <a:solidFill>
                  <a:srgbClr val="1A1A1A"/>
                </a:solidFill>
                <a:latin typeface="EB Garamond"/>
              </a:rPr>
              <a:t>Bacteria multiply by splitting in two when they have food, which is why there are more Barrys.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i="0">
                <a:solidFill>
                  <a:srgbClr val="1A1A1A"/>
                </a:solidFill>
                <a:latin typeface="EB Garamond"/>
              </a:rPr>
              <a:t>Mycorrhizal fungi trade minerals and water with roots in exchange for sugars.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372600" cy="7543800"/>
          </a:xfrm>
          <a:prstGeom prst="rect">
            <a:avLst/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571500"/>
            <a:ext cx="8229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i="0">
                <a:solidFill>
                  <a:srgbClr val="1A1A1A"/>
                </a:solidFill>
                <a:latin typeface="EB Garamond"/>
              </a:rPr>
              <a:t>Print notes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i="0">
                <a:solidFill>
                  <a:srgbClr val="1A1A1A"/>
                </a:solidFill>
                <a:latin typeface="EB Garamond"/>
              </a:rPr>
              <a:t>Trim size 10 × 8 in landscape. Each slide is 10.25 × 8.25 in: trim plus 0.125 in bleed on every side.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i="0">
                <a:solidFill>
                  <a:srgbClr val="1A1A1A"/>
                </a:solidFill>
                <a:latin typeface="EB Garamond"/>
              </a:rPr>
              <a:t>Text and page numbers stay at least 0.5 in inside the trim.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i="0">
                <a:solidFill>
                  <a:srgbClr val="1A1A1A"/>
                </a:solidFill>
                <a:latin typeface="EB Garamond"/>
              </a:rPr>
              <a:t>32 book pages (title, dedication, 29 story pages, The End). Picture books are printed in multiples of 8 pages.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i="0">
                <a:solidFill>
                  <a:srgbClr val="1A1A1A"/>
                </a:solidFill>
                <a:latin typeface="EB Garamond"/>
              </a:rPr>
              <a:t>The art is about 200 DPI at this size. Upscale the scenes to 300 DPI before sending to a printer.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i="0">
                <a:solidFill>
                  <a:srgbClr val="1A1A1A"/>
                </a:solidFill>
                <a:latin typeface="EB Garamond"/>
              </a:rPr>
              <a:t>Remove the appendix before exporting the print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