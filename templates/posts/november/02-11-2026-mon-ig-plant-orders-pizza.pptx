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Cover. Collage: pizza-box-root. Sources: Dr. Elaine Ingham, "How to Build Great Soil, Part 1", Diego Footer, 12:33: https://www.youtube.com/watch?v=ErMHR6Mc4Bk&amp;t=753s; Dr. Elaine Ingham, "How to Build Great Soil, Part 1", Diego Footer, 15:03: https://www.youtube.com/watch?v=ErMHR6Mc4Bk&amp;t=903s. Clarholm, "Interactions of bacteria, protozoa and plants leading to mineralization of soil nitrogen", Soil Biology and Biochemistry, 1985: https://scholar.google.com/scholar?q=Clarholm+1985+Interactions+of+bacteria+protozoa+and+plants+leading+to+mineralization+of+soil+nitrogen.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Collage: cupcakes-cookies-root.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Library cutout: cute-bacterium-1.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Library cutout: fungal-hyphae-1.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No flagellate in assets/microscopy/: placeholder until one is supplied (Wes).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Type only.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1B quote, Legacy Purple (Dr. Elaine content). Quote at 16:32.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428750"/>
            <a:ext cx="8763000" cy="20543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600" b="1" i="0">
                <a:solidFill>
                  <a:srgbClr val="333130"/>
                </a:solidFill>
                <a:latin typeface="Montserrat"/>
              </a:rPr>
              <a:t>Your plant ordered pizza today. 🍕</a:t>
            </a:r>
          </a:p>
        </p:txBody>
      </p:sp>
      <p:pic>
        <p:nvPicPr>
          <p:cNvPr id="3" name="Picture 2" descr="trim-pizza-box-root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7809" y="5238750"/>
            <a:ext cx="6211381" cy="609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12:33 and 15:03; Clarholm 1985</a:t>
            </a:r>
          </a:p>
        </p:txBody>
      </p:sp>
      <p:pic>
        <p:nvPicPr>
          <p:cNvPr id="6" name="Picture 5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50" y="11250012"/>
            <a:ext cx="1047750" cy="94198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428750"/>
            <a:ext cx="8763000" cy="3851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333130"/>
                </a:solidFill>
                <a:latin typeface="Montserrat"/>
              </a:rPr>
              <a:t>It pays with root exudates: mostly sugar, a little protein, a little carbohydrate. Dr. Elaine called them cakes and cookies.</a:t>
            </a:r>
          </a:p>
        </p:txBody>
      </p:sp>
      <p:pic>
        <p:nvPicPr>
          <p:cNvPr id="3" name="Picture 2" descr="trim-cupcakes-cookies-root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7718608"/>
            <a:ext cx="8763000" cy="189828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12:33 and 15:03; Clarholm 1985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8500" y="120205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428750"/>
            <a:ext cx="8763000" cy="4583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333130"/>
                </a:solidFill>
                <a:latin typeface="Montserrat"/>
              </a:rPr>
              <a:t>The recipe is the order. Each blend wakes the bacteria or fungi that make the enzymes for one nutrient: boron, molybdenum, zinc, phosphorus.</a:t>
            </a:r>
          </a:p>
        </p:txBody>
      </p:sp>
      <p:pic>
        <p:nvPicPr>
          <p:cNvPr id="3" name="Picture 2" descr="trim-cute-bacterium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500" y="7334250"/>
            <a:ext cx="3556000" cy="4000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12:33 and 15:03; Clarholm 1985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8500" y="120205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428750"/>
            <a:ext cx="8763000" cy="45173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200" b="1" i="0">
                <a:solidFill>
                  <a:srgbClr val="333130"/>
                </a:solidFill>
                <a:latin typeface="Montserrat"/>
              </a:rPr>
              <a:t>Those microbes pull the nutrients off sand, silt, clay and organic matter, and store them in their own bodies.</a:t>
            </a:r>
          </a:p>
        </p:txBody>
      </p:sp>
      <p:pic>
        <p:nvPicPr>
          <p:cNvPr id="3" name="Picture 2" descr="trim-fungal-hypha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9627" y="7334250"/>
            <a:ext cx="3747745" cy="4000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12:33 and 15:03; Clarholm 1985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8500" y="120205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428750"/>
            <a:ext cx="8763000" cy="4184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800" b="1" i="0">
                <a:solidFill>
                  <a:srgbClr val="333130"/>
                </a:solidFill>
                <a:latin typeface="Montserrat"/>
              </a:rPr>
              <a:t>Delivery: protozoa and nematodes eat the microbes and release the extra nutrients at the root, in plant-available form.</a:t>
            </a:r>
          </a:p>
        </p:txBody>
      </p:sp>
      <p:sp>
        <p:nvSpPr>
          <p:cNvPr id="3" name="Rectangle 2"/>
          <p:cNvSpPr/>
          <p:nvPr/>
        </p:nvSpPr>
        <p:spPr>
          <a:xfrm>
            <a:off x="762000" y="6381750"/>
            <a:ext cx="8763000" cy="4953000"/>
          </a:xfrm>
          <a:prstGeom prst="rect">
            <a:avLst/>
          </a:prstGeom>
          <a:solidFill>
            <a:srgbClr val="D9D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7750" y="6381750"/>
            <a:ext cx="8191500" cy="495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A463F"/>
                </a:solidFill>
                <a:latin typeface="Montserrat"/>
              </a:rPr>
              <a:t>PHOTO: assets/microscopy/flagellate.jpg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12:33 and 15:03; Clarholm 1985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8500" y="120205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4041633"/>
            <a:ext cx="8763000" cy="3918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600" b="1" i="0">
                <a:solidFill>
                  <a:srgbClr val="333130"/>
                </a:solidFill>
                <a:latin typeface="Montserrat"/>
              </a:rPr>
              <a:t>Only the plant knows what it needs today. A soil lab report arrives two weeks later.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12:33 and 15:03; Clarholm 1985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8500" y="120205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4C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6750" y="3362430"/>
            <a:ext cx="28575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26000" b="0" i="0">
                <a:solidFill>
                  <a:srgbClr val="DBE6A7"/>
                </a:solidFill>
                <a:latin typeface="EB Garamond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5457930"/>
            <a:ext cx="8763000" cy="2514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0" b="0" i="1">
                <a:solidFill>
                  <a:srgbClr val="F3F1EA"/>
                </a:solidFill>
                <a:latin typeface="EB Garamond"/>
              </a:rPr>
              <a:t>Put the plant back in control of its own life.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8258069"/>
            <a:ext cx="1143000" cy="381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8543819"/>
            <a:ext cx="8763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F3F1EA"/>
                </a:solidFill>
                <a:latin typeface="Montserrat"/>
              </a:rPr>
              <a:t>Dr. Elaine Ingham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9001019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DBE6A7"/>
                </a:solidFill>
                <a:latin typeface="Source Sans 3"/>
              </a:rPr>
              <a:t>How to Build Great Soil, Part 1 · Diego Footer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F3F1EA">
                    <a:alpha val="80000"/>
                  </a:srgbClr>
                </a:solidFill>
                <a:latin typeface="Source Sans 3"/>
              </a:rPr>
              <a:t>How to Build Great Soil, Part 1, 16:32</a:t>
            </a:r>
          </a:p>
        </p:txBody>
      </p:sp>
      <p:pic>
        <p:nvPicPr>
          <p:cNvPr id="8" name="Picture 7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1250012"/>
            <a:ext cx="1047750" cy="94198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