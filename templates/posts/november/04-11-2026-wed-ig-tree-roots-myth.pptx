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2 myth-buster, Glow strikethrough. Collage: tree-compaction. Sources: Dr. Elaine Ingham, "How to Build Great Soil, Part 1", Diego Footer, 2:54: https://www.youtube.com/watch?v=ErMHR6Mc4Bk&amp;t=174s; Dr. Elaine Ingham, "How to Build Great Soil, Part 1", Diego Footer, 3:26: https://www.youtube.com/watch?v=ErMHR6Mc4Bk&amp;t=206s. [VERIFY with Wes] Root depth also varies by species and wind exposure; Wes to confirm the wording on slide 3.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Same collage, highlight ring on the part this slide talks about.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Same collage, highlight ring on the part this slide talks about.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Same collage, highlight ring on the part this slide talks about.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Same collage, highlight ring on the part this slide talks about.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tree-deep-roots.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400">
                <a:solidFill>
                  <a:srgbClr val="DBE6A7"/>
                </a:solidFill>
                <a:latin typeface="Montserrat"/>
              </a:rPr>
              <a:t>MYTH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190750"/>
            <a:ext cx="8763000" cy="28864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 i="0">
                <a:solidFill>
                  <a:srgbClr val="F3F1EA"/>
                </a:solidFill>
                <a:latin typeface="Montserrat"/>
              </a:rPr>
              <a:t>Myth: “Tree roots grow two or three feet down, then sideways.”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66750" y="3472049"/>
            <a:ext cx="8953500" cy="13335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6477000"/>
            <a:ext cx="8763000" cy="4953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6477000"/>
            <a:ext cx="8191500" cy="495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tree-compaction-1.png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Dr. Elaine Ingham, How to Build Great Soil, Part 1, 2:54 and 3:26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586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333130"/>
                </a:solidFill>
                <a:latin typeface="Montserrat"/>
              </a:rPr>
              <a:t>In healthy soil, brassicas, grasses, shrubs and trees root deeper and deeper.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5238750"/>
            <a:ext cx="8763000" cy="6096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5238750"/>
            <a:ext cx="8191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tree-compaction-1.png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2:54 and 3:26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  <p:sp>
        <p:nvSpPr>
          <p:cNvPr id="8" name="Oval 7"/>
          <p:cNvSpPr/>
          <p:nvPr/>
        </p:nvSpPr>
        <p:spPr>
          <a:xfrm>
            <a:off x="3253740" y="4446270"/>
            <a:ext cx="3779520" cy="3779520"/>
          </a:xfrm>
          <a:prstGeom prst="ellipse">
            <a:avLst/>
          </a:prstGeom>
          <a:noFill/>
          <a:ln w="76200">
            <a:solidFill>
              <a:srgbClr val="3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586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333130"/>
                </a:solidFill>
                <a:latin typeface="Montserrat"/>
              </a:rPr>
              <a:t>Roots that turn sideways at two or three feet usually hit a compaction layer.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5238750"/>
            <a:ext cx="8763000" cy="6096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5238750"/>
            <a:ext cx="8191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tree-compaction-1.png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2:54 and 3:26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  <p:sp>
        <p:nvSpPr>
          <p:cNvPr id="8" name="Oval 7"/>
          <p:cNvSpPr/>
          <p:nvPr/>
        </p:nvSpPr>
        <p:spPr>
          <a:xfrm>
            <a:off x="4229100" y="8103870"/>
            <a:ext cx="1828800" cy="1828800"/>
          </a:xfrm>
          <a:prstGeom prst="ellipse">
            <a:avLst/>
          </a:prstGeom>
          <a:noFill/>
          <a:ln w="76200">
            <a:solidFill>
              <a:srgbClr val="3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333130"/>
                </a:solidFill>
                <a:latin typeface="Montserrat"/>
              </a:rPr>
              <a:t>Water stops where soil density changes, so it pools on top of the compacted layer.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5238750"/>
            <a:ext cx="8763000" cy="6096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5238750"/>
            <a:ext cx="8191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tree-compaction-1.png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2:54 and 3:26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  <p:sp>
        <p:nvSpPr>
          <p:cNvPr id="8" name="Oval 7"/>
          <p:cNvSpPr/>
          <p:nvPr/>
        </p:nvSpPr>
        <p:spPr>
          <a:xfrm>
            <a:off x="5524500" y="7920990"/>
            <a:ext cx="1341120" cy="1341120"/>
          </a:xfrm>
          <a:prstGeom prst="ellipse">
            <a:avLst/>
          </a:prstGeom>
          <a:noFill/>
          <a:ln w="76200">
            <a:solidFill>
              <a:srgbClr val="3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518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333130"/>
                </a:solidFill>
                <a:latin typeface="Montserrat"/>
              </a:rPr>
              <a:t>Oxygen moves through water far slower than through air. That zone goes anaerobic, and anaerobic microbes make compounds that harm roots.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5238750"/>
            <a:ext cx="8763000" cy="6096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5238750"/>
            <a:ext cx="8191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tree-compaction-1.png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2:54 and 3:26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  <p:sp>
        <p:nvSpPr>
          <p:cNvPr id="8" name="Oval 7"/>
          <p:cNvSpPr/>
          <p:nvPr/>
        </p:nvSpPr>
        <p:spPr>
          <a:xfrm>
            <a:off x="4290060" y="8530590"/>
            <a:ext cx="1706880" cy="1706880"/>
          </a:xfrm>
          <a:prstGeom prst="ellipse">
            <a:avLst/>
          </a:prstGeom>
          <a:noFill/>
          <a:ln w="76200">
            <a:solidFill>
              <a:srgbClr val="3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518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333130"/>
                </a:solidFill>
                <a:latin typeface="Montserrat"/>
              </a:rPr>
              <a:t>The fix: break the compaction, add biologically complete compost, and let bacteria and fungi build pores that stay open.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5238750"/>
            <a:ext cx="8763000" cy="6096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5238750"/>
            <a:ext cx="8191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tree-deep-roots-1.png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2:54 and 3:26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