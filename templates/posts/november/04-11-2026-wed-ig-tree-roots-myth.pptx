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2 myth-buster, Glow strikethrough. Collage: tree-compaction. Sources: Dr. Elaine Ingham, "How to Build Great Soil, Part 1", Diego Footer, 2:54: https://www.youtube.com/watch?v=ErMHR6Mc4Bk&amp;t=174s; Dr. Elaine Ingham, "How to Build Great Soil, Part 1", Diego Footer, 3:26: https://www.youtube.com/watch?v=ErMHR6Mc4Bk&amp;t=206s. [VERIFY with Wes] Root depth also varies by species and wind exposure; Wes to confirm the wording on slide 3.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Same collage, highlight ring on the part this slide talks about.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Same collage, highlight ring on the part this slide talks about.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Same collage, highlight ring on the part this slide talks about.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Same collage, highlight ring on the part this slide talks about.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 3. Collage: tree-deep-roots.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619250"/>
            <a:ext cx="8763000" cy="4184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1" i="0">
                <a:solidFill>
                  <a:srgbClr val="F3F1EA"/>
                </a:solidFill>
                <a:latin typeface="Montserrat"/>
              </a:rPr>
              <a:t>Myth: “Tree roots grow two or three feet down, then sideways.”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723900" y="2198379"/>
            <a:ext cx="8858250" cy="95250"/>
          </a:xfrm>
          <a:prstGeom prst="rect">
            <a:avLst/>
          </a:prstGeom>
          <a:solidFill>
            <a:srgbClr val="DBE6A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3900" y="3196879"/>
            <a:ext cx="8858250" cy="95250"/>
          </a:xfrm>
          <a:prstGeom prst="rect">
            <a:avLst/>
          </a:prstGeom>
          <a:solidFill>
            <a:srgbClr val="DBE6A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900" y="4195379"/>
            <a:ext cx="8858250" cy="95250"/>
          </a:xfrm>
          <a:prstGeom prst="rect">
            <a:avLst/>
          </a:prstGeom>
          <a:solidFill>
            <a:srgbClr val="DBE6A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3900" y="5193879"/>
            <a:ext cx="8858250" cy="95250"/>
          </a:xfrm>
          <a:prstGeom prst="rect">
            <a:avLst/>
          </a:prstGeom>
          <a:solidFill>
            <a:srgbClr val="DBE6A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im-tree-compactio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0" y="6096000"/>
            <a:ext cx="5334000" cy="533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DBE6A7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F3F1EA">
                    <a:alpha val="80000"/>
                  </a:srgbClr>
                </a:solidFill>
                <a:latin typeface="Source Sans 3"/>
              </a:rPr>
              <a:t>Dr. Elaine Ingham, How to Build Great Soil, Part 1, 2:54 and 3:26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586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333130"/>
                </a:solidFill>
                <a:latin typeface="Montserrat"/>
              </a:rPr>
              <a:t>In healthy soil, brassicas, grasses, shrubs and trees root deeper and deeper.</a:t>
            </a:r>
          </a:p>
        </p:txBody>
      </p:sp>
      <p:pic>
        <p:nvPicPr>
          <p:cNvPr id="3" name="Picture 2" descr="trim-tree-compactio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5238750"/>
            <a:ext cx="6096000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2:54 and 3:26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  <p:sp>
        <p:nvSpPr>
          <p:cNvPr id="7" name="Oval 6"/>
          <p:cNvSpPr/>
          <p:nvPr/>
        </p:nvSpPr>
        <p:spPr>
          <a:xfrm>
            <a:off x="3863340" y="7006590"/>
            <a:ext cx="2560320" cy="2560320"/>
          </a:xfrm>
          <a:prstGeom prst="ellipse">
            <a:avLst/>
          </a:prstGeom>
          <a:noFill/>
          <a:ln w="76200">
            <a:solidFill>
              <a:srgbClr val="3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2586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333130"/>
                </a:solidFill>
                <a:latin typeface="Montserrat"/>
              </a:rPr>
              <a:t>Roots that turn sideways at two or three feet usually hit a compaction layer.</a:t>
            </a:r>
          </a:p>
        </p:txBody>
      </p:sp>
      <p:pic>
        <p:nvPicPr>
          <p:cNvPr id="3" name="Picture 2" descr="trim-tree-compactio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5238750"/>
            <a:ext cx="6096000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2:54 and 3:26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  <p:sp>
        <p:nvSpPr>
          <p:cNvPr id="7" name="Oval 6"/>
          <p:cNvSpPr/>
          <p:nvPr/>
        </p:nvSpPr>
        <p:spPr>
          <a:xfrm>
            <a:off x="4351020" y="8469630"/>
            <a:ext cx="1584960" cy="1584960"/>
          </a:xfrm>
          <a:prstGeom prst="ellipse">
            <a:avLst/>
          </a:prstGeom>
          <a:noFill/>
          <a:ln w="76200">
            <a:solidFill>
              <a:srgbClr val="3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385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b="1" i="0">
                <a:solidFill>
                  <a:srgbClr val="333130"/>
                </a:solidFill>
                <a:latin typeface="Montserrat"/>
              </a:rPr>
              <a:t>Water stops where soil density changes, so it pools on top of the compacted layer.</a:t>
            </a:r>
          </a:p>
        </p:txBody>
      </p:sp>
      <p:pic>
        <p:nvPicPr>
          <p:cNvPr id="3" name="Picture 2" descr="trim-tree-compactio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5238750"/>
            <a:ext cx="6096000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2:54 and 3:26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  <p:sp>
        <p:nvSpPr>
          <p:cNvPr id="7" name="Oval 6"/>
          <p:cNvSpPr/>
          <p:nvPr/>
        </p:nvSpPr>
        <p:spPr>
          <a:xfrm>
            <a:off x="2095499" y="9079230"/>
            <a:ext cx="1341120" cy="1341120"/>
          </a:xfrm>
          <a:prstGeom prst="ellipse">
            <a:avLst/>
          </a:prstGeom>
          <a:noFill/>
          <a:ln w="76200">
            <a:solidFill>
              <a:srgbClr val="3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518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333130"/>
                </a:solidFill>
                <a:latin typeface="Montserrat"/>
              </a:rPr>
              <a:t>Oxygen moves through water far slower than through air. That zone goes anaerobic, and anaerobic microbes make compounds that harm roots.</a:t>
            </a:r>
          </a:p>
        </p:txBody>
      </p:sp>
      <p:pic>
        <p:nvPicPr>
          <p:cNvPr id="3" name="Picture 2" descr="trim-tree-compaction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5238750"/>
            <a:ext cx="6096000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2:54 and 3:26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1202055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31662F"/>
                </a:solidFill>
                <a:latin typeface="Montserrat"/>
              </a:rPr>
              <a:t>soilfoodweb.com</a:t>
            </a:r>
          </a:p>
        </p:txBody>
      </p:sp>
      <p:sp>
        <p:nvSpPr>
          <p:cNvPr id="7" name="Oval 6"/>
          <p:cNvSpPr/>
          <p:nvPr/>
        </p:nvSpPr>
        <p:spPr>
          <a:xfrm>
            <a:off x="6118860" y="9018270"/>
            <a:ext cx="1463040" cy="1463040"/>
          </a:xfrm>
          <a:prstGeom prst="ellipse">
            <a:avLst/>
          </a:prstGeom>
          <a:noFill/>
          <a:ln w="76200">
            <a:solidFill>
              <a:srgbClr val="3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428750"/>
            <a:ext cx="8763000" cy="3518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333130"/>
                </a:solidFill>
                <a:latin typeface="Montserrat"/>
              </a:rPr>
              <a:t>The fix: break the compaction, add biologically complete compost, and let bacteria and fungi build pores that stay open.</a:t>
            </a:r>
          </a:p>
        </p:txBody>
      </p:sp>
      <p:pic>
        <p:nvPicPr>
          <p:cNvPr id="3" name="Picture 2" descr="trim-tree-deep-root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223" y="5238750"/>
            <a:ext cx="3242553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00">
                <a:solidFill>
                  <a:srgbClr val="31662F"/>
                </a:solidFill>
                <a:latin typeface="Montserrat"/>
              </a:rPr>
              <a:t>DR. ELAINE INGHAM · HOW TO BUILD GREAT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9824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Dr. Elaine Ingham, How to Build Great Soil, Part 1, 2:54 and 3:26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1125001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