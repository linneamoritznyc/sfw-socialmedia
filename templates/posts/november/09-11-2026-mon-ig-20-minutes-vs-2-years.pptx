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5 big number, two numbers side by side. Sources: Dr. Elaine Ingham, "How to Build Great Soil, Part 1", Diego Footer, 7:06: https://www.youtube.com/watch?v=ErMHR6Mc4Bk&amp;t=426s; Dr. Elaine Ingham, "How to Build Great Soil, Part 1", Diego Footer, 7:51: https://www.youtube.com/watch?v=ErMHR6Mc4Bk&amp;t=471s; Dr. Elaine Ingham, "How to Build Great Soil, Part 1", Diego Footer, 8:16: https://www.youtube.com/watch?v=ErMHR6Mc4Bk&amp;t=496s. [VERIFY with Wes] The nematode life cycle on slide 3.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Library cutout: cute-bacterium-1.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Microscopy: assets/microscopy/cutout-6.png (nematode). [VERIFY with Wes] nematode life cycle.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Collage: city-block-weed. Wording changed from the brief: the gangster comparison was dropped as not appropriate (Linnea, 3 Oct 2026). Drop it from the caption too.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1B quote, Legacy Purple (Dr. Elaine content). Quote at 7:06.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Template 3. Type only. Credit line for every quote: Dr. Elaine Ingham, "How to Build Great Soil, Part 1", Diego Footer. Short quotes with credit are fine; video clips and long excerpts need Evan to check with Diego first. Caption needs review by Allison (AI-generated by Linnea).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810000"/>
            <a:ext cx="447675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400" b="1" i="0">
                <a:solidFill>
                  <a:srgbClr val="DBE6A7"/>
                </a:solidFill>
                <a:latin typeface="Montserrat"/>
              </a:rPr>
              <a:t>20 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15000" y="3810000"/>
            <a:ext cx="3810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400" b="1" i="0">
                <a:solidFill>
                  <a:srgbClr val="F3F1EA"/>
                </a:solidFill>
                <a:latin typeface="Montserrat"/>
              </a:rPr>
              <a:t>2 yrs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81625" y="3810000"/>
            <a:ext cx="28575" cy="123825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6477000"/>
            <a:ext cx="8763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00" b="1" i="0">
                <a:solidFill>
                  <a:srgbClr val="F3F1EA"/>
                </a:solidFill>
                <a:latin typeface="Montserrat"/>
              </a:rPr>
              <a:t>20 minutes vs 2 years.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DBE6A7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F3F1EA">
                    <a:alpha val="80000"/>
                  </a:srgbClr>
                </a:solidFill>
                <a:latin typeface="Source Sans 3"/>
              </a:rPr>
              <a:t>Dr. Elaine Ingham, How to Build Great Soil, Part 1, 7:06, 7:51 and 8:16</a:t>
            </a:r>
          </a:p>
        </p:txBody>
      </p:sp>
      <p:pic>
        <p:nvPicPr>
          <p:cNvPr id="8" name="Picture 7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12500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29862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333130"/>
                </a:solidFill>
                <a:latin typeface="Montserrat"/>
              </a:rPr>
              <a:t>Some disease-causing bacteria can double every 20 minutes.</a:t>
            </a:r>
          </a:p>
        </p:txBody>
      </p:sp>
      <p:pic>
        <p:nvPicPr>
          <p:cNvPr id="3" name="Picture 2" descr="trim-cute-bacterium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1499" y="6762750"/>
            <a:ext cx="4064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7:06, 7:51 and 8:16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365196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200" b="1" i="0">
                <a:solidFill>
                  <a:srgbClr val="333130"/>
                </a:solidFill>
                <a:latin typeface="Montserrat"/>
              </a:rPr>
              <a:t>Some beneficial nematodes reproduce once every two years, and lay one or two eggs.</a:t>
            </a:r>
          </a:p>
        </p:txBody>
      </p:sp>
      <p:pic>
        <p:nvPicPr>
          <p:cNvPr id="3" name="Picture 2" descr="trim-cutout-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928" y="6381750"/>
            <a:ext cx="8019142" cy="495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7:06, 7:51 and 8:16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428750"/>
            <a:ext cx="8763000" cy="45173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200" b="1" i="0">
                <a:solidFill>
                  <a:srgbClr val="333130"/>
                </a:solidFill>
                <a:latin typeface="Montserrat"/>
              </a:rPr>
              <a:t>Kill everything in a soil and the fast ones move in first, like weeds cracking through an empty lot.</a:t>
            </a:r>
          </a:p>
        </p:txBody>
      </p:sp>
      <p:pic>
        <p:nvPicPr>
          <p:cNvPr id="3" name="Picture 2" descr="trim-city-block-weed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7000" y="6381750"/>
            <a:ext cx="4953000" cy="495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7:06, 7:51 and 8:16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B4C7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6750" y="3362430"/>
            <a:ext cx="28575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26000" b="0" i="0">
                <a:solidFill>
                  <a:srgbClr val="DBE6A7"/>
                </a:solidFill>
                <a:latin typeface="EB Garamond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5457930"/>
            <a:ext cx="8763000" cy="25143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0" b="0" i="1">
                <a:solidFill>
                  <a:srgbClr val="F3F1EA"/>
                </a:solidFill>
                <a:latin typeface="EB Garamond"/>
              </a:rPr>
              <a:t>There is no way to kill just the bad guys.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2000" y="8258069"/>
            <a:ext cx="1143000" cy="38100"/>
          </a:xfrm>
          <a:prstGeom prst="rect">
            <a:avLst/>
          </a:prstGeom>
          <a:solidFill>
            <a:srgbClr val="DBE6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2000" y="8543819"/>
            <a:ext cx="8763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 i="0">
                <a:solidFill>
                  <a:srgbClr val="F3F1EA"/>
                </a:solidFill>
                <a:latin typeface="Montserrat"/>
              </a:rPr>
              <a:t>Dr. Elaine Ingham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9001019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BE6A7"/>
                </a:solidFill>
                <a:latin typeface="Source Sans 3"/>
              </a:rPr>
              <a:t>How to Build Great Soil, Part 1 · Diego Footer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F3F1EA">
                    <a:alpha val="80000"/>
                  </a:srgbClr>
                </a:solidFill>
                <a:latin typeface="Source Sans 3"/>
              </a:rPr>
              <a:t>How to Build Great Soil, Part 1, 7:06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8500" y="12020550"/>
            <a:ext cx="2476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800" b="1" i="0">
                <a:solidFill>
                  <a:srgbClr val="F3F1EA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3109700"/>
            <a:ext cx="8763000" cy="5782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333130"/>
                </a:solidFill>
                <a:latin typeface="Montserrat"/>
              </a:rPr>
              <a:t>The faster way back: inoculate with biologically complete compost, so the beneficials arrive in numbers.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666750"/>
            <a:ext cx="8763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00">
                <a:solidFill>
                  <a:srgbClr val="31662F"/>
                </a:solidFill>
                <a:latin typeface="Montserrat"/>
              </a:rPr>
              <a:t>DR. ELAINE INGHAM · HOW TO BUILD GREAT SOIL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1982450"/>
            <a:ext cx="59055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0" i="0">
                <a:solidFill>
                  <a:srgbClr val="6A665C"/>
                </a:solidFill>
                <a:latin typeface="Source Sans 3"/>
              </a:rPr>
              <a:t>Dr. Elaine Ingham, How to Build Great Soil, Part 1, 7:06, 7:51 and 8:16</a:t>
            </a:r>
          </a:p>
        </p:txBody>
      </p:sp>
      <p:pic>
        <p:nvPicPr>
          <p:cNvPr id="5" name="Picture 4" descr="foundation-logo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7250" y="11250012"/>
            <a:ext cx="1047750" cy="94198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