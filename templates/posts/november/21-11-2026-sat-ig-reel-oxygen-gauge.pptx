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reel cover. Collage: flagellate-ciliate. Sources: Dr. Elaine Ingham, "How to Build Great Soil, Part 1", Diego Footer, 19:28: https://www.youtube.com/watch?v=ErMHR6Mc4Bk&amp;t=1168s. Ingham, Soil Biology Primer, USDA NRCS: https://scholar.google.com/scholar?q=Ingham+Soil+Biology+Primer+USDA+NRCS. Library footage and stills: amoeba: assets/video/sfw-amoeba-*.mp4, assets/gif/amoeba-*.gif, assets/microscopy/sfw-amoeba-still-*.jpg, amoeba-poster-1 to 3.jpg, cutout-2.png; testate amoeba: cutout-1.png, testate-amoeba-encysting-40x-*.jpg; ciliate: cutout-3.png, cutout-4.png (stalked ciliates); flagellate: none in the library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1: 64 pt Montserrat Bold Cream, Deep Green outline, no background (export as PNG with transparency and lay over the footage).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2: 64 pt Montserrat Bold Cream, Deep Green outline, no background (export as PNG with transparency and lay over the footage).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3: 64 pt Montserrat Bold Cream, Deep Green outline, no background (export as PNG with transparency and lay over the footage).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6 caption card 4: 64 pt Montserrat Bold Cream, Deep Green outline, no background (export as PNG with transparency and lay over the footage).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48000"/>
            <a:ext cx="8763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3F1EA"/>
                </a:solidFill>
                <a:latin typeface="Montserrat"/>
              </a:rPr>
              <a:t>The oxygen gauge</a:t>
            </a:r>
          </a:p>
        </p:txBody>
      </p:sp>
      <p:pic>
        <p:nvPicPr>
          <p:cNvPr id="4" name="Picture 3" descr="trim-flagellate-ciliat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37" y="6477000"/>
            <a:ext cx="8302725" cy="7429500"/>
          </a:xfrm>
          <a:prstGeom prst="rect">
            <a:avLst/>
          </a:prstGeom>
        </p:spPr>
      </p:pic>
      <p:pic>
        <p:nvPicPr>
          <p:cNvPr id="5" name="Picture 4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33455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ln w="57150">
                  <a:solidFill>
                    <a:srgbClr val="1E3F1D"/>
                  </a:solidFill>
                </a:ln>
                <a:solidFill>
                  <a:srgbClr val="F3F1EA"/>
                </a:solidFill>
                <a:latin typeface="Montserrat"/>
              </a:rPr>
              <a:t>“Is your compost running out of oxygen?”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ln w="57150">
                  <a:solidFill>
                    <a:srgbClr val="1E3F1D"/>
                  </a:solidFill>
                </a:ln>
                <a:solidFill>
                  <a:srgbClr val="F3F1EA"/>
                </a:solidFill>
                <a:latin typeface="Montserrat"/>
              </a:rPr>
              <a:t>“Flagellates and amoebae: oxygen is fine.”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ln w="57150">
                  <a:solidFill>
                    <a:srgbClr val="1E3F1D"/>
                  </a:solidFill>
                </a:ln>
                <a:solidFill>
                  <a:srgbClr val="F3F1EA"/>
                </a:solidFill>
                <a:latin typeface="Montserrat"/>
              </a:rPr>
              <a:t>“Ciliates waking up: oxygen is dropping.”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736775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>
                <a:ln w="57150">
                  <a:solidFill>
                    <a:srgbClr val="1E3F1D"/>
                  </a:solidFill>
                </a:ln>
                <a:solidFill>
                  <a:srgbClr val="F3F1EA"/>
                </a:solidFill>
                <a:latin typeface="Montserrat"/>
              </a:rPr>
              <a:t>“More ciliates than flagellates? Turn the pile.”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