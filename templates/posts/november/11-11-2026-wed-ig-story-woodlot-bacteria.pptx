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7 story, frame 1. Leave y 1100 to 1450 empty for the poll sticker (About 1,000 / Over a million). Collage: woodlot-pasture. Sources: Dr. Elaine Ingham, "How to Build Great Soil, Part 1", Diego Footer, 26:13: https://www.youtube.com/watch?v=ErMHR6Mc4Bk&amp;t=1573s. [VERIFY with Wes] Find the Michigan State study she refers to. Credit line for every quote: Dr. Elaine Ingham, "How to Build Great Soil, Part 1", Diego Footer. Short quotes with credit are fine; video clips and long excerpts need Evan to check with Diego first. Caption needs review by Allison (AI-generated by Linnea).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7 story, frame 2. No bacteria-rich micrograph in assets/microscopy/: placeholder under a Deep Green overlay at 50% until one is supplied (Wes). Credit line for every quote: Dr. Elaine Ingham, "How to Build Great Soil, Part 1", Diego Footer. Short quotes with credit are fine; video clips and long excerpts need Evan to check with Diego first. Caption needs review by Allison (AI-generated by Linnea).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247650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200">
                <a:solidFill>
                  <a:srgbClr val="31662F"/>
                </a:solidFill>
                <a:latin typeface="Montserrat"/>
              </a:rPr>
              <a:t>DR. ELAINE INGHAM · HOW TO BUILD GREAT SOIL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3048000"/>
            <a:ext cx="8763000" cy="30861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5800" b="1" i="0">
                <a:solidFill>
                  <a:srgbClr val="31662F"/>
                </a:solidFill>
                <a:latin typeface="Montserrat"/>
              </a:rPr>
              <a:t>“How many species of bacteria live in one Michigan woodlot?”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6667500"/>
            <a:ext cx="8763000" cy="3619500"/>
          </a:xfrm>
          <a:prstGeom prst="rect">
            <a:avLst/>
          </a:prstGeom>
          <a:solidFill>
            <a:srgbClr val="D9D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7750" y="6667500"/>
            <a:ext cx="8191500" cy="3619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4A463F"/>
                </a:solidFill>
                <a:latin typeface="Montserrat"/>
              </a:rPr>
              <a:t>COLLAGE: woodlot-pasture-1.png</a:t>
            </a:r>
          </a:p>
        </p:txBody>
      </p:sp>
      <p:sp>
        <p:nvSpPr>
          <p:cNvPr id="6" name="Rectangle 5"/>
          <p:cNvSpPr/>
          <p:nvPr/>
        </p:nvSpPr>
        <p:spPr>
          <a:xfrm>
            <a:off x="1333500" y="10572750"/>
            <a:ext cx="7620000" cy="3143250"/>
          </a:xfrm>
          <a:prstGeom prst="rect">
            <a:avLst/>
          </a:prstGeom>
          <a:noFill/>
          <a:ln w="19050">
            <a:solidFill>
              <a:srgbClr val="B1BC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33500" y="10572750"/>
            <a:ext cx="7620000" cy="3143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1" i="0">
                <a:solidFill>
                  <a:srgbClr val="6A665C"/>
                </a:solidFill>
                <a:latin typeface="Montserrat"/>
              </a:rPr>
              <a:t>POLL STICKER</a:t>
            </a:r>
          </a:p>
          <a:p>
            <a:pPr algn="ctr">
              <a:lnSpc>
                <a:spcPct val="120000"/>
              </a:lnSpc>
            </a:pPr>
            <a:r>
              <a:rPr sz="2600" b="1" i="0">
                <a:solidFill>
                  <a:srgbClr val="6A665C"/>
                </a:solidFill>
                <a:latin typeface="Montserrat"/>
              </a:rPr>
              <a:t>About 1,000 / Over a million</a:t>
            </a:r>
          </a:p>
        </p:txBody>
      </p:sp>
      <p:pic>
        <p:nvPicPr>
          <p:cNvPr id="8" name="Picture 7" descr="foundation-logo-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0" y="13345512"/>
            <a:ext cx="1047750" cy="94198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D9D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5750" y="0"/>
            <a:ext cx="9715500" cy="18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4A463F"/>
                </a:solidFill>
                <a:latin typeface="Montserrat"/>
              </a:rPr>
              <a:t>PHOTO: assets/microscopy/bacteria-field.jpg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1E3F1D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3429000"/>
            <a:ext cx="8763000" cy="3881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0" b="0" i="1">
                <a:solidFill>
                  <a:srgbClr val="F3F1EA"/>
                </a:solidFill>
                <a:latin typeface="EB Garamond"/>
              </a:rPr>
              <a:t>“Over a million. And the pasture next door has a different set.”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7691383"/>
            <a:ext cx="8763000" cy="13221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0" i="0">
                <a:solidFill>
                  <a:srgbClr val="DBE6A7"/>
                </a:solidFill>
                <a:latin typeface="Source Sans 3"/>
              </a:rPr>
              <a:t>Dr. Elaine Ingham, citing Michigan State University's Center for Microbial Ecology.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3716000"/>
            <a:ext cx="6667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F3F1EA"/>
                </a:solidFill>
                <a:latin typeface="Source Sans 3"/>
              </a:rPr>
              <a:t>How to Build Great Soil, Part 1 · Diego Footer · 26:13</a:t>
            </a:r>
          </a:p>
        </p:txBody>
      </p:sp>
      <p:pic>
        <p:nvPicPr>
          <p:cNvPr id="8" name="Picture 7" descr="foundation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0" y="13345512"/>
            <a:ext cx="1047750" cy="94198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