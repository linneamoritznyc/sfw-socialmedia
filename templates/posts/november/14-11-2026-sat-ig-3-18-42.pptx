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5 big number: 3, 18 and 42 stacked, growing. Sources: Dr. Elaine Ingham, "How to Build Great Soil, Part 1", Diego Footer, 20:53: https://www.youtube.com/watch?v=ErMHR6Mc4Bk&amp;t=1253s; Dr. Elaine Ingham, "How to Build Great Soil, Part 1", Diego Footer, 21:50: https://www.youtube.com/watch?v=ErMHR6Mc4Bk&amp;t=1310s; Dr. Elaine Ingham, "How to Build Great Soil, Part 1", Diego Footer, 24:30: https://www.youtube.com/watch?v=ErMHR6Mc4Bk&amp;t=1470s. [VERIFY with Wes] Most textbooks list 17 essential elements. The 42 stays attributed to Elaine. Credit line for every quote: Dr. Elaine Ingham, "How to Build Great Soil, Part 1", Diego Footer. Short quotes with credit are fine; video clips and long excerpts need Evan to check with Diego first. Caption needs review by Allison (AI-generated by Linnea).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5 big number.  Credit line for every quote: Dr. Elaine Ingham, "How to Build Great Soil, Part 1", Diego Footer. Short quotes with credit are fine; video clips and long excerpts need Evan to check with Diego first. Caption needs review by Allison (AI-generated by Linnea).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5 big number.  Credit line for every quote: Dr. Elaine Ingham, "How to Build Great Soil, Part 1", Diego Footer. Short quotes with credit are fine; video clips and long excerpts need Evan to check with Diego first. Caption needs review by Allison (AI-generated by Linnea).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5 big number.  Credit line for every quote: Dr. Elaine Ingham, "How to Build Great Soil, Part 1", Diego Footer. Short quotes with credit are fine; video clips and long excerpts need Evan to check with Diego first. Caption needs review by Allison (AI-generated by Linnea).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3. Type only. Credit line for every quote: Dr. Elaine Ingham, "How to Build Great Soil, Part 1", Diego Footer. Short quotes with credit are fine; video clips and long excerpts need Evan to check with Diego first. Caption needs review by Allison (AI-generated by Linnea).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3. Collage: periodic-table (a few squares in Glow). Credit line for every quote: Dr. Elaine Ingham, "How to Build Great Soil, Part 1", Diego Footer. Short quotes with credit are fine; video clips and long excerpts need Evan to check with Diego first. Caption needs review by Allison (AI-generated by Linnea).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619250"/>
            <a:ext cx="381000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4000" b="1" i="0">
                <a:solidFill>
                  <a:srgbClr val="B1BCB1"/>
                </a:solidFill>
                <a:latin typeface="Montserrat"/>
              </a:rPr>
              <a:t>3.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3429000"/>
            <a:ext cx="5715000" cy="2476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20000" b="1" i="0">
                <a:solidFill>
                  <a:srgbClr val="F3F1EA"/>
                </a:solidFill>
                <a:latin typeface="Montserrat"/>
              </a:rPr>
              <a:t>18.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5905500"/>
            <a:ext cx="8572500" cy="3619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32000" b="1" i="0">
                <a:solidFill>
                  <a:srgbClr val="DBE6A7"/>
                </a:solidFill>
                <a:latin typeface="Montserrat"/>
              </a:rPr>
              <a:t>42.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6675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200">
                <a:solidFill>
                  <a:srgbClr val="DBE6A7"/>
                </a:solidFill>
                <a:latin typeface="Montserrat"/>
              </a:rPr>
              <a:t>DR. ELAINE INGHAM · HOW TO BUILD GREAT SOIL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1982450"/>
            <a:ext cx="5905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F3F1EA">
                    <a:alpha val="80000"/>
                  </a:srgbClr>
                </a:solidFill>
                <a:latin typeface="Source Sans 3"/>
              </a:rPr>
              <a:t>Dr. Elaine Ingham, How to Build Great Soil, Part 1, 20:53, 21:50 and 24:30</a:t>
            </a:r>
          </a:p>
        </p:txBody>
      </p:sp>
      <p:pic>
        <p:nvPicPr>
          <p:cNvPr id="7" name="Picture 6" descr="foundation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0" y="11250012"/>
            <a:ext cx="1047750" cy="94198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50" y="1619250"/>
            <a:ext cx="8953500" cy="342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26000" b="1" i="0">
                <a:solidFill>
                  <a:srgbClr val="DBE6A7"/>
                </a:solidFill>
                <a:latin typeface="Montserrat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5334000"/>
            <a:ext cx="8763000" cy="36519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5200" b="1" i="0">
                <a:solidFill>
                  <a:srgbClr val="F3F1EA"/>
                </a:solidFill>
                <a:latin typeface="Montserrat"/>
              </a:rPr>
              <a:t>1950s: plant scientists taught three essential nutrients. Nitrogen, phosphorus, potassium.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6675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200">
                <a:solidFill>
                  <a:srgbClr val="DBE6A7"/>
                </a:solidFill>
                <a:latin typeface="Montserrat"/>
              </a:rPr>
              <a:t>DR. ELAINE INGHAM · HOW TO BUILD GREAT SOIL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1982450"/>
            <a:ext cx="5905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F3F1EA">
                    <a:alpha val="80000"/>
                  </a:srgbClr>
                </a:solidFill>
                <a:latin typeface="Source Sans 3"/>
              </a:rPr>
              <a:t>Dr. Elaine Ingham, How to Build Great Soil, Part 1, 20:53, 21:50 and 24:30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8500" y="12020550"/>
            <a:ext cx="2476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 i="0">
                <a:solidFill>
                  <a:srgbClr val="F3F1EA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50" y="1619250"/>
            <a:ext cx="8953500" cy="342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26000" b="1" i="0">
                <a:solidFill>
                  <a:srgbClr val="DBE6A7"/>
                </a:solidFill>
                <a:latin typeface="Montserrat"/>
              </a:rPr>
              <a:t>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5334000"/>
            <a:ext cx="8763000" cy="27865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5200" b="1" i="0">
                <a:solidFill>
                  <a:srgbClr val="F3F1EA"/>
                </a:solidFill>
                <a:latin typeface="Montserrat"/>
              </a:rPr>
              <a:t>By the time Dr. Elaine reached high school, the count was 18.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6675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200">
                <a:solidFill>
                  <a:srgbClr val="DBE6A7"/>
                </a:solidFill>
                <a:latin typeface="Montserrat"/>
              </a:rPr>
              <a:t>DR. ELAINE INGHAM · HOW TO BUILD GREAT SOIL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1982450"/>
            <a:ext cx="5905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F3F1EA">
                    <a:alpha val="80000"/>
                  </a:srgbClr>
                </a:solidFill>
                <a:latin typeface="Source Sans 3"/>
              </a:rPr>
              <a:t>Dr. Elaine Ingham, How to Build Great Soil, Part 1, 20:53, 21:50 and 24:30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8500" y="12020550"/>
            <a:ext cx="2476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 i="0">
                <a:solidFill>
                  <a:srgbClr val="F3F1EA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50" y="1619250"/>
            <a:ext cx="8953500" cy="342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26000" b="1" i="0">
                <a:solidFill>
                  <a:srgbClr val="DBE6A7"/>
                </a:solidFill>
                <a:latin typeface="Montserrat"/>
              </a:rPr>
              <a:t>42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5334000"/>
            <a:ext cx="8763000" cy="27865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5200" b="1" i="0">
                <a:solidFill>
                  <a:srgbClr val="F3F1EA"/>
                </a:solidFill>
                <a:latin typeface="Montserrat"/>
              </a:rPr>
              <a:t>Today, the plant physiologists she talked to count 42.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6675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200">
                <a:solidFill>
                  <a:srgbClr val="DBE6A7"/>
                </a:solidFill>
                <a:latin typeface="Montserrat"/>
              </a:rPr>
              <a:t>DR. ELAINE INGHAM · HOW TO BUILD GREAT SOIL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1982450"/>
            <a:ext cx="5905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F3F1EA">
                    <a:alpha val="80000"/>
                  </a:srgbClr>
                </a:solidFill>
                <a:latin typeface="Source Sans 3"/>
              </a:rPr>
              <a:t>Dr. Elaine Ingham, How to Build Great Soil, Part 1, 20:53, 21:50 and 24:30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8500" y="12020550"/>
            <a:ext cx="2476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 i="0">
                <a:solidFill>
                  <a:srgbClr val="F3F1EA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3575667"/>
            <a:ext cx="8763000" cy="4850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5600" b="1" i="0">
                <a:solidFill>
                  <a:srgbClr val="333130"/>
                </a:solidFill>
                <a:latin typeface="Montserrat"/>
              </a:rPr>
              <a:t>Too much of one throws off the others. Bulk sulfur, and the plant struggles to take up the rest.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66675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200">
                <a:solidFill>
                  <a:srgbClr val="31662F"/>
                </a:solidFill>
                <a:latin typeface="Montserrat"/>
              </a:rPr>
              <a:t>DR. ELAINE INGHAM · HOW TO BUILD GREAT SOIL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1982450"/>
            <a:ext cx="5905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6A665C"/>
                </a:solidFill>
                <a:latin typeface="Source Sans 3"/>
              </a:rPr>
              <a:t>Dr. Elaine Ingham, How to Build Great Soil, Part 1, 20:53, 21:50 and 24:30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8500" y="12020550"/>
            <a:ext cx="2476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 i="0">
                <a:solidFill>
                  <a:srgbClr val="31662F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428750"/>
            <a:ext cx="8763000" cy="45173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5200" b="1" i="0">
                <a:solidFill>
                  <a:srgbClr val="333130"/>
                </a:solidFill>
                <a:latin typeface="Montserrat"/>
              </a:rPr>
              <a:t>Her rule: Goldilocks. Enough, and never too much. Soil life delivers the amounts the plant asks for.</a:t>
            </a:r>
          </a:p>
        </p:txBody>
      </p:sp>
      <p:pic>
        <p:nvPicPr>
          <p:cNvPr id="3" name="Picture 2" descr="trim-periodic-table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7402" y="6381750"/>
            <a:ext cx="6512195" cy="4953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66675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200">
                <a:solidFill>
                  <a:srgbClr val="31662F"/>
                </a:solidFill>
                <a:latin typeface="Montserrat"/>
              </a:rPr>
              <a:t>DR. ELAINE INGHAM · HOW TO BUILD GREAT SOIL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1982450"/>
            <a:ext cx="5905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6A665C"/>
                </a:solidFill>
                <a:latin typeface="Source Sans 3"/>
              </a:rPr>
              <a:t>Dr. Elaine Ingham, How to Build Great Soil, Part 1, 20:53, 21:50 and 24:30</a:t>
            </a:r>
          </a:p>
        </p:txBody>
      </p:sp>
      <p:pic>
        <p:nvPicPr>
          <p:cNvPr id="6" name="Picture 5" descr="foundation-logo-col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0" y="11250012"/>
            <a:ext cx="1047750" cy="94198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