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Photo: assets/photo/cy-classes-4.jpg (Foundation library), a class at microscopes; swap for a closer workshop photo of a student at a microscope if there is one. Sources: Dr. Elaine Ingham, "How to Build Great Soil, Part 1", Diego Footer, 28:46: https://www.youtube.com/watch?v=ErMHR6Mc4Bk&amp;t=1726s. Course pages: https://school.soilfoodweb.com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Type only.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PHOTO placeholder: recommended microscope (from Wes).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3: 2 x 3 grid of organisms, each labelled in 22 pt Source Sans 3. Bacteria, fungal hyphae and flagellate are not in assets/microscopy/: placeholders until supplied (Wes).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1B quote, Legacy Purple (Dr. Elaine content). Quote at 28:52.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Library cutout: microscope-paper-1. Link in bio: https://school.soilfoodweb.com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119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333130"/>
                </a:solidFill>
                <a:latin typeface="Montserrat"/>
              </a:rPr>
              <a:t>1.1 million people watched Dr. Elaine's soil masterclass. The question they ask most: which microscope?</a:t>
            </a:r>
          </a:p>
        </p:txBody>
      </p:sp>
      <p:pic>
        <p:nvPicPr>
          <p:cNvPr id="3" name="Picture 2" descr="91461373652796077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619750"/>
            <a:ext cx="8763000" cy="571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28:46; school.soilfoodweb.com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109700"/>
            <a:ext cx="8763000" cy="578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At 29:03 she recommends a $350 microscope with objectives as good as Zeiss and a built-in camera.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28:46; school.soilfoodweb.com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054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What to look for today: [COPY: Wes].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6000750"/>
            <a:ext cx="8763000" cy="5334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6000750"/>
            <a:ext cx="8191500" cy="533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PHOTO: Recommended microscope (from Wes)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28:46; school.soilfoodweb.com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187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333130"/>
                </a:solidFill>
                <a:latin typeface="Montserrat"/>
              </a:rPr>
              <a:t>What you'll see: bacteria, fungal hyphae, flagellates, amoebae, ciliates and nematodes.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4286250"/>
            <a:ext cx="2768600" cy="27686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4286250"/>
            <a:ext cx="2768600" cy="276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BBBBBB"/>
                </a:solidFill>
                <a:latin typeface="Montserrat"/>
              </a:rPr>
              <a:t>PHOTO:</a:t>
            </a:r>
          </a:p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BBBBBB"/>
                </a:solidFill>
                <a:latin typeface="Montserrat"/>
              </a:rPr>
              <a:t>bacteria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150100"/>
            <a:ext cx="2768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Bacteria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759200" y="4286250"/>
            <a:ext cx="2768600" cy="27686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59200" y="4286250"/>
            <a:ext cx="2768600" cy="276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BBBBBB"/>
                </a:solidFill>
                <a:latin typeface="Montserrat"/>
              </a:rPr>
              <a:t>PHOTO:</a:t>
            </a:r>
          </a:p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BBBBBB"/>
                </a:solidFill>
                <a:latin typeface="Montserrat"/>
              </a:rPr>
              <a:t>fungal hyphae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59200" y="7150100"/>
            <a:ext cx="2768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Fungal hyphae</a:t>
            </a:r>
          </a:p>
        </p:txBody>
      </p:sp>
      <p:sp>
        <p:nvSpPr>
          <p:cNvPr id="9" name="Rectangle 8"/>
          <p:cNvSpPr/>
          <p:nvPr/>
        </p:nvSpPr>
        <p:spPr>
          <a:xfrm>
            <a:off x="6756400" y="4286250"/>
            <a:ext cx="2768600" cy="27686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56400" y="4286250"/>
            <a:ext cx="2768600" cy="276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BBBBBB"/>
                </a:solidFill>
                <a:latin typeface="Montserrat"/>
              </a:rPr>
              <a:t>PHOTO:</a:t>
            </a:r>
          </a:p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BBBBBB"/>
                </a:solidFill>
                <a:latin typeface="Montserrat"/>
              </a:rPr>
              <a:t>flagellate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56400" y="7150100"/>
            <a:ext cx="2768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Flagellate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7721600"/>
            <a:ext cx="2768600" cy="27686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im-cutout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7904990"/>
            <a:ext cx="2578100" cy="24018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2000" y="10585450"/>
            <a:ext cx="2768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Amoeba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59200" y="7721600"/>
            <a:ext cx="2768600" cy="27686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rim-cutout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4450" y="8196097"/>
            <a:ext cx="2578100" cy="18196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59200" y="10585450"/>
            <a:ext cx="2768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Ciliate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56400" y="7721600"/>
            <a:ext cx="2768600" cy="27686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im-cutout-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1650" y="8309722"/>
            <a:ext cx="2578100" cy="159235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56400" y="10585450"/>
            <a:ext cx="2768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Nematode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28:46; school.soilfoodweb.com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4C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50" y="2781457"/>
            <a:ext cx="28575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DBE6A7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876957"/>
            <a:ext cx="8763000" cy="367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0" b="0" i="1">
                <a:solidFill>
                  <a:srgbClr val="F3F1EA"/>
                </a:solidFill>
                <a:latin typeface="EB Garamond"/>
              </a:rPr>
              <a:t>I can train you in one day how to use these microscopes.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8839042"/>
            <a:ext cx="1143000" cy="381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9124792"/>
            <a:ext cx="8763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F3F1EA"/>
                </a:solidFill>
                <a:latin typeface="Montserrat"/>
              </a:rPr>
              <a:t>Dr. Elaine Ingham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9581992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BE6A7"/>
                </a:solidFill>
                <a:latin typeface="Source Sans 3"/>
              </a:rPr>
              <a:t>How to Build Great Soil, Part 1 · Diego Footer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How to Build Great Soil, Part 1, 28:52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3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986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Learn soil microscopy in the Foundation Courses. Link in bio.</a:t>
            </a:r>
          </a:p>
        </p:txBody>
      </p:sp>
      <p:pic>
        <p:nvPicPr>
          <p:cNvPr id="3" name="Picture 2" descr="trim-microscope-paper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033" y="6381750"/>
            <a:ext cx="4334933" cy="495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28:46; school.soilfoodweb.com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