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3. Photo: assets/photo/cy-classes-4.jpg (Foundation library), a class at microscopes; swap for a closer workshop photo of a student at a microscope if there is one. Sources: Dr. Elaine Ingham, "How to Build Great Soil, Part 1", Diego Footer, 28:46: https://www.youtube.com/watch?v=ErMHR6Mc4Bk&amp;t=1726s. Course pages: https://school.soilfoodweb.com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3. Type only.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3. PHOTO placeholder: recommended microscope (from Wes).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3: 2 x 3 grid of organisms, each labelled in 22 pt Source Sans 3. Bacteria, fungal hyphae and flagellate are not in assets/microscopy/: placeholders until supplied (Wes).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1B quote, Legacy Purple (Dr. Elaine content). Quote at 28:52.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3. Library cutout: microscope-paper-1. Link in bio: https://school.soilfoodweb.com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428750"/>
            <a:ext cx="8763000" cy="3119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333130"/>
                </a:solidFill>
                <a:latin typeface="Montserrat"/>
              </a:rPr>
              <a:t>1.1 million people watched Dr. Elaine's soil masterclass. The question they ask most: which microscope?</a:t>
            </a:r>
          </a:p>
        </p:txBody>
      </p:sp>
      <p:pic>
        <p:nvPicPr>
          <p:cNvPr id="3" name="Picture 2" descr="16136361647985641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619750"/>
            <a:ext cx="8763000" cy="571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1662F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Dr. Elaine Ingham, How to Build Great Soil, Part 1, 28:46; school.soilfoodweb.com</a:t>
            </a:r>
          </a:p>
        </p:txBody>
      </p:sp>
      <p:pic>
        <p:nvPicPr>
          <p:cNvPr id="6" name="Picture 5" descr="foundation-logo-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0" y="11250012"/>
            <a:ext cx="1047750" cy="9419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109700"/>
            <a:ext cx="8763000" cy="5782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b="1" i="0">
                <a:solidFill>
                  <a:srgbClr val="333130"/>
                </a:solidFill>
                <a:latin typeface="Montserrat"/>
              </a:rPr>
              <a:t>At 29:03 she recommends a $350 microscope with objectives as good as Zeiss and a built-in camera.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1662F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Dr. Elaine Ingham, How to Build Great Soil, Part 1, 28:46; school.soilfoodweb.com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8500" y="1202055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428750"/>
            <a:ext cx="8763000" cy="2054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b="1" i="0">
                <a:solidFill>
                  <a:srgbClr val="333130"/>
                </a:solidFill>
                <a:latin typeface="Montserrat"/>
              </a:rPr>
              <a:t>What to look for today: [COPY: Wes].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6000750"/>
            <a:ext cx="8763000" cy="5334000"/>
          </a:xfrm>
          <a:prstGeom prst="rect">
            <a:avLst/>
          </a:prstGeom>
          <a:solidFill>
            <a:srgbClr val="D9D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7750" y="6000750"/>
            <a:ext cx="8191500" cy="533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4A463F"/>
                </a:solidFill>
                <a:latin typeface="Montserrat"/>
              </a:rPr>
              <a:t>PHOTO: Recommended microscope (from Wes)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1662F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Dr. Elaine Ingham, How to Build Great Soil, Part 1, 28:46; school.soilfoodweb.com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8500" y="1202055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428750"/>
            <a:ext cx="8763000" cy="2187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333130"/>
                </a:solidFill>
                <a:latin typeface="Montserrat"/>
              </a:rPr>
              <a:t>What you'll see: bacteria, fungal hyphae, flagellates, amoebae, ciliates and nematodes.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4286250"/>
            <a:ext cx="2768600" cy="27686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4286250"/>
            <a:ext cx="2768600" cy="276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BBBBBB"/>
                </a:solidFill>
                <a:latin typeface="Montserrat"/>
              </a:rPr>
              <a:t>PHOTO:</a:t>
            </a:r>
          </a:p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BBBBBB"/>
                </a:solidFill>
                <a:latin typeface="Montserrat"/>
              </a:rPr>
              <a:t>bacteria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150100"/>
            <a:ext cx="2768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333130"/>
                </a:solidFill>
                <a:latin typeface="Source Sans 3"/>
              </a:rPr>
              <a:t>Bacteria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3759200" y="4286250"/>
            <a:ext cx="2768600" cy="27686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59200" y="4286250"/>
            <a:ext cx="2768600" cy="276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BBBBBB"/>
                </a:solidFill>
                <a:latin typeface="Montserrat"/>
              </a:rPr>
              <a:t>PHOTO:</a:t>
            </a:r>
          </a:p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BBBBBB"/>
                </a:solidFill>
                <a:latin typeface="Montserrat"/>
              </a:rPr>
              <a:t>fungal hyphae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59200" y="7150100"/>
            <a:ext cx="2768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333130"/>
                </a:solidFill>
                <a:latin typeface="Source Sans 3"/>
              </a:rPr>
              <a:t>Fungal hyphae</a:t>
            </a:r>
          </a:p>
        </p:txBody>
      </p:sp>
      <p:sp>
        <p:nvSpPr>
          <p:cNvPr id="9" name="Rectangle 8"/>
          <p:cNvSpPr/>
          <p:nvPr/>
        </p:nvSpPr>
        <p:spPr>
          <a:xfrm>
            <a:off x="6756400" y="4286250"/>
            <a:ext cx="2768600" cy="27686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56400" y="4286250"/>
            <a:ext cx="2768600" cy="276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BBBBBB"/>
                </a:solidFill>
                <a:latin typeface="Montserrat"/>
              </a:rPr>
              <a:t>PHOTO:</a:t>
            </a:r>
          </a:p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BBBBBB"/>
                </a:solidFill>
                <a:latin typeface="Montserrat"/>
              </a:rPr>
              <a:t>flagellate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56400" y="7150100"/>
            <a:ext cx="2768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333130"/>
                </a:solidFill>
                <a:latin typeface="Source Sans 3"/>
              </a:rPr>
              <a:t>Flagellate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7721600"/>
            <a:ext cx="2768600" cy="27686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rim-cutout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7904990"/>
            <a:ext cx="2578100" cy="240181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000" y="10585450"/>
            <a:ext cx="2768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333130"/>
                </a:solidFill>
                <a:latin typeface="Source Sans 3"/>
              </a:rPr>
              <a:t>Amoeba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59200" y="7721600"/>
            <a:ext cx="2768600" cy="27686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trim-cutout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4450" y="8196097"/>
            <a:ext cx="2578100" cy="181960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759200" y="10585450"/>
            <a:ext cx="2768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333130"/>
                </a:solidFill>
                <a:latin typeface="Source Sans 3"/>
              </a:rPr>
              <a:t>Ciliate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56400" y="7721600"/>
            <a:ext cx="2768600" cy="27686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trim-cutout-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1650" y="8309722"/>
            <a:ext cx="2578100" cy="159235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756400" y="10585450"/>
            <a:ext cx="2768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333130"/>
                </a:solidFill>
                <a:latin typeface="Source Sans 3"/>
              </a:rPr>
              <a:t>Nematode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1662F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Dr. Elaine Ingham, How to Build Great Soil, Part 1, 28:46; school.soilfoodweb.com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8500" y="1202055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4C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50" y="2781457"/>
            <a:ext cx="285750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0000"/>
              </a:lnSpc>
            </a:pPr>
            <a:r>
              <a:rPr sz="26000" b="0" i="0">
                <a:solidFill>
                  <a:srgbClr val="DBE6A7"/>
                </a:solidFill>
                <a:latin typeface="EB Garamond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876957"/>
            <a:ext cx="8763000" cy="367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0" b="0" i="1">
                <a:solidFill>
                  <a:srgbClr val="F3F1EA"/>
                </a:solidFill>
                <a:latin typeface="EB Garamond"/>
              </a:rPr>
              <a:t>I can train you in one day how to use these microscopes.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8839042"/>
            <a:ext cx="1143000" cy="38100"/>
          </a:xfrm>
          <a:prstGeom prst="rect">
            <a:avLst/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9124792"/>
            <a:ext cx="8763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3F1EA"/>
                </a:solidFill>
                <a:latin typeface="Montserrat"/>
              </a:rPr>
              <a:t>Dr. Elaine Ingham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9581992"/>
            <a:ext cx="876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DBE6A7"/>
                </a:solidFill>
                <a:latin typeface="Source Sans 3"/>
              </a:rPr>
              <a:t>How to Build Great Soil, Part 1 · Diego Footer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F3F1EA">
                    <a:alpha val="80000"/>
                  </a:srgbClr>
                </a:solidFill>
                <a:latin typeface="Source Sans 3"/>
              </a:rPr>
              <a:t>How to Build Great Soil, Part 1, 28:52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500" y="1202055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F3F1EA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428750"/>
            <a:ext cx="8763000" cy="29862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b="1" i="0">
                <a:solidFill>
                  <a:srgbClr val="333130"/>
                </a:solidFill>
                <a:latin typeface="Montserrat"/>
              </a:rPr>
              <a:t>Learn soil microscopy in the Foundation Courses. Link in bio.</a:t>
            </a:r>
          </a:p>
        </p:txBody>
      </p:sp>
      <p:pic>
        <p:nvPicPr>
          <p:cNvPr id="3" name="Picture 2" descr="trim-microscope-paper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033" y="6381750"/>
            <a:ext cx="4334933" cy="495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1662F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Dr. Elaine Ingham, How to Build Great Soil, Part 1, 28:46; school.soilfoodweb.com</a:t>
            </a:r>
          </a:p>
        </p:txBody>
      </p:sp>
      <p:pic>
        <p:nvPicPr>
          <p:cNvPr id="6" name="Picture 5" descr="foundation-logo-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0" y="11250012"/>
            <a:ext cx="1047750" cy="9419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