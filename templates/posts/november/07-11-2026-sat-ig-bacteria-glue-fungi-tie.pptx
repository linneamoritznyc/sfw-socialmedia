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3. Type only. Sources: Dr. Elaine Ingham, "How to Build Great Soil, Part 1", Diego Footer, 4:43: https://www.youtube.com/watch?v=ErMHR6Mc4Bk&amp;t=283s; Dr. Elaine Ingham, "How to Build Great Soil, Part 1", Diego Footer, 9:19: https://www.youtube.com/watch?v=ErMHR6Mc4Bk&amp;t=559s; Dr. Elaine Ingham, "How to Build Great Soil, Part 1", Diego Footer, 10:42: https://www.youtube.com/watch?v=ErMHR6Mc4Bk&amp;t=642s. [VERIFY with Wes] The glomalin line on slide 4; some viewers questioned it. Credit line for every quote: Dr. Elaine Ingham, "How to Build Great Soil, Part 1", Diego Footer. Short quotes with credit are fine; video clips and long excerpts need Evan to check with Diego first. Caption needs review by Allison (AI-generated by Linnea).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3. Collage: bacteria-sand-grain. Credit line for every quote: Dr. Elaine Ingham, "How to Build Great Soil, Part 1", Diego Footer. Short quotes with credit are fine; video clips and long excerpts need Evan to check with Diego first. Caption needs review by Allison (AI-generated by Linnea).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3. Collage: soil-crumb. Credit line for every quote: Dr. Elaine Ingham, "How to Build Great Soil, Part 1", Diego Footer. Short quotes with credit are fine; video clips and long excerpts need Evan to check with Diego first. Caption needs review by Allison (AI-generated by Linnea).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3. Type only. [VERIFY with Wes] glomalin line. Credit line for every quote: Dr. Elaine Ingham, "How to Build Great Soil, Part 1", Diego Footer. Short quotes with credit are fine; video clips and long excerpts need Evan to check with Diego first. Caption needs review by Allison (AI-generated by Linnea).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3. Collage: fungi-tie-crumbs. Credit line for every quote: Dr. Elaine Ingham, "How to Build Great Soil, Part 1", Diego Footer. Short quotes with credit are fine; video clips and long excerpts need Evan to check with Diego first. Caption needs review by Allison (AI-generated by Linnea).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3. No fungal-hyphae microscopy in assets/microscopy/; the library's fungal-hyphae collage cutout stands in. Replace with a micrograph when one is supplied (Wes). Credit line for every quote: Dr. Elaine Ingham, "How to Build Great Soil, Part 1", Diego Footer. Short quotes with credit are fine; video clips and long excerpts need Evan to check with Diego first. Caption needs review by Allison (AI-generated by Linnea).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3. Type only. Credit line for every quote: Dr. Elaine Ingham, "How to Build Great Soil, Part 1", Diego Footer. Short quotes with credit are fine; video clips and long excerpts need Evan to check with Diego first. Caption needs review by Allison (AI-generated by Linnea).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4507600"/>
            <a:ext cx="8763000" cy="29862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600" b="1" i="0">
                <a:solidFill>
                  <a:srgbClr val="333130"/>
                </a:solidFill>
                <a:latin typeface="Montserrat"/>
              </a:rPr>
              <a:t>Soil crumb is built in two steps. Bacteria glue. Fungi tie.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6667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00">
                <a:solidFill>
                  <a:srgbClr val="31662F"/>
                </a:solidFill>
                <a:latin typeface="Montserrat"/>
              </a:rPr>
              <a:t>DR. ELAINE INGHAM · HOW TO BUILD GREAT SOIL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1982450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6A665C"/>
                </a:solidFill>
                <a:latin typeface="Source Sans 3"/>
              </a:rPr>
              <a:t>Dr. Elaine Ingham, How to Build Great Soil, Part 1, 4:43, 9:19 and 10:42</a:t>
            </a:r>
          </a:p>
        </p:txBody>
      </p:sp>
      <p:pic>
        <p:nvPicPr>
          <p:cNvPr id="5" name="Picture 4" descr="foundation-logo-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0" y="11250012"/>
            <a:ext cx="1047750" cy="9419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143000"/>
            <a:ext cx="2857500" cy="247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20000" b="1" i="0">
                <a:solidFill>
                  <a:srgbClr val="31662F"/>
                </a:solidFill>
                <a:latin typeface="Montserrat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3714750"/>
            <a:ext cx="8763000" cy="28531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 i="0">
                <a:solidFill>
                  <a:srgbClr val="333130"/>
                </a:solidFill>
                <a:latin typeface="Montserrat"/>
              </a:rPr>
              <a:t>Step 1: bacteria make sticky glues to hold on to their food, like grabbing the dinner table when water rushes through.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7334250"/>
            <a:ext cx="8763000" cy="4000500"/>
          </a:xfrm>
          <a:prstGeom prst="rect">
            <a:avLst/>
          </a:prstGeom>
          <a:solidFill>
            <a:srgbClr val="D9D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7750" y="7334250"/>
            <a:ext cx="8191500" cy="400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4A463F"/>
                </a:solidFill>
                <a:latin typeface="Montserrat"/>
              </a:rPr>
              <a:t>COLLAGE: bacteria-sand-grain-1.png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6667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00">
                <a:solidFill>
                  <a:srgbClr val="31662F"/>
                </a:solidFill>
                <a:latin typeface="Montserrat"/>
              </a:rPr>
              <a:t>DR. ELAINE INGHAM · HOW TO BUILD GREAT SOIL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1982450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6A665C"/>
                </a:solidFill>
                <a:latin typeface="Source Sans 3"/>
              </a:rPr>
              <a:t>Dr. Elaine Ingham, How to Build Great Soil, Part 1, 4:43, 9:19 and 10:42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8500" y="12020550"/>
            <a:ext cx="2476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31662F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428750"/>
            <a:ext cx="8763000" cy="3918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600" b="1" i="0">
                <a:solidFill>
                  <a:srgbClr val="333130"/>
                </a:solidFill>
                <a:latin typeface="Montserrat"/>
              </a:rPr>
              <a:t>Those glues bind sand, silt, clay and organic matter into micro aggregates.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6000750"/>
            <a:ext cx="8763000" cy="5334000"/>
          </a:xfrm>
          <a:prstGeom prst="rect">
            <a:avLst/>
          </a:prstGeom>
          <a:solidFill>
            <a:srgbClr val="D9D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7750" y="6000750"/>
            <a:ext cx="8191500" cy="533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4A463F"/>
                </a:solidFill>
                <a:latin typeface="Montserrat"/>
              </a:rPr>
              <a:t>COLLAGE: soil-crumb-1.png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667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00">
                <a:solidFill>
                  <a:srgbClr val="31662F"/>
                </a:solidFill>
                <a:latin typeface="Montserrat"/>
              </a:rPr>
              <a:t>DR. ELAINE INGHAM · HOW TO BUILD GREAT SOIL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1982450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6A665C"/>
                </a:solidFill>
                <a:latin typeface="Source Sans 3"/>
              </a:rPr>
              <a:t>Dr. Elaine Ingham, How to Build Great Soil, Part 1, 4:43, 9:19 and 10:42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8500" y="12020550"/>
            <a:ext cx="2476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31662F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177767"/>
            <a:ext cx="8763000" cy="76459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600" b="1" i="0">
                <a:solidFill>
                  <a:srgbClr val="333130"/>
                </a:solidFill>
                <a:latin typeface="Montserrat"/>
              </a:rPr>
              <a:t>In aerobic soil, bacterial glue is alkaline. Dr. Elaine taught that most of the glue in soil is bacterial, and fungal glomalin is a small share.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6667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00">
                <a:solidFill>
                  <a:srgbClr val="31662F"/>
                </a:solidFill>
                <a:latin typeface="Montserrat"/>
              </a:rPr>
              <a:t>DR. ELAINE INGHAM · HOW TO BUILD GREAT SOIL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1982450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6A665C"/>
                </a:solidFill>
                <a:latin typeface="Source Sans 3"/>
              </a:rPr>
              <a:t>Dr. Elaine Ingham, How to Build Great Soil, Part 1, 4:43, 9:19 and 10:42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8500" y="12020550"/>
            <a:ext cx="2476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31662F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143000"/>
            <a:ext cx="2857500" cy="247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20000" b="1" i="0">
                <a:solidFill>
                  <a:srgbClr val="31662F"/>
                </a:solidFill>
                <a:latin typeface="Montserrat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3714750"/>
            <a:ext cx="8763000" cy="3119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 i="0">
                <a:solidFill>
                  <a:srgbClr val="333130"/>
                </a:solidFill>
                <a:latin typeface="Montserrat"/>
              </a:rPr>
              <a:t>Step 2: fungi grow as threads and tie micro aggregates together, like string around a bundle of small packages.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7334250"/>
            <a:ext cx="8763000" cy="4000500"/>
          </a:xfrm>
          <a:prstGeom prst="rect">
            <a:avLst/>
          </a:prstGeom>
          <a:solidFill>
            <a:srgbClr val="D9D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7750" y="7334250"/>
            <a:ext cx="8191500" cy="400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4A463F"/>
                </a:solidFill>
                <a:latin typeface="Montserrat"/>
              </a:rPr>
              <a:t>COLLAGE: fungi-tie-crumbs-1.png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6667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00">
                <a:solidFill>
                  <a:srgbClr val="31662F"/>
                </a:solidFill>
                <a:latin typeface="Montserrat"/>
              </a:rPr>
              <a:t>DR. ELAINE INGHAM · HOW TO BUILD GREAT SOIL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1982450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6A665C"/>
                </a:solidFill>
                <a:latin typeface="Source Sans 3"/>
              </a:rPr>
              <a:t>Dr. Elaine Ingham, How to Build Great Soil, Part 1, 4:43, 9:19 and 10:42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8500" y="12020550"/>
            <a:ext cx="2476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31662F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428750"/>
            <a:ext cx="8763000" cy="4184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800" b="1" i="0">
                <a:solidFill>
                  <a:srgbClr val="333130"/>
                </a:solidFill>
                <a:latin typeface="Montserrat"/>
              </a:rPr>
              <a:t>That makes macro aggregates with big pores: air passages, plus space where water moves and stays.</a:t>
            </a:r>
          </a:p>
        </p:txBody>
      </p:sp>
      <p:pic>
        <p:nvPicPr>
          <p:cNvPr id="3" name="Picture 2" descr="trim-fungal-hyphae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5003" y="6000750"/>
            <a:ext cx="4996993" cy="533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667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00">
                <a:solidFill>
                  <a:srgbClr val="31662F"/>
                </a:solidFill>
                <a:latin typeface="Montserrat"/>
              </a:rPr>
              <a:t>DR. ELAINE INGHAM · HOW TO BUILD GREAT SOIL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1982450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6A665C"/>
                </a:solidFill>
                <a:latin typeface="Source Sans 3"/>
              </a:rPr>
              <a:t>Dr. Elaine Ingham, How to Build Great Soil, Part 1, 4:43, 9:19 and 10:42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8500" y="12020550"/>
            <a:ext cx="2476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31662F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109700"/>
            <a:ext cx="8763000" cy="5782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600" b="1" i="0">
                <a:solidFill>
                  <a:srgbClr val="333130"/>
                </a:solidFill>
                <a:latin typeface="Montserrat"/>
              </a:rPr>
              <a:t>Aerobic fungi release organic acids at pH 5.5 to 7. Bacterial soil leans alkaline. Fungal soil leans slightly acidic.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6667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00">
                <a:solidFill>
                  <a:srgbClr val="31662F"/>
                </a:solidFill>
                <a:latin typeface="Montserrat"/>
              </a:rPr>
              <a:t>DR. ELAINE INGHAM · HOW TO BUILD GREAT SOIL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1982450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6A665C"/>
                </a:solidFill>
                <a:latin typeface="Source Sans 3"/>
              </a:rPr>
              <a:t>Dr. Elaine Ingham, How to Build Great Soil, Part 1, 4:43, 9:19 and 10:42</a:t>
            </a:r>
          </a:p>
        </p:txBody>
      </p:sp>
      <p:pic>
        <p:nvPicPr>
          <p:cNvPr id="5" name="Picture 4" descr="foundation-logo-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0" y="11250012"/>
            <a:ext cx="1047750" cy="94198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