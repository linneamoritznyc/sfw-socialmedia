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Type only. Sources: Dr. Elaine Ingham, "How to Build Great Soil, Part 1", Diego Footer, 4:43: https://www.youtube.com/watch?v=ErMHR6Mc4Bk&amp;t=283s; Dr. Elaine Ingham, "How to Build Great Soil, Part 1", Diego Footer, 9:19: https://www.youtube.com/watch?v=ErMHR6Mc4Bk&amp;t=559s; Dr. Elaine Ingham, "How to Build Great Soil, Part 1", Diego Footer, 10:42: https://www.youtube.com/watch?v=ErMHR6Mc4Bk&amp;t=642s. [VERIFY with Wes] The glomalin line on slide 4; some viewers questioned it.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Collage: bacteria-sand-grain.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Collage: soil-crumb.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Type only. [VERIFY with Wes] glomalin line.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Collage: fungi-tie-crumbs.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No fungal-hyphae microscopy in assets/microscopy/; the library's fungal-hyphae collage cutout stands in. Replace with a micrograph when one is supplied (Wes).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Type only.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4507600"/>
            <a:ext cx="8763000" cy="29862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600" b="1" i="0">
                <a:solidFill>
                  <a:srgbClr val="333130"/>
                </a:solidFill>
                <a:latin typeface="Montserrat"/>
              </a:rPr>
              <a:t>Soil crumb is built in two steps. Bacteria glue. Fungi tie.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4:43, 9:19 and 10:42</a:t>
            </a:r>
          </a:p>
        </p:txBody>
      </p:sp>
      <p:pic>
        <p:nvPicPr>
          <p:cNvPr id="5" name="Picture 4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1250012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1905000" cy="171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 i="0">
                <a:solidFill>
                  <a:srgbClr val="31662F"/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3048000"/>
            <a:ext cx="8763000" cy="3851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333130"/>
                </a:solidFill>
                <a:latin typeface="Montserrat"/>
              </a:rPr>
              <a:t>Step 1: bacteria make sticky glues to hold on to their food, like grabbing the dinner table when water rushes through.</a:t>
            </a:r>
          </a:p>
        </p:txBody>
      </p:sp>
      <p:pic>
        <p:nvPicPr>
          <p:cNvPr id="4" name="Picture 3" descr="trim-bacteria-sand-grain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6121" y="7334250"/>
            <a:ext cx="3914757" cy="4000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4:43, 9:19 and 10:42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3918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600" b="1" i="0">
                <a:solidFill>
                  <a:srgbClr val="333130"/>
                </a:solidFill>
                <a:latin typeface="Montserrat"/>
              </a:rPr>
              <a:t>Those glues bind sand, silt, clay and organic matter into micro aggregates.</a:t>
            </a:r>
          </a:p>
        </p:txBody>
      </p:sp>
      <p:pic>
        <p:nvPicPr>
          <p:cNvPr id="3" name="Picture 2" descr="trim-soil-crumb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1565" y="6000750"/>
            <a:ext cx="5483869" cy="533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4:43, 9:19 and 10:42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177767"/>
            <a:ext cx="8763000" cy="76459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600" b="1" i="0">
                <a:solidFill>
                  <a:srgbClr val="333130"/>
                </a:solidFill>
                <a:latin typeface="Montserrat"/>
              </a:rPr>
              <a:t>In aerobic soil, bacterial glue is alkaline. Dr. Elaine taught that most of the glue in soil is bacterial, and fungal glomalin is a small share.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4:43, 9:19 and 10:42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1905000" cy="171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 i="0">
                <a:solidFill>
                  <a:srgbClr val="31662F"/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3048000"/>
            <a:ext cx="8763000" cy="3119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333130"/>
                </a:solidFill>
                <a:latin typeface="Montserrat"/>
              </a:rPr>
              <a:t>Step 2: fungi grow as threads and tie micro aggregates together, like string around a bundle of small packages.</a:t>
            </a:r>
          </a:p>
        </p:txBody>
      </p:sp>
      <p:pic>
        <p:nvPicPr>
          <p:cNvPr id="4" name="Picture 3" descr="trim-fungi-tie-crumbs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5120" y="7334250"/>
            <a:ext cx="4436759" cy="4000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4:43, 9:19 and 10:42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4184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800" b="1" i="0">
                <a:solidFill>
                  <a:srgbClr val="333130"/>
                </a:solidFill>
                <a:latin typeface="Montserrat"/>
              </a:rPr>
              <a:t>That makes macro aggregates with big pores: air passages, plus space where water moves and stays.</a:t>
            </a:r>
          </a:p>
        </p:txBody>
      </p:sp>
      <p:pic>
        <p:nvPicPr>
          <p:cNvPr id="3" name="Picture 2" descr="trim-fungal-hypha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5003" y="6000750"/>
            <a:ext cx="4996993" cy="533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4:43, 9:19 and 10:42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109700"/>
            <a:ext cx="8763000" cy="578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600" b="1" i="0">
                <a:solidFill>
                  <a:srgbClr val="333130"/>
                </a:solidFill>
                <a:latin typeface="Montserrat"/>
              </a:rPr>
              <a:t>Aerobic fungi release organic acids at pH 5.5 to 7. Bacterial soil leans alkaline. Fungal soil leans slightly acidic.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4:43, 9:19 and 10:42</a:t>
            </a:r>
          </a:p>
        </p:txBody>
      </p:sp>
      <p:pic>
        <p:nvPicPr>
          <p:cNvPr id="5" name="Picture 4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1250012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