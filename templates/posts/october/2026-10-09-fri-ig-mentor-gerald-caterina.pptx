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4C.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2B. Small image: Gerald teaching (other people in frame: check consent).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2B.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770414627792866894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114925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172075" y="0"/>
            <a:ext cx="5114925" cy="1285875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24475" y="0"/>
            <a:ext cx="4810125" cy="1285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Dr. Caterina Capri, portrait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114925" y="0"/>
            <a:ext cx="57150" cy="1285875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2000" y="762000"/>
            <a:ext cx="3612813" cy="666750"/>
          </a:xfrm>
          <a:prstGeom prst="roundRect">
            <a:avLst>
              <a:gd name="adj" fmla="val 50000"/>
            </a:avLst>
          </a:prstGeom>
          <a:solidFill>
            <a:srgbClr val="22371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762000"/>
            <a:ext cx="3612813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 spc="200">
                <a:solidFill>
                  <a:srgbClr val="DBE6A7"/>
                </a:solidFill>
                <a:latin typeface="Montserrat"/>
              </a:rPr>
              <a:t>MEET OUR MENTORS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429750"/>
            <a:ext cx="10287000" cy="3429000"/>
          </a:xfrm>
          <a:prstGeom prst="rect">
            <a:avLst/>
          </a:prstGeom>
          <a:solidFill>
            <a:srgbClr val="22371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9906000"/>
            <a:ext cx="40005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F4F1EA"/>
                </a:solidFill>
                <a:latin typeface="Montserrat"/>
              </a:rPr>
              <a:t>Gerald Ramirez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1334750"/>
            <a:ext cx="40005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 i="0">
                <a:solidFill>
                  <a:srgbClr val="DBE6A7"/>
                </a:solidFill>
                <a:latin typeface="Source Sans 3"/>
              </a:rPr>
              <a:t>Compost extracts and teas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24500" y="9906000"/>
            <a:ext cx="40005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4F1EA"/>
                </a:solidFill>
                <a:latin typeface="Montserrat"/>
              </a:rPr>
              <a:t>Dr. Caterina Capri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4500" y="11334750"/>
            <a:ext cx="40005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 i="0">
                <a:solidFill>
                  <a:srgbClr val="DBE6A7"/>
                </a:solidFill>
                <a:latin typeface="Source Sans 3"/>
              </a:rPr>
              <a:t>Advanced Programs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F4F1EA">
                    <a:alpha val="60000"/>
                  </a:srgbClr>
                </a:solidFill>
                <a:latin typeface="Source Sans 3"/>
              </a:rPr>
              <a:t>1/3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3143250"/>
            <a:ext cx="8382000" cy="3950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1" i="0">
                <a:solidFill>
                  <a:srgbClr val="22371F"/>
                </a:solidFill>
                <a:latin typeface="Montserrat"/>
              </a:rPr>
              <a:t>Gerald teaches liquid amendments: compost extracts and teas that carry living biology from compost out to the field.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" y="7379873"/>
            <a:ext cx="838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 i="0">
                <a:solidFill>
                  <a:srgbClr val="333130"/>
                </a:solidFill>
                <a:latin typeface="Source Sans 3"/>
              </a:rPr>
              <a:t>[COPY: Allison]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8046623"/>
            <a:ext cx="838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 i="0">
                <a:solidFill>
                  <a:srgbClr val="333130"/>
                </a:solidFill>
                <a:latin typeface="Source Sans 3"/>
              </a:rPr>
              <a:t>[COPY: Allison] Step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8713373"/>
            <a:ext cx="838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 i="0">
                <a:solidFill>
                  <a:srgbClr val="333130"/>
                </a:solidFill>
                <a:latin typeface="Source Sans 3"/>
              </a:rPr>
              <a:t>[COPY: Allison] Step 3</a:t>
            </a:r>
          </a:p>
        </p:txBody>
      </p:sp>
      <p:pic>
        <p:nvPicPr>
          <p:cNvPr id="6" name="Picture 5" descr="578575659819980237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8286750"/>
            <a:ext cx="3810000" cy="3810000"/>
          </a:xfrm>
          <a:prstGeom prst="roundRect">
            <a:avLst>
              <a:gd name="adj" fmla="val 6000"/>
            </a:avLst>
          </a:prstGeom>
        </p:spPr>
      </p:pic>
      <p:sp>
        <p:nvSpPr>
          <p:cNvPr id="7" name="TextBox 6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2/3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3143250"/>
            <a:ext cx="8382000" cy="3950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1" i="0">
                <a:solidFill>
                  <a:srgbClr val="22371F"/>
                </a:solidFill>
                <a:latin typeface="Montserrat"/>
              </a:rPr>
              <a:t>Caterina co-wrote research on how living cover crops protect soil, control weeds and build biological diversity.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3/3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