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boubacar-portrait-bananas-closer.jpg. Bridge to next slide: young-tree-with-pineapples.jpg.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farm-overview-with-tanks.jpeg. Bridge to next slide: man-by-water-tanks.jpeg.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vegetable-beds-by-building.jpeg. Bridge to next slide: still-biochar-kiln-smoke-73s.png.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boubacar-compost-pile.jpeg. Bridge to next slide: still-biochar-charcoal-16s.png.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carrying-mulch.jpg. Bridge to next slide: banana-bunch.jpg.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planting-seedling-in-agroforest.jpeg. Bridge to next slide: barrel-brew-under-shelter.jpeg.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buckets-of-tubers.jpg. Bridge to next slide: boubacar-hand-compost-worm.jpg.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millipede-leaf-litter.jpg. Bridge to next slide: caterpillar-on-leaf.jpg.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yellow-caterpillar-on-stem.jpg. Bridge to next slide: two-men-at-shade-house.jpeg.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group-of-five-farmers.jpeg. Bridge to next slide: young-tree-yellow-new-leaves.jpg.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seamless carousel (no fades): photos straddle the seams. Background assets/collage/boubacar-bridges/ (drawn by code, brand colours). Main photo: young-coffee-plant.jpg.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young-tree-with-pineapples-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15735664669817848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905750"/>
            <a:ext cx="8763000" cy="932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111111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838227"/>
            <a:ext cx="8763000" cy="25558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 i="0">
                <a:solidFill>
                  <a:srgbClr val="111111"/>
                </a:solidFill>
                <a:latin typeface="Source Sans 3"/>
              </a:rPr>
              <a:t>Guinea-Conakry</a:t>
            </a:r>
          </a:p>
          <a:p>
            <a:pPr algn="l">
              <a:lnSpc>
                <a:spcPct val="115000"/>
              </a:lnSpc>
            </a:pPr>
            <a:r>
              <a:rPr sz="4800" b="0" i="0">
                <a:solidFill>
                  <a:srgbClr val="111111"/>
                </a:solidFill>
                <a:latin typeface="Source Sans 3"/>
              </a:rPr>
              <a:t>Graduated from the Soil Food Web School in July 2026</a:t>
            </a:r>
          </a:p>
        </p:txBody>
      </p:sp>
      <p:pic>
        <p:nvPicPr>
          <p:cNvPr id="9" name="Picture 8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0" y="238125"/>
            <a:ext cx="1428750" cy="128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381000"/>
            <a:ext cx="6667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300">
                <a:solidFill>
                  <a:srgbClr val="31662F"/>
                </a:solidFill>
                <a:latin typeface="Montserrat"/>
              </a:rPr>
              <a:t>HAPPY INTERNATIONAL COFFEE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young-tree-with-pineapples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-man-by-water-tanks-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69901863759551355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0"/>
            <a:ext cx="8763000" cy="1275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1111"/>
                </a:solidFill>
                <a:latin typeface="Montserrat"/>
              </a:rPr>
              <a:t>When he started, the land was worn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181462"/>
            <a:ext cx="8763000" cy="1735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11111"/>
                </a:solidFill>
                <a:latin typeface="Source Sans 3"/>
              </a:rPr>
              <a:t>The soil at Gnaly Coffee &amp; AgroÉcole Bio, in the Fouta Djallon highlands of Guinea-Conakry, had been degraded and poorly managed for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man-by-water-tanks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-still-biochar-kiln-smoke-73s-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88382953873212131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0"/>
            <a:ext cx="8763000" cy="15877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11111"/>
                </a:solidFill>
                <a:latin typeface="Montserrat"/>
              </a:rPr>
              <a:t>So he changed the question: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493493"/>
            <a:ext cx="8763000" cy="1530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111111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still-biochar-kiln-smoke-73s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-still-biochar-charcoal-16s-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89543578449581624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0"/>
            <a:ext cx="8763000" cy="838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11111"/>
                </a:solidFill>
                <a:latin typeface="Montserrat"/>
              </a:rPr>
              <a:t>How he feeds his soil: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744618"/>
            <a:ext cx="8763000" cy="28292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11111"/>
                </a:solidFill>
                <a:latin typeface="Source Sans 3"/>
              </a:rPr>
              <a:t>living groundcover, mulch from his farm and the forest, and compost with biochar activated with fish hydrolysate and compost tea.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still-biochar-charcoal-16s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-banana-bunch-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9511897012796402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0"/>
            <a:ext cx="8763000" cy="2760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0" i="1">
                <a:solidFill>
                  <a:srgbClr val="111111"/>
                </a:solidFill>
                <a:latin typeface="EB Garamond"/>
              </a:rPr>
              <a:t>“I apply compost regularly around young trees and whenever I add new mulch.”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banana-bunch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-barrel-brew-under-shelter-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78648590319007333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0"/>
            <a:ext cx="8763000" cy="17749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11111"/>
                </a:solidFill>
                <a:latin typeface="Montserrat"/>
              </a:rPr>
              <a:t>What he grows together: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680712"/>
            <a:ext cx="8763000" cy="1872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0" i="0">
                <a:solidFill>
                  <a:srgbClr val="111111"/>
                </a:solidFill>
                <a:latin typeface="Source Sans 3"/>
              </a:rPr>
              <a:t>coffee, cacao, bananas, citrus, and pineapple.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barrel-brew-under-shelter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-boubacar-hand-compost-worm-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7474945682851917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0"/>
            <a:ext cx="8763000" cy="2965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111111"/>
                </a:solidFill>
                <a:latin typeface="EB Garamond"/>
              </a:rPr>
              <a:t>“My compost includes plant residues, animal manure when available, biochar activated with fish hydrolysate and compost tea, and local organic materials.”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boubacar-hand-compost-worm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-caterpillar-on-leaf-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30618401832831391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0"/>
            <a:ext cx="8763000" cy="870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11111"/>
                </a:solidFill>
                <a:latin typeface="Montserrat"/>
              </a:rPr>
              <a:t>What he's seeing: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775821"/>
            <a:ext cx="87630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11111"/>
                </a:solidFill>
                <a:latin typeface="Source Sans 3"/>
              </a:rPr>
              <a:t>more earthworms, more mushrooms, active decomposition, and better soil 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caterpillar-on-leaf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-two-men-at-shade-house-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4797201141031687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0"/>
            <a:ext cx="8763000" cy="33760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 i="1">
                <a:solidFill>
                  <a:srgbClr val="111111"/>
                </a:solidFill>
                <a:latin typeface="EB Garamond"/>
              </a:rPr>
              <a:t>“I can already see signs of healthier soil in the field, including more earthworms, mushrooms, and active decomposition.”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two-men-at-shade-house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7250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-young-tree-yellow-new-leaves-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143250"/>
            <a:ext cx="1714500" cy="381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00747575870751017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905750"/>
            <a:ext cx="8763000" cy="3649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0" i="1">
                <a:solidFill>
                  <a:srgbClr val="111111"/>
                </a:solidFill>
                <a:latin typeface="EB Garamond"/>
              </a:rPr>
              <a:t>“Your training changed the way I see agriculture. I now believe that agriculture is biology, not chemical fertilizer.”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95250" y="3048000"/>
            <a:ext cx="1809750" cy="4000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young-tree-yellow-new-leaves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7145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14500" y="952500"/>
            <a:ext cx="4762500" cy="6286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54652883428533215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0" y="1047750"/>
            <a:ext cx="4572000" cy="609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905750"/>
            <a:ext cx="8763000" cy="36494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0" i="1">
                <a:solidFill>
                  <a:srgbClr val="111111"/>
                </a:solidFill>
                <a:latin typeface="EB Garamond"/>
              </a:rPr>
              <a:t>“My dream is to restore degraded land in the Fouta Djallon and help my community learn living-soil practices.”</a:t>
            </a:r>
          </a:p>
        </p:txBody>
      </p:sp>
      <p:pic>
        <p:nvPicPr>
          <p:cNvPr id="8" name="Picture 7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0" y="238125"/>
            <a:ext cx="1428750" cy="128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Subscribe on YouTube: @boubacartidianediallo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