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1A. Series cover. Same cover on every Soil Regenerators post.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1C.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1B.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C9C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52400" y="0"/>
            <a:ext cx="9982200" cy="1285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 i="0">
                <a:solidFill>
                  <a:srgbClr val="4A463F"/>
                </a:solidFill>
                <a:latin typeface="Source Sans 3"/>
              </a:rPr>
              <a:t>PHOTO: Jason at his compost piles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077075"/>
            <a:ext cx="10287000" cy="5781675"/>
          </a:xfrm>
          <a:prstGeom prst="rect">
            <a:avLst/>
          </a:prstGeom>
          <a:gradFill rotWithShape="1">
            <a:gsLst>
              <a:gs pos="0">
                <a:srgbClr val="1E3F1D">
                  <a:alpha val="0"/>
                </a:srgbClr>
              </a:gs>
              <a:gs pos="100000">
                <a:srgbClr val="1E3F1D">
                  <a:alpha val="8500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62000" y="762000"/>
            <a:ext cx="7239000" cy="666750"/>
          </a:xfrm>
          <a:prstGeom prst="roundRect">
            <a:avLst>
              <a:gd name="adj" fmla="val 50000"/>
            </a:avLst>
          </a:prstGeom>
          <a:solidFill>
            <a:srgbClr val="1E3F1D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2000" y="762000"/>
            <a:ext cx="7239000" cy="666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 i="0" spc="200">
                <a:solidFill>
                  <a:srgbClr val="B1BCB1"/>
                </a:solidFill>
                <a:latin typeface="Montserrat"/>
              </a:rPr>
              <a:t>SOIL REGENERATORS IN THE WILD</a:t>
            </a:r>
          </a:p>
        </p:txBody>
      </p:sp>
      <p:sp>
        <p:nvSpPr>
          <p:cNvPr id="7" name="Rectangle 6"/>
          <p:cNvSpPr/>
          <p:nvPr/>
        </p:nvSpPr>
        <p:spPr>
          <a:xfrm>
            <a:off x="762000" y="9105900"/>
            <a:ext cx="1143000" cy="38100"/>
          </a:xfrm>
          <a:prstGeom prst="rect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2000" y="9429750"/>
            <a:ext cx="7620000" cy="18452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400" b="1" i="0">
                <a:solidFill>
                  <a:srgbClr val="F3F1EA"/>
                </a:solidFill>
                <a:latin typeface="Montserrat"/>
              </a:rPr>
              <a:t>Jason Gearheart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11389315"/>
            <a:ext cx="7429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0" i="0">
                <a:solidFill>
                  <a:srgbClr val="B1BCB1"/>
                </a:solidFill>
                <a:latin typeface="Source Sans 3"/>
              </a:rPr>
              <a:t>Integrated Elements Compost, Indiana</a:t>
            </a:r>
          </a:p>
        </p:txBody>
      </p:sp>
      <p:pic>
        <p:nvPicPr>
          <p:cNvPr id="10" name="Picture 9" descr="foundation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1501" y="11239500"/>
            <a:ext cx="953498" cy="8572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191500" y="762000"/>
            <a:ext cx="1333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0" i="0">
                <a:solidFill>
                  <a:srgbClr val="F3F1EA">
                    <a:alpha val="60000"/>
                  </a:srgbClr>
                </a:solidFill>
                <a:latin typeface="Source Sans 3"/>
              </a:rPr>
              <a:t>1/4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714500" y="5810250"/>
            <a:ext cx="2476500" cy="4572000"/>
          </a:xfrm>
          <a:prstGeom prst="rect">
            <a:avLst/>
          </a:pr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33500" y="4686300"/>
            <a:ext cx="3238500" cy="9525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>
              <a:lnSpc>
                <a:spcPct val="100000"/>
              </a:lnSpc>
            </a:pPr>
            <a:r>
              <a:rPr sz="7200" b="1" i="0">
                <a:solidFill>
                  <a:srgbClr val="31662F"/>
                </a:solidFill>
                <a:latin typeface="Montserrat"/>
              </a:rPr>
              <a:t>120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33500" y="10610850"/>
            <a:ext cx="3238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3000" b="0" i="0">
                <a:solidFill>
                  <a:srgbClr val="333130"/>
                </a:solidFill>
                <a:latin typeface="Source Sans 3"/>
              </a:rPr>
              <a:t>Year one, yards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0" y="5238750"/>
            <a:ext cx="2476500" cy="5143500"/>
          </a:xfrm>
          <a:prstGeom prst="rect">
            <a:avLst/>
          </a:prstGeom>
          <a:solidFill>
            <a:srgbClr val="1E3F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15000" y="4114800"/>
            <a:ext cx="3238500" cy="9525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>
              <a:lnSpc>
                <a:spcPct val="100000"/>
              </a:lnSpc>
            </a:pPr>
            <a:r>
              <a:rPr sz="7200" b="1" i="0">
                <a:solidFill>
                  <a:srgbClr val="1E3F1D"/>
                </a:solidFill>
                <a:latin typeface="Montserrat"/>
              </a:rPr>
              <a:t>135+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10610850"/>
            <a:ext cx="3238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3000" b="0" i="0">
                <a:solidFill>
                  <a:srgbClr val="333130"/>
                </a:solidFill>
                <a:latin typeface="Source Sans 3"/>
              </a:rPr>
              <a:t>Year two, yards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10382250"/>
            <a:ext cx="8001000" cy="28575"/>
          </a:xfrm>
          <a:prstGeom prst="rect">
            <a:avLst/>
          </a:prstGeom>
          <a:solidFill>
            <a:srgbClr val="1E3F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11715750"/>
            <a:ext cx="876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0" i="0">
                <a:solidFill>
                  <a:srgbClr val="6A665C"/>
                </a:solidFill>
                <a:latin typeface="Source Sans 3"/>
              </a:rPr>
              <a:t>Source: [COPY: Allison]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91500" y="762000"/>
            <a:ext cx="1333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0" i="0">
                <a:solidFill>
                  <a:srgbClr val="333130">
                    <a:alpha val="60000"/>
                  </a:srgbClr>
                </a:solidFill>
                <a:latin typeface="Source Sans 3"/>
              </a:rPr>
              <a:t>2/4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8001000"/>
          </a:xfrm>
          <a:prstGeom prst="rect">
            <a:avLst/>
          </a:prstGeom>
          <a:solidFill>
            <a:srgbClr val="C9C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52400" y="0"/>
            <a:ext cx="9982200" cy="800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 i="0">
                <a:solidFill>
                  <a:srgbClr val="4A463F"/>
                </a:solidFill>
                <a:latin typeface="Source Sans 3"/>
              </a:rPr>
              <a:t>PHOTO: woodchips next to finished compost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8477250"/>
            <a:ext cx="8763000" cy="329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 spc="200">
                <a:solidFill>
                  <a:srgbClr val="31662F"/>
                </a:solidFill>
                <a:latin typeface="Montserrat"/>
              </a:rPr>
              <a:t>WOODCHIPS 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9001125"/>
            <a:ext cx="8763000" cy="285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800" b="0" i="0">
                <a:solidFill>
                  <a:srgbClr val="1E3F1D"/>
                </a:solidFill>
                <a:latin typeface="Source Sans 3"/>
              </a:rPr>
              <a:t>Woodchips in. Biologically active compost out.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91500" y="762000"/>
            <a:ext cx="1333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0" i="0">
                <a:solidFill>
                  <a:srgbClr val="333130">
                    <a:alpha val="60000"/>
                  </a:srgbClr>
                </a:solidFill>
                <a:latin typeface="Source Sans 3"/>
              </a:rPr>
              <a:t>3/4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143000"/>
            <a:ext cx="2857500" cy="33011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26000" b="1" i="0">
                <a:solidFill>
                  <a:srgbClr val="31662F">
                    <a:alpha val="30000"/>
                  </a:srgbClr>
                </a:solidFill>
                <a:latin typeface="Montserrat"/>
              </a:rPr>
              <a:t>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2500" y="3901494"/>
            <a:ext cx="8382000" cy="4484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4800" b="1" i="0">
                <a:solidFill>
                  <a:srgbClr val="1E3F1D"/>
                </a:solidFill>
                <a:latin typeface="Montserrat"/>
              </a:rPr>
              <a:t>“Every year I’ve been able to knock out a piece of the puzzle for efficiency without compromising quality.”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2500" y="8671505"/>
            <a:ext cx="8382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600" b="0" i="0">
                <a:solidFill>
                  <a:srgbClr val="31662F"/>
                </a:solidFill>
                <a:latin typeface="Source Sans 3"/>
              </a:rPr>
              <a:t>Jason Gearheart, Indiana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91500" y="762000"/>
            <a:ext cx="1333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0" i="0">
                <a:solidFill>
                  <a:srgbClr val="333130">
                    <a:alpha val="60000"/>
                  </a:srgbClr>
                </a:solidFill>
                <a:latin typeface="Source Sans 3"/>
              </a:rPr>
              <a:t>4/4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