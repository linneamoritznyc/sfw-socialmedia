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Cover, research style. Sources: Soil Food Web School, Compost Manual: [LINK FROM CARLA]. Soil Food Web School, BioComplete Compost, Lecture 4: Thermophilic Composting (Part 2): https://pt.soilfoodweb.com/?p=2067. Miller et al. (2015). Ascariasis in humans and pigs on small-scale farms, Maine, USA, 2010 to 2013. Emerging Infectious Diseases, 21(2): https://doi.org/10.3201/eid2102.140048. USDA NRCS and Fairbanks Soil and Water Conservation District (2005). Composting Dog Waste: https://www.epa.gov/system/files/documents/2022-11/Composting-Dog-Waste-Booklet-Alaska.pdf. CDC (2025). About Toxoplasmosis: https://www.cdc.gov/toxoplasmosis/about/index.html. Course: https://school.soilfoodweb.com/bundles/advanced-biocomplete-compost-production Photo rabbit.jpg: Adrian Pereira on Unsplash, https://unsplash.com/photos/brown-hare-on-grass-field-cIH81koe-ao. Photo goat.jpg: Maxime Agnelli on Unsplash, https://unsplash.com/photos/selective-focus-photography-of-brown-goat-during-daytime-bhD6TGRjnWc. Photo sheep.jpg: Sam Carter on Unsplash, https://unsplash.com/photos/white-sheep-on-green-grass-during-daytime-GHOiyov2TSQ. Photo alpaca.jpg: Maksim Samuilionak on Unsplash, https://unsplash.com/photos/a-close-up-of-a-fluffy-alpacas-head-DyABRVYb4b8. Photo guinea-pig.jpg: Jack Catalano on Unsplash, https://unsplash.com/photos/brown-and-white-guinea-pig-eating-carrot-q1pw1dOW0_0. Photo horse.jpg: Roger Starnes Sr on Unsplash, https://unsplash.com/photos/a-brown-horse-grazes-peacefully-in-a-sunny-green-field-3w1VfQHm_Lc. Photo cow.jpg: Diana Shchurova on Unsplash, https://unsplash.com/photos/a-brown-and-white-cow-standing-on-top-of-a-grass-covered-field-tDRZNFrz9yA. Photo chicken.jpg: sippakorn yamkasikorn on Unsplash, https://unsplash.com/photos/white-and-brown-chicken-on-green-grass-field-during-daytime-wWIK8hnESnY. Photo pig.jpg: Pauline Bernfeld on Unsplash, https://unsplash.com/photos/black-pig-in-blue-wooden-cage-S99OqS453go. Photo dog.jpg: iridial on Unsplash, https://unsplash.com/photos/border-collie-lying-in-green-grass-GmgYWfGTWPA. Photo cat.jpg: Sean Foster on Unsplash, https://unsplash.com/photos/an-orange-cat-laying-on-top-of-a-wooden-floor-19eq09rpv-M.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Feedstocks, text, footnote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Feedstocks, chart: one 100% stacked bar (10, 30, 60) with a 0 to 100% axis and a legend. Icons: assets/icons/.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Plant-eaters and poultry. Photo rabbit.jpg: Adrian Pereira on Unsplash, https://unsplash.com/photos/brown-hare-on-grass-field-cIH81koe-ao. Photo goat.jpg: Maxime Agnelli on Unsplash, https://unsplash.com/photos/selective-focus-photography-of-brown-goat-during-daytime-bhD6TGRjnWc. Photo sheep.jpg: Sam Carter on Unsplash, https://unsplash.com/photos/white-sheep-on-green-grass-during-daytime-GHOiyov2TSQ. Photo alpaca.jpg: Maksim Samuilionak on Unsplash, https://unsplash.com/photos/a-close-up-of-a-fluffy-alpacas-head-DyABRVYb4b8. Photo guinea-pig.jpg: Jack Catalano on Unsplash, https://unsplash.com/photos/brown-and-white-guinea-pig-eating-carrot-q1pw1dOW0_0. Photo horse.jpg: Roger Starnes Sr on Unsplash, https://unsplash.com/photos/a-brown-horse-grazes-peacefully-in-a-sunny-green-field-3w1VfQHm_Lc. Photo cow.jpg: Diana Shchurova on Unsplash, https://unsplash.com/photos/a-brown-and-white-cow-standing-on-top-of-a-grass-covered-field-tDRZNFrz9yA. Photo chicken.jpg: sippakorn yamkasikorn on Unsplash, https://unsplash.com/photos/white-and-brown-chicken-on-green-grass-field-during-daytime-wWIK8hnESnY.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Pig. Photo pig.jpg: Pauline Bernfeld on Unsplash, https://unsplash.com/photos/black-pig-in-blue-wooden-cage-S99OqS453go.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Dog and cat, part 1. Photo dog.jpg: iridial on Unsplash, https://unsplash.com/photos/border-collie-lying-in-green-grass-GmgYWfGTWPA.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Dog and cat, part 2. Photo cat.jpg: Sean Foster on Unsplash, https://unsplash.com/photos/an-orange-cat-laying-on-top-of-a-wooden-floor-19eq09rpv-M.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or hot, comparison in two columns. Photo compost-2.jpg: Edward Howell on Unsplash, https://unsplash.com/photos/dried-leaves-on-ground-beside-wooden-fence-v7G32kVgM84. Photo compost-4.jpg: Frank Thiemonge on Unsplash, https://unsplash.com/photos/a-couple-of-wooden-boxes-filled-with-dirt-GXEPGA3k7N0.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Thermophilic pile, diagram: a pile cross-section drawn with shapes (tan pile, gold hot center), arrows show turning the outside into the center. Thermometer icon: assets/icons/.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Course: https://school.soilfoodweb.com/bundles/advanced-biocomplete-compost-production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181100"/>
            <a:ext cx="8763000" cy="1593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31662F"/>
                </a:solidFill>
                <a:latin typeface="Montserrat"/>
              </a:rPr>
              <a:t>Whose manure belongs in your compost?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64903"/>
            <a:ext cx="876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Happy World Animal Day, October 4.</a:t>
            </a:r>
          </a:p>
        </p:txBody>
      </p:sp>
      <p:pic>
        <p:nvPicPr>
          <p:cNvPr id="7" name="Picture 6" descr="9246435778751590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26903"/>
            <a:ext cx="2119312" cy="17954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000" y="3726903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5522366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050" y="5627141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5541416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Rabbit</a:t>
            </a:r>
          </a:p>
        </p:txBody>
      </p:sp>
      <p:pic>
        <p:nvPicPr>
          <p:cNvPr id="12" name="Picture 11" descr="74147391034572297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562" y="3726903"/>
            <a:ext cx="2119312" cy="179546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976562" y="3726903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6562" y="5522366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5612" y="5627141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6112" y="5541416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Goat</a:t>
            </a:r>
          </a:p>
        </p:txBody>
      </p:sp>
      <p:pic>
        <p:nvPicPr>
          <p:cNvPr id="17" name="Picture 16" descr="24659360649619611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3726903"/>
            <a:ext cx="2119312" cy="179546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91125" y="3726903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1125" y="5522366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0175" y="5627141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675" y="5541416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Sheep</a:t>
            </a:r>
          </a:p>
        </p:txBody>
      </p:sp>
      <p:pic>
        <p:nvPicPr>
          <p:cNvPr id="22" name="Picture 21" descr="68786601834318293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687" y="3726903"/>
            <a:ext cx="2119312" cy="179546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405687" y="3726903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5687" y="5522366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24737" y="5627141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5237" y="5541416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Alpaca</a:t>
            </a:r>
          </a:p>
        </p:txBody>
      </p:sp>
      <p:pic>
        <p:nvPicPr>
          <p:cNvPr id="27" name="Picture 26" descr="46677803915665653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941466"/>
            <a:ext cx="2119312" cy="179546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62000" y="5941466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2000" y="7736928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050" y="7841703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550" y="7755978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Guinea pig</a:t>
            </a:r>
          </a:p>
        </p:txBody>
      </p:sp>
      <p:pic>
        <p:nvPicPr>
          <p:cNvPr id="32" name="Picture 31" descr="62028802044645065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6562" y="5941466"/>
            <a:ext cx="2119312" cy="179546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976562" y="5941466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76562" y="7736928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5612" y="7841703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86112" y="7755978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Horse</a:t>
            </a:r>
          </a:p>
        </p:txBody>
      </p:sp>
      <p:pic>
        <p:nvPicPr>
          <p:cNvPr id="37" name="Picture 36" descr="168365805659860987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125" y="5941466"/>
            <a:ext cx="2119312" cy="179546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191125" y="5941466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91125" y="7736928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10175" y="7841703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675" y="7755978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Cow</a:t>
            </a:r>
          </a:p>
        </p:txBody>
      </p:sp>
      <p:pic>
        <p:nvPicPr>
          <p:cNvPr id="42" name="Picture 41" descr="280635436895635570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5687" y="5941466"/>
            <a:ext cx="2119312" cy="179546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405687" y="5941466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05687" y="7736928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24737" y="7841703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5237" y="7755978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Chicken</a:t>
            </a:r>
          </a:p>
        </p:txBody>
      </p:sp>
      <p:pic>
        <p:nvPicPr>
          <p:cNvPr id="47" name="Picture 46" descr="158801904365283145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8156028"/>
            <a:ext cx="2119312" cy="1795462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762000" y="8156028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2000" y="9951491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1050" y="10056266"/>
            <a:ext cx="114300" cy="11430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550" y="9970541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Pig</a:t>
            </a:r>
          </a:p>
        </p:txBody>
      </p:sp>
      <p:pic>
        <p:nvPicPr>
          <p:cNvPr id="52" name="Picture 51" descr="512276033355855135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6562" y="8156028"/>
            <a:ext cx="2119312" cy="1795462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2976562" y="8156028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76562" y="9951491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95612" y="10056266"/>
            <a:ext cx="114300" cy="11430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86112" y="9970541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Dog</a:t>
            </a:r>
          </a:p>
        </p:txBody>
      </p:sp>
      <p:pic>
        <p:nvPicPr>
          <p:cNvPr id="57" name="Picture 56" descr="864441306812095847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1125" y="8156028"/>
            <a:ext cx="2119312" cy="1795462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191125" y="8156028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91125" y="9951491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0175" y="10056266"/>
            <a:ext cx="114300" cy="11430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0675" y="9970541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Cat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5687" y="8156028"/>
            <a:ext cx="2119312" cy="211931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77137" y="8479878"/>
            <a:ext cx="171450" cy="1714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3837" y="8403678"/>
            <a:ext cx="15859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333130"/>
                </a:solidFill>
                <a:latin typeface="Montserrat"/>
              </a:rPr>
              <a:t>GOES 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77137" y="9070428"/>
            <a:ext cx="171450" cy="1714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43837" y="8994228"/>
            <a:ext cx="15859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333130"/>
                </a:solidFill>
                <a:latin typeface="Montserrat"/>
              </a:rPr>
              <a:t>HOT PILE ONLY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77137" y="9660978"/>
            <a:ext cx="171450" cy="17145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43837" y="9584778"/>
            <a:ext cx="15859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333130"/>
                </a:solidFill>
                <a:latin typeface="Montserrat"/>
              </a:rPr>
              <a:t>STAYS OUT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1179195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333130">
                    <a:alpha val="70000"/>
                  </a:srgbClr>
                </a:solidFill>
                <a:latin typeface="Source Sans 3"/>
              </a:rPr>
              <a:t>Photo: Adrian Pereira, Maxime Agnelli, Sam Carter, Maksim Samuilionak, Jack Catalano, Roger Starnes Sr, Diana Shchurova, sippakorn yamkasikorn, Pauline Bernfeld, iridial, Sean Foster on Unsplash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manure-fork-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1333500"/>
            <a:ext cx="1236002" cy="1238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428750"/>
            <a:ext cx="7143750" cy="2788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31662F"/>
                </a:solidFill>
                <a:latin typeface="Montserrat"/>
              </a:rPr>
              <a:t>Manure: a high-nitrogen feedstock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502589"/>
            <a:ext cx="1143000" cy="38100"/>
          </a:xfrm>
          <a:prstGeom prst="rect">
            <a:avLst/>
          </a:prstGeom>
          <a:solidFill>
            <a:srgbClr val="31662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883589"/>
            <a:ext cx="8763000" cy="4604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400" b="0">
                <a:solidFill>
                  <a:srgbClr val="333130"/>
                </a:solidFill>
                <a:latin typeface="Source Sans 3"/>
              </a:rPr>
              <a:t>A Soil Food Web thermophilic compost recipe combines three feedstocks: high-nitrogen material such as manure (about 10% in summer), green plant material (about 30%) and woody material (about 60%). Bedding, such as straw or wood shavings, counts toward the woody share.</a:t>
            </a:r>
            <a:r>
              <a:rPr sz="34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Soil Food Web School, BioComplete Compost, Lecture 4</a:t>
            </a:r>
          </a:p>
        </p:txBody>
      </p:sp>
      <p:pic>
        <p:nvPicPr>
          <p:cNvPr id="11" name="Picture 10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143250"/>
            <a:ext cx="838200" cy="1428750"/>
          </a:xfrm>
          <a:prstGeom prst="rect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38300" y="3143250"/>
            <a:ext cx="2590800" cy="14287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7200" y="3143250"/>
            <a:ext cx="5219700" cy="142875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4686300"/>
            <a:ext cx="19050" cy="133350"/>
          </a:xfrm>
          <a:prstGeom prst="rect">
            <a:avLst/>
          </a:prstGeom>
          <a:solidFill>
            <a:srgbClr val="3331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4876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333130">
                    <a:alpha val="75000"/>
                  </a:srgbClr>
                </a:solidFill>
                <a:latin typeface="Source Sans 3"/>
              </a:rPr>
              <a:t>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3225" y="4686300"/>
            <a:ext cx="19050" cy="133350"/>
          </a:xfrm>
          <a:prstGeom prst="rect">
            <a:avLst/>
          </a:prstGeom>
          <a:solidFill>
            <a:srgbClr val="3331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1750" y="4876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333130">
                    <a:alpha val="75000"/>
                  </a:srgbClr>
                </a:solidFill>
                <a:latin typeface="Source Sans 3"/>
              </a:rPr>
              <a:t>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3975" y="4686300"/>
            <a:ext cx="19050" cy="133350"/>
          </a:xfrm>
          <a:prstGeom prst="rect">
            <a:avLst/>
          </a:prstGeom>
          <a:solidFill>
            <a:srgbClr val="3331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4876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333130">
                    <a:alpha val="75000"/>
                  </a:srgbClr>
                </a:solidFill>
                <a:latin typeface="Source Sans 3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24725" y="4686300"/>
            <a:ext cx="19050" cy="133350"/>
          </a:xfrm>
          <a:prstGeom prst="rect">
            <a:avLst/>
          </a:prstGeom>
          <a:solidFill>
            <a:srgbClr val="3331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3250" y="4876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333130">
                    <a:alpha val="75000"/>
                  </a:srgbClr>
                </a:solidFill>
                <a:latin typeface="Source Sans 3"/>
              </a:rPr>
              <a:t>75%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15475" y="4686300"/>
            <a:ext cx="19050" cy="133350"/>
          </a:xfrm>
          <a:prstGeom prst="rect">
            <a:avLst/>
          </a:prstGeom>
          <a:solidFill>
            <a:srgbClr val="3331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876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333130">
                    <a:alpha val="75000"/>
                  </a:srgbClr>
                </a:solidFill>
                <a:latin typeface="Source Sans 3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4686300"/>
            <a:ext cx="8763000" cy="19050"/>
          </a:xfrm>
          <a:prstGeom prst="rect">
            <a:avLst/>
          </a:prstGeom>
          <a:solidFill>
            <a:srgbClr val="4C363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6305550"/>
            <a:ext cx="323850" cy="323850"/>
          </a:xfrm>
          <a:prstGeom prst="rect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manure-fork-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6096000"/>
            <a:ext cx="760617" cy="76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48000" y="61531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High nitrogen, 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7219950"/>
            <a:ext cx="8763000" cy="19050"/>
          </a:xfrm>
          <a:prstGeom prst="rect">
            <a:avLst/>
          </a:prstGeom>
          <a:solidFill>
            <a:srgbClr val="4C363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7734300"/>
            <a:ext cx="323850" cy="3238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leaf-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7524750"/>
            <a:ext cx="560916" cy="76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48000" y="758190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Green, 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8648700"/>
            <a:ext cx="8763000" cy="19050"/>
          </a:xfrm>
          <a:prstGeom prst="rect">
            <a:avLst/>
          </a:prstGeom>
          <a:solidFill>
            <a:srgbClr val="4C363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000" y="9163050"/>
            <a:ext cx="323850" cy="32385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wood-log-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8953500"/>
            <a:ext cx="1223346" cy="762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048000" y="90106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Woody, 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142875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100">
                <a:solidFill>
                  <a:srgbClr val="31662F"/>
                </a:solidFill>
                <a:latin typeface="Montserrat"/>
              </a:rPr>
              <a:t>High nitrogen, 10% · Green, 30% · Woody, 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Soil Food Web School, BioComplete Compost, Lecture 4</a:t>
            </a:r>
          </a:p>
        </p:txBody>
      </p:sp>
      <p:pic>
        <p:nvPicPr>
          <p:cNvPr id="33" name="Picture 32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9246435778751590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38250"/>
            <a:ext cx="2119312" cy="17954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238250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33712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050" y="3138487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052762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Rabbit</a:t>
            </a:r>
          </a:p>
        </p:txBody>
      </p:sp>
      <p:pic>
        <p:nvPicPr>
          <p:cNvPr id="10" name="Picture 9" descr="74147391034572297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562" y="1238250"/>
            <a:ext cx="2119312" cy="17954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76562" y="1238250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6562" y="3033712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5612" y="3138487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6112" y="3052762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Goat</a:t>
            </a:r>
          </a:p>
        </p:txBody>
      </p:sp>
      <p:pic>
        <p:nvPicPr>
          <p:cNvPr id="15" name="Picture 14" descr="24659360649619611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1238250"/>
            <a:ext cx="2119312" cy="179546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191125" y="1238250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1125" y="3033712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0175" y="3138487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675" y="3052762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Sheep</a:t>
            </a:r>
          </a:p>
        </p:txBody>
      </p:sp>
      <p:pic>
        <p:nvPicPr>
          <p:cNvPr id="20" name="Picture 19" descr="68786601834318293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687" y="1238250"/>
            <a:ext cx="2119312" cy="179546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05687" y="1238250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5687" y="3033712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24737" y="3138487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5237" y="3052762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Alpaca</a:t>
            </a:r>
          </a:p>
        </p:txBody>
      </p:sp>
      <p:pic>
        <p:nvPicPr>
          <p:cNvPr id="25" name="Picture 24" descr="46677803915665653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452812"/>
            <a:ext cx="2119312" cy="179546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62000" y="3452812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000" y="5248275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050" y="5353050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550" y="5267325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Guinea pig</a:t>
            </a:r>
          </a:p>
        </p:txBody>
      </p:sp>
      <p:pic>
        <p:nvPicPr>
          <p:cNvPr id="30" name="Picture 29" descr="62028802044645065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6562" y="3452812"/>
            <a:ext cx="2119312" cy="179546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976562" y="3452812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6562" y="5248275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95612" y="5353050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6112" y="5267325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Horse</a:t>
            </a:r>
          </a:p>
        </p:txBody>
      </p:sp>
      <p:pic>
        <p:nvPicPr>
          <p:cNvPr id="35" name="Picture 34" descr="168365805659860987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125" y="3452812"/>
            <a:ext cx="2119312" cy="179546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191125" y="3452812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91125" y="5248275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10175" y="5353050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675" y="5267325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Cow</a:t>
            </a:r>
          </a:p>
        </p:txBody>
      </p:sp>
      <p:pic>
        <p:nvPicPr>
          <p:cNvPr id="40" name="Picture 39" descr="280635436895635570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5687" y="3452812"/>
            <a:ext cx="2119312" cy="179546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7405687" y="3452812"/>
            <a:ext cx="2119312" cy="1795462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5687" y="5248275"/>
            <a:ext cx="2119312" cy="3238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24737" y="5353050"/>
            <a:ext cx="114300" cy="1143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15237" y="5267325"/>
            <a:ext cx="18907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33130"/>
                </a:solidFill>
                <a:latin typeface="Montserrat"/>
              </a:rPr>
              <a:t>Chicken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5667375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333130">
                    <a:alpha val="70000"/>
                  </a:srgbClr>
                </a:solidFill>
                <a:latin typeface="Source Sans 3"/>
              </a:rPr>
              <a:t>Photo: Adrian Pereira, Maxime Agnelli, Sam Carter, Maksim Samuilionak, Jack Catalano, Roger Starnes Sr, Diana Shchurova, sippakorn yamkasikorn on Unsplash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2000" y="6286500"/>
            <a:ext cx="209550" cy="2095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4900" y="6257925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33130"/>
                </a:solidFill>
                <a:latin typeface="Montserrat"/>
              </a:rPr>
              <a:t>GOES 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000" y="6696075"/>
            <a:ext cx="8763000" cy="8252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31662F"/>
                </a:solidFill>
                <a:latin typeface="Montserrat"/>
              </a:rPr>
              <a:t>Plant-eaters and poultry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" y="7578451"/>
            <a:ext cx="8763000" cy="2590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0">
                <a:solidFill>
                  <a:srgbClr val="333130"/>
                </a:solidFill>
                <a:latin typeface="Source Sans 3"/>
              </a:rPr>
              <a:t>Rabbit, goat, sheep, alpaca, guinea pig, horse, cow and chicken. Their manure is a great high-nitrogen ingredient. Use it fresh, or dry it and store it until you build the pile.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Soil Food Web School, Compost Manual</a:t>
            </a:r>
          </a:p>
        </p:txBody>
      </p:sp>
      <p:pic>
        <p:nvPicPr>
          <p:cNvPr id="52" name="Picture 51" descr="foundation-logo-colo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41954292738633875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38250"/>
            <a:ext cx="8763000" cy="4953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238250"/>
            <a:ext cx="8763000" cy="4953000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3055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33130">
                    <a:alpha val="75000"/>
                  </a:srgbClr>
                </a:solidFill>
                <a:latin typeface="Source Sans 3"/>
              </a:rPr>
              <a:t>Photo: Pauline Bernfeld on Unsplash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810375"/>
            <a:ext cx="209550" cy="2095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678180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33130"/>
                </a:solidFill>
                <a:latin typeface="Montserrat"/>
              </a:rPr>
              <a:t>HOT PILE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239000"/>
            <a:ext cx="8763000" cy="910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31662F"/>
                </a:solidFill>
                <a:latin typeface="Montserrat"/>
              </a:rPr>
              <a:t>Pig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225768"/>
            <a:ext cx="8763000" cy="209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0">
                <a:solidFill>
                  <a:srgbClr val="333130"/>
                </a:solidFill>
                <a:latin typeface="Source Sans 3"/>
              </a:rPr>
              <a:t>Pig roundworm can infect people.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1</a:t>
            </a:r>
            <a:r>
              <a:rPr sz="3000" b="0">
                <a:solidFill>
                  <a:srgbClr val="333130"/>
                </a:solidFill>
                <a:latin typeface="Source Sans 3"/>
              </a:rPr>
              <a:t> Pig manure goes into a pile that completes the thermophilic requirements, and raw pig manure stays away from produce.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Miller et al. 2015, Emerging Infectious Diseases</a:t>
            </a:r>
          </a:p>
        </p:txBody>
      </p:sp>
      <p:pic>
        <p:nvPicPr>
          <p:cNvPr id="14" name="Picture 13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51563108358080980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38250"/>
            <a:ext cx="8763000" cy="4953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238250"/>
            <a:ext cx="8763000" cy="4953000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3055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33130">
                    <a:alpha val="75000"/>
                  </a:srgbClr>
                </a:solidFill>
                <a:latin typeface="Source Sans 3"/>
              </a:rPr>
              <a:t>Photo: iridial on Unsplash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810375"/>
            <a:ext cx="209550" cy="20955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678180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33130"/>
                </a:solidFill>
                <a:latin typeface="Montserrat"/>
              </a:rPr>
              <a:t>STAYS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239000"/>
            <a:ext cx="8763000" cy="910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31662F"/>
                </a:solidFill>
                <a:latin typeface="Montserrat"/>
              </a:rPr>
              <a:t>Dog and cat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225768"/>
            <a:ext cx="8763000" cy="16001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0">
                <a:solidFill>
                  <a:srgbClr val="333130"/>
                </a:solidFill>
                <a:latin typeface="Source Sans 3"/>
              </a:rPr>
              <a:t>Dog feces can carry roundworm (Toxocara) eggs. If swallowed, the larvae can migrate to the liver, lungs and eyes.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USDA NRCS 2005; CDC 2025</a:t>
            </a:r>
          </a:p>
        </p:txBody>
      </p:sp>
      <p:pic>
        <p:nvPicPr>
          <p:cNvPr id="14" name="Picture 13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3521009482926282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38250"/>
            <a:ext cx="8763000" cy="4953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238250"/>
            <a:ext cx="8763000" cy="4953000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3055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33130">
                    <a:alpha val="75000"/>
                  </a:srgbClr>
                </a:solidFill>
                <a:latin typeface="Source Sans 3"/>
              </a:rPr>
              <a:t>Photo: Sean Foster on Unsplash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810375"/>
            <a:ext cx="209550" cy="20955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678180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33130"/>
                </a:solidFill>
                <a:latin typeface="Montserrat"/>
              </a:rPr>
              <a:t>STAYS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239000"/>
            <a:ext cx="8763000" cy="3086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0">
                <a:solidFill>
                  <a:srgbClr val="333130"/>
                </a:solidFill>
                <a:latin typeface="Source Sans 3"/>
              </a:rPr>
              <a:t>Cat feces can carry Toxoplasma gondii, which people can also pick up from contaminated soil.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2</a:t>
            </a:r>
            <a:r>
              <a:rPr sz="3000" b="0">
                <a:solidFill>
                  <a:srgbClr val="333130"/>
                </a:solidFill>
                <a:latin typeface="Source Sans 3"/>
              </a:rPr>
              <a:t> USDA advises against using dog waste compost on food crops, even after hot composting, and against composting cat waste or litter at all.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USDA NRCS 2005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20205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2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CDC 2025</a:t>
            </a:r>
          </a:p>
        </p:txBody>
      </p:sp>
      <p:pic>
        <p:nvPicPr>
          <p:cNvPr id="14" name="Picture 13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238250"/>
            <a:ext cx="8763000" cy="1763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31662F"/>
                </a:solidFill>
                <a:latin typeface="Montserrat"/>
              </a:rPr>
              <a:t>Slow or hot, both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33750"/>
            <a:ext cx="4191000" cy="571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4191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1">
                <a:solidFill>
                  <a:srgbClr val="333130"/>
                </a:solidFill>
                <a:latin typeface="Montserrat"/>
              </a:rPr>
              <a:t>Cold or static pile:</a:t>
            </a:r>
            <a:r>
              <a:rPr sz="3000" b="0">
                <a:solidFill>
                  <a:srgbClr val="333130"/>
                </a:solidFill>
                <a:latin typeface="Source Sans 3"/>
              </a:rPr>
              <a:t> fine for plant-eater and poultry manure, on a longer timeline.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pic>
        <p:nvPicPr>
          <p:cNvPr id="8" name="Picture 7" descr="6637918567584643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4191000" cy="42862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2000" y="6381750"/>
            <a:ext cx="4191000" cy="4286250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0763250"/>
            <a:ext cx="419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33130">
                    <a:alpha val="75000"/>
                  </a:srgbClr>
                </a:solidFill>
                <a:latin typeface="Source Sans 3"/>
              </a:rPr>
              <a:t>Photo: Edward Howell on Unsplash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0" y="3333750"/>
            <a:ext cx="4191000" cy="57150"/>
          </a:xfrm>
          <a:prstGeom prst="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0" y="3619500"/>
            <a:ext cx="4191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1">
                <a:solidFill>
                  <a:srgbClr val="333130"/>
                </a:solidFill>
                <a:latin typeface="Montserrat"/>
              </a:rPr>
              <a:t>Thermophilic pile:</a:t>
            </a:r>
            <a:r>
              <a:rPr sz="3000" b="0">
                <a:solidFill>
                  <a:srgbClr val="333130"/>
                </a:solidFill>
                <a:latin typeface="Source Sans 3"/>
              </a:rPr>
              <a:t> above 55°C (131°F) for 3 days at the center.</a:t>
            </a:r>
            <a:r>
              <a:rPr sz="30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pic>
        <p:nvPicPr>
          <p:cNvPr id="13" name="Picture 12" descr="73417081631645443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6381750"/>
            <a:ext cx="4191000" cy="42862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334000" y="6381750"/>
            <a:ext cx="4191000" cy="4286250"/>
          </a:xfrm>
          <a:prstGeom prst="rect">
            <a:avLst/>
          </a:prstGeom>
          <a:noFill/>
          <a:ln w="9525">
            <a:solidFill>
              <a:srgbClr val="4C3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10763250"/>
            <a:ext cx="419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33130">
                    <a:alpha val="75000"/>
                  </a:srgbClr>
                </a:solidFill>
                <a:latin typeface="Source Sans 3"/>
              </a:rPr>
              <a:t>Photo: Frank Thiemonge on Unsplash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Soil Food Web School, Compost Manual</a:t>
            </a:r>
          </a:p>
        </p:txBody>
      </p:sp>
      <p:pic>
        <p:nvPicPr>
          <p:cNvPr id="18" name="Picture 17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238250"/>
            <a:ext cx="8763000" cy="2359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400" b="1">
                <a:solidFill>
                  <a:srgbClr val="333130"/>
                </a:solidFill>
                <a:latin typeface="Montserrat"/>
              </a:rPr>
              <a:t>Thermophilic pile:</a:t>
            </a:r>
            <a:r>
              <a:rPr sz="3400" b="0">
                <a:solidFill>
                  <a:srgbClr val="333130"/>
                </a:solidFill>
                <a:latin typeface="Source Sans 3"/>
              </a:rPr>
              <a:t> above 55°C (131°F) for 3 days at the center. Turn it so every part passes through the hot center.</a:t>
            </a:r>
            <a:r>
              <a:rPr sz="3400" b="0" baseline="30000">
                <a:solidFill>
                  <a:srgbClr val="333130"/>
                </a:solidFill>
                <a:latin typeface="Source Sans 3"/>
              </a:rPr>
              <a:t>1</a:t>
            </a:r>
          </a:p>
        </p:txBody>
      </p:sp>
      <p:sp>
        <p:nvSpPr>
          <p:cNvPr id="6" name="Freeform 5"/>
          <p:cNvSpPr/>
          <p:nvPr/>
        </p:nvSpPr>
        <p:spPr>
          <a:xfrm>
            <a:off x="952500" y="5810250"/>
            <a:ext cx="8382000" cy="4476750"/>
          </a:xfrm>
          <a:custGeom>
            <a:avLst/>
            <a:gdLst/>
            <a:ahLst/>
            <a:cxnLst/>
            <a:rect l="l" t="t" r="r" b="b"/>
            <a:pathLst>
              <a:path w="8382000" h="4476750">
                <a:moveTo>
                  <a:pt x="8382000" y="4476750"/>
                </a:moveTo>
                <a:lnTo>
                  <a:pt x="8376256" y="4242455"/>
                </a:lnTo>
                <a:lnTo>
                  <a:pt x="8359041" y="4008802"/>
                </a:lnTo>
                <a:lnTo>
                  <a:pt x="8330401" y="3776432"/>
                </a:lnTo>
                <a:lnTo>
                  <a:pt x="8290416" y="3545981"/>
                </a:lnTo>
                <a:lnTo>
                  <a:pt x="8239195" y="3318081"/>
                </a:lnTo>
                <a:lnTo>
                  <a:pt x="8176877" y="3093358"/>
                </a:lnTo>
                <a:lnTo>
                  <a:pt x="8103635" y="2872426"/>
                </a:lnTo>
                <a:lnTo>
                  <a:pt x="8019669" y="2655891"/>
                </a:lnTo>
                <a:lnTo>
                  <a:pt x="7925208" y="2444348"/>
                </a:lnTo>
                <a:lnTo>
                  <a:pt x="7820512" y="2238375"/>
                </a:lnTo>
                <a:lnTo>
                  <a:pt x="7705868" y="2038537"/>
                </a:lnTo>
                <a:lnTo>
                  <a:pt x="7581590" y="1845382"/>
                </a:lnTo>
                <a:lnTo>
                  <a:pt x="7448018" y="1659439"/>
                </a:lnTo>
                <a:lnTo>
                  <a:pt x="7305519" y="1481219"/>
                </a:lnTo>
                <a:lnTo>
                  <a:pt x="7154484" y="1311209"/>
                </a:lnTo>
                <a:lnTo>
                  <a:pt x="6995326" y="1149876"/>
                </a:lnTo>
                <a:lnTo>
                  <a:pt x="6828481" y="997661"/>
                </a:lnTo>
                <a:lnTo>
                  <a:pt x="6654407" y="854983"/>
                </a:lnTo>
                <a:lnTo>
                  <a:pt x="6473582" y="722231"/>
                </a:lnTo>
                <a:lnTo>
                  <a:pt x="6286500" y="599770"/>
                </a:lnTo>
                <a:lnTo>
                  <a:pt x="6093674" y="487936"/>
                </a:lnTo>
                <a:lnTo>
                  <a:pt x="5895633" y="387035"/>
                </a:lnTo>
                <a:lnTo>
                  <a:pt x="5692920" y="297343"/>
                </a:lnTo>
                <a:lnTo>
                  <a:pt x="5486090" y="219107"/>
                </a:lnTo>
                <a:lnTo>
                  <a:pt x="5275710" y="152541"/>
                </a:lnTo>
                <a:lnTo>
                  <a:pt x="5062357" y="97827"/>
                </a:lnTo>
                <a:lnTo>
                  <a:pt x="4846616" y="55116"/>
                </a:lnTo>
                <a:lnTo>
                  <a:pt x="4629078" y="24524"/>
                </a:lnTo>
                <a:lnTo>
                  <a:pt x="4410339" y="6135"/>
                </a:lnTo>
                <a:lnTo>
                  <a:pt x="4191000" y="0"/>
                </a:lnTo>
                <a:lnTo>
                  <a:pt x="3971660" y="6135"/>
                </a:lnTo>
                <a:lnTo>
                  <a:pt x="3752921" y="24524"/>
                </a:lnTo>
                <a:lnTo>
                  <a:pt x="3535383" y="55116"/>
                </a:lnTo>
                <a:lnTo>
                  <a:pt x="3319642" y="97827"/>
                </a:lnTo>
                <a:lnTo>
                  <a:pt x="3106289" y="152541"/>
                </a:lnTo>
                <a:lnTo>
                  <a:pt x="2895909" y="219107"/>
                </a:lnTo>
                <a:lnTo>
                  <a:pt x="2689079" y="297343"/>
                </a:lnTo>
                <a:lnTo>
                  <a:pt x="2486366" y="387035"/>
                </a:lnTo>
                <a:lnTo>
                  <a:pt x="2288325" y="487936"/>
                </a:lnTo>
                <a:lnTo>
                  <a:pt x="2095500" y="599770"/>
                </a:lnTo>
                <a:lnTo>
                  <a:pt x="1908417" y="722231"/>
                </a:lnTo>
                <a:lnTo>
                  <a:pt x="1727592" y="854983"/>
                </a:lnTo>
                <a:lnTo>
                  <a:pt x="1553518" y="997661"/>
                </a:lnTo>
                <a:lnTo>
                  <a:pt x="1386673" y="1149876"/>
                </a:lnTo>
                <a:lnTo>
                  <a:pt x="1227515" y="1311209"/>
                </a:lnTo>
                <a:lnTo>
                  <a:pt x="1076480" y="1481219"/>
                </a:lnTo>
                <a:lnTo>
                  <a:pt x="933981" y="1659439"/>
                </a:lnTo>
                <a:lnTo>
                  <a:pt x="800409" y="1845382"/>
                </a:lnTo>
                <a:lnTo>
                  <a:pt x="676131" y="2038537"/>
                </a:lnTo>
                <a:lnTo>
                  <a:pt x="561487" y="2238375"/>
                </a:lnTo>
                <a:lnTo>
                  <a:pt x="456791" y="2444348"/>
                </a:lnTo>
                <a:lnTo>
                  <a:pt x="362330" y="2655891"/>
                </a:lnTo>
                <a:lnTo>
                  <a:pt x="278364" y="2872426"/>
                </a:lnTo>
                <a:lnTo>
                  <a:pt x="205122" y="3093358"/>
                </a:lnTo>
                <a:lnTo>
                  <a:pt x="142804" y="3318081"/>
                </a:lnTo>
                <a:lnTo>
                  <a:pt x="91583" y="3545981"/>
                </a:lnTo>
                <a:lnTo>
                  <a:pt x="51598" y="3776432"/>
                </a:lnTo>
                <a:lnTo>
                  <a:pt x="22958" y="4008802"/>
                </a:lnTo>
                <a:lnTo>
                  <a:pt x="5743" y="4242455"/>
                </a:lnTo>
                <a:lnTo>
                  <a:pt x="0" y="4476749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286000" y="7239000"/>
            <a:ext cx="5715000" cy="3048000"/>
          </a:xfrm>
          <a:custGeom>
            <a:avLst/>
            <a:gdLst/>
            <a:ahLst/>
            <a:cxnLst/>
            <a:rect l="l" t="t" r="r" b="b"/>
            <a:pathLst>
              <a:path w="5715000" h="3048000">
                <a:moveTo>
                  <a:pt x="5715000" y="3048000"/>
                </a:moveTo>
                <a:lnTo>
                  <a:pt x="5711083" y="2888480"/>
                </a:lnTo>
                <a:lnTo>
                  <a:pt x="5699346" y="2729397"/>
                </a:lnTo>
                <a:lnTo>
                  <a:pt x="5679819" y="2571187"/>
                </a:lnTo>
                <a:lnTo>
                  <a:pt x="5652556" y="2414285"/>
                </a:lnTo>
                <a:lnTo>
                  <a:pt x="5617633" y="2259119"/>
                </a:lnTo>
                <a:lnTo>
                  <a:pt x="5575143" y="2106116"/>
                </a:lnTo>
                <a:lnTo>
                  <a:pt x="5525206" y="1955694"/>
                </a:lnTo>
                <a:lnTo>
                  <a:pt x="5467956" y="1808266"/>
                </a:lnTo>
                <a:lnTo>
                  <a:pt x="5403551" y="1664236"/>
                </a:lnTo>
                <a:lnTo>
                  <a:pt x="5332167" y="1524000"/>
                </a:lnTo>
                <a:lnTo>
                  <a:pt x="5254001" y="1387940"/>
                </a:lnTo>
                <a:lnTo>
                  <a:pt x="5169266" y="1256430"/>
                </a:lnTo>
                <a:lnTo>
                  <a:pt x="5078194" y="1129831"/>
                </a:lnTo>
                <a:lnTo>
                  <a:pt x="4981036" y="1008489"/>
                </a:lnTo>
                <a:lnTo>
                  <a:pt x="4878057" y="892738"/>
                </a:lnTo>
                <a:lnTo>
                  <a:pt x="4769540" y="782894"/>
                </a:lnTo>
                <a:lnTo>
                  <a:pt x="4655783" y="679259"/>
                </a:lnTo>
                <a:lnTo>
                  <a:pt x="4537096" y="582116"/>
                </a:lnTo>
                <a:lnTo>
                  <a:pt x="4413806" y="491732"/>
                </a:lnTo>
                <a:lnTo>
                  <a:pt x="4286250" y="408354"/>
                </a:lnTo>
                <a:lnTo>
                  <a:pt x="4154777" y="332212"/>
                </a:lnTo>
                <a:lnTo>
                  <a:pt x="4019749" y="263513"/>
                </a:lnTo>
                <a:lnTo>
                  <a:pt x="3881536" y="202446"/>
                </a:lnTo>
                <a:lnTo>
                  <a:pt x="3740516" y="149179"/>
                </a:lnTo>
                <a:lnTo>
                  <a:pt x="3597075" y="103858"/>
                </a:lnTo>
                <a:lnTo>
                  <a:pt x="3451607" y="66606"/>
                </a:lnTo>
                <a:lnTo>
                  <a:pt x="3304511" y="37525"/>
                </a:lnTo>
                <a:lnTo>
                  <a:pt x="3156190" y="16697"/>
                </a:lnTo>
                <a:lnTo>
                  <a:pt x="3007049" y="4177"/>
                </a:lnTo>
                <a:lnTo>
                  <a:pt x="2857500" y="0"/>
                </a:lnTo>
                <a:lnTo>
                  <a:pt x="2707950" y="4177"/>
                </a:lnTo>
                <a:lnTo>
                  <a:pt x="2558809" y="16697"/>
                </a:lnTo>
                <a:lnTo>
                  <a:pt x="2410488" y="37525"/>
                </a:lnTo>
                <a:lnTo>
                  <a:pt x="2263392" y="66606"/>
                </a:lnTo>
                <a:lnTo>
                  <a:pt x="2117924" y="103858"/>
                </a:lnTo>
                <a:lnTo>
                  <a:pt x="1974483" y="149179"/>
                </a:lnTo>
                <a:lnTo>
                  <a:pt x="1833463" y="202446"/>
                </a:lnTo>
                <a:lnTo>
                  <a:pt x="1695250" y="263513"/>
                </a:lnTo>
                <a:lnTo>
                  <a:pt x="1560222" y="332212"/>
                </a:lnTo>
                <a:lnTo>
                  <a:pt x="1428750" y="408354"/>
                </a:lnTo>
                <a:lnTo>
                  <a:pt x="1301193" y="491732"/>
                </a:lnTo>
                <a:lnTo>
                  <a:pt x="1177903" y="582116"/>
                </a:lnTo>
                <a:lnTo>
                  <a:pt x="1059216" y="679259"/>
                </a:lnTo>
                <a:lnTo>
                  <a:pt x="945459" y="782894"/>
                </a:lnTo>
                <a:lnTo>
                  <a:pt x="836942" y="892738"/>
                </a:lnTo>
                <a:lnTo>
                  <a:pt x="733963" y="1008489"/>
                </a:lnTo>
                <a:lnTo>
                  <a:pt x="636805" y="1129831"/>
                </a:lnTo>
                <a:lnTo>
                  <a:pt x="545733" y="1256430"/>
                </a:lnTo>
                <a:lnTo>
                  <a:pt x="460998" y="1387940"/>
                </a:lnTo>
                <a:lnTo>
                  <a:pt x="382832" y="1524000"/>
                </a:lnTo>
                <a:lnTo>
                  <a:pt x="311448" y="1664236"/>
                </a:lnTo>
                <a:lnTo>
                  <a:pt x="247043" y="1808266"/>
                </a:lnTo>
                <a:lnTo>
                  <a:pt x="189793" y="1955694"/>
                </a:lnTo>
                <a:lnTo>
                  <a:pt x="139856" y="2106116"/>
                </a:lnTo>
                <a:lnTo>
                  <a:pt x="97366" y="2259119"/>
                </a:lnTo>
                <a:lnTo>
                  <a:pt x="62443" y="2414285"/>
                </a:lnTo>
                <a:lnTo>
                  <a:pt x="35180" y="2571187"/>
                </a:lnTo>
                <a:lnTo>
                  <a:pt x="15653" y="2729397"/>
                </a:lnTo>
                <a:lnTo>
                  <a:pt x="3916" y="2888480"/>
                </a:lnTo>
                <a:lnTo>
                  <a:pt x="0" y="3047999"/>
                </a:lnTo>
                <a:close/>
              </a:path>
            </a:pathLst>
          </a:custGeom>
          <a:solidFill>
            <a:srgbClr val="D8C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524250" y="7524750"/>
            <a:ext cx="3238500" cy="2286000"/>
          </a:xfrm>
          <a:custGeom>
            <a:avLst/>
            <a:gdLst/>
            <a:ahLst/>
            <a:cxnLst/>
            <a:rect l="l" t="t" r="r" b="b"/>
            <a:pathLst>
              <a:path w="3238500" h="2286000">
                <a:moveTo>
                  <a:pt x="3238500" y="1143000"/>
                </a:moveTo>
                <a:lnTo>
                  <a:pt x="3229629" y="1262476"/>
                </a:lnTo>
                <a:lnTo>
                  <a:pt x="3203115" y="1380643"/>
                </a:lnTo>
                <a:lnTo>
                  <a:pt x="3159248" y="1496206"/>
                </a:lnTo>
                <a:lnTo>
                  <a:pt x="3098508" y="1607899"/>
                </a:lnTo>
                <a:lnTo>
                  <a:pt x="3021561" y="1714500"/>
                </a:lnTo>
                <a:lnTo>
                  <a:pt x="2929250" y="1814838"/>
                </a:lnTo>
                <a:lnTo>
                  <a:pt x="2822587" y="1907816"/>
                </a:lnTo>
                <a:lnTo>
                  <a:pt x="2702739" y="1992414"/>
                </a:lnTo>
                <a:lnTo>
                  <a:pt x="2571021" y="2067706"/>
                </a:lnTo>
                <a:lnTo>
                  <a:pt x="2428875" y="2132867"/>
                </a:lnTo>
                <a:lnTo>
                  <a:pt x="2277858" y="2187182"/>
                </a:lnTo>
                <a:lnTo>
                  <a:pt x="2119625" y="2230057"/>
                </a:lnTo>
                <a:lnTo>
                  <a:pt x="1955911" y="2261022"/>
                </a:lnTo>
                <a:lnTo>
                  <a:pt x="1788507" y="2279738"/>
                </a:lnTo>
                <a:lnTo>
                  <a:pt x="1619250" y="2286000"/>
                </a:lnTo>
                <a:lnTo>
                  <a:pt x="1449992" y="2279738"/>
                </a:lnTo>
                <a:lnTo>
                  <a:pt x="1282588" y="2261022"/>
                </a:lnTo>
                <a:lnTo>
                  <a:pt x="1118874" y="2230057"/>
                </a:lnTo>
                <a:lnTo>
                  <a:pt x="960641" y="2187182"/>
                </a:lnTo>
                <a:lnTo>
                  <a:pt x="809625" y="2132867"/>
                </a:lnTo>
                <a:lnTo>
                  <a:pt x="667478" y="2067706"/>
                </a:lnTo>
                <a:lnTo>
                  <a:pt x="535760" y="1992414"/>
                </a:lnTo>
                <a:lnTo>
                  <a:pt x="415912" y="1907816"/>
                </a:lnTo>
                <a:lnTo>
                  <a:pt x="309249" y="1814838"/>
                </a:lnTo>
                <a:lnTo>
                  <a:pt x="216938" y="1714500"/>
                </a:lnTo>
                <a:lnTo>
                  <a:pt x="139991" y="1607899"/>
                </a:lnTo>
                <a:lnTo>
                  <a:pt x="79251" y="1496206"/>
                </a:lnTo>
                <a:lnTo>
                  <a:pt x="35384" y="1380643"/>
                </a:lnTo>
                <a:lnTo>
                  <a:pt x="8870" y="1262476"/>
                </a:lnTo>
                <a:lnTo>
                  <a:pt x="0" y="1143000"/>
                </a:lnTo>
                <a:lnTo>
                  <a:pt x="8870" y="1023523"/>
                </a:lnTo>
                <a:lnTo>
                  <a:pt x="35384" y="905356"/>
                </a:lnTo>
                <a:lnTo>
                  <a:pt x="79251" y="789793"/>
                </a:lnTo>
                <a:lnTo>
                  <a:pt x="139991" y="678100"/>
                </a:lnTo>
                <a:lnTo>
                  <a:pt x="216938" y="571500"/>
                </a:lnTo>
                <a:lnTo>
                  <a:pt x="309249" y="471161"/>
                </a:lnTo>
                <a:lnTo>
                  <a:pt x="415912" y="378183"/>
                </a:lnTo>
                <a:lnTo>
                  <a:pt x="535760" y="293585"/>
                </a:lnTo>
                <a:lnTo>
                  <a:pt x="667478" y="218293"/>
                </a:lnTo>
                <a:lnTo>
                  <a:pt x="809624" y="153132"/>
                </a:lnTo>
                <a:lnTo>
                  <a:pt x="960641" y="98817"/>
                </a:lnTo>
                <a:lnTo>
                  <a:pt x="1118874" y="55942"/>
                </a:lnTo>
                <a:lnTo>
                  <a:pt x="1282588" y="24977"/>
                </a:lnTo>
                <a:lnTo>
                  <a:pt x="1449992" y="6261"/>
                </a:lnTo>
                <a:lnTo>
                  <a:pt x="1619250" y="0"/>
                </a:lnTo>
                <a:lnTo>
                  <a:pt x="1788507" y="6261"/>
                </a:lnTo>
                <a:lnTo>
                  <a:pt x="1955911" y="24977"/>
                </a:lnTo>
                <a:lnTo>
                  <a:pt x="2119625" y="55942"/>
                </a:lnTo>
                <a:lnTo>
                  <a:pt x="2277858" y="98817"/>
                </a:lnTo>
                <a:lnTo>
                  <a:pt x="2428875" y="153132"/>
                </a:lnTo>
                <a:lnTo>
                  <a:pt x="2571021" y="218293"/>
                </a:lnTo>
                <a:lnTo>
                  <a:pt x="2702739" y="293585"/>
                </a:lnTo>
                <a:lnTo>
                  <a:pt x="2822587" y="378183"/>
                </a:lnTo>
                <a:lnTo>
                  <a:pt x="2929250" y="471161"/>
                </a:lnTo>
                <a:lnTo>
                  <a:pt x="3021561" y="571500"/>
                </a:lnTo>
                <a:lnTo>
                  <a:pt x="3098508" y="678100"/>
                </a:lnTo>
                <a:lnTo>
                  <a:pt x="3159248" y="789793"/>
                </a:lnTo>
                <a:lnTo>
                  <a:pt x="3203115" y="905356"/>
                </a:lnTo>
                <a:lnTo>
                  <a:pt x="3229629" y="1023523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4250" y="8096250"/>
            <a:ext cx="3238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4C3634"/>
                </a:solidFill>
                <a:latin typeface="Montserrat"/>
              </a:rPr>
              <a:t>above 55°C (131°F)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4250" y="8572500"/>
            <a:ext cx="3238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4C3634"/>
                </a:solidFill>
                <a:latin typeface="Source Sans 3"/>
              </a:rPr>
              <a:t>3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0287000"/>
            <a:ext cx="8763000" cy="38100"/>
          </a:xfrm>
          <a:prstGeom prst="rect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416629" y="8684718"/>
            <a:ext cx="1594494" cy="505338"/>
          </a:xfrm>
          <a:custGeom>
            <a:avLst/>
            <a:gdLst/>
            <a:ahLst/>
            <a:cxnLst/>
            <a:rect l="l" t="t" r="r" b="b"/>
            <a:pathLst>
              <a:path w="1594495" h="505338">
                <a:moveTo>
                  <a:pt x="24241" y="505338"/>
                </a:moveTo>
                <a:lnTo>
                  <a:pt x="1594495" y="92114"/>
                </a:lnTo>
                <a:lnTo>
                  <a:pt x="1570254" y="0"/>
                </a:lnTo>
                <a:lnTo>
                  <a:pt x="0" y="41322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923373" y="8593089"/>
            <a:ext cx="315126" cy="294764"/>
          </a:xfrm>
          <a:custGeom>
            <a:avLst/>
            <a:gdLst/>
            <a:ahLst/>
            <a:cxnLst/>
            <a:rect l="l" t="t" r="r" b="b"/>
            <a:pathLst>
              <a:path w="315127" h="294764">
                <a:moveTo>
                  <a:pt x="315127" y="74661"/>
                </a:moveTo>
                <a:lnTo>
                  <a:pt x="77570" y="294764"/>
                </a:lnTo>
                <a:lnTo>
                  <a:pt x="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275875" y="8684718"/>
            <a:ext cx="1594494" cy="505338"/>
          </a:xfrm>
          <a:custGeom>
            <a:avLst/>
            <a:gdLst/>
            <a:ahLst/>
            <a:cxnLst/>
            <a:rect l="l" t="t" r="r" b="b"/>
            <a:pathLst>
              <a:path w="1594495" h="505338">
                <a:moveTo>
                  <a:pt x="1594495" y="413225"/>
                </a:moveTo>
                <a:lnTo>
                  <a:pt x="24241" y="0"/>
                </a:lnTo>
                <a:lnTo>
                  <a:pt x="0" y="92114"/>
                </a:lnTo>
                <a:lnTo>
                  <a:pt x="1570254" y="50533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048500" y="8593089"/>
            <a:ext cx="315126" cy="294764"/>
          </a:xfrm>
          <a:custGeom>
            <a:avLst/>
            <a:gdLst/>
            <a:ahLst/>
            <a:cxnLst/>
            <a:rect l="l" t="t" r="r" b="b"/>
            <a:pathLst>
              <a:path w="315126" h="294764">
                <a:moveTo>
                  <a:pt x="0" y="74661"/>
                </a:moveTo>
                <a:lnTo>
                  <a:pt x="315126" y="0"/>
                </a:lnTo>
                <a:lnTo>
                  <a:pt x="237556" y="29476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ompost-thermometer-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4953000"/>
            <a:ext cx="1047610" cy="1143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11791950"/>
            <a:ext cx="7620000" cy="30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baseline="30000">
                <a:solidFill>
                  <a:srgbClr val="333130">
                    <a:alpha val="75000"/>
                  </a:srgbClr>
                </a:solidFill>
                <a:latin typeface="Source Sans 3"/>
              </a:rPr>
              <a:t>1</a:t>
            </a:r>
            <a:r>
              <a:rPr sz="1400" b="0">
                <a:solidFill>
                  <a:srgbClr val="333130">
                    <a:alpha val="75000"/>
                  </a:srgbClr>
                </a:solidFill>
                <a:latin typeface="Source Sans 3"/>
              </a:rPr>
              <a:t>  Soil Food Web School, Compost Manual</a:t>
            </a:r>
          </a:p>
        </p:txBody>
      </p:sp>
      <p:pic>
        <p:nvPicPr>
          <p:cNvPr id="19" name="Picture 18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1811000"/>
            <a:ext cx="723900" cy="650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4C3634"/>
                </a:solidFill>
                <a:latin typeface="Montserrat"/>
              </a:rPr>
              <a:t>WORLD ANIMAL DAY, 4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0" y="533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19250"/>
            <a:ext cx="8763000" cy="3698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31662F"/>
                </a:solidFill>
                <a:latin typeface="Montserrat"/>
              </a:rPr>
              <a:t>Advanced BioComplete Compost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6096000"/>
            <a:ext cx="1143000" cy="38100"/>
          </a:xfrm>
          <a:prstGeom prst="rect">
            <a:avLst/>
          </a:prstGeom>
          <a:solidFill>
            <a:srgbClr val="31662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47700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Building and assessing three compost piles that meet biological minimums. At the Soil Food Web School. Link in bio.</a:t>
            </a:r>
          </a:p>
        </p:txBody>
      </p:sp>
      <p:pic>
        <p:nvPicPr>
          <p:cNvPr id="8" name="Picture 7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8953500"/>
            <a:ext cx="2095500" cy="18839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2000" y="11639550"/>
            <a:ext cx="8763000" cy="19050"/>
          </a:xfrm>
          <a:prstGeom prst="rect">
            <a:avLst/>
          </a:prstGeom>
          <a:solidFill>
            <a:srgbClr val="4C363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