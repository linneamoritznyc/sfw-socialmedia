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2A.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2B.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2D.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3F1D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26514407250193817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6096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6096000"/>
            <a:ext cx="10287000" cy="76200"/>
          </a:xfrm>
          <a:prstGeom prst="rect">
            <a:avLst/>
          </a:prstGeom>
          <a:solidFill>
            <a:srgbClr val="B1BCB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62000" y="6667500"/>
            <a:ext cx="7620000" cy="3623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i="0" spc="200">
                <a:solidFill>
                  <a:srgbClr val="B1BCB1"/>
                </a:solidFill>
                <a:latin typeface="Montserrat"/>
              </a:rPr>
              <a:t>CARBON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7334250"/>
            <a:ext cx="7620000" cy="367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400" b="1" i="0">
                <a:solidFill>
                  <a:srgbClr val="F3F1EA"/>
                </a:solidFill>
                <a:latin typeface="Montserrat"/>
              </a:rPr>
              <a:t>3 ways to keep carbon in your soil. No lab needed.</a:t>
            </a:r>
          </a:p>
        </p:txBody>
      </p:sp>
      <p:pic>
        <p:nvPicPr>
          <p:cNvPr id="6" name="Picture 5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1/5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Keep it covered. Bare soil loses carbon to sun, wind and rain. Mulch or plant it.</a:t>
            </a:r>
          </a:p>
        </p:txBody>
      </p:sp>
      <p:pic>
        <p:nvPicPr>
          <p:cNvPr id="4" name="Picture 3" descr="16997403444643367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2/5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266566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Keep roots in the ground. Living roots feed carbon to fungi and bacteria all year.</a:t>
            </a:r>
          </a:p>
        </p:txBody>
      </p:sp>
      <p:pic>
        <p:nvPicPr>
          <p:cNvPr id="4" name="Picture 3" descr="587988470107222383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</p:spPr>
      </p:pic>
      <p:sp>
        <p:nvSpPr>
          <p:cNvPr id="5" name="TextBox 4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3/5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62000" y="666750"/>
            <a:ext cx="3810000" cy="1809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4000" b="1" i="0">
                <a:solidFill>
                  <a:srgbClr val="31662F">
                    <a:alpha val="25000"/>
                  </a:srgbClr>
                </a:solidFill>
                <a:latin typeface="Montserrat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2500" y="4000500"/>
            <a:ext cx="8382000" cy="330826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1" i="0">
                <a:solidFill>
                  <a:srgbClr val="1E3F1D"/>
                </a:solidFill>
                <a:latin typeface="Montserrat"/>
              </a:rPr>
              <a:t>Dig less. Every turn of the soil breaks up the fungal networks that hold carbon in place.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715000" y="8286750"/>
            <a:ext cx="3810000" cy="3810000"/>
          </a:xfrm>
          <a:prstGeom prst="roundRect">
            <a:avLst>
              <a:gd name="adj" fmla="val 6000"/>
            </a:avLst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867400" y="8286750"/>
            <a:ext cx="3505200" cy="381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microscopy: fungal strands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333130">
                    <a:alpha val="60000"/>
                  </a:srgbClr>
                </a:solidFill>
                <a:latin typeface="Source Sans 3"/>
              </a:rPr>
              <a:t>4/5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1662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2500" y="2679239"/>
            <a:ext cx="8382000" cy="38807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5400" b="1" i="0">
                <a:solidFill>
                  <a:srgbClr val="F3F1EA"/>
                </a:solidFill>
                <a:latin typeface="Montserrat"/>
              </a:rPr>
              <a:t>Soil holds more carbon than the air and all the world's plants combined.</a:t>
            </a:r>
          </a:p>
        </p:txBody>
      </p:sp>
      <p:sp>
        <p:nvSpPr>
          <p:cNvPr id="3" name="Freeform 2"/>
          <p:cNvSpPr/>
          <p:nvPr/>
        </p:nvSpPr>
        <p:spPr>
          <a:xfrm>
            <a:off x="3333750" y="8572500"/>
            <a:ext cx="571500" cy="762000"/>
          </a:xfrm>
          <a:custGeom>
            <a:avLst/>
            <a:gdLst/>
            <a:ahLst/>
            <a:cxnLst/>
            <a:rect l="l" t="t" r="r" b="b"/>
            <a:pathLst>
              <a:path w="571500" h="762000">
                <a:moveTo>
                  <a:pt x="0" y="0"/>
                </a:moveTo>
                <a:lnTo>
                  <a:pt x="571500" y="0"/>
                </a:lnTo>
                <a:lnTo>
                  <a:pt x="571500" y="762000"/>
                </a:lnTo>
                <a:lnTo>
                  <a:pt x="285750" y="552450"/>
                </a:lnTo>
                <a:lnTo>
                  <a:pt x="0" y="76200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Freeform 3"/>
          <p:cNvSpPr/>
          <p:nvPr/>
        </p:nvSpPr>
        <p:spPr>
          <a:xfrm>
            <a:off x="3409950" y="8648700"/>
            <a:ext cx="419100" cy="533400"/>
          </a:xfrm>
          <a:custGeom>
            <a:avLst/>
            <a:gdLst/>
            <a:ahLst/>
            <a:cxnLst/>
            <a:rect l="l" t="t" r="r" b="b"/>
            <a:pathLst>
              <a:path w="419100" h="533400">
                <a:moveTo>
                  <a:pt x="0" y="0"/>
                </a:moveTo>
                <a:lnTo>
                  <a:pt x="419100" y="0"/>
                </a:lnTo>
                <a:lnTo>
                  <a:pt x="419100" y="533400"/>
                </a:lnTo>
                <a:lnTo>
                  <a:pt x="209550" y="381000"/>
                </a:lnTo>
                <a:lnTo>
                  <a:pt x="0" y="53340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667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Save this</a:t>
            </a:r>
          </a:p>
        </p:txBody>
      </p:sp>
      <p:sp>
        <p:nvSpPr>
          <p:cNvPr id="6" name="Freeform 5"/>
          <p:cNvSpPr/>
          <p:nvPr/>
        </p:nvSpPr>
        <p:spPr>
          <a:xfrm>
            <a:off x="6248400" y="8572500"/>
            <a:ext cx="838200" cy="762000"/>
          </a:xfrm>
          <a:custGeom>
            <a:avLst/>
            <a:gdLst/>
            <a:ahLst/>
            <a:cxnLst/>
            <a:rect l="l" t="t" r="r" b="b"/>
            <a:pathLst>
              <a:path w="838200" h="762000">
                <a:moveTo>
                  <a:pt x="0" y="342900"/>
                </a:moveTo>
                <a:lnTo>
                  <a:pt x="838200" y="0"/>
                </a:lnTo>
                <a:lnTo>
                  <a:pt x="514350" y="762000"/>
                </a:lnTo>
                <a:lnTo>
                  <a:pt x="381000" y="438150"/>
                </a:lnTo>
                <a:close/>
              </a:path>
            </a:pathLst>
          </a:custGeom>
          <a:solidFill>
            <a:srgbClr val="F3F1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Freeform 6"/>
          <p:cNvSpPr/>
          <p:nvPr/>
        </p:nvSpPr>
        <p:spPr>
          <a:xfrm>
            <a:off x="6343650" y="8667750"/>
            <a:ext cx="609600" cy="285750"/>
          </a:xfrm>
          <a:custGeom>
            <a:avLst/>
            <a:gdLst/>
            <a:ahLst/>
            <a:cxnLst/>
            <a:rect l="l" t="t" r="r" b="b"/>
            <a:pathLst>
              <a:path w="609600" h="285750">
                <a:moveTo>
                  <a:pt x="0" y="247650"/>
                </a:moveTo>
                <a:lnTo>
                  <a:pt x="609600" y="0"/>
                </a:lnTo>
                <a:lnTo>
                  <a:pt x="285750" y="285750"/>
                </a:lnTo>
                <a:close/>
              </a:path>
            </a:pathLst>
          </a:custGeom>
          <a:solidFill>
            <a:srgbClr val="3166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715000" y="9525000"/>
            <a:ext cx="19050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</a:pPr>
            <a:r>
              <a:rPr sz="2200" b="1" i="0">
                <a:solidFill>
                  <a:srgbClr val="F3F1EA"/>
                </a:solidFill>
                <a:latin typeface="Montserrat"/>
              </a:rPr>
              <a:t>Send this</a:t>
            </a:r>
          </a:p>
        </p:txBody>
      </p:sp>
      <p:pic>
        <p:nvPicPr>
          <p:cNvPr id="9" name="Picture 8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71501" y="11239500"/>
            <a:ext cx="953498" cy="85725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91500" y="762000"/>
            <a:ext cx="1333500" cy="2857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20000"/>
              </a:lnSpc>
            </a:pPr>
            <a:r>
              <a:rPr sz="2000" b="0" i="0">
                <a:solidFill>
                  <a:srgbClr val="F3F1EA">
                    <a:alpha val="60000"/>
                  </a:srgbClr>
                </a:solidFill>
                <a:latin typeface="Source Sans 3"/>
              </a:rPr>
              <a:t>5/5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