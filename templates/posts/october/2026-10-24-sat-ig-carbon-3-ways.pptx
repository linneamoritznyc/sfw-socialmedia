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7283133639888607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09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96000"/>
            <a:ext cx="10287000" cy="762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667500"/>
            <a:ext cx="7620000" cy="362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CARBON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334250"/>
            <a:ext cx="7620000" cy="367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F4F1EA"/>
                </a:solidFill>
                <a:latin typeface="Montserrat"/>
              </a:rPr>
              <a:t>3 ways to keep carbon in your soil. No lab needed.</a:t>
            </a:r>
          </a:p>
        </p:txBody>
      </p:sp>
      <p:sp>
        <p:nvSpPr>
          <p:cNvPr id="6" name="Oval 5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3810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>
                <a:solidFill>
                  <a:srgbClr val="156826">
                    <a:alpha val="25000"/>
                  </a:srgbClr>
                </a:solidFill>
                <a:latin typeface="Montserrat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000500"/>
            <a:ext cx="8382000" cy="2665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22371F"/>
                </a:solidFill>
                <a:latin typeface="Montserrat"/>
              </a:rPr>
              <a:t>Keep it covered. Bare soil loses carbon to sun, wind and rain. Mulch or plant it.</a:t>
            </a:r>
          </a:p>
        </p:txBody>
      </p:sp>
      <p:pic>
        <p:nvPicPr>
          <p:cNvPr id="4" name="Picture 3" descr="36580179742766124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8286750"/>
            <a:ext cx="3810000" cy="3810000"/>
          </a:xfrm>
          <a:prstGeom prst="roundRect">
            <a:avLst>
              <a:gd name="adj" fmla="val 6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3810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>
                <a:solidFill>
                  <a:srgbClr val="156826">
                    <a:alpha val="25000"/>
                  </a:srgbClr>
                </a:solidFill>
                <a:latin typeface="Montserrat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000500"/>
            <a:ext cx="8382000" cy="2665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22371F"/>
                </a:solidFill>
                <a:latin typeface="Montserrat"/>
              </a:rPr>
              <a:t>Keep roots in the ground. Living roots feed carbon to fungi and bacteria all year.</a:t>
            </a:r>
          </a:p>
        </p:txBody>
      </p:sp>
      <p:pic>
        <p:nvPicPr>
          <p:cNvPr id="4" name="Picture 3" descr="60716800009053883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8286750"/>
            <a:ext cx="3810000" cy="3810000"/>
          </a:xfrm>
          <a:prstGeom prst="roundRect">
            <a:avLst>
              <a:gd name="adj" fmla="val 6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3810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>
                <a:solidFill>
                  <a:srgbClr val="156826">
                    <a:alpha val="25000"/>
                  </a:srgbClr>
                </a:solidFill>
                <a:latin typeface="Montserrat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000500"/>
            <a:ext cx="8382000" cy="33082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22371F"/>
                </a:solidFill>
                <a:latin typeface="Montserrat"/>
              </a:rPr>
              <a:t>Dig less. Every turn of the soil breaks up the fungal networks that hold carbon in place.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8286750"/>
            <a:ext cx="3810000" cy="3810000"/>
          </a:xfrm>
          <a:prstGeom prst="roundRect">
            <a:avLst>
              <a:gd name="adj" fmla="val 600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7400" y="8286750"/>
            <a:ext cx="3505200" cy="38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microscopy: fungal strands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2679239"/>
            <a:ext cx="8382000" cy="3880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4F1EA"/>
                </a:solidFill>
                <a:latin typeface="Montserrat"/>
              </a:rPr>
              <a:t>Soil holds more carbon than the air and all the world's plants combined.</a:t>
            </a:r>
          </a:p>
        </p:txBody>
      </p:sp>
      <p:sp>
        <p:nvSpPr>
          <p:cNvPr id="3" name="Freeform 2"/>
          <p:cNvSpPr/>
          <p:nvPr/>
        </p:nvSpPr>
        <p:spPr>
          <a:xfrm>
            <a:off x="3333750" y="8572500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0" y="0"/>
                </a:moveTo>
                <a:lnTo>
                  <a:pt x="571500" y="0"/>
                </a:lnTo>
                <a:lnTo>
                  <a:pt x="571500" y="762000"/>
                </a:lnTo>
                <a:lnTo>
                  <a:pt x="285750" y="552450"/>
                </a:lnTo>
                <a:lnTo>
                  <a:pt x="0" y="76200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409950" y="8648700"/>
            <a:ext cx="419100" cy="533400"/>
          </a:xfrm>
          <a:custGeom>
            <a:avLst/>
            <a:gdLst/>
            <a:ahLst/>
            <a:cxnLst/>
            <a:rect l="l" t="t" r="r" b="b"/>
            <a:pathLst>
              <a:path w="419100" h="533400">
                <a:moveTo>
                  <a:pt x="0" y="0"/>
                </a:moveTo>
                <a:lnTo>
                  <a:pt x="419100" y="0"/>
                </a:lnTo>
                <a:lnTo>
                  <a:pt x="419100" y="533400"/>
                </a:lnTo>
                <a:lnTo>
                  <a:pt x="209550" y="381000"/>
                </a:lnTo>
                <a:lnTo>
                  <a:pt x="0" y="533400"/>
                </a:lnTo>
                <a:close/>
              </a:path>
            </a:pathLst>
          </a:cu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67000" y="952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4F1EA"/>
                </a:solidFill>
                <a:latin typeface="Montserrat"/>
              </a:rPr>
              <a:t>Save this</a:t>
            </a:r>
          </a:p>
        </p:txBody>
      </p:sp>
      <p:sp>
        <p:nvSpPr>
          <p:cNvPr id="6" name="Freeform 5"/>
          <p:cNvSpPr/>
          <p:nvPr/>
        </p:nvSpPr>
        <p:spPr>
          <a:xfrm>
            <a:off x="6248400" y="85725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42900"/>
                </a:moveTo>
                <a:lnTo>
                  <a:pt x="838200" y="0"/>
                </a:lnTo>
                <a:lnTo>
                  <a:pt x="514350" y="762000"/>
                </a:lnTo>
                <a:lnTo>
                  <a:pt x="381000" y="43815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343650" y="8667750"/>
            <a:ext cx="609600" cy="285750"/>
          </a:xfrm>
          <a:custGeom>
            <a:avLst/>
            <a:gdLst/>
            <a:ahLst/>
            <a:cxnLst/>
            <a:rect l="l" t="t" r="r" b="b"/>
            <a:pathLst>
              <a:path w="609600" h="285750">
                <a:moveTo>
                  <a:pt x="0" y="247650"/>
                </a:moveTo>
                <a:lnTo>
                  <a:pt x="609600" y="0"/>
                </a:lnTo>
                <a:lnTo>
                  <a:pt x="285750" y="285750"/>
                </a:lnTo>
                <a:close/>
              </a:path>
            </a:pathLst>
          </a:cu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952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4F1EA"/>
                </a:solidFill>
                <a:latin typeface="Montserrat"/>
              </a:rPr>
              <a:t>Send this</a:t>
            </a:r>
          </a:p>
        </p:txBody>
      </p:sp>
      <p:sp>
        <p:nvSpPr>
          <p:cNvPr id="9" name="Oval 8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