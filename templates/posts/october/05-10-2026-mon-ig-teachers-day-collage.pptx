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Cover: meadow photo (Annie Spratt, Unsplash) under a brown gradient; cream card. Mentor photos: Linnea's Drive folder (5 Oct 2026). Pressed flowers and meadow: Unsplash, credits in assets/unsplash-flowers/CREDITS.md. Microscope and line art: SFW collage pieces (assets/collage/).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Mentors: Ib Borup Pedersen, Brian Daubenspeck. Mentor photos: Linnea's Drive folder (5 Oct 2026). Pressed flowers and meadow: Unsplash, credits in assets/unsplash-flowers/CREDITS.md. Microscope and line art: SFW collage pieces (assets/collage/).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Mentors: Elena Kalli, Nick Padwick. Mentor photos: Linnea's Drive folder (5 Oct 2026). Pressed flowers and meadow: Unsplash, credits in assets/unsplash-flowers/CREDITS.md. Microscope and line art: SFW collage pieces (assets/collage/).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Mentors: Carla Ribeiro Machado e Portugal, Gerald Ramírez. Mentor photos: Linnea's Drive folder (5 Oct 2026). Pressed flowers and meadow: Unsplash, credits in assets/unsplash-flowers/CREDITS.md. Microscope and line art: SFW collage pieces (assets/collage/).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Mentors: Wesley Sander, Isadora Shmidt. Mentor photos: Linnea's Drive folder (5 Oct 2026). Pressed flowers and meadow: Unsplash, credits in assets/unsplash-flowers/CREDITS.md. Microscope and line art: SFW collage pieces (assets/collage/).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Mentors: Delvin Solkinson, Tommy Tapper. Mentor photos: Linnea's Drive folder (5 Oct 2026). Pressed flowers and meadow: Unsplash, credits in assets/unsplash-flowers/CREDITS.md. Microscope and line art: SFW collage pieces (assets/collage/).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Mentors: Dora Tkalec, Ayşen Üstünay. Mentor photos: Linnea's Drive folder (5 Oct 2026). Pressed flowers and meadow: Unsplash, credits in assets/unsplash-flowers/CREDITS.md. Microscope and line art: SFW collage pieces (assets/collage/).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Mentors: Loida Vasquez, Casey Williams. Mentor photos: Linnea's Drive folder (5 Oct 2026). Pressed flowers and meadow: Unsplash, credits in assets/unsplash-flowers/CREDITS.md. Microscope and line art: SFW collage pieces (assets/collage/).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fourteen on one card. Mentor photos: Linnea's Drive folder (5 Oct 2026). Pressed flowers and meadow: Unsplash, credits in assets/unsplash-flowers/CREDITS.md. Microscope and line art: SFW collage pieces (assets/collage/).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Closing: dried flowers (Katsia Jazwinska, Unsplash) under a brown gradient; big logo. Mentor photos: Linnea's Drive folder (5 Oct 2026). Pressed flowers and meadow: Unsplash, credits in assets/unsplash-flowers/CREDITS.md. Microscope and line art: SFW collage pieces (assets/collage/).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jpg"/><Relationship Id="rId5" Type="http://schemas.openxmlformats.org/officeDocument/2006/relationships/image" Target="../media/image10.jp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16.png"/><Relationship Id="rId7" Type="http://schemas.openxmlformats.org/officeDocument/2006/relationships/image" Target="../media/image4.png"/><Relationship Id="rId8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18.jpg"/><Relationship Id="rId5" Type="http://schemas.openxmlformats.org/officeDocument/2006/relationships/image" Target="../media/image19.jpg"/><Relationship Id="rId6" Type="http://schemas.openxmlformats.org/officeDocument/2006/relationships/image" Target="../media/image20.png"/><Relationship Id="rId7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22.jpg"/><Relationship Id="rId5" Type="http://schemas.openxmlformats.org/officeDocument/2006/relationships/image" Target="../media/image23.jp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24.jpg"/><Relationship Id="rId5" Type="http://schemas.openxmlformats.org/officeDocument/2006/relationships/image" Target="../media/image25.jpg"/><Relationship Id="rId6" Type="http://schemas.openxmlformats.org/officeDocument/2006/relationships/image" Target="../media/image11.png"/><Relationship Id="rId7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26.jpg"/><Relationship Id="rId5" Type="http://schemas.openxmlformats.org/officeDocument/2006/relationships/image" Target="../media/image27.jpg"/><Relationship Id="rId6" Type="http://schemas.openxmlformats.org/officeDocument/2006/relationships/image" Target="../media/image16.png"/><Relationship Id="rId7" Type="http://schemas.openxmlformats.org/officeDocument/2006/relationships/image" Target="../media/image4.png"/><Relationship Id="rId8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5" Type="http://schemas.openxmlformats.org/officeDocument/2006/relationships/image" Target="../media/image28.jpg"/><Relationship Id="rId6" Type="http://schemas.openxmlformats.org/officeDocument/2006/relationships/image" Target="../media/image29.jpg"/><Relationship Id="rId7" Type="http://schemas.openxmlformats.org/officeDocument/2006/relationships/image" Target="../media/image30.jpg"/><Relationship Id="rId8" Type="http://schemas.openxmlformats.org/officeDocument/2006/relationships/image" Target="../media/image31.jpg"/><Relationship Id="rId9" Type="http://schemas.openxmlformats.org/officeDocument/2006/relationships/image" Target="../media/image32.jpg"/><Relationship Id="rId10" Type="http://schemas.openxmlformats.org/officeDocument/2006/relationships/image" Target="../media/image33.jpg"/><Relationship Id="rId11" Type="http://schemas.openxmlformats.org/officeDocument/2006/relationships/image" Target="../media/image34.jpg"/><Relationship Id="rId12" Type="http://schemas.openxmlformats.org/officeDocument/2006/relationships/image" Target="../media/image35.jpg"/><Relationship Id="rId13" Type="http://schemas.openxmlformats.org/officeDocument/2006/relationships/image" Target="../media/image36.jpg"/><Relationship Id="rId14" Type="http://schemas.openxmlformats.org/officeDocument/2006/relationships/image" Target="../media/image37.jpg"/><Relationship Id="rId15" Type="http://schemas.openxmlformats.org/officeDocument/2006/relationships/image" Target="../media/image38.jpg"/><Relationship Id="rId16" Type="http://schemas.openxmlformats.org/officeDocument/2006/relationships/image" Target="../media/image39.jpg"/><Relationship Id="rId17" Type="http://schemas.openxmlformats.org/officeDocument/2006/relationships/image" Target="../media/image40.jpg"/><Relationship Id="rId18" Type="http://schemas.openxmlformats.org/officeDocument/2006/relationships/image" Target="../media/image41.jpg"/><Relationship Id="rId19" Type="http://schemas.openxmlformats.org/officeDocument/2006/relationships/image" Target="../media/image16.png"/><Relationship Id="rId20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2.jp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0598494512297289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effectLst/>
          <a:gradFill rotWithShape="1">
            <a:gsLst>
              <a:gs pos="0">
                <a:srgbClr val="4C3634">
                  <a:alpha val="15000"/>
                </a:srgbClr>
              </a:gs>
              <a:gs pos="100000">
                <a:srgbClr val="4C3634">
                  <a:alpha val="92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hite-tithonia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47750" y="7239000"/>
            <a:ext cx="4000500" cy="398907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47750" y="2381250"/>
            <a:ext cx="8191500" cy="6096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9680000">
            <a:off x="714375" y="2247900"/>
            <a:ext cx="1428750" cy="419100"/>
          </a:xfrm>
          <a:prstGeom prst="rect">
            <a:avLst/>
          </a:prstGeom>
          <a:solidFill>
            <a:srgbClr val="DCE5C8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920000">
            <a:off x="8143875" y="2247900"/>
            <a:ext cx="1428750" cy="419100"/>
          </a:xfrm>
          <a:prstGeom prst="rect">
            <a:avLst/>
          </a:prstGeom>
          <a:solidFill>
            <a:srgbClr val="DCE5C8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28750" y="3048000"/>
            <a:ext cx="7429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 spc="400">
                <a:solidFill>
                  <a:srgbClr val="4C3634"/>
                </a:solidFill>
                <a:latin typeface="Montserrat"/>
              </a:rPr>
              <a:t>OCTOBER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" y="3619500"/>
            <a:ext cx="7429500" cy="247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0" b="1" i="0">
                <a:solidFill>
                  <a:srgbClr val="31662F"/>
                </a:solidFill>
                <a:latin typeface="Montserrat"/>
              </a:rPr>
              <a:t>Happy World Teachers' 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95500" y="6286500"/>
            <a:ext cx="6096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0" i="0">
                <a:solidFill>
                  <a:srgbClr val="333130"/>
                </a:solidFill>
                <a:latin typeface="Source Sans 3"/>
              </a:rPr>
              <a:t>Thank you to everyone who teaches and mentors our students.</a:t>
            </a:r>
          </a:p>
        </p:txBody>
      </p:sp>
      <p:pic>
        <p:nvPicPr>
          <p:cNvPr id="11" name="Picture 10" descr="pressed-red-fern-c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760000">
            <a:off x="381000" y="1333500"/>
            <a:ext cx="2190750" cy="2839133"/>
          </a:xfrm>
          <a:prstGeom prst="rect">
            <a:avLst/>
          </a:prstGeom>
        </p:spPr>
      </p:pic>
      <p:pic>
        <p:nvPicPr>
          <p:cNvPr id="12" name="Picture 11" descr="microscope-paper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0" y="7239000"/>
            <a:ext cx="2667000" cy="2667000"/>
          </a:xfrm>
          <a:prstGeom prst="rect">
            <a:avLst/>
          </a:prstGeom>
        </p:spPr>
      </p:pic>
      <p:pic>
        <p:nvPicPr>
          <p:cNvPr id="13" name="Picture 12" descr="foundation-logo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48125" y="9715500"/>
            <a:ext cx="2190750" cy="196961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0" y="11906250"/>
            <a:ext cx="10287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3F1EA"/>
                </a:solidFill>
                <a:latin typeface="Montserrat"/>
              </a:rPr>
              <a:t>Swipe 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000" y="125349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3F1EA"/>
                </a:solidFill>
                <a:latin typeface="Source Sans 3"/>
              </a:rPr>
              <a:t>Meadow: Annie Spratt on Unsplash. Pressed flowers: Evie S. on Unsplash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effectLst/>
          <a:gradFill rotWithShape="1">
            <a:gsLst>
              <a:gs pos="0">
                <a:srgbClr val="7E6352"/>
              </a:gs>
              <a:gs pos="100000">
                <a:srgbClr val="C09D7F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hite-tithonia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9525000"/>
            <a:ext cx="4953000" cy="49388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57250" y="952500"/>
            <a:ext cx="8572500" cy="100965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9680000">
            <a:off x="523875" y="819150"/>
            <a:ext cx="1428750" cy="419100"/>
          </a:xfrm>
          <a:prstGeom prst="rect">
            <a:avLst/>
          </a:prstGeom>
          <a:solidFill>
            <a:srgbClr val="DCE5C8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920000">
            <a:off x="8334375" y="819150"/>
            <a:ext cx="1428750" cy="419100"/>
          </a:xfrm>
          <a:prstGeom prst="rect">
            <a:avLst/>
          </a:prstGeom>
          <a:solidFill>
            <a:srgbClr val="DCE5C8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24067880699034793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250" y="1381125"/>
            <a:ext cx="4286250" cy="4286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7875" y="2809875"/>
            <a:ext cx="3286125" cy="1016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31662F"/>
                </a:solidFill>
                <a:latin typeface="Montserrat"/>
              </a:rPr>
              <a:t>Ib Borup Pedersen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7875" y="3826359"/>
            <a:ext cx="3286125" cy="9154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333130"/>
                </a:solidFill>
                <a:latin typeface="Source Sans 3"/>
              </a:rPr>
              <a:t>Farmer, SFW Consultant &amp; Mentor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8250" y="5905500"/>
            <a:ext cx="7810500" cy="19050"/>
          </a:xfrm>
          <a:prstGeom prst="rect">
            <a:avLst/>
          </a:prstGeom>
          <a:solidFill>
            <a:srgbClr val="C09D7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873703093041134978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250" y="6143625"/>
            <a:ext cx="4286250" cy="428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57875" y="7572375"/>
            <a:ext cx="3286125" cy="1016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31662F"/>
                </a:solidFill>
                <a:latin typeface="Montserrat"/>
              </a:rPr>
              <a:t>Brian Daubenspeck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7875" y="8588859"/>
            <a:ext cx="3286125" cy="5053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333130"/>
                </a:solidFill>
                <a:latin typeface="Source Sans 3"/>
              </a:rPr>
              <a:t>SFW Consultant &amp; Mentor</a:t>
            </a:r>
          </a:p>
        </p:txBody>
      </p:sp>
      <p:pic>
        <p:nvPicPr>
          <p:cNvPr id="14" name="Picture 13" descr="pressed-red-fern-c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720000">
            <a:off x="8191500" y="571500"/>
            <a:ext cx="1905000" cy="2468811"/>
          </a:xfrm>
          <a:prstGeom prst="rect">
            <a:avLst/>
          </a:prstGeom>
        </p:spPr>
      </p:pic>
      <p:pic>
        <p:nvPicPr>
          <p:cNvPr id="15" name="Picture 14" descr="microscope-paper-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9810750"/>
            <a:ext cx="2190750" cy="2190750"/>
          </a:xfrm>
          <a:prstGeom prst="rect">
            <a:avLst/>
          </a:prstGeom>
        </p:spPr>
      </p:pic>
      <p:pic>
        <p:nvPicPr>
          <p:cNvPr id="16" name="Picture 15" descr="foundation-logo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11525250"/>
            <a:ext cx="1238250" cy="111325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905000" y="125349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3F1EA"/>
                </a:solidFill>
                <a:latin typeface="Source Sans 3"/>
              </a:rPr>
              <a:t>Pressed flowers: Evie S. and Angèle Kamp on Unsplash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effectLst/>
          <a:gradFill rotWithShape="1">
            <a:gsLst>
              <a:gs pos="0">
                <a:srgbClr val="C09D7F"/>
              </a:gs>
              <a:gs pos="100000">
                <a:srgbClr val="B9AE98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hite-mushroom-cluster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0096500"/>
            <a:ext cx="4381500" cy="437211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57250" y="952500"/>
            <a:ext cx="8572500" cy="100965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9680000">
            <a:off x="523875" y="819150"/>
            <a:ext cx="1428750" cy="419100"/>
          </a:xfrm>
          <a:prstGeom prst="rect">
            <a:avLst/>
          </a:prstGeom>
          <a:solidFill>
            <a:srgbClr val="DCE5C8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920000">
            <a:off x="8334375" y="819150"/>
            <a:ext cx="1428750" cy="419100"/>
          </a:xfrm>
          <a:prstGeom prst="rect">
            <a:avLst/>
          </a:prstGeom>
          <a:solidFill>
            <a:srgbClr val="DCE5C8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625089235132226655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250" y="1381125"/>
            <a:ext cx="4286250" cy="4286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7875" y="2809875"/>
            <a:ext cx="3286125" cy="555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31662F"/>
                </a:solidFill>
                <a:latin typeface="Montserrat"/>
              </a:rPr>
              <a:t>Elena Kalli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7875" y="3365742"/>
            <a:ext cx="3286125" cy="9154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333130"/>
                </a:solidFill>
                <a:latin typeface="Source Sans 3"/>
              </a:rPr>
              <a:t>School Administration Officer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8250" y="5905500"/>
            <a:ext cx="7810500" cy="19050"/>
          </a:xfrm>
          <a:prstGeom prst="rect">
            <a:avLst/>
          </a:prstGeom>
          <a:solidFill>
            <a:srgbClr val="C09D7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79945661840033978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250" y="6143625"/>
            <a:ext cx="4286250" cy="428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57875" y="7572375"/>
            <a:ext cx="3286125" cy="555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31662F"/>
                </a:solidFill>
                <a:latin typeface="Montserrat"/>
              </a:rPr>
              <a:t>Nick Padwick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7875" y="8128242"/>
            <a:ext cx="3286125" cy="9154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333130"/>
                </a:solidFill>
                <a:latin typeface="Source Sans 3"/>
              </a:rPr>
              <a:t>Farmer, SFW Consultant &amp; Mentor</a:t>
            </a:r>
          </a:p>
        </p:txBody>
      </p:sp>
      <p:pic>
        <p:nvPicPr>
          <p:cNvPr id="14" name="Picture 13" descr="pressed-yellow-c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000000">
            <a:off x="-381000" y="666750"/>
            <a:ext cx="2190750" cy="1828309"/>
          </a:xfrm>
          <a:prstGeom prst="rect">
            <a:avLst/>
          </a:prstGeom>
        </p:spPr>
      </p:pic>
      <p:pic>
        <p:nvPicPr>
          <p:cNvPr id="15" name="Picture 14" descr="foundation-logo-col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0" y="11525250"/>
            <a:ext cx="1238250" cy="111325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81000" y="125349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33130"/>
                </a:solidFill>
                <a:latin typeface="Source Sans 3"/>
              </a:rPr>
              <a:t>Pressed flowers: Evie S. and Angèle Kamp on Unsplash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effectLst/>
          <a:gradFill rotWithShape="1">
            <a:gsLst>
              <a:gs pos="0">
                <a:srgbClr val="B9AE98"/>
              </a:gs>
              <a:gs pos="100000">
                <a:srgbClr val="B1BCB1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hite-coffee-branch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9620250"/>
            <a:ext cx="4953000" cy="502842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57250" y="952500"/>
            <a:ext cx="8572500" cy="100965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9680000">
            <a:off x="523875" y="819150"/>
            <a:ext cx="1428750" cy="419100"/>
          </a:xfrm>
          <a:prstGeom prst="rect">
            <a:avLst/>
          </a:prstGeom>
          <a:solidFill>
            <a:srgbClr val="DCE5C8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920000">
            <a:off x="8334375" y="819150"/>
            <a:ext cx="1428750" cy="419100"/>
          </a:xfrm>
          <a:prstGeom prst="rect">
            <a:avLst/>
          </a:prstGeom>
          <a:solidFill>
            <a:srgbClr val="DCE5C8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71880906250625584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250" y="1381125"/>
            <a:ext cx="4286250" cy="4286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7875" y="2809875"/>
            <a:ext cx="3286125" cy="1937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31662F"/>
                </a:solidFill>
                <a:latin typeface="Montserrat"/>
              </a:rPr>
              <a:t>Dr. Carla Ribeiro Machado e Portugal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7875" y="4747594"/>
            <a:ext cx="3286125" cy="5053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333130"/>
                </a:solidFill>
                <a:latin typeface="Source Sans 3"/>
              </a:rPr>
              <a:t>SFW Mentor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8250" y="5905500"/>
            <a:ext cx="7810500" cy="19050"/>
          </a:xfrm>
          <a:prstGeom prst="rect">
            <a:avLst/>
          </a:prstGeom>
          <a:solidFill>
            <a:srgbClr val="C09D7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58345103391638479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250" y="6143625"/>
            <a:ext cx="4286250" cy="428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57875" y="7572375"/>
            <a:ext cx="3286125" cy="555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31662F"/>
                </a:solidFill>
                <a:latin typeface="Montserrat"/>
              </a:rPr>
              <a:t>Gerald Ramírez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7875" y="8128242"/>
            <a:ext cx="3286125" cy="5053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333130"/>
                </a:solidFill>
                <a:latin typeface="Source Sans 3"/>
              </a:rPr>
              <a:t>SFW Mentor</a:t>
            </a:r>
          </a:p>
        </p:txBody>
      </p:sp>
      <p:pic>
        <p:nvPicPr>
          <p:cNvPr id="14" name="Picture 13" descr="pressed-sprig-c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480000">
            <a:off x="7905750" y="666750"/>
            <a:ext cx="2190750" cy="1723729"/>
          </a:xfrm>
          <a:prstGeom prst="rect">
            <a:avLst/>
          </a:prstGeom>
        </p:spPr>
      </p:pic>
      <p:pic>
        <p:nvPicPr>
          <p:cNvPr id="15" name="Picture 14" descr="microscope-paper-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9810750"/>
            <a:ext cx="2190750" cy="2190750"/>
          </a:xfrm>
          <a:prstGeom prst="rect">
            <a:avLst/>
          </a:prstGeom>
        </p:spPr>
      </p:pic>
      <p:pic>
        <p:nvPicPr>
          <p:cNvPr id="16" name="Picture 15" descr="foundation-logo-colo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11525250"/>
            <a:ext cx="1238250" cy="111325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905000" y="125349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33130"/>
                </a:solidFill>
                <a:latin typeface="Source Sans 3"/>
              </a:rPr>
              <a:t>Pressed flowers: Evie S. and Angèle Kamp on Unsplash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effectLst/>
          <a:gradFill rotWithShape="1">
            <a:gsLst>
              <a:gs pos="0">
                <a:srgbClr val="B1BCB1"/>
              </a:gs>
              <a:gs pos="100000">
                <a:srgbClr val="9DA89C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hite-seedling-roots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0" y="9906000"/>
            <a:ext cx="5334000" cy="5334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57250" y="952500"/>
            <a:ext cx="8572500" cy="100965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9680000">
            <a:off x="523875" y="819150"/>
            <a:ext cx="1428750" cy="419100"/>
          </a:xfrm>
          <a:prstGeom prst="rect">
            <a:avLst/>
          </a:prstGeom>
          <a:solidFill>
            <a:srgbClr val="DCE5C8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920000">
            <a:off x="8334375" y="819150"/>
            <a:ext cx="1428750" cy="419100"/>
          </a:xfrm>
          <a:prstGeom prst="rect">
            <a:avLst/>
          </a:prstGeom>
          <a:solidFill>
            <a:srgbClr val="DCE5C8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03176405432923311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250" y="1381125"/>
            <a:ext cx="4286250" cy="4286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7875" y="2809875"/>
            <a:ext cx="3286125" cy="555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31662F"/>
                </a:solidFill>
                <a:latin typeface="Montserrat"/>
              </a:rPr>
              <a:t>Wesley Sander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7875" y="3365742"/>
            <a:ext cx="3286125" cy="5053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333130"/>
                </a:solidFill>
                <a:latin typeface="Source Sans 3"/>
              </a:rPr>
              <a:t>SFW Consultant &amp; Mentor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8250" y="5905500"/>
            <a:ext cx="7810500" cy="19050"/>
          </a:xfrm>
          <a:prstGeom prst="rect">
            <a:avLst/>
          </a:prstGeom>
          <a:solidFill>
            <a:srgbClr val="C09D7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702952297692448474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250" y="6143625"/>
            <a:ext cx="4286250" cy="428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57875" y="7572375"/>
            <a:ext cx="3286125" cy="555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31662F"/>
                </a:solidFill>
                <a:latin typeface="Montserrat"/>
              </a:rPr>
              <a:t>Isadora Shmidt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7875" y="8128242"/>
            <a:ext cx="3286125" cy="5053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333130"/>
                </a:solidFill>
                <a:latin typeface="Source Sans 3"/>
              </a:rPr>
              <a:t>SFW Consultant &amp; Mentor</a:t>
            </a:r>
          </a:p>
        </p:txBody>
      </p:sp>
      <p:pic>
        <p:nvPicPr>
          <p:cNvPr id="14" name="Picture 13" descr="pressed-four-c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240000">
            <a:off x="-571500" y="571500"/>
            <a:ext cx="2476500" cy="1650040"/>
          </a:xfrm>
          <a:prstGeom prst="rect">
            <a:avLst/>
          </a:prstGeom>
        </p:spPr>
      </p:pic>
      <p:pic>
        <p:nvPicPr>
          <p:cNvPr id="15" name="Picture 14" descr="foundation-logo-col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0" y="11525250"/>
            <a:ext cx="1238250" cy="111325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81000" y="125349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33130"/>
                </a:solidFill>
                <a:latin typeface="Source Sans 3"/>
              </a:rPr>
              <a:t>Pressed flowers: Evie S. and Angèle Kamp on Unsplash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effectLst/>
          <a:gradFill rotWithShape="1">
            <a:gsLst>
              <a:gs pos="0">
                <a:srgbClr val="9DA89C"/>
              </a:gs>
              <a:gs pos="100000">
                <a:srgbClr val="C09D7F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hite-orange-branch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9620250"/>
            <a:ext cx="4953000" cy="4953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57250" y="952500"/>
            <a:ext cx="8572500" cy="100965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9680000">
            <a:off x="523875" y="819150"/>
            <a:ext cx="1428750" cy="419100"/>
          </a:xfrm>
          <a:prstGeom prst="rect">
            <a:avLst/>
          </a:prstGeom>
          <a:solidFill>
            <a:srgbClr val="DCE5C8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920000">
            <a:off x="8334375" y="819150"/>
            <a:ext cx="1428750" cy="419100"/>
          </a:xfrm>
          <a:prstGeom prst="rect">
            <a:avLst/>
          </a:prstGeom>
          <a:solidFill>
            <a:srgbClr val="DCE5C8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26591015722568548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250" y="1381125"/>
            <a:ext cx="4286250" cy="4286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7875" y="2809875"/>
            <a:ext cx="3286125" cy="1016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31662F"/>
                </a:solidFill>
                <a:latin typeface="Montserrat"/>
              </a:rPr>
              <a:t>Delvin Solkinson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7875" y="3826359"/>
            <a:ext cx="3286125" cy="5053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333130"/>
                </a:solidFill>
                <a:latin typeface="Source Sans 3"/>
              </a:rPr>
              <a:t>SFW Permaculture Lead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8250" y="5905500"/>
            <a:ext cx="7810500" cy="19050"/>
          </a:xfrm>
          <a:prstGeom prst="rect">
            <a:avLst/>
          </a:prstGeom>
          <a:solidFill>
            <a:srgbClr val="C09D7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818246348713913137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250" y="6143625"/>
            <a:ext cx="4286250" cy="428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57875" y="7572375"/>
            <a:ext cx="3286125" cy="555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31662F"/>
                </a:solidFill>
                <a:latin typeface="Montserrat"/>
              </a:rPr>
              <a:t>Tommy Tapper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7875" y="8128242"/>
            <a:ext cx="3286125" cy="5053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333130"/>
                </a:solidFill>
                <a:latin typeface="Source Sans 3"/>
              </a:rPr>
              <a:t>Instructor</a:t>
            </a:r>
          </a:p>
        </p:txBody>
      </p:sp>
      <p:pic>
        <p:nvPicPr>
          <p:cNvPr id="14" name="Picture 13" descr="pressed-red-fern-c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720000">
            <a:off x="8191500" y="571500"/>
            <a:ext cx="1905000" cy="2468811"/>
          </a:xfrm>
          <a:prstGeom prst="rect">
            <a:avLst/>
          </a:prstGeom>
        </p:spPr>
      </p:pic>
      <p:pic>
        <p:nvPicPr>
          <p:cNvPr id="15" name="Picture 14" descr="microscope-paper-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9810750"/>
            <a:ext cx="2190750" cy="2190750"/>
          </a:xfrm>
          <a:prstGeom prst="rect">
            <a:avLst/>
          </a:prstGeom>
        </p:spPr>
      </p:pic>
      <p:pic>
        <p:nvPicPr>
          <p:cNvPr id="16" name="Picture 15" descr="foundation-logo-colo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11525250"/>
            <a:ext cx="1238250" cy="111325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905000" y="125349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33130"/>
                </a:solidFill>
                <a:latin typeface="Source Sans 3"/>
              </a:rPr>
              <a:t>Pressed flowers: Evie S. and Angèle Kamp on Unsplash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effectLst/>
          <a:gradFill rotWithShape="1">
            <a:gsLst>
              <a:gs pos="0">
                <a:srgbClr val="C09D7F"/>
              </a:gs>
              <a:gs pos="100000">
                <a:srgbClr val="8E705E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hite-tithonia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9525000"/>
            <a:ext cx="4572000" cy="455893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57250" y="952500"/>
            <a:ext cx="8572500" cy="100965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9680000">
            <a:off x="523875" y="819150"/>
            <a:ext cx="1428750" cy="419100"/>
          </a:xfrm>
          <a:prstGeom prst="rect">
            <a:avLst/>
          </a:prstGeom>
          <a:solidFill>
            <a:srgbClr val="DCE5C8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920000">
            <a:off x="8334375" y="819150"/>
            <a:ext cx="1428750" cy="419100"/>
          </a:xfrm>
          <a:prstGeom prst="rect">
            <a:avLst/>
          </a:prstGeom>
          <a:solidFill>
            <a:srgbClr val="DCE5C8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826655821753553418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250" y="1381125"/>
            <a:ext cx="4286250" cy="4286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7875" y="2809875"/>
            <a:ext cx="3286125" cy="555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31662F"/>
                </a:solidFill>
                <a:latin typeface="Montserrat"/>
              </a:rPr>
              <a:t>Dora Tkalec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7875" y="3365742"/>
            <a:ext cx="3286125" cy="5053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333130"/>
                </a:solidFill>
                <a:latin typeface="Source Sans 3"/>
              </a:rPr>
              <a:t>SFW Consultant &amp; Mentor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8250" y="5905500"/>
            <a:ext cx="7810500" cy="19050"/>
          </a:xfrm>
          <a:prstGeom prst="rect">
            <a:avLst/>
          </a:prstGeom>
          <a:solidFill>
            <a:srgbClr val="C09D7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238678320413194957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250" y="6143625"/>
            <a:ext cx="4286250" cy="428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57875" y="7572375"/>
            <a:ext cx="3286125" cy="555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31662F"/>
                </a:solidFill>
                <a:latin typeface="Montserrat"/>
              </a:rPr>
              <a:t>Ayşen Üstünay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7875" y="8128242"/>
            <a:ext cx="3286125" cy="5053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333130"/>
                </a:solidFill>
                <a:latin typeface="Source Sans 3"/>
              </a:rPr>
              <a:t>SFW Consultant &amp; Mentor</a:t>
            </a:r>
          </a:p>
        </p:txBody>
      </p:sp>
      <p:pic>
        <p:nvPicPr>
          <p:cNvPr id="14" name="Picture 13" descr="pressed-yellow-c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000000">
            <a:off x="-381000" y="666750"/>
            <a:ext cx="2190750" cy="1828309"/>
          </a:xfrm>
          <a:prstGeom prst="rect">
            <a:avLst/>
          </a:prstGeom>
        </p:spPr>
      </p:pic>
      <p:pic>
        <p:nvPicPr>
          <p:cNvPr id="15" name="Picture 14" descr="foundation-logo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0" y="11525250"/>
            <a:ext cx="1238250" cy="111325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81000" y="125349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33130"/>
                </a:solidFill>
                <a:latin typeface="Source Sans 3"/>
              </a:rPr>
              <a:t>Pressed flowers: Evie S. and Angèle Kamp on Unsplash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effectLst/>
          <a:gradFill rotWithShape="1">
            <a:gsLst>
              <a:gs pos="0">
                <a:srgbClr val="8E705E"/>
              </a:gs>
              <a:gs pos="100000">
                <a:srgbClr val="6A4E45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hite-mushroom-cluster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500" y="10096500"/>
            <a:ext cx="4381500" cy="437211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57250" y="952500"/>
            <a:ext cx="8572500" cy="100965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9680000">
            <a:off x="523875" y="819150"/>
            <a:ext cx="1428750" cy="419100"/>
          </a:xfrm>
          <a:prstGeom prst="rect">
            <a:avLst/>
          </a:prstGeom>
          <a:solidFill>
            <a:srgbClr val="DCE5C8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920000">
            <a:off x="8334375" y="819150"/>
            <a:ext cx="1428750" cy="419100"/>
          </a:xfrm>
          <a:prstGeom prst="rect">
            <a:avLst/>
          </a:prstGeom>
          <a:solidFill>
            <a:srgbClr val="DCE5C8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893454385294890183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250" y="1381125"/>
            <a:ext cx="4286250" cy="4286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7875" y="2809875"/>
            <a:ext cx="3286125" cy="555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31662F"/>
                </a:solidFill>
                <a:latin typeface="Montserrat"/>
              </a:rPr>
              <a:t>Loida Vasquez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7875" y="3365742"/>
            <a:ext cx="3286125" cy="5053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333130"/>
                </a:solidFill>
                <a:latin typeface="Source Sans 3"/>
              </a:rPr>
              <a:t>Advanced Programs Lead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8250" y="5905500"/>
            <a:ext cx="7810500" cy="19050"/>
          </a:xfrm>
          <a:prstGeom prst="rect">
            <a:avLst/>
          </a:prstGeom>
          <a:solidFill>
            <a:srgbClr val="C09D7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27036633291335297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250" y="6143625"/>
            <a:ext cx="4286250" cy="428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57875" y="7572375"/>
            <a:ext cx="3286125" cy="555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31662F"/>
                </a:solidFill>
                <a:latin typeface="Montserrat"/>
              </a:rPr>
              <a:t>Casey Williams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7875" y="8128242"/>
            <a:ext cx="3286125" cy="5053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333130"/>
                </a:solidFill>
                <a:latin typeface="Source Sans 3"/>
              </a:rPr>
              <a:t>SFW Consultant &amp; Mentor</a:t>
            </a:r>
          </a:p>
        </p:txBody>
      </p:sp>
      <p:pic>
        <p:nvPicPr>
          <p:cNvPr id="14" name="Picture 13" descr="pressed-sprig-c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480000">
            <a:off x="7905750" y="666750"/>
            <a:ext cx="2190750" cy="1723729"/>
          </a:xfrm>
          <a:prstGeom prst="rect">
            <a:avLst/>
          </a:prstGeom>
        </p:spPr>
      </p:pic>
      <p:pic>
        <p:nvPicPr>
          <p:cNvPr id="15" name="Picture 14" descr="microscope-paper-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9810750"/>
            <a:ext cx="2190750" cy="2190750"/>
          </a:xfrm>
          <a:prstGeom prst="rect">
            <a:avLst/>
          </a:prstGeom>
        </p:spPr>
      </p:pic>
      <p:pic>
        <p:nvPicPr>
          <p:cNvPr id="16" name="Picture 15" descr="foundation-logo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11525250"/>
            <a:ext cx="1238250" cy="111325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905000" y="125349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3F1EA"/>
                </a:solidFill>
                <a:latin typeface="Source Sans 3"/>
              </a:rPr>
              <a:t>Pressed flowers: Evie S. and Angèle Kamp on Unsplash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effectLst/>
          <a:gradFill rotWithShape="1">
            <a:gsLst>
              <a:gs pos="0">
                <a:srgbClr val="6A4E45"/>
              </a:gs>
              <a:gs pos="100000">
                <a:srgbClr val="4C3634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hite-seedling-roots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334500"/>
            <a:ext cx="4953000" cy="4953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1000" y="857250"/>
            <a:ext cx="9525000" cy="1114425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9680000">
            <a:off x="47625" y="723900"/>
            <a:ext cx="1428750" cy="419100"/>
          </a:xfrm>
          <a:prstGeom prst="rect">
            <a:avLst/>
          </a:prstGeom>
          <a:solidFill>
            <a:srgbClr val="DCE5C8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920000">
            <a:off x="8810625" y="723900"/>
            <a:ext cx="1428750" cy="419100"/>
          </a:xfrm>
          <a:prstGeom prst="rect">
            <a:avLst/>
          </a:prstGeom>
          <a:solidFill>
            <a:srgbClr val="DCE5C8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1550" y="1371600"/>
            <a:ext cx="41148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31662F"/>
                </a:solidFill>
                <a:latin typeface="Montserrat"/>
              </a:rPr>
              <a:t>Happy World Teachers' Day</a:t>
            </a:r>
          </a:p>
        </p:txBody>
      </p:sp>
      <p:pic>
        <p:nvPicPr>
          <p:cNvPr id="8" name="Picture 7" descr="foundation-logo-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2544341"/>
            <a:ext cx="1238250" cy="1113258"/>
          </a:xfrm>
          <a:prstGeom prst="rect">
            <a:avLst/>
          </a:prstGeom>
        </p:spPr>
      </p:pic>
      <p:pic>
        <p:nvPicPr>
          <p:cNvPr id="9" name="Picture 8" descr="71099866715194023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0650" y="1333500"/>
            <a:ext cx="2000250" cy="2000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00650" y="3381375"/>
            <a:ext cx="2000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Delvin Solkinson</a:t>
            </a:r>
          </a:p>
        </p:txBody>
      </p:sp>
      <p:pic>
        <p:nvPicPr>
          <p:cNvPr id="11" name="Picture 10" descr="224462102349242545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1333500"/>
            <a:ext cx="2000250" cy="2000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0" y="3381375"/>
            <a:ext cx="2000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Brian Daubenspeck</a:t>
            </a:r>
          </a:p>
        </p:txBody>
      </p:sp>
      <p:pic>
        <p:nvPicPr>
          <p:cNvPr id="13" name="Picture 12" descr="424964989750710730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550" y="3771900"/>
            <a:ext cx="2000250" cy="20002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71550" y="5819775"/>
            <a:ext cx="2000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Elena Kalli</a:t>
            </a:r>
          </a:p>
        </p:txBody>
      </p:sp>
      <p:pic>
        <p:nvPicPr>
          <p:cNvPr id="15" name="Picture 14" descr="3305327796752723568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86100" y="3771900"/>
            <a:ext cx="2000250" cy="2000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086100" y="5819775"/>
            <a:ext cx="2000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Nick Padwick</a:t>
            </a:r>
          </a:p>
        </p:txBody>
      </p:sp>
      <p:pic>
        <p:nvPicPr>
          <p:cNvPr id="17" name="Picture 16" descr="835912275070338201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00650" y="3771900"/>
            <a:ext cx="2000250" cy="20002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200650" y="5819775"/>
            <a:ext cx="2000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Carla Portugal</a:t>
            </a:r>
          </a:p>
        </p:txBody>
      </p:sp>
      <p:pic>
        <p:nvPicPr>
          <p:cNvPr id="19" name="Picture 18" descr="6272284167048648523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5200" y="3771900"/>
            <a:ext cx="2000250" cy="20002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15200" y="5819775"/>
            <a:ext cx="2000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Gerald Ramírez</a:t>
            </a:r>
          </a:p>
        </p:txBody>
      </p:sp>
      <p:pic>
        <p:nvPicPr>
          <p:cNvPr id="21" name="Picture 20" descr="5204682321830973368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1550" y="6210300"/>
            <a:ext cx="2000250" cy="2000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71550" y="8258175"/>
            <a:ext cx="2000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Wesley Sander</a:t>
            </a:r>
          </a:p>
        </p:txBody>
      </p:sp>
      <p:pic>
        <p:nvPicPr>
          <p:cNvPr id="23" name="Picture 22" descr="8707994291582878565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86100" y="6210300"/>
            <a:ext cx="2000250" cy="20002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086100" y="8258175"/>
            <a:ext cx="2000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Isadora Shmidt</a:t>
            </a:r>
          </a:p>
        </p:txBody>
      </p:sp>
      <p:pic>
        <p:nvPicPr>
          <p:cNvPr id="25" name="Picture 24" descr="4795590297064093188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00650" y="6210300"/>
            <a:ext cx="2000250" cy="20002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200650" y="8258175"/>
            <a:ext cx="2000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Ib Borup Pedersen</a:t>
            </a:r>
          </a:p>
        </p:txBody>
      </p:sp>
      <p:pic>
        <p:nvPicPr>
          <p:cNvPr id="27" name="Picture 26" descr="8469328054031515950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15200" y="6210300"/>
            <a:ext cx="2000250" cy="2000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315200" y="8258175"/>
            <a:ext cx="2000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Tommy Tapper</a:t>
            </a:r>
          </a:p>
        </p:txBody>
      </p:sp>
      <p:pic>
        <p:nvPicPr>
          <p:cNvPr id="29" name="Picture 28" descr="7858737274344937917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1550" y="8648700"/>
            <a:ext cx="2000250" cy="20002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71550" y="10696575"/>
            <a:ext cx="2000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Dora Tkalec</a:t>
            </a:r>
          </a:p>
        </p:txBody>
      </p:sp>
      <p:pic>
        <p:nvPicPr>
          <p:cNvPr id="31" name="Picture 30" descr="6396218047090347220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86100" y="8648700"/>
            <a:ext cx="2000250" cy="20002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086100" y="10696575"/>
            <a:ext cx="2000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Ayşen Üstünay</a:t>
            </a:r>
          </a:p>
        </p:txBody>
      </p:sp>
      <p:pic>
        <p:nvPicPr>
          <p:cNvPr id="33" name="Picture 32" descr="4565731592448988076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00650" y="8648700"/>
            <a:ext cx="2000250" cy="20002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200650" y="10696575"/>
            <a:ext cx="2000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Loida Vasquez</a:t>
            </a:r>
          </a:p>
        </p:txBody>
      </p:sp>
      <p:pic>
        <p:nvPicPr>
          <p:cNvPr id="35" name="Picture 34" descr="1696628640893502242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315200" y="8648700"/>
            <a:ext cx="2000250" cy="20002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315200" y="10696575"/>
            <a:ext cx="2000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333130"/>
                </a:solidFill>
                <a:latin typeface="Source Sans 3"/>
              </a:rPr>
              <a:t>Casey Williams</a:t>
            </a:r>
          </a:p>
        </p:txBody>
      </p:sp>
      <p:pic>
        <p:nvPicPr>
          <p:cNvPr id="37" name="Picture 36" descr="pressed-sprig-cut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600000">
            <a:off x="8001000" y="285750"/>
            <a:ext cx="2095500" cy="1648784"/>
          </a:xfrm>
          <a:prstGeom prst="rect">
            <a:avLst/>
          </a:prstGeom>
        </p:spPr>
      </p:pic>
      <p:pic>
        <p:nvPicPr>
          <p:cNvPr id="38" name="Picture 37" descr="microscope-paper-1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1000" y="10953750"/>
            <a:ext cx="1809750" cy="180975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2381250" y="125349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3F1EA"/>
                </a:solidFill>
                <a:latin typeface="Source Sans 3"/>
              </a:rPr>
              <a:t>Pressed flowers: Evie S. on Unsplash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077719231807637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effectLst/>
          <a:gradFill rotWithShape="1">
            <a:gsLst>
              <a:gs pos="0">
                <a:srgbClr val="4C3634">
                  <a:alpha val="92000"/>
                </a:srgbClr>
              </a:gs>
              <a:gs pos="100000">
                <a:srgbClr val="4C3634">
                  <a:alpha val="35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hite-mushroom-cluster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71500"/>
            <a:ext cx="4000500" cy="39919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2190750"/>
            <a:ext cx="876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 spc="400">
                <a:solidFill>
                  <a:srgbClr val="F3F1EA"/>
                </a:solidFill>
                <a:latin typeface="Montserrat"/>
              </a:rPr>
              <a:t>OCTOBER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762250"/>
            <a:ext cx="8763000" cy="247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0" b="1" i="0">
                <a:solidFill>
                  <a:srgbClr val="F3F1EA"/>
                </a:solidFill>
                <a:latin typeface="Montserrat"/>
              </a:rPr>
              <a:t>Happy World Teachers' Day</a:t>
            </a:r>
          </a:p>
        </p:txBody>
      </p:sp>
      <p:pic>
        <p:nvPicPr>
          <p:cNvPr id="7" name="Picture 6" descr="foundation-logo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5715000"/>
            <a:ext cx="3048000" cy="2740328"/>
          </a:xfrm>
          <a:prstGeom prst="rect">
            <a:avLst/>
          </a:prstGeom>
        </p:spPr>
      </p:pic>
      <p:pic>
        <p:nvPicPr>
          <p:cNvPr id="8" name="Picture 7" descr="microscope-paper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9334500"/>
            <a:ext cx="2476500" cy="2476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11430000"/>
            <a:ext cx="10287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>
                <a:solidFill>
                  <a:srgbClr val="F3F1EA"/>
                </a:solidFill>
                <a:latin typeface="Montserrat"/>
              </a:rPr>
              <a:t>soilfoodweb.com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125349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3F1EA"/>
                </a:solidFill>
                <a:latin typeface="Source Sans 3"/>
              </a:rPr>
              <a:t>Dried flowers: Katsia Jazwinska on Unsplash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