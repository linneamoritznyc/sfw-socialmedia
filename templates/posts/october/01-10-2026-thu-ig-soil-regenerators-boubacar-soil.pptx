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Soil cross-section seamless carousel: background assets/collage/boubacar-soil/ (tools/make_soil_panorama.py, drawn by code, brand colours). His quotes from his email to Allison, 30 Sep 2026.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 Graduation line from Linnea: confirm course and date [VERIFY].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land. NEW COPY from the caption draft. Soil cross-section seamless carousel: background assets/collage/boubacar-soil/ (tools/make_soil_panorama.py, drawn by code, brand colours). His quotes from his email to Allison, 30 Sep 2026. Photos: farm-overview-with-tanks.jpeg, young-tree-with-pineapples.jpg, man-by-water-tanks.jpeg.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question. Soil cross-section seamless carousel: background assets/collage/boubacar-soil/ (tools/make_soil_panorama.py, drawn by code, brand colours). His quotes from his email to Allison, 30 Sep 2026. Photo: vegetable-beds-by-building.jpeg.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Feeding the soil. Soil cross-section seamless carousel: background assets/collage/boubacar-soil/ (tools/make_soil_panorama.py, drawn by code, brand colours). His quotes from his email to Allison, 30 Sep 2026. Photos: boubacar-compost-pile.jpeg; still-biochar-kiln-smoke-73s.png (making-biochar-in-barrel-kiln.mp4 at 1:13).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practice. Soil cross-section seamless carousel: background assets/collage/boubacar-soil/ (tools/make_soil_panorama.py, drawn by code, brand colours). His quotes from his email to Allison, 30 Sep 2026. Photos: carrying-mulch.jpg, still-biochar-charcoal-16s.png, barrel-brew-under-shelter.jpeg.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grows. Soil cross-section seamless carousel: background assets/collage/boubacar-soil/ (tools/make_soil_panorama.py, drawn by code, brand colours). His quotes from his email to Allison, 30 Sep 2026. Photos: planting-seedling-in-agroforest.jpeg, banana-bunch.jpg.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His compost. Soil cross-section seamless carousel: background assets/collage/boubacar-soil/ (tools/make_soil_panorama.py, drawn by code, brand colours). His quotes from his email to Allison, 30 Sep 2026. Photos: buckets-of-tubers.jpg, young-tree-yellow-new-leaves.jpg, man-with-harvested-tubers.jpeg [VERIFY who].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What's changing. Soil cross-section seamless carousel: background assets/collage/boubacar-soil/ (tools/make_soil_panorama.py, drawn by code, brand colours). His quotes from his email to Allison, 30 Sep 2026. Photos: millipede-leaf-litter.jpg, boubacar-hand-compost-worm.jpg.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 returns. Soil cross-section seamless carousel: background assets/collage/boubacar-soil/ (tools/make_soil_panorama.py, drawn by code, brand colours). His quotes from his email to Allison, 30 Sep 2026. Photos: yellow-caterpillar-on-stem.jpg, caterpillar-on-leaf.jpg, still-young-plants-buckets-29s.png.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Passing it on. Soil cross-section seamless carousel: background assets/collage/boubacar-soil/ (tools/make_soil_panorama.py, drawn by code, brand colours). His quotes from his email to Allison, 30 Sep 2026. Photos: group-of-five-farmers.jpeg, two-men-at-shade-house.jpeg [VERIFY who, where, when].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dream and the call to action (YouTube). Soil cross-section seamless carousel: background assets/collage/boubacar-soil/ (tools/make_soil_panorama.py, drawn by code, brand colours). His quotes from his email to Allison, 30 Sep 2026. Photo: young-coffee-plant.jpg.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Relationship Id="rId5" Type="http://schemas.openxmlformats.org/officeDocument/2006/relationships/image" Target="../media/image15.jpg"/><Relationship Id="rId6" Type="http://schemas.openxmlformats.org/officeDocument/2006/relationships/image" Target="../media/image1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Relationship Id="rId5" Type="http://schemas.openxmlformats.org/officeDocument/2006/relationships/image" Target="../media/image2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Relationship Id="rId6" Type="http://schemas.openxmlformats.org/officeDocument/2006/relationships/image" Target="../media/image3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31968551451344316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pic>
        <p:nvPicPr>
          <p:cNvPr id="5" name="Picture 4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857250"/>
            <a:ext cx="2286000" cy="20552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361950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31662F"/>
                </a:solidFill>
                <a:latin typeface="Montserrat"/>
              </a:rPr>
              <a:t>Happy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31662F"/>
                </a:solidFill>
                <a:latin typeface="Montserrat"/>
              </a:rPr>
              <a:t>International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31662F"/>
                </a:solidFill>
                <a:latin typeface="Montserrat"/>
              </a:rPr>
              <a:t>Coffee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8632581"/>
            <a:ext cx="8763000" cy="870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3F1EA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502653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B1BCB1"/>
                </a:solidFill>
                <a:latin typeface="Source Sans 3"/>
              </a:rPr>
              <a:t>Guinea-Conakry</a:t>
            </a:r>
          </a:p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B1BCB1"/>
                </a:solidFill>
                <a:latin typeface="Source Sans 3"/>
              </a:rPr>
              <a:t>Graduated from the Soil Food Web School in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483143709922263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1800" y="685800"/>
            <a:ext cx="2819400" cy="32670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3849455295619671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1146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81800" y="4143375"/>
            <a:ext cx="2819400" cy="32670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29038584489184099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219575"/>
            <a:ext cx="2667000" cy="31146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8686072"/>
            <a:ext cx="8763000" cy="1275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3F1EA"/>
                </a:solidFill>
                <a:latin typeface="Montserrat"/>
              </a:rPr>
              <a:t>When he started, the land was worn 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9961784"/>
            <a:ext cx="8763000" cy="17356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B1BCB1"/>
                </a:solidFill>
                <a:latin typeface="Source Sans 3"/>
              </a:rPr>
              <a:t>The soil at Gnaly Coffee &amp; AgroÉcole Bio, in the Fouta Djallon highlands of Guinea-Conakry, had been degraded and poorly managed for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2108406602447430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0" y="47625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31662F"/>
                </a:solidFill>
                <a:latin typeface="EB Garamond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8632581"/>
            <a:ext cx="8763000" cy="15877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3F1EA"/>
                </a:solidFill>
                <a:latin typeface="Montserrat"/>
              </a:rPr>
              <a:t>So he changed the question: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0220325"/>
            <a:ext cx="8763000" cy="1530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F3F1EA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3515175394511171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1800" y="685800"/>
            <a:ext cx="28194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916018071919858052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572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900036"/>
            <a:ext cx="8763000" cy="7452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3F1EA"/>
                </a:solidFill>
                <a:latin typeface="Montserrat"/>
              </a:rPr>
              <a:t>How he feeds his soil: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645296"/>
            <a:ext cx="8763000" cy="18381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B1BCB1"/>
                </a:solidFill>
                <a:latin typeface="Source Sans 3"/>
              </a:rPr>
              <a:t>living groundcover, mulch from his farm and the forest, and compost with biochar activated with fish hydrolysate and compost tea.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0332611031040520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1800" y="685800"/>
            <a:ext cx="2819400" cy="32670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551005287945169907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1146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81800" y="4143375"/>
            <a:ext cx="2819400" cy="32670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983117811539097431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219575"/>
            <a:ext cx="2667000" cy="31146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8760043"/>
            <a:ext cx="8763000" cy="2863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F3F1EA"/>
                </a:solidFill>
                <a:latin typeface="EB Garamond"/>
              </a:rPr>
              <a:t>“I apply compost regularly around young trees and whenever I add new mulch.”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4389840031226054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1800" y="685800"/>
            <a:ext cx="28194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20608680067019073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572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823514"/>
            <a:ext cx="8763000" cy="9324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1" i="0">
                <a:solidFill>
                  <a:srgbClr val="F3F1EA"/>
                </a:solidFill>
                <a:latin typeface="Montserrat"/>
              </a:rPr>
              <a:t>What he grows together: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755992"/>
            <a:ext cx="8763000" cy="1803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0" i="0">
                <a:solidFill>
                  <a:srgbClr val="B1BCB1"/>
                </a:solidFill>
                <a:latin typeface="Source Sans 3"/>
              </a:rPr>
              <a:t>coffee, cacao, bananas, citrus, and pineapple.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752838020103599199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1800" y="685800"/>
            <a:ext cx="2819400" cy="32670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49066573787695781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1146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81800" y="4143375"/>
            <a:ext cx="2819400" cy="32670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869712595671049035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219575"/>
            <a:ext cx="2667000" cy="31146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8708781"/>
            <a:ext cx="8763000" cy="2965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F3F1EA"/>
                </a:solidFill>
                <a:latin typeface="EB Garamond"/>
              </a:rPr>
              <a:t>“My compost includes plant residues, animal manure when available, biochar activated with fish hydrolysate and compost tea, and local organic materials.”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33346845868292282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1800" y="685800"/>
            <a:ext cx="28194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43727203269576383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572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632581"/>
            <a:ext cx="8763000" cy="870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3F1EA"/>
                </a:solidFill>
                <a:latin typeface="Montserrat"/>
              </a:rPr>
              <a:t>What he's seeing: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9502653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0">
                <a:solidFill>
                  <a:srgbClr val="B1BCB1"/>
                </a:solidFill>
                <a:latin typeface="Source Sans 3"/>
              </a:rPr>
              <a:t>more earthworms, more mushrooms, active decomposition, and better soil structure.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521955599352222786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1800" y="685800"/>
            <a:ext cx="2819400" cy="32670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413605693263314229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31146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81800" y="4143375"/>
            <a:ext cx="2819400" cy="326707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333212423071670063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219575"/>
            <a:ext cx="2667000" cy="31146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62000" y="9067617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F3F1EA"/>
                </a:solidFill>
                <a:latin typeface="EB Garamond"/>
              </a:rPr>
              <a:t>“I can already see signs of healthier soil in the field, including more earthworms, mushrooms, and active decomposition.”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0130448867478354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81800" y="685800"/>
            <a:ext cx="28194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636508983881437439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762000"/>
            <a:ext cx="2667000" cy="6572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9067617"/>
            <a:ext cx="8763000" cy="2248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0" i="1">
                <a:solidFill>
                  <a:srgbClr val="F3F1EA"/>
                </a:solidFill>
                <a:latin typeface="EB Garamond"/>
              </a:rPr>
              <a:t>“Your training changed the way I see agriculture. I now believe that agriculture is biology, not chemical fertilizer.”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soilfoodweb.com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685800"/>
            <a:ext cx="5676900" cy="672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549827676899546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762000"/>
            <a:ext cx="5524500" cy="6572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0" y="476250"/>
            <a:ext cx="2667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0000"/>
              </a:lnSpc>
            </a:pPr>
            <a:r>
              <a:rPr sz="26000" b="0" i="0">
                <a:solidFill>
                  <a:srgbClr val="31662F"/>
                </a:solidFill>
                <a:latin typeface="EB Garamond"/>
              </a:rPr>
              <a:t>“</a:t>
            </a:r>
          </a:p>
        </p:txBody>
      </p:sp>
      <p:pic>
        <p:nvPicPr>
          <p:cNvPr id="6" name="Picture 5" descr="foundation-logo-col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0" y="4857750"/>
            <a:ext cx="2286000" cy="20552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8965092"/>
            <a:ext cx="8763000" cy="2453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0" i="1">
                <a:solidFill>
                  <a:srgbClr val="F3F1EA"/>
                </a:solidFill>
                <a:latin typeface="EB Garamond"/>
              </a:rPr>
              <a:t>“My dream is to restore degraded land in the Fouta Djallon and help my community learn living-soil practices.”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1982450"/>
            <a:ext cx="1028700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>
                <a:solidFill>
                  <a:srgbClr val="F3F1EA"/>
                </a:solidFill>
                <a:latin typeface="Montserrat"/>
              </a:rPr>
              <a:t>Subscribe on YouTube: @boubacartidianediallo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