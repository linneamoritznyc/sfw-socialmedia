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</p:sldIdLst>
  <p:sldSz cx="11430000" cy="5972175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Option D, freestyle field journal. Trifold style: gradient panel, tracked eyebrow, Montserrat headline, EB Garamond serif. EB Garamond is in the repo (assets/font) and in Canva. No stickers. Quote from Boubacar's email to Allison, 30 Sep 2026. Photos: planting-seedling-in-agroforest.jpeg and boubacar-hand-compost-worm.jpg. Call to action: his YouTube channel (his Instagram @tidia.diallo.1 is private). Sources: Impact story sheet, Boubacar Tidiane Diallo: https://docs.google.com/spreadsheets/d/10UHLwzJLBQAsmJqmg4hiCQRjBKXPAx7UnOudU-Vsg5U/edit; Email from Boubacar to Allison, 30 September 2026; Instagram: https://www.instagram.com/tidia.diallo.1/; YouTube: https://www.youtube.com/@boubacartidianediallo; Facebook: https://www.facebook.com/btidja; Photos: sent by Boubacar to Stephanie on WhatsApp, 17 August 2026, and to Allison, September 2026. [TAG @Stephanie] Send Boubacar the final caption and slides to approve before posting, and confirm he studied on a scholarship.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.xml"/><Relationship Id="rId3" Type="http://schemas.openxmlformats.org/officeDocument/2006/relationships/image" Target="../media/image1.jpg"/><Relationship Id="rId4" Type="http://schemas.openxmlformats.org/officeDocument/2006/relationships/image" Target="../media/image2.jpg"/><Relationship Id="rId5" Type="http://schemas.openxmlformats.org/officeDocument/2006/relationships/image" Target="../media/image3.jpg"/><Relationship Id="rId6" Type="http://schemas.openxmlformats.org/officeDocument/2006/relationships/image" Target="../media/image4.png"/><Relationship Id="rId7" Type="http://schemas.openxmlformats.org/officeDocument/2006/relationships/image" Target="../media/image5.pn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1EA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5005862133392725016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0"/>
            <a:ext cx="11430000" cy="5972175"/>
          </a:xfrm>
          <a:prstGeom prst="rect">
            <a:avLst/>
          </a:prstGeom>
        </p:spPr>
      </p:pic>
      <p:sp>
        <p:nvSpPr>
          <p:cNvPr id="3" name="Rectangle 2"/>
          <p:cNvSpPr/>
          <p:nvPr/>
        </p:nvSpPr>
        <p:spPr>
          <a:xfrm>
            <a:off x="7239000" y="0"/>
            <a:ext cx="4191000" cy="5972175"/>
          </a:xfrm>
          <a:prstGeom prst="rect">
            <a:avLst/>
          </a:prstGeom>
          <a:solidFill>
            <a:srgbClr val="22371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" name="Picture 3" descr="7761561938347265586.jp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620000" y="381000"/>
            <a:ext cx="3429000" cy="3143250"/>
          </a:xfrm>
          <a:prstGeom prst="rect">
            <a:avLst/>
          </a:prstGeom>
        </p:spPr>
      </p:pic>
      <p:pic>
        <p:nvPicPr>
          <p:cNvPr id="5" name="Picture 4" descr="573726833258093952.jp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7620000" y="3714750"/>
            <a:ext cx="3429000" cy="1876425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666750" y="609600"/>
            <a:ext cx="5715000" cy="2857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500" b="1" i="0" spc="300">
                <a:solidFill>
                  <a:srgbClr val="156826"/>
                </a:solidFill>
                <a:latin typeface="Montserrat"/>
              </a:rPr>
              <a:t>HAPPY INTERNATIONAL COFFEE DAY</a:t>
            </a:r>
          </a:p>
        </p:txBody>
      </p:sp>
      <p:sp>
        <p:nvSpPr>
          <p:cNvPr id="7" name="Rectangle 6"/>
          <p:cNvSpPr/>
          <p:nvPr/>
        </p:nvSpPr>
        <p:spPr>
          <a:xfrm>
            <a:off x="666750" y="971550"/>
            <a:ext cx="571500" cy="28575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90550" y="1123950"/>
            <a:ext cx="1143000" cy="14287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80000"/>
              </a:lnSpc>
            </a:pPr>
            <a:r>
              <a:rPr sz="14000" b="0" i="0">
                <a:solidFill>
                  <a:srgbClr val="C9A227"/>
                </a:solidFill>
                <a:latin typeface="EB Garamond"/>
              </a:rPr>
              <a:t>“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66750" y="1905000"/>
            <a:ext cx="6096000" cy="1905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4200" b="0" i="1">
                <a:solidFill>
                  <a:srgbClr val="22371F"/>
                </a:solidFill>
                <a:latin typeface="EB Garamond"/>
              </a:rPr>
              <a:t>I now believe that agriculture is biology, not chemical fertilizer.”</a:t>
            </a:r>
          </a:p>
        </p:txBody>
      </p:sp>
      <p:sp>
        <p:nvSpPr>
          <p:cNvPr id="10" name="Rectangle 9"/>
          <p:cNvSpPr/>
          <p:nvPr/>
        </p:nvSpPr>
        <p:spPr>
          <a:xfrm>
            <a:off x="666750" y="4286250"/>
            <a:ext cx="6096000" cy="14287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66750" y="4476750"/>
            <a:ext cx="6096000" cy="381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2600" b="1" i="0">
                <a:solidFill>
                  <a:srgbClr val="22371F"/>
                </a:solidFill>
                <a:latin typeface="Montserrat"/>
              </a:rPr>
              <a:t>Boubacar Tidiane Diallo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66750" y="4838700"/>
            <a:ext cx="6477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800" b="0" i="0">
                <a:solidFill>
                  <a:srgbClr val="4F3433"/>
                </a:solidFill>
                <a:latin typeface="EB Garamond"/>
              </a:rPr>
              <a:t>Gnaly Coffee &amp; AgroÉcole Bio, Fouta Djallon, Guinea-Conakry</a:t>
            </a:r>
          </a:p>
        </p:txBody>
      </p:sp>
      <p:pic>
        <p:nvPicPr>
          <p:cNvPr id="13" name="Picture 12" descr="trim-coffee-cherries-branch-1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 rot="1200000">
            <a:off x="6096000" y="559660"/>
            <a:ext cx="1143000" cy="1166679"/>
          </a:xfrm>
          <a:prstGeom prst="rect">
            <a:avLst/>
          </a:prstGeom>
        </p:spPr>
      </p:pic>
      <p:pic>
        <p:nvPicPr>
          <p:cNvPr id="14" name="Picture 13" descr="foundation-logo-color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6191250" y="5172075"/>
            <a:ext cx="628650" cy="565192"/>
          </a:xfrm>
          <a:prstGeom prst="rect">
            <a:avLst/>
          </a:prstGeom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