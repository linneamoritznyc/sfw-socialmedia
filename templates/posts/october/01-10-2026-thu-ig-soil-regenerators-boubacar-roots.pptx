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Root-network style (as the LinkedIn option E card). Fonts: Roboto and Times New Roman. Same words as the scrapbook version.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 Photo: boubacar-portrait-bananas-closer.jpg.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Gnaly. Root-network style (as the LinkedIn option E card). Fonts: Roboto and Times New Roman. Same words as the scrapbook version. Photos: farm-overview-with-tanks.jpeg, young-tree-with-pineapples.jpg, man-by-water-tanks.jpeg.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Quote. Root-network style (as the LinkedIn option E card). Fonts: Roboto and Times New Roman. Same words as the scrapbook version. Photo: vegetable-beds-by-building.jpeg.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Method. Root-network style (as the LinkedIn option E card). Fonts: Roboto and Times New Roman. Same words as the scrapbook version. Photos: boubacar-compost-pile.jpeg; still-biochar-kiln-smoke-73s.png (making-biochar-in-barrel-kiln.mp4 at 1:13).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His words (email to Allison, 30 Sep 2026). Root-network style (as the LinkedIn option E card). Fonts: Roboto and Times New Roman. Same words as the scrapbook version. Photos: carrying-mulch.jpg, still-biochar-charcoal-16s.png, barrel-brew-under-shelter.jpeg.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Crops. Root-network style (as the LinkedIn option E card). Fonts: Roboto and Times New Roman. Same words as the scrapbook version. Photos: planting-seedling-in-agroforest.jpeg, banana-bunch.jpg.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His words (email to Allison, 30 Sep 2026). Root-network style (as the LinkedIn option E card). Fonts: Roboto and Times New Roman. Same words as the scrapbook version. Photos: buckets-of-tubers.jpg, young-tree-yellow-new-leaves.jpg, man-with-harvested-tubers.jpeg [VERIFY who].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Results. Root-network style (as the LinkedIn option E card). Fonts: Roboto and Times New Roman. Same words as the scrapbook version. Photos: millipede-leaf-litter.jpg, boubacar-hand-compost-worm.jpg.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His words (email to Allison, 30 Sep 2026). Root-network style (as the LinkedIn option E card). Fonts: Roboto and Times New Roman. Same words as the scrapbook version. Photos: yellow-caterpillar-on-stem.jpg, caterpillar-on-leaf.jpg, still-young-plants-buckets-29s.png.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His words (email to Allison, 30 Sep 2026). Root-network style (as the LinkedIn option E card). Fonts: Roboto and Times New Roman. Same words as the scrapbook version. Photos: group-of-five-farmers.jpeg, two-men-at-shade-house.jpeg, shade-house.jpg [VERIFY who, where, when].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quote and call to action (YouTube). Root-network style (as the LinkedIn option E card). Fonts: Roboto and Times New Roman. Same words as the scrapbook version. Photo: young-coffee-plant.jpg.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1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11.jpg"/><Relationship Id="rId5" Type="http://schemas.openxmlformats.org/officeDocument/2006/relationships/image" Target="../media/image1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image" Target="../media/image16.jpg"/><Relationship Id="rId5" Type="http://schemas.openxmlformats.org/officeDocument/2006/relationships/image" Target="../media/image1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1.jpg"/><Relationship Id="rId5" Type="http://schemas.openxmlformats.org/officeDocument/2006/relationships/image" Target="../media/image2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23.jpg"/><Relationship Id="rId5" Type="http://schemas.openxmlformats.org/officeDocument/2006/relationships/image" Target="../media/image24.jpg"/><Relationship Id="rId6" Type="http://schemas.openxmlformats.org/officeDocument/2006/relationships/image" Target="../media/image2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6.jpg"/><Relationship Id="rId5" Type="http://schemas.openxmlformats.org/officeDocument/2006/relationships/image" Target="../media/image27.jpg"/><Relationship Id="rId6" Type="http://schemas.openxmlformats.org/officeDocument/2006/relationships/image" Target="../media/image2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9.jpg"/><Relationship Id="rId5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A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D9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old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4" name="Picture 3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476250"/>
            <a:ext cx="1619250" cy="1455799"/>
          </a:xfrm>
          <a:prstGeom prst="rect">
            <a:avLst/>
          </a:prstGeom>
        </p:spPr>
      </p:pic>
      <p:sp>
        <p:nvSpPr>
          <p:cNvPr id="5" name="Round Same Side Corner Rectangle 4"/>
          <p:cNvSpPr/>
          <p:nvPr/>
        </p:nvSpPr>
        <p:spPr>
          <a:xfrm>
            <a:off x="3886200" y="552450"/>
            <a:ext cx="5562600" cy="78486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64683400817014458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0500" y="666750"/>
            <a:ext cx="5334000" cy="7620000"/>
          </a:xfrm>
          <a:prstGeom prst="round2SameRect">
            <a:avLst>
              <a:gd name="adj1" fmla="val 50000"/>
            </a:avLst>
          </a:prstGeom>
        </p:spPr>
      </p:pic>
      <p:sp>
        <p:nvSpPr>
          <p:cNvPr id="7" name="Rectangle 6"/>
          <p:cNvSpPr/>
          <p:nvPr/>
        </p:nvSpPr>
        <p:spPr>
          <a:xfrm>
            <a:off x="762000" y="8858250"/>
            <a:ext cx="2857500" cy="57150"/>
          </a:xfrm>
          <a:prstGeom prst="rect">
            <a:avLst/>
          </a:prstGeom>
          <a:solidFill>
            <a:srgbClr val="1E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9010650"/>
            <a:ext cx="857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1E1412"/>
                </a:solidFill>
                <a:latin typeface="Roboto"/>
              </a:rPr>
              <a:t>Happy International Coffee 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9572625"/>
            <a:ext cx="8953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6000" b="0" i="0">
                <a:solidFill>
                  <a:srgbClr val="1E1412"/>
                </a:solidFill>
                <a:latin typeface="Roboto"/>
              </a:rPr>
              <a:t>Boubacar Tidiane Diallo,</a:t>
            </a:r>
          </a:p>
          <a:p>
            <a:pPr algn="l">
              <a:lnSpc>
                <a:spcPct val="98000"/>
              </a:lnSpc>
            </a:pPr>
            <a:r>
              <a:rPr sz="6000" b="0" i="0">
                <a:solidFill>
                  <a:srgbClr val="1E1412"/>
                </a:solidFill>
                <a:latin typeface="Roboto"/>
              </a:rPr>
              <a:t>Guinea-Conakry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6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reen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ound Same Side Corner Rectangle 3"/>
          <p:cNvSpPr/>
          <p:nvPr/>
        </p:nvSpPr>
        <p:spPr>
          <a:xfrm>
            <a:off x="647700" y="742950"/>
            <a:ext cx="4610100" cy="6896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98971832737202662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857250"/>
            <a:ext cx="4381500" cy="6667500"/>
          </a:xfrm>
          <a:prstGeom prst="round2SameRect">
            <a:avLst>
              <a:gd name="adj1" fmla="val 50000"/>
            </a:avLst>
          </a:prstGeom>
        </p:spPr>
      </p:pic>
      <p:sp>
        <p:nvSpPr>
          <p:cNvPr id="6" name="Rectangle 5"/>
          <p:cNvSpPr/>
          <p:nvPr/>
        </p:nvSpPr>
        <p:spPr>
          <a:xfrm>
            <a:off x="5715000" y="952500"/>
            <a:ext cx="3905250" cy="3048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775991923589446106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250" y="1047750"/>
            <a:ext cx="3714750" cy="28575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715000" y="4381500"/>
            <a:ext cx="3905250" cy="323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4092489973489903299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0250" y="4476750"/>
            <a:ext cx="3714750" cy="3048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8382000"/>
            <a:ext cx="10287000" cy="2198296"/>
          </a:xfrm>
          <a:prstGeom prst="rect">
            <a:avLst/>
          </a:prstGeom>
          <a:solidFill>
            <a:srgbClr val="E4E6C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250" y="8715375"/>
            <a:ext cx="8572500" cy="882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 i="0">
                <a:solidFill>
                  <a:srgbClr val="22371F"/>
                </a:solidFill>
                <a:latin typeface="Roboto"/>
              </a:rPr>
              <a:t>Gnaly Coffee &amp; AgroÉcole Bio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" y="9597599"/>
            <a:ext cx="8572500" cy="744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22371F"/>
                </a:solidFill>
                <a:latin typeface="Times New Roman"/>
              </a:rPr>
              <a:t>Fouta Djallon, Guinea-Conakry</a:t>
            </a:r>
          </a:p>
        </p:txBody>
      </p:sp>
      <p:pic>
        <p:nvPicPr>
          <p:cNvPr id="13" name="Picture 12" descr="foundation-logo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7250" y="11268075"/>
            <a:ext cx="1238250" cy="111325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36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brown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6750" y="381000"/>
            <a:ext cx="1905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15000" b="0" i="0">
                <a:solidFill>
                  <a:srgbClr val="E8CDB8"/>
                </a:solidFill>
                <a:latin typeface="Times New Roman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1809750"/>
            <a:ext cx="8572500" cy="28102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400" b="0" i="0">
                <a:solidFill>
                  <a:srgbClr val="F4F1EA"/>
                </a:solidFill>
                <a:latin typeface="Times New Roman"/>
              </a:rPr>
              <a:t>“Today, I ask a different question: What does the soil food web need to thrive?”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2743200" y="5153399"/>
            <a:ext cx="4800600" cy="6962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510794274198122674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0" y="5267699"/>
            <a:ext cx="4572000" cy="6733800"/>
          </a:xfrm>
          <a:prstGeom prst="round2SameRect">
            <a:avLst>
              <a:gd name="adj1" fmla="val 50000"/>
            </a:avLst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A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D9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old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ound Same Side Corner Rectangle 3"/>
          <p:cNvSpPr/>
          <p:nvPr/>
        </p:nvSpPr>
        <p:spPr>
          <a:xfrm>
            <a:off x="647700" y="647700"/>
            <a:ext cx="5562600" cy="6896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682710206297359907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334000" cy="6667500"/>
          </a:xfrm>
          <a:prstGeom prst="round2SameRect">
            <a:avLst>
              <a:gd name="adj1" fmla="val 50000"/>
            </a:avLst>
          </a:prstGeom>
        </p:spPr>
      </p:pic>
      <p:sp>
        <p:nvSpPr>
          <p:cNvPr id="6" name="Rectangle 5"/>
          <p:cNvSpPr/>
          <p:nvPr/>
        </p:nvSpPr>
        <p:spPr>
          <a:xfrm>
            <a:off x="6572250" y="2762250"/>
            <a:ext cx="3048000" cy="4381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584067836863341373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500" y="2857500"/>
            <a:ext cx="2857500" cy="4191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8096250"/>
            <a:ext cx="10287000" cy="3055639"/>
          </a:xfrm>
          <a:prstGeom prst="rect">
            <a:avLst/>
          </a:prstGeom>
          <a:solidFill>
            <a:srgbClr val="F6E3C2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8429625"/>
            <a:ext cx="8572500" cy="8510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1E1412"/>
                </a:solidFill>
                <a:latin typeface="Roboto"/>
              </a:rPr>
              <a:t>How he feeds his soil: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9280646"/>
            <a:ext cx="8572500" cy="16331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E1412"/>
                </a:solidFill>
                <a:latin typeface="Times New Roman"/>
              </a:rPr>
              <a:t>living groundcover, mulch from his farm and the forest, and compost with biochar activated with fish hydrolysate and compost tea.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6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reen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ound Same Side Corner Rectangle 3"/>
          <p:cNvSpPr/>
          <p:nvPr/>
        </p:nvSpPr>
        <p:spPr>
          <a:xfrm>
            <a:off x="647700" y="647700"/>
            <a:ext cx="4419600" cy="74676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01893848862302490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4191000" cy="7239000"/>
          </a:xfrm>
          <a:prstGeom prst="round2SameRect">
            <a:avLst>
              <a:gd name="adj1" fmla="val 50000"/>
            </a:avLst>
          </a:prstGeom>
        </p:spPr>
      </p:pic>
      <p:sp>
        <p:nvSpPr>
          <p:cNvPr id="6" name="Rectangle 5"/>
          <p:cNvSpPr/>
          <p:nvPr/>
        </p:nvSpPr>
        <p:spPr>
          <a:xfrm>
            <a:off x="5524500" y="857250"/>
            <a:ext cx="4095750" cy="333375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94850651989803636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9750" y="952500"/>
            <a:ext cx="3905250" cy="314325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524500" y="4572000"/>
            <a:ext cx="4095750" cy="352425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35615953684732861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19750" y="4667250"/>
            <a:ext cx="3905250" cy="333375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8858250"/>
            <a:ext cx="10287000" cy="2717240"/>
          </a:xfrm>
          <a:prstGeom prst="rect">
            <a:avLst/>
          </a:prstGeom>
          <a:solidFill>
            <a:srgbClr val="E4E6C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250" y="9191625"/>
            <a:ext cx="8572500" cy="214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22371F"/>
                </a:solidFill>
                <a:latin typeface="Times New Roman"/>
              </a:rPr>
              <a:t>“I apply compost regularly around young trees and whenever I add new mulch.”</a:t>
            </a:r>
          </a:p>
        </p:txBody>
      </p:sp>
      <p:pic>
        <p:nvPicPr>
          <p:cNvPr id="12" name="Picture 11" descr="foundation-logo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7250" y="11268075"/>
            <a:ext cx="1238250" cy="111325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36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brown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ound Same Side Corner Rectangle 3"/>
          <p:cNvSpPr/>
          <p:nvPr/>
        </p:nvSpPr>
        <p:spPr>
          <a:xfrm>
            <a:off x="647700" y="647700"/>
            <a:ext cx="5562600" cy="7277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87075000945607682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334000" cy="7048500"/>
          </a:xfrm>
          <a:prstGeom prst="round2SameRect">
            <a:avLst>
              <a:gd name="adj1" fmla="val 50000"/>
            </a:avLst>
          </a:prstGeom>
        </p:spPr>
      </p:pic>
      <p:sp>
        <p:nvSpPr>
          <p:cNvPr id="6" name="Rectangle 5"/>
          <p:cNvSpPr/>
          <p:nvPr/>
        </p:nvSpPr>
        <p:spPr>
          <a:xfrm>
            <a:off x="6572250" y="2952750"/>
            <a:ext cx="3048000" cy="4381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773873164358645921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500" y="3048000"/>
            <a:ext cx="2857500" cy="4191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8572500"/>
            <a:ext cx="10287000" cy="2816415"/>
          </a:xfrm>
          <a:prstGeom prst="rect">
            <a:avLst/>
          </a:prstGeom>
          <a:solidFill>
            <a:srgbClr val="F1E4D6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8905875"/>
            <a:ext cx="8572500" cy="8510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3A2524"/>
                </a:solidFill>
                <a:latin typeface="Roboto"/>
              </a:rPr>
              <a:t>What he grows together: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9756896"/>
            <a:ext cx="8572500" cy="1393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3A2524"/>
                </a:solidFill>
                <a:latin typeface="Times New Roman"/>
              </a:rPr>
              <a:t>coffee, cacao, bananas, citrus, and pineapple.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A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D9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old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ound Same Side Corner Rectangle 3"/>
          <p:cNvSpPr/>
          <p:nvPr/>
        </p:nvSpPr>
        <p:spPr>
          <a:xfrm>
            <a:off x="647700" y="647700"/>
            <a:ext cx="5181600" cy="67056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434293524634992002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4953000" cy="6477000"/>
          </a:xfrm>
          <a:prstGeom prst="round2SameRect">
            <a:avLst>
              <a:gd name="adj1" fmla="val 50000"/>
            </a:avLst>
          </a:prstGeom>
        </p:spPr>
      </p:pic>
      <p:sp>
        <p:nvSpPr>
          <p:cNvPr id="6" name="Rectangle 5"/>
          <p:cNvSpPr/>
          <p:nvPr/>
        </p:nvSpPr>
        <p:spPr>
          <a:xfrm>
            <a:off x="6191250" y="857250"/>
            <a:ext cx="3429000" cy="30480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35515154650393105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500" y="952500"/>
            <a:ext cx="3238500" cy="28575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91250" y="4286250"/>
            <a:ext cx="3429000" cy="30480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44170656834676095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0" y="4381500"/>
            <a:ext cx="3238500" cy="28575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8096250"/>
            <a:ext cx="10287000" cy="3127338"/>
          </a:xfrm>
          <a:prstGeom prst="rect">
            <a:avLst/>
          </a:prstGeom>
          <a:solidFill>
            <a:srgbClr val="F6E3C2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250" y="8429625"/>
            <a:ext cx="8572500" cy="2555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1E1412"/>
                </a:solidFill>
                <a:latin typeface="Times New Roman"/>
              </a:rPr>
              <a:t>“My compost includes plant residues, animal manure when available, biochar activated with fish hydrolysate and compost tea, and local organic materials.”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6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reen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ound Same Side Corner Rectangle 3"/>
          <p:cNvSpPr/>
          <p:nvPr/>
        </p:nvSpPr>
        <p:spPr>
          <a:xfrm>
            <a:off x="647700" y="647700"/>
            <a:ext cx="5562600" cy="7277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409986021846201566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334000" cy="7048500"/>
          </a:xfrm>
          <a:prstGeom prst="round2SameRect">
            <a:avLst>
              <a:gd name="adj1" fmla="val 50000"/>
            </a:avLst>
          </a:prstGeom>
        </p:spPr>
      </p:pic>
      <p:sp>
        <p:nvSpPr>
          <p:cNvPr id="6" name="Rectangle 5"/>
          <p:cNvSpPr/>
          <p:nvPr/>
        </p:nvSpPr>
        <p:spPr>
          <a:xfrm>
            <a:off x="6572250" y="2952750"/>
            <a:ext cx="3048000" cy="4381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272457500724983634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500" y="3048000"/>
            <a:ext cx="2857500" cy="4191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8477250"/>
            <a:ext cx="10287000" cy="2748066"/>
          </a:xfrm>
          <a:prstGeom prst="rect">
            <a:avLst/>
          </a:prstGeom>
          <a:solidFill>
            <a:srgbClr val="E4E6C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8810625"/>
            <a:ext cx="8572500" cy="8510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22371F"/>
                </a:solidFill>
                <a:latin typeface="Roboto"/>
              </a:rPr>
              <a:t>What he's seeing: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9661646"/>
            <a:ext cx="8572500" cy="13255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22371F"/>
                </a:solidFill>
                <a:latin typeface="Times New Roman"/>
              </a:rPr>
              <a:t>more earthworms, more mushrooms, active decomposition, and better soil structure.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36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brown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ound Same Side Corner Rectangle 3"/>
          <p:cNvSpPr/>
          <p:nvPr/>
        </p:nvSpPr>
        <p:spPr>
          <a:xfrm>
            <a:off x="647700" y="647700"/>
            <a:ext cx="4610100" cy="7277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695732241797387107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4381500" cy="7048500"/>
          </a:xfrm>
          <a:prstGeom prst="round2SameRect">
            <a:avLst>
              <a:gd name="adj1" fmla="val 50000"/>
            </a:avLst>
          </a:prstGeom>
        </p:spPr>
      </p:pic>
      <p:sp>
        <p:nvSpPr>
          <p:cNvPr id="6" name="Rectangle 5"/>
          <p:cNvSpPr/>
          <p:nvPr/>
        </p:nvSpPr>
        <p:spPr>
          <a:xfrm>
            <a:off x="5619750" y="857250"/>
            <a:ext cx="4000500" cy="323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486646836352181067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0" y="952500"/>
            <a:ext cx="3810000" cy="304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19750" y="4476750"/>
            <a:ext cx="4000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6005997090317946899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0" y="4572000"/>
            <a:ext cx="3810000" cy="32385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8572500"/>
            <a:ext cx="10287000" cy="2614716"/>
          </a:xfrm>
          <a:prstGeom prst="rect">
            <a:avLst/>
          </a:prstGeom>
          <a:solidFill>
            <a:srgbClr val="F1E4D6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250" y="8905875"/>
            <a:ext cx="8572500" cy="2043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3A2524"/>
                </a:solidFill>
                <a:latin typeface="Times New Roman"/>
              </a:rPr>
              <a:t>“I can already see signs of healthier soil in the field, including more earthworms, mushrooms, and active decomposition.”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A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D9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old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66750" y="666750"/>
            <a:ext cx="8953500" cy="4762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237057937645790796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8763000" cy="4572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66750" y="5810250"/>
            <a:ext cx="4381500" cy="30480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240402915738171838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905500"/>
            <a:ext cx="4191000" cy="28575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238750" y="5810250"/>
            <a:ext cx="4381500" cy="30480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39549004977074295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0" y="5905500"/>
            <a:ext cx="4191000" cy="28575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9429750"/>
            <a:ext cx="10287000" cy="2614716"/>
          </a:xfrm>
          <a:prstGeom prst="rect">
            <a:avLst/>
          </a:prstGeom>
          <a:solidFill>
            <a:srgbClr val="F6E3C2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250" y="9763125"/>
            <a:ext cx="8572500" cy="2043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1E1412"/>
                </a:solidFill>
                <a:latin typeface="Times New Roman"/>
              </a:rPr>
              <a:t>“Your training changed the way I see agriculture. I now believe that agriculture is biology, not chemical fertilizer.”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6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reen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6750" y="190500"/>
            <a:ext cx="1905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15000" b="0" i="0">
                <a:solidFill>
                  <a:srgbClr val="DBE6A7"/>
                </a:solidFill>
                <a:latin typeface="Times New Roman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1619250"/>
            <a:ext cx="8572500" cy="31763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0" i="0">
                <a:solidFill>
                  <a:srgbClr val="F4F1EA"/>
                </a:solidFill>
                <a:latin typeface="Times New Roman"/>
              </a:rPr>
              <a:t>“My dream is to restore degraded land in the Fouta Djallon and help my community learn living-soil practices.”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3028950" y="5233766"/>
            <a:ext cx="4229100" cy="5739033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34807435105192733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3250" y="5348066"/>
            <a:ext cx="4000500" cy="5510433"/>
          </a:xfrm>
          <a:prstGeom prst="round2SameRect">
            <a:avLst>
              <a:gd name="adj1" fmla="val 50000"/>
            </a:avLst>
          </a:prstGeom>
        </p:spPr>
      </p:pic>
      <p:sp>
        <p:nvSpPr>
          <p:cNvPr id="8" name="Rectangle 7"/>
          <p:cNvSpPr/>
          <p:nvPr/>
        </p:nvSpPr>
        <p:spPr>
          <a:xfrm>
            <a:off x="0" y="11191875"/>
            <a:ext cx="10287000" cy="857250"/>
          </a:xfrm>
          <a:prstGeom prst="rect">
            <a:avLst/>
          </a:prstGeom>
          <a:solidFill>
            <a:srgbClr val="E4E6C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11191875"/>
            <a:ext cx="1028700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 i="0">
                <a:solidFill>
                  <a:srgbClr val="22371F"/>
                </a:solidFill>
                <a:latin typeface="Roboto"/>
              </a:rPr>
              <a:t>Subscribe on YouTube: @boubacartidianediallo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7750" y="381000"/>
            <a:ext cx="1047750" cy="94198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