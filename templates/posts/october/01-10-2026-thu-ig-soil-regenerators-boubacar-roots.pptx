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Root-network style (as the LinkedIn option E card). Fonts: Montserrat and EB Garamond (brand). Same words as the scrapbook version. Call to action: his YouTube channel (his Instagram @tidia.diallo.1 is private). Sources: Impact story sheet, Boubacar Tidiane Diallo: https://docs.google.com/spreadsheets/d/10UHLwzJLBQAsmJqmg4hiCQRjBKXPAx7UnOudU-Vsg5U/edit; Email from Boubacar to Allison, 30 September 2026; Instagram: https://www.instagram.com/tidia.diallo.1/; YouTube: https://www.youtube.com/@boubacartidianediallo; Facebook: https://www.facebook.com/btidja; Photos: sent by Boubacar to Stephanie on WhatsApp, 17 August 2026, and to Allison, September 2026. [TAG @Stephanie] Send Boubacar the final caption and slides to approve before posting, and confirm he studied on a scholarship. Photo: boubacar-portrait-bananas-closer.jpg.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Gnaly. Root-network style (as the LinkedIn option E card). Fonts: Montserrat and EB Garamond (brand). Same words as the scrapbook version. Photos: farm-overview-with-tanks.jpeg, young-tree-with-pineapples.jpg, man-by-water-tanks.jpeg.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Quote. Root-network style (as the LinkedIn option E card). Fonts: Montserrat and EB Garamond (brand). Same words as the scrapbook version. Photo: vegetable-beds-by-building.jpeg.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Method. Root-network style (as the LinkedIn option E card). Fonts: Montserrat and EB Garamond (brand). Same words as the scrapbook version. Photos: boubacar-compost-pile.jpeg; still-biochar-kiln-smoke-73s.png (making-biochar-in-barrel-kiln.mp4 at 1:13).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 words (email to Allison, 30 Sep 2026). Root-network style (as the LinkedIn option E card). Fonts: Montserrat and EB Garamond (brand). Same words as the scrapbook version. Photos: carrying-mulch.jpg, still-biochar-charcoal-16s.png, barrel-brew-under-shelter.jpeg.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Crops. Root-network style (as the LinkedIn option E card). Fonts: Montserrat and EB Garamond (brand). Same words as the scrapbook version. Photos: planting-seedling-in-agroforest.jpeg, banana-bunch.jpg.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 words (email to Allison, 30 Sep 2026). Root-network style (as the LinkedIn option E card). Fonts: Montserrat and EB Garamond (brand). Same words as the scrapbook version. Photos: buckets-of-tubers.jpg, young-tree-yellow-new-leaves.jpg, man-with-harvested-tubers.jpeg [VERIFY who].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Results. Root-network style (as the LinkedIn option E card). Fonts: Montserrat and EB Garamond (brand). Same words as the scrapbook version. Photos: millipede-leaf-litter.jpg, boubacar-hand-compost-worm.jpg.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 words (email to Allison, 30 Sep 2026). Root-network style (as the LinkedIn option E card). Fonts: Montserrat and EB Garamond (brand). Same words as the scrapbook version. Photos: yellow-caterpillar-on-stem.jpg, caterpillar-on-leaf.jpg, still-young-plants-buckets-29s.png.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 words (email to Allison, 30 Sep 2026). Root-network style (as the LinkedIn option E card). Fonts: Montserrat and EB Garamond (brand). Same words as the scrapbook version. Photos: group-of-five-farmers.jpeg, two-men-at-shade-house.jpeg, shade-house.jpg [VERIFY who, where, when].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quote and call to action (YouTube). Root-network style (as the LinkedIn option E card). Fonts: Montserrat and EB Garamond (brand). Same words as the scrapbook version. Photo: young-coffee-plant.jpg.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jpg"/><Relationship Id="rId5" Type="http://schemas.openxmlformats.org/officeDocument/2006/relationships/image" Target="../media/image1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0.jpg"/><Relationship Id="rId5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5.jpg"/><Relationship Id="rId5" Type="http://schemas.openxmlformats.org/officeDocument/2006/relationships/image" Target="../media/image26.jpg"/><Relationship Id="rId6" Type="http://schemas.openxmlformats.org/officeDocument/2006/relationships/image" Target="../media/image2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8.jpg"/><Relationship Id="rId5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A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D9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-network-gold-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4" name="Picture 3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76250"/>
            <a:ext cx="1619250" cy="14557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05250" y="571500"/>
            <a:ext cx="5524500" cy="7810500"/>
          </a:xfrm>
          <a:prstGeom prst="rect">
            <a:avLst/>
          </a:prstGeom>
          <a:solidFill>
            <a:srgbClr val="F6E3C2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722608085131886037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0" y="666750"/>
            <a:ext cx="5334000" cy="762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2000" y="8858250"/>
            <a:ext cx="2857500" cy="57150"/>
          </a:xfrm>
          <a:prstGeom prst="rect">
            <a:avLst/>
          </a:prstGeom>
          <a:solidFill>
            <a:srgbClr val="1E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9010650"/>
            <a:ext cx="8572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1E1412"/>
                </a:solidFill>
                <a:latin typeface="Montserrat"/>
              </a:rPr>
              <a:t>Happy International Coffee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9572625"/>
            <a:ext cx="89535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5200" b="0" i="0">
                <a:solidFill>
                  <a:srgbClr val="1E1412"/>
                </a:solidFill>
                <a:latin typeface="Montserrat"/>
              </a:rPr>
              <a:t>Boubacar Tidiane Diallo,</a:t>
            </a:r>
          </a:p>
          <a:p>
            <a:pPr algn="l">
              <a:lnSpc>
                <a:spcPct val="98000"/>
              </a:lnSpc>
            </a:pPr>
            <a:r>
              <a:rPr sz="5200" b="0" i="0">
                <a:solidFill>
                  <a:srgbClr val="1E1412"/>
                </a:solidFill>
                <a:latin typeface="Montserrat"/>
              </a:rPr>
              <a:t>Guinea-Conakry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-network-green-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6750" y="762000"/>
            <a:ext cx="4572000" cy="68580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09894396753680246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857250"/>
            <a:ext cx="4381500" cy="6667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0" y="952500"/>
            <a:ext cx="3905250" cy="30480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29772381373332343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0" y="1047750"/>
            <a:ext cx="3714750" cy="2857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15000" y="4381500"/>
            <a:ext cx="3905250" cy="32385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79165958650722583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0" y="4476750"/>
            <a:ext cx="3714750" cy="304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8382000"/>
            <a:ext cx="10287000" cy="3140333"/>
          </a:xfrm>
          <a:prstGeom prst="rect">
            <a:avLst/>
          </a:prstGeom>
          <a:solidFill>
            <a:srgbClr val="E4E6C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50" y="8715375"/>
            <a:ext cx="8572500" cy="1755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22371F"/>
                </a:solidFill>
                <a:latin typeface="Montserrat"/>
              </a:rPr>
              <a:t>Gnaly Coffee &amp; AgroÉcole Bio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10471287"/>
            <a:ext cx="8572500" cy="812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22371F"/>
                </a:solidFill>
                <a:latin typeface="EB Garamond"/>
              </a:rPr>
              <a:t>Fouta Djallon, Guinea-Conakry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230630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F4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3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-network-brown-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6750" y="381000"/>
            <a:ext cx="1905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5000" b="0" i="0">
                <a:solidFill>
                  <a:srgbClr val="E8CDB8"/>
                </a:solidFill>
                <a:latin typeface="EB Garamond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809750"/>
            <a:ext cx="8572500" cy="3109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000" b="0" i="0">
                <a:solidFill>
                  <a:srgbClr val="F4F1EA"/>
                </a:solidFill>
                <a:latin typeface="EB Garamond"/>
              </a:rPr>
              <a:t>“Today, I ask a different question: What does the soil food web need to thrive?”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2762250" y="5471999"/>
            <a:ext cx="4762500" cy="6624750"/>
          </a:xfrm>
          <a:prstGeom prst="rect">
            <a:avLst/>
          </a:prstGeom>
          <a:solidFill>
            <a:srgbClr val="F1E4D6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9436469750545259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5567249"/>
            <a:ext cx="4572000" cy="6434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1230630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F4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A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D9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-network-gold-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6750" y="666750"/>
            <a:ext cx="5524500" cy="6858000"/>
          </a:xfrm>
          <a:prstGeom prst="rect">
            <a:avLst/>
          </a:prstGeom>
          <a:solidFill>
            <a:srgbClr val="F6E3C2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391323902381893637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334000" cy="6667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72250" y="2762250"/>
            <a:ext cx="3048000" cy="4381500"/>
          </a:xfrm>
          <a:prstGeom prst="rect">
            <a:avLst/>
          </a:prstGeom>
          <a:solidFill>
            <a:srgbClr val="F6E3C2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26535785272006615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2857500"/>
            <a:ext cx="2857500" cy="4191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8096250"/>
            <a:ext cx="10287000" cy="4115060"/>
          </a:xfrm>
          <a:prstGeom prst="rect">
            <a:avLst/>
          </a:prstGeom>
          <a:solidFill>
            <a:srgbClr val="F6E3C2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8429625"/>
            <a:ext cx="8572500" cy="851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1E1412"/>
                </a:solidFill>
                <a:latin typeface="Montserrat"/>
              </a:rPr>
              <a:t>How he feeds his soil: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9280646"/>
            <a:ext cx="8572500" cy="26925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0">
                <a:solidFill>
                  <a:srgbClr val="1E1412"/>
                </a:solidFill>
                <a:latin typeface="EB Garamond"/>
              </a:rPr>
              <a:t>living groundcover, mulch from his farm and the forest, and compost with biochar activated with fish hydrolysate and compost tea.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1230630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1E1412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-network-green-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6750" y="666750"/>
            <a:ext cx="4381500" cy="74295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39985161195587727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4191000" cy="7239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524500" y="857250"/>
            <a:ext cx="4095750" cy="333375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67775361381863366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0" y="952500"/>
            <a:ext cx="3905250" cy="31432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524500" y="4572000"/>
            <a:ext cx="4095750" cy="352425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7551442037324676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0" y="4667250"/>
            <a:ext cx="3905250" cy="33337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8858250"/>
            <a:ext cx="10287000" cy="2922289"/>
          </a:xfrm>
          <a:prstGeom prst="rect">
            <a:avLst/>
          </a:prstGeom>
          <a:solidFill>
            <a:srgbClr val="E4E6C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50" y="9191625"/>
            <a:ext cx="8572500" cy="23507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22371F"/>
                </a:solidFill>
                <a:latin typeface="EB Garamond"/>
              </a:rPr>
              <a:t>“I apply compost regularly around young trees and whenever I add new mulch.”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1230630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F4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3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-network-brown-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6750" y="666750"/>
            <a:ext cx="5524500" cy="7239000"/>
          </a:xfrm>
          <a:prstGeom prst="rect">
            <a:avLst/>
          </a:prstGeom>
          <a:solidFill>
            <a:srgbClr val="F1E4D6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825724426156421889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334000" cy="7048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72250" y="2952750"/>
            <a:ext cx="3048000" cy="4381500"/>
          </a:xfrm>
          <a:prstGeom prst="rect">
            <a:avLst/>
          </a:prstGeom>
          <a:solidFill>
            <a:srgbClr val="F1E4D6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10696131231358386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3048000"/>
            <a:ext cx="2857500" cy="4191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8572500"/>
            <a:ext cx="10287000" cy="3015521"/>
          </a:xfrm>
          <a:prstGeom prst="rect">
            <a:avLst/>
          </a:prstGeom>
          <a:solidFill>
            <a:srgbClr val="F1E4D6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8905875"/>
            <a:ext cx="8572500" cy="9134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1" i="0">
                <a:solidFill>
                  <a:srgbClr val="3A2524"/>
                </a:solidFill>
                <a:latin typeface="Montserrat"/>
              </a:rPr>
              <a:t>What he grows together: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9819302"/>
            <a:ext cx="8572500" cy="1530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3A2524"/>
                </a:solidFill>
                <a:latin typeface="EB Garamond"/>
              </a:rPr>
              <a:t>coffee, cacao, bananas, citrus, and pineapple.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1230630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F4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A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D9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-network-gold-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6750" y="666750"/>
            <a:ext cx="5143500" cy="6667500"/>
          </a:xfrm>
          <a:prstGeom prst="rect">
            <a:avLst/>
          </a:prstGeom>
          <a:solidFill>
            <a:srgbClr val="F6E3C2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36357436490085692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4953000" cy="6477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91250" y="857250"/>
            <a:ext cx="3429000" cy="3048000"/>
          </a:xfrm>
          <a:prstGeom prst="rect">
            <a:avLst/>
          </a:prstGeom>
          <a:solidFill>
            <a:srgbClr val="F6E3C2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86233634587967822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952500"/>
            <a:ext cx="3238500" cy="2857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91250" y="4286250"/>
            <a:ext cx="3429000" cy="3048000"/>
          </a:xfrm>
          <a:prstGeom prst="rect">
            <a:avLst/>
          </a:prstGeom>
          <a:solidFill>
            <a:srgbClr val="F6E3C2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46719970765322076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4381500"/>
            <a:ext cx="3238500" cy="28575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8096250"/>
            <a:ext cx="10287000" cy="3400737"/>
          </a:xfrm>
          <a:prstGeom prst="rect">
            <a:avLst/>
          </a:prstGeom>
          <a:solidFill>
            <a:srgbClr val="F6E3C2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50" y="8429625"/>
            <a:ext cx="8572500" cy="28292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1E1412"/>
                </a:solidFill>
                <a:latin typeface="EB Garamond"/>
              </a:rPr>
              <a:t>“My compost includes plant residues, animal manure when available, biochar activated with fish hydrolysate and compost tea, and local organic materials.”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1230630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1E1412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-network-green-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6750" y="666750"/>
            <a:ext cx="5524500" cy="72390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32651449357112098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334000" cy="7048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72250" y="2952750"/>
            <a:ext cx="3048000" cy="4381500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14631029486477554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3048000"/>
            <a:ext cx="2857500" cy="4191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8477250"/>
            <a:ext cx="10287000" cy="3630668"/>
          </a:xfrm>
          <a:prstGeom prst="rect">
            <a:avLst/>
          </a:prstGeom>
          <a:solidFill>
            <a:srgbClr val="E4E6C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8810625"/>
            <a:ext cx="8572500" cy="9134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1" i="0">
                <a:solidFill>
                  <a:srgbClr val="22371F"/>
                </a:solidFill>
                <a:latin typeface="Montserrat"/>
              </a:rPr>
              <a:t>What he's seeing: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9724052"/>
            <a:ext cx="8572500" cy="214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22371F"/>
                </a:solidFill>
                <a:latin typeface="EB Garamond"/>
              </a:rPr>
              <a:t>more earthworms, more mushrooms, active decomposition, and better soil structure.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1230630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F4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3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-network-brown-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6750" y="666750"/>
            <a:ext cx="4572000" cy="7239000"/>
          </a:xfrm>
          <a:prstGeom prst="rect">
            <a:avLst/>
          </a:prstGeom>
          <a:solidFill>
            <a:srgbClr val="F1E4D6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3756287763605197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4381500" cy="7048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19750" y="857250"/>
            <a:ext cx="4000500" cy="3238500"/>
          </a:xfrm>
          <a:prstGeom prst="rect">
            <a:avLst/>
          </a:prstGeom>
          <a:solidFill>
            <a:srgbClr val="F1E4D6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2649344097774353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952500"/>
            <a:ext cx="3810000" cy="304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19750" y="4476750"/>
            <a:ext cx="4000500" cy="3429000"/>
          </a:xfrm>
          <a:prstGeom prst="rect">
            <a:avLst/>
          </a:prstGeom>
          <a:solidFill>
            <a:srgbClr val="F1E4D6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538067294925048757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4572000"/>
            <a:ext cx="3810000" cy="32385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8572500"/>
            <a:ext cx="10287000" cy="2819765"/>
          </a:xfrm>
          <a:prstGeom prst="rect">
            <a:avLst/>
          </a:prstGeom>
          <a:solidFill>
            <a:srgbClr val="F1E4D6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50" y="8905875"/>
            <a:ext cx="8572500" cy="2248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3A2524"/>
                </a:solidFill>
                <a:latin typeface="EB Garamond"/>
              </a:rPr>
              <a:t>“I can already see signs of healthier soil in the field, including more earthworms, mushrooms, and active decomposition.”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1230630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F4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A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D9A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-network-gold-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6750" y="666750"/>
            <a:ext cx="8953500" cy="4762500"/>
          </a:xfrm>
          <a:prstGeom prst="rect">
            <a:avLst/>
          </a:prstGeom>
          <a:solidFill>
            <a:srgbClr val="F6E3C2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732919561578396750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87630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6750" y="5810250"/>
            <a:ext cx="4381500" cy="3048000"/>
          </a:xfrm>
          <a:prstGeom prst="rect">
            <a:avLst/>
          </a:prstGeom>
          <a:solidFill>
            <a:srgbClr val="F6E3C2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51197322854249725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5905500"/>
            <a:ext cx="4191000" cy="2857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238750" y="5810250"/>
            <a:ext cx="4381500" cy="3048000"/>
          </a:xfrm>
          <a:prstGeom prst="rect">
            <a:avLst/>
          </a:prstGeom>
          <a:solidFill>
            <a:srgbClr val="F6E3C2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827323811108231039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5905500"/>
            <a:ext cx="4191000" cy="28575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9429750"/>
            <a:ext cx="10287000" cy="2819765"/>
          </a:xfrm>
          <a:prstGeom prst="rect">
            <a:avLst/>
          </a:prstGeom>
          <a:solidFill>
            <a:srgbClr val="F6E3C2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50" y="9763125"/>
            <a:ext cx="8572500" cy="2248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1E1412"/>
                </a:solidFill>
                <a:latin typeface="EB Garamond"/>
              </a:rPr>
              <a:t>“Your training changed the way I see agriculture. I now believe that agriculture is biology, not chemical fertilizer.”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1230630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i="0">
                <a:solidFill>
                  <a:srgbClr val="1E1412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-network-green-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6750" y="190500"/>
            <a:ext cx="1905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5000" b="0" i="0">
                <a:solidFill>
                  <a:srgbClr val="DBE6A7"/>
                </a:solidFill>
                <a:latin typeface="EB Garamond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619250"/>
            <a:ext cx="8572500" cy="3575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200" b="0" i="0">
                <a:solidFill>
                  <a:srgbClr val="F4F1EA"/>
                </a:solidFill>
                <a:latin typeface="EB Garamond"/>
              </a:rPr>
              <a:t>“My dream is to restore degraded land in the Fouta Djallon and help my community learn living-soil practices.”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0" y="5652216"/>
            <a:ext cx="4191000" cy="5301533"/>
          </a:xfrm>
          <a:prstGeom prst="rect">
            <a:avLst/>
          </a:prstGeom>
          <a:solidFill>
            <a:srgbClr val="E4E6C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60523574024738554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250" y="5747466"/>
            <a:ext cx="4000500" cy="511103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11191875"/>
            <a:ext cx="10287000" cy="857250"/>
          </a:xfrm>
          <a:prstGeom prst="rect">
            <a:avLst/>
          </a:prstGeom>
          <a:solidFill>
            <a:srgbClr val="E4E6C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1191875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22371F"/>
                </a:solidFill>
                <a:latin typeface="Montserrat"/>
              </a:rPr>
              <a:t>Subscribe on YouTube: @boubacartidianediallo</a:t>
            </a:r>
          </a:p>
        </p:txBody>
      </p:sp>
      <p:pic>
        <p:nvPicPr>
          <p:cNvPr id="10" name="Picture 9" descr="foundation-logo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0" y="381000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