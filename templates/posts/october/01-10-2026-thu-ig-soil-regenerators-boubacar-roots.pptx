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Root-network style (as the LinkedIn option E card). Fonts: Roboto and Times New Roman. Same words as the scrapbook version.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Root-network style (as the LinkedIn option E card). Fonts: Roboto and Times New Roman. Same words as the scrapbook version. Photos: farm-overview-with-tanks.jpeg, young-tree-with-pineapples.jpg, man-by-water-tanks.jpeg.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Quote. Root-network style (as the LinkedIn option E card). Fonts: Roboto and Times New Roman. Same words as the scrapbook version. Photo: vegetable-beds-by-building.jpeg.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Method. Root-network style (as the LinkedIn option E card). Fonts: Roboto and Times New Roman. Same words as the scrapbook version.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Crops. Root-network style (as the LinkedIn option E card). Fonts: Roboto and Times New Roman. Same words as the scrapbook version.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Results. Root-network style (as the LinkedIn option E card). Fonts: Roboto and Times New Roman. Same words as the scrapbook version.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group-of-five-farmers.jpeg, two-men-at-shade-house.jpeg, shade-house.jpg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quote and call to action (YouTube). Root-network style (as the LinkedIn option E card). Fonts: Roboto and Times New Roman. Same words as the scrapbook version.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8.jpg"/><Relationship Id="rId5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76250"/>
            <a:ext cx="1619250" cy="14557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905250" y="571500"/>
            <a:ext cx="5524500" cy="7810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197465003597471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0" y="666750"/>
            <a:ext cx="5334000" cy="762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2000" y="8858250"/>
            <a:ext cx="2857500" cy="57150"/>
          </a:xfrm>
          <a:prstGeom prst="rect">
            <a:avLst/>
          </a:prstGeom>
          <a:solidFill>
            <a:srgbClr val="1E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9010650"/>
            <a:ext cx="857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E1412"/>
                </a:solidFill>
                <a:latin typeface="Roboto"/>
              </a:rPr>
              <a:t>Happy International Coffee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9572625"/>
            <a:ext cx="8953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000" b="0" i="0">
                <a:solidFill>
                  <a:srgbClr val="1E1412"/>
                </a:solidFill>
                <a:latin typeface="Roboto"/>
              </a:rPr>
              <a:t>Boubacar Tidiane Diallo,</a:t>
            </a:r>
          </a:p>
          <a:p>
            <a:pPr algn="l">
              <a:lnSpc>
                <a:spcPct val="98000"/>
              </a:lnSpc>
            </a:pPr>
            <a:r>
              <a:rPr sz="6000" b="0" i="0">
                <a:solidFill>
                  <a:srgbClr val="1E1412"/>
                </a:solidFill>
                <a:latin typeface="Roboto"/>
              </a:rPr>
              <a:t>Guinea-Conakry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762000"/>
            <a:ext cx="4572000" cy="6858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9660169968133381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857250"/>
            <a:ext cx="4381500" cy="6667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0" y="952500"/>
            <a:ext cx="3905250" cy="3048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605447666504160107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0" y="1047750"/>
            <a:ext cx="371475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715000" y="4381500"/>
            <a:ext cx="3905250" cy="323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520542719062195392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0" y="4476750"/>
            <a:ext cx="3714750" cy="304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382000"/>
            <a:ext cx="10287000" cy="2198296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715375"/>
            <a:ext cx="8572500" cy="88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22371F"/>
                </a:solidFill>
                <a:latin typeface="Roboto"/>
              </a:rPr>
              <a:t>Gnaly Coffee &amp; AgroÉcole Bio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9597599"/>
            <a:ext cx="8572500" cy="744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Times New Roman"/>
              </a:rPr>
              <a:t>Fouta Djallon, Guinea-Conakry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1240155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Roboto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6750" y="381000"/>
            <a:ext cx="190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5000" b="0" i="0">
                <a:solidFill>
                  <a:srgbClr val="E8CDB8"/>
                </a:solidFill>
                <a:latin typeface="Times New Roman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809750"/>
            <a:ext cx="8572500" cy="2810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i="0">
                <a:solidFill>
                  <a:srgbClr val="F4F1EA"/>
                </a:solidFill>
                <a:latin typeface="Times New Roman"/>
              </a:rPr>
              <a:t>“Today, I ask a different question: What does the soil food web need to thrive?”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2762250" y="5172449"/>
            <a:ext cx="4762500" cy="69243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30666571895200351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5267699"/>
            <a:ext cx="4572000" cy="6733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1240155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Roboto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524500" cy="685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48767812361997867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6667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72250" y="2762250"/>
            <a:ext cx="3048000" cy="4381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99267292850485095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28575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096250"/>
            <a:ext cx="10287000" cy="3055639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429625"/>
            <a:ext cx="85725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E1412"/>
                </a:solidFill>
                <a:latin typeface="Roboto"/>
              </a:rPr>
              <a:t>How he feeds his soil: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280646"/>
            <a:ext cx="8572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E1412"/>
                </a:solidFill>
                <a:latin typeface="Times New Roman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40155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1E1412"/>
                </a:solidFill>
                <a:latin typeface="Roboto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4381500" cy="7429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715967976522985042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191000" cy="7239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24500" y="857250"/>
            <a:ext cx="4095750" cy="333375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42961086750916194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952500"/>
            <a:ext cx="3905250" cy="31432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524500" y="4572000"/>
            <a:ext cx="4095750" cy="352425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70418203040135922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9750" y="4667250"/>
            <a:ext cx="3905250" cy="33337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858250"/>
            <a:ext cx="10287000" cy="2717240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9191625"/>
            <a:ext cx="8572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22371F"/>
                </a:solidFill>
                <a:latin typeface="Times New Roman"/>
              </a:rPr>
              <a:t>“I apply compost regularly around young trees and whenever I add new mulch.”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240155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Roboto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524500" cy="723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5519390586464700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7048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72250" y="2952750"/>
            <a:ext cx="3048000" cy="4381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60297085264304694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30480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572500"/>
            <a:ext cx="10287000" cy="2816415"/>
          </a:xfrm>
          <a:prstGeom prst="rect">
            <a:avLst/>
          </a:prstGeom>
          <a:solidFill>
            <a:srgbClr val="F1E4D6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905875"/>
            <a:ext cx="85725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3A2524"/>
                </a:solidFill>
                <a:latin typeface="Roboto"/>
              </a:rPr>
              <a:t>What he grows together: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756896"/>
            <a:ext cx="8572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3A2524"/>
                </a:solidFill>
                <a:latin typeface="Times New Roman"/>
              </a:rPr>
              <a:t>coffee, cacao, bananas, citrus, and pineapple.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40155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Roboto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143500" cy="6667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50587763389152701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953000" cy="6477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91250" y="857250"/>
            <a:ext cx="34290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31001599070635383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952500"/>
            <a:ext cx="323850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91250" y="4286250"/>
            <a:ext cx="34290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60811354673951244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4381500"/>
            <a:ext cx="3238500" cy="2857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096250"/>
            <a:ext cx="10287000" cy="3127338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429625"/>
            <a:ext cx="8572500" cy="2555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E1412"/>
                </a:solidFill>
                <a:latin typeface="Times New Roman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240155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1E1412"/>
                </a:solidFill>
                <a:latin typeface="Roboto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524500" cy="723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42752215178528703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7048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72250" y="2952750"/>
            <a:ext cx="3048000" cy="4381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725753612420584388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30480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477250"/>
            <a:ext cx="10287000" cy="2748066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810625"/>
            <a:ext cx="85725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22371F"/>
                </a:solidFill>
                <a:latin typeface="Roboto"/>
              </a:rPr>
              <a:t>What he's seeing: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661646"/>
            <a:ext cx="8572500" cy="1325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22371F"/>
                </a:solidFill>
                <a:latin typeface="Times New Roman"/>
              </a:rPr>
              <a:t>more earthworms, more mushrooms, active decomposition, and better soil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40155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Roboto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4572000" cy="723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800944971531859297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381500" cy="7048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19750" y="857250"/>
            <a:ext cx="4000500" cy="323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59259654489945268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952500"/>
            <a:ext cx="3810000" cy="304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19750" y="4476750"/>
            <a:ext cx="4000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386794759007701991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4572000"/>
            <a:ext cx="3810000" cy="3238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572500"/>
            <a:ext cx="10287000" cy="2614716"/>
          </a:xfrm>
          <a:prstGeom prst="rect">
            <a:avLst/>
          </a:prstGeom>
          <a:solidFill>
            <a:srgbClr val="F1E4D6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905875"/>
            <a:ext cx="8572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3A2524"/>
                </a:solidFill>
                <a:latin typeface="Times New Roman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240155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F1EA"/>
                </a:solidFill>
                <a:latin typeface="Roboto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8953500" cy="4762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554442811342325573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876300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6750" y="5810250"/>
            <a:ext cx="43815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7765090284125511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905500"/>
            <a:ext cx="419100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238750" y="5810250"/>
            <a:ext cx="43815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919810896399337293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5905500"/>
            <a:ext cx="4191000" cy="2857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9429750"/>
            <a:ext cx="10287000" cy="2614716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9763125"/>
            <a:ext cx="8572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E1412"/>
                </a:solidFill>
                <a:latin typeface="Times New Roman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2401550"/>
            <a:ext cx="10287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1E1412"/>
                </a:solidFill>
                <a:latin typeface="Roboto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6750" y="190500"/>
            <a:ext cx="190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5000" b="0" i="0">
                <a:solidFill>
                  <a:srgbClr val="DBE6A7"/>
                </a:solidFill>
                <a:latin typeface="Times New Roman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619250"/>
            <a:ext cx="8572500" cy="3176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0" i="0">
                <a:solidFill>
                  <a:srgbClr val="F4F1EA"/>
                </a:solidFill>
                <a:latin typeface="Times New Roman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0" y="5252816"/>
            <a:ext cx="4191000" cy="5700933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4415686244258640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250" y="5348066"/>
            <a:ext cx="4000500" cy="551043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11191875"/>
            <a:ext cx="10287000" cy="857250"/>
          </a:xfrm>
          <a:prstGeom prst="rect">
            <a:avLst/>
          </a:prstGeom>
          <a:solidFill>
            <a:srgbClr val="E4E6C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1191875"/>
            <a:ext cx="10287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Roboto"/>
              </a:rPr>
              <a:t>Subscribe on YouTube: @boubacartidianediallo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0" y="381000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