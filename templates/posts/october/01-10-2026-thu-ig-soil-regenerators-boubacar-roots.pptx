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Root-network style (as the LinkedIn option E card). Fonts: Roboto and Times New Roman. Same words as the scrapbook version.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Root-network style (as the LinkedIn option E card). Fonts: Roboto and Times New Roman. Same words as the scrapbook version. Photos: farm-overview-with-tanks.jpeg, young-tree-with-pineapples.jpg, man-by-water-tanks.jpeg.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Quote. Root-network style (as the LinkedIn option E card). Fonts: Roboto and Times New Roman. Same words as the scrapbook version. Photo: vegetable-beds-by-building.jpeg.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Method. Root-network style (as the LinkedIn option E card). Fonts: Roboto and Times New Roman. Same words as the scrapbook version.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Crops. Root-network style (as the LinkedIn option E card). Fonts: Roboto and Times New Roman. Same words as the scrapbook version.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Results. Root-network style (as the LinkedIn option E card). Fonts: Roboto and Times New Roman. Same words as the scrapbook version.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words (email to Allison, 30 Sep 2026). Root-network style (as the LinkedIn option E card). Fonts: Roboto and Times New Roman. Same words as the scrapbook version. Photos: group-of-five-farmers.jpeg, two-men-at-shade-house.jpeg, shade-house.jpg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quote and call to action (YouTube). Root-network style (as the LinkedIn option E card). Fonts: Roboto and Times New Roman. Same words as the scrapbook version.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9.jpg"/><Relationship Id="rId5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4" name="Picture 3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76250"/>
            <a:ext cx="1619250" cy="14557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905250" y="571500"/>
            <a:ext cx="5524500" cy="7810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8227598111995296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0" y="666750"/>
            <a:ext cx="5334000" cy="762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2000" y="8858250"/>
            <a:ext cx="2857500" cy="57150"/>
          </a:xfrm>
          <a:prstGeom prst="rect">
            <a:avLst/>
          </a:prstGeom>
          <a:solidFill>
            <a:srgbClr val="1E1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9010650"/>
            <a:ext cx="8572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1E1412"/>
                </a:solidFill>
                <a:latin typeface="Roboto"/>
              </a:rPr>
              <a:t>Happy International Coffee 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9572625"/>
            <a:ext cx="8953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6000" b="0" i="0">
                <a:solidFill>
                  <a:srgbClr val="1E1412"/>
                </a:solidFill>
                <a:latin typeface="Roboto"/>
              </a:rPr>
              <a:t>Boubacar Tidiane Diallo,</a:t>
            </a:r>
          </a:p>
          <a:p>
            <a:pPr algn="l">
              <a:lnSpc>
                <a:spcPct val="98000"/>
              </a:lnSpc>
            </a:pPr>
            <a:r>
              <a:rPr sz="6000" b="0" i="0">
                <a:solidFill>
                  <a:srgbClr val="1E1412"/>
                </a:solidFill>
                <a:latin typeface="Roboto"/>
              </a:rPr>
              <a:t>Guinea-Conakry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762000"/>
            <a:ext cx="4572000" cy="685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07818731213274329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857250"/>
            <a:ext cx="4381500" cy="666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15000" y="952500"/>
            <a:ext cx="3905250" cy="3048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37160804590424656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0" y="1047750"/>
            <a:ext cx="371475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715000" y="4381500"/>
            <a:ext cx="3905250" cy="323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76800184664611980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250" y="4476750"/>
            <a:ext cx="3714750" cy="3048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382000"/>
            <a:ext cx="10287000" cy="2198296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715375"/>
            <a:ext cx="8572500" cy="8822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22371F"/>
                </a:solidFill>
                <a:latin typeface="Roboto"/>
              </a:rPr>
              <a:t>Gnaly Coffee &amp; AgroÉcole Bio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50" y="9597599"/>
            <a:ext cx="8572500" cy="744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22371F"/>
                </a:solidFill>
                <a:latin typeface="Times New Roman"/>
              </a:rPr>
              <a:t>Fouta Djallon, Guinea-Conakry</a:t>
            </a:r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68075"/>
            <a:ext cx="1238250" cy="111325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3810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E8CDB8"/>
                </a:solidFill>
                <a:latin typeface="Times New Roman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09750"/>
            <a:ext cx="8572500" cy="2810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400" b="0" i="0">
                <a:solidFill>
                  <a:srgbClr val="F4F1EA"/>
                </a:solidFill>
                <a:latin typeface="Times New Roman"/>
              </a:rPr>
              <a:t>“Today, I ask a different question: What does the soil food web need to thrive?”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2762250" y="5172449"/>
            <a:ext cx="4762500" cy="69243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24174072379241406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5267699"/>
            <a:ext cx="4572000" cy="6733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685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9458653647161582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666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762250"/>
            <a:ext cx="3048000" cy="4381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475147192154923139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28575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096250"/>
            <a:ext cx="10287000" cy="3055639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429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E1412"/>
                </a:solidFill>
                <a:latin typeface="Roboto"/>
              </a:rPr>
              <a:t>How he feeds his soil: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280646"/>
            <a:ext cx="8572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E1412"/>
                </a:solidFill>
                <a:latin typeface="Times New Roman"/>
              </a:rPr>
              <a:t>living groundcover, mulch from his farm and the forest, and compost with biochar activated with fish hydrolysate and compost tea.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4381500" cy="7429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2233126621454786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191000" cy="7239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24500" y="857250"/>
            <a:ext cx="4095750" cy="33337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66798967074256826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952500"/>
            <a:ext cx="3905250" cy="31432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524500" y="4572000"/>
            <a:ext cx="4095750" cy="352425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290932344149161413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0" y="4667250"/>
            <a:ext cx="3905250" cy="33337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858250"/>
            <a:ext cx="10287000" cy="2717240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191625"/>
            <a:ext cx="8572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22371F"/>
                </a:solidFill>
                <a:latin typeface="Times New Roman"/>
              </a:rPr>
              <a:t>“I apply compost regularly around young trees and whenever I add new mulch.”</a:t>
            </a:r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68075"/>
            <a:ext cx="1238250" cy="11132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723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831323430184182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30337623667314974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572500"/>
            <a:ext cx="10287000" cy="2816415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90587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3A2524"/>
                </a:solidFill>
                <a:latin typeface="Roboto"/>
              </a:rPr>
              <a:t>What he grows together: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756896"/>
            <a:ext cx="8572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Times New Roman"/>
              </a:rPr>
              <a:t>coffee, cacao, bananas, citrus, and pineapple.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143500" cy="6667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766146782937645143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953000" cy="6477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91250" y="857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846976348924941625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6500" y="952500"/>
            <a:ext cx="32385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91250" y="4286250"/>
            <a:ext cx="34290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611305611111524086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0" y="4381500"/>
            <a:ext cx="32385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096250"/>
            <a:ext cx="10287000" cy="3127338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429625"/>
            <a:ext cx="8572500" cy="25558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E1412"/>
                </a:solidFill>
                <a:latin typeface="Times New Roman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5524500" cy="723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82047847458983228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3340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72250" y="2952750"/>
            <a:ext cx="3048000" cy="4381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571447596969361594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7500" y="3048000"/>
            <a:ext cx="2857500" cy="4191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8477250"/>
            <a:ext cx="10287000" cy="2748066"/>
          </a:xfrm>
          <a:prstGeom prst="rect">
            <a:avLst/>
          </a:prstGeom>
          <a:solidFill>
            <a:srgbClr val="E4E6C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8810625"/>
            <a:ext cx="8572500" cy="8510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22371F"/>
                </a:solidFill>
                <a:latin typeface="Roboto"/>
              </a:rPr>
              <a:t>What he's seeing: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9661646"/>
            <a:ext cx="85725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22371F"/>
                </a:solidFill>
                <a:latin typeface="Times New Roman"/>
              </a:rPr>
              <a:t>more earthworms, more mushrooms, active decomposition, and better soil structure.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36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brow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4572000" cy="723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63130242646987555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4381500" cy="7048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619750" y="857250"/>
            <a:ext cx="4000500" cy="323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04137021461827302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952500"/>
            <a:ext cx="3810000" cy="304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619750" y="4476750"/>
            <a:ext cx="4000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60098265307963348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4572000"/>
            <a:ext cx="3810000" cy="3238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8572500"/>
            <a:ext cx="10287000" cy="2614716"/>
          </a:xfrm>
          <a:prstGeom prst="rect">
            <a:avLst/>
          </a:prstGeom>
          <a:solidFill>
            <a:srgbClr val="F1E4D6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8905875"/>
            <a:ext cx="8572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3A2524"/>
                </a:solidFill>
                <a:latin typeface="Times New Roman"/>
              </a:rPr>
              <a:t>“I can already see signs of healthier soil in the field, including more earthworms, mushrooms, and active decomposition.”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1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D9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old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6750" y="666750"/>
            <a:ext cx="8953500" cy="4762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51984183963393951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87630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66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127049139310375086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5905500"/>
            <a:ext cx="4191000" cy="2857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238750" y="5810250"/>
            <a:ext cx="4381500" cy="3048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781435798291786654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5905500"/>
            <a:ext cx="4191000" cy="2857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9429750"/>
            <a:ext cx="10287000" cy="2614716"/>
          </a:xfrm>
          <a:prstGeom prst="rect">
            <a:avLst/>
          </a:prstGeom>
          <a:solidFill>
            <a:srgbClr val="F6E3C2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250" y="9763125"/>
            <a:ext cx="8572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E1412"/>
                </a:solidFill>
                <a:latin typeface="Times New Roman"/>
              </a:rPr>
              <a:t>“Your training changed the way I see agriculture. I now believe that agriculture is biology, not chemical fertilizer.”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ot-network-green-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66750" y="1905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5000" b="0" i="0">
                <a:solidFill>
                  <a:srgbClr val="DBE6A7"/>
                </a:solidFill>
                <a:latin typeface="Times New Roman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619250"/>
            <a:ext cx="8572500" cy="3176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0" i="0">
                <a:solidFill>
                  <a:srgbClr val="F4F1EA"/>
                </a:solidFill>
                <a:latin typeface="Times New Roman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0" y="5252816"/>
            <a:ext cx="4191000" cy="5700933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611107396672532670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3250" y="5348066"/>
            <a:ext cx="4000500" cy="551043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solidFill>
            <a:srgbClr val="E4E6C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1191875"/>
            <a:ext cx="10287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Roboto"/>
              </a:rPr>
              <a:t>Subscribe on YouTube: @boubacartidianediallo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750" y="381000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