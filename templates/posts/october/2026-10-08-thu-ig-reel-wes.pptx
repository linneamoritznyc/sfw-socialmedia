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0287000" cy="1828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6A.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6B. Transparent card: remove the page background in Canva (or export as PNG with transparent background).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6B. Transparent card: remove the page background in Canva (or export as PNG with transparent background).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6B. Transparent card: remove the page background in Canva (or export as PNG with transparent background).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6B. Transparent card: remove the page background in Canva (or export as PNG with transparent background).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7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143500" cy="18288000"/>
          </a:xfrm>
          <a:prstGeom prst="rect">
            <a:avLst/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52400" y="0"/>
            <a:ext cx="4838700" cy="1828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 i="0">
                <a:solidFill>
                  <a:srgbClr val="4A463F"/>
                </a:solidFill>
                <a:latin typeface="Source Sans 3"/>
              </a:rPr>
              <a:t>PHOTO: microscopy of soil from a conventional field</a:t>
            </a:r>
          </a:p>
        </p:txBody>
      </p:sp>
      <p:sp>
        <p:nvSpPr>
          <p:cNvPr id="4" name="Rectangle 3"/>
          <p:cNvSpPr/>
          <p:nvPr/>
        </p:nvSpPr>
        <p:spPr>
          <a:xfrm>
            <a:off x="5143500" y="0"/>
            <a:ext cx="5143500" cy="18288000"/>
          </a:xfrm>
          <a:prstGeom prst="rect">
            <a:avLst/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295900" y="0"/>
            <a:ext cx="4838700" cy="1828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 i="0">
                <a:solidFill>
                  <a:srgbClr val="4A463F"/>
                </a:solidFill>
                <a:latin typeface="Source Sans 3"/>
              </a:rPr>
              <a:t>PHOTO: microscopy of biologically active compost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52500" y="3810000"/>
            <a:ext cx="1526509" cy="717539"/>
          </a:xfrm>
          <a:prstGeom prst="roundRect">
            <a:avLst>
              <a:gd name="adj" fmla="val 50000"/>
            </a:avLst>
          </a:prstGeom>
          <a:solidFill>
            <a:srgbClr val="22371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2500" y="3810000"/>
            <a:ext cx="1526509" cy="71753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600" b="1" i="0" spc="200">
                <a:solidFill>
                  <a:srgbClr val="DBE6A7"/>
                </a:solidFill>
                <a:latin typeface="Montserrat"/>
              </a:rPr>
              <a:t>FIELD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6000" y="3810000"/>
            <a:ext cx="2015193" cy="717539"/>
          </a:xfrm>
          <a:prstGeom prst="roundRect">
            <a:avLst>
              <a:gd name="adj" fmla="val 50000"/>
            </a:avLst>
          </a:prstGeom>
          <a:solidFill>
            <a:srgbClr val="22371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96000" y="3810000"/>
            <a:ext cx="2015193" cy="71753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600" b="1" i="0" spc="200">
                <a:solidFill>
                  <a:srgbClr val="DBE6A7"/>
                </a:solidFill>
                <a:latin typeface="Montserrat"/>
              </a:rPr>
              <a:t>COMPOST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2000" y="7094249"/>
            <a:ext cx="8763000" cy="2956501"/>
          </a:xfrm>
          <a:prstGeom prst="roundRect">
            <a:avLst>
              <a:gd name="adj" fmla="val 6443"/>
            </a:avLst>
          </a:prstGeom>
          <a:solidFill>
            <a:srgbClr val="22371F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7399049"/>
            <a:ext cx="8001000" cy="23850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8400" b="1" i="0">
                <a:solidFill>
                  <a:srgbClr val="F4F1EA"/>
                </a:solidFill>
                <a:latin typeface="Montserrat"/>
              </a:rPr>
              <a:t>Spot the difference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52500" y="9612663"/>
            <a:ext cx="8382000" cy="27774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6400" b="1" i="0">
                <a:ln w="57150">
                  <a:solidFill>
                    <a:srgbClr val="22371F"/>
                  </a:solidFill>
                </a:ln>
                <a:solidFill>
                  <a:srgbClr val="F4F1EA"/>
                </a:solidFill>
                <a:latin typeface="Montserrat"/>
              </a:rPr>
              <a:t>Soil from a conventional field.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52500" y="10059692"/>
            <a:ext cx="8382000" cy="18833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6400" b="1" i="0">
                <a:ln w="57150">
                  <a:solidFill>
                    <a:srgbClr val="22371F"/>
                  </a:solidFill>
                </a:ln>
                <a:solidFill>
                  <a:srgbClr val="F4F1EA"/>
                </a:solidFill>
                <a:latin typeface="Montserrat"/>
              </a:rPr>
              <a:t>Biologically active compost.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52500" y="9612663"/>
            <a:ext cx="8382000" cy="27774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6400" b="1" i="0">
                <a:ln w="57150">
                  <a:solidFill>
                    <a:srgbClr val="22371F"/>
                  </a:solidFill>
                </a:ln>
                <a:solidFill>
                  <a:srgbClr val="F4F1EA"/>
                </a:solidFill>
                <a:latin typeface="Montserrat"/>
              </a:rPr>
              <a:t>Same microscope. Same magnification.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52500" y="9612663"/>
            <a:ext cx="8382000" cy="27774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6400" b="1" i="0">
                <a:ln w="57150">
                  <a:solidFill>
                    <a:srgbClr val="22371F"/>
                  </a:solidFill>
                </a:ln>
                <a:solidFill>
                  <a:srgbClr val="F4F1EA"/>
                </a:solidFill>
                <a:latin typeface="Montserrat"/>
              </a:rPr>
              <a:t>Meet Wes Sander, our microscopy mentor.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