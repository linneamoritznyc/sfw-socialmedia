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</p:sldIdLst>
  <p:sldSz cx="10287000" cy="1285875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4B. 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4A. 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4A. 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4A. 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4A. 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4A. 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4B. 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1.jpg"/><Relationship Id="rId4" Type="http://schemas.openxmlformats.org/officeDocument/2006/relationships/image" Target="../media/image2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3.jpg"/><Relationship Id="rId4" Type="http://schemas.openxmlformats.org/officeDocument/2006/relationships/image" Target="../media/image2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4.jpg"/><Relationship Id="rId4" Type="http://schemas.openxmlformats.org/officeDocument/2006/relationships/image" Target="../media/image2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5.jpg"/><Relationship Id="rId4" Type="http://schemas.openxmlformats.org/officeDocument/2006/relationships/image" Target="../media/image2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2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22371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62000" y="2381250"/>
            <a:ext cx="8382000" cy="367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6400" b="1" i="0">
                <a:solidFill>
                  <a:srgbClr val="F4F1EA"/>
                </a:solidFill>
                <a:latin typeface="Montserrat"/>
              </a:rPr>
              <a:t>Happy World Teachers' Day. Collect them all.</a:t>
            </a:r>
          </a:p>
        </p:txBody>
      </p:sp>
      <p:sp>
        <p:nvSpPr>
          <p:cNvPr id="3" name="Rounded Rectangle 2"/>
          <p:cNvSpPr/>
          <p:nvPr/>
        </p:nvSpPr>
        <p:spPr>
          <a:xfrm rot="21240000">
            <a:off x="381000" y="6191250"/>
            <a:ext cx="4953000" cy="6667500"/>
          </a:xfrm>
          <a:prstGeom prst="roundRect">
            <a:avLst>
              <a:gd name="adj" fmla="val 5384"/>
            </a:avLst>
          </a:prstGeom>
          <a:pattFill prst="ltUpDiag">
            <a:fgClr>
              <a:srgbClr val="E8E2D4"/>
            </a:fgClr>
            <a:bgClr>
              <a:srgbClr val="F4F1EA"/>
            </a:bgClr>
          </a:pattFill>
          <a:ln>
            <a:noFill/>
          </a:ln>
          <a:effectLst>
            <a:outerShdw blurRad="228600" dist="76200" dir="5400000" algn="t" rotWithShape="0">
              <a:srgbClr val="000000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1714500" y="6191250"/>
            <a:ext cx="4953000" cy="6667500"/>
          </a:xfrm>
          <a:prstGeom prst="roundRect">
            <a:avLst>
              <a:gd name="adj" fmla="val 5384"/>
            </a:avLst>
          </a:prstGeom>
          <a:pattFill prst="ltUpDiag">
            <a:fgClr>
              <a:srgbClr val="E8E2D4"/>
            </a:fgClr>
            <a:bgClr>
              <a:srgbClr val="F4F1EA"/>
            </a:bgClr>
          </a:pattFill>
          <a:ln>
            <a:noFill/>
          </a:ln>
          <a:effectLst>
            <a:outerShdw blurRad="228600" dist="76200" dir="5400000" algn="t" rotWithShape="0">
              <a:srgbClr val="000000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 rot="360000">
            <a:off x="3048000" y="6191250"/>
            <a:ext cx="4953000" cy="6667500"/>
          </a:xfrm>
          <a:prstGeom prst="roundRect">
            <a:avLst>
              <a:gd name="adj" fmla="val 5384"/>
            </a:avLst>
          </a:prstGeom>
          <a:pattFill prst="ltUpDiag">
            <a:fgClr>
              <a:srgbClr val="E8E2D4"/>
            </a:fgClr>
            <a:bgClr>
              <a:srgbClr val="F4F1EA"/>
            </a:bgClr>
          </a:pattFill>
          <a:ln>
            <a:noFill/>
          </a:ln>
          <a:effectLst>
            <a:outerShdw blurRad="228600" dist="76200" dir="5400000" algn="t" rotWithShape="0">
              <a:srgbClr val="000000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191500" y="762000"/>
            <a:ext cx="1333500" cy="285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2000" b="0" i="0">
                <a:solidFill>
                  <a:srgbClr val="F4F1EA">
                    <a:alpha val="60000"/>
                  </a:srgbClr>
                </a:solidFill>
                <a:latin typeface="Source Sans 3"/>
              </a:rPr>
              <a:t>1/7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22371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 rot="180000">
            <a:off x="952500" y="809625"/>
            <a:ext cx="8382000" cy="11239500"/>
          </a:xfrm>
          <a:prstGeom prst="roundRect">
            <a:avLst>
              <a:gd name="adj" fmla="val 3181"/>
            </a:avLst>
          </a:prstGeom>
          <a:pattFill prst="ltUpDiag">
            <a:fgClr>
              <a:srgbClr val="E8E2D4"/>
            </a:fgClr>
            <a:bgClr>
              <a:srgbClr val="F4F1EA"/>
            </a:bgClr>
          </a:pattFill>
          <a:ln>
            <a:noFill/>
          </a:ln>
          <a:effectLst>
            <a:outerShdw blurRad="228600" dist="76200" dir="5400000" algn="t" rotWithShape="0">
              <a:srgbClr val="000000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 rot="180000">
            <a:off x="1600720" y="1195598"/>
            <a:ext cx="3810000" cy="3810000"/>
          </a:xfrm>
          <a:prstGeom prst="rect">
            <a:avLst/>
          </a:prstGeom>
          <a:solidFill>
            <a:srgbClr val="F4F1EA"/>
          </a:solidFill>
          <a:ln w="19050">
            <a:solidFill>
              <a:srgbClr val="22371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1777178360486581189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 rot="180000">
            <a:off x="1695970" y="1290848"/>
            <a:ext cx="3619500" cy="3619500"/>
          </a:xfrm>
          <a:prstGeom prst="rect">
            <a:avLst/>
          </a:prstGeom>
        </p:spPr>
      </p:pic>
      <p:sp>
        <p:nvSpPr>
          <p:cNvPr id="5" name="Oval 4"/>
          <p:cNvSpPr/>
          <p:nvPr/>
        </p:nvSpPr>
        <p:spPr>
          <a:xfrm rot="180000">
            <a:off x="8634636" y="2198966"/>
            <a:ext cx="457200" cy="457200"/>
          </a:xfrm>
          <a:prstGeom prst="ellipse">
            <a:avLst/>
          </a:prstGeom>
          <a:solidFill>
            <a:srgbClr val="1568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 rot="180000">
            <a:off x="8563280" y="2479931"/>
            <a:ext cx="457200" cy="457200"/>
          </a:xfrm>
          <a:prstGeom prst="ellipse">
            <a:avLst/>
          </a:prstGeom>
          <a:solidFill>
            <a:srgbClr val="1568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 rot="180000">
            <a:off x="8389835" y="2712203"/>
            <a:ext cx="457200" cy="457200"/>
          </a:xfrm>
          <a:prstGeom prst="ellipse">
            <a:avLst/>
          </a:prstGeom>
          <a:solidFill>
            <a:srgbClr val="1568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 rot="180000">
            <a:off x="8140706" y="2860419"/>
            <a:ext cx="457200" cy="457200"/>
          </a:xfrm>
          <a:prstGeom prst="ellipse">
            <a:avLst/>
          </a:prstGeom>
          <a:solidFill>
            <a:srgbClr val="1568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 rot="180000">
            <a:off x="7853821" y="2902015"/>
            <a:ext cx="457200" cy="457200"/>
          </a:xfrm>
          <a:prstGeom prst="ellipse">
            <a:avLst/>
          </a:prstGeom>
          <a:solidFill>
            <a:srgbClr val="1568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 rot="180000">
            <a:off x="7572856" y="2830659"/>
            <a:ext cx="457200" cy="457200"/>
          </a:xfrm>
          <a:prstGeom prst="ellipse">
            <a:avLst/>
          </a:prstGeom>
          <a:solidFill>
            <a:srgbClr val="1568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 rot="180000">
            <a:off x="7340584" y="2657214"/>
            <a:ext cx="457200" cy="457200"/>
          </a:xfrm>
          <a:prstGeom prst="ellipse">
            <a:avLst/>
          </a:prstGeom>
          <a:solidFill>
            <a:srgbClr val="1568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 rot="180000">
            <a:off x="7192368" y="2408085"/>
            <a:ext cx="457200" cy="457200"/>
          </a:xfrm>
          <a:prstGeom prst="ellipse">
            <a:avLst/>
          </a:prstGeom>
          <a:solidFill>
            <a:srgbClr val="1568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 rot="180000">
            <a:off x="7150772" y="2121200"/>
            <a:ext cx="457200" cy="457200"/>
          </a:xfrm>
          <a:prstGeom prst="ellipse">
            <a:avLst/>
          </a:prstGeom>
          <a:solidFill>
            <a:srgbClr val="1568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 rot="180000">
            <a:off x="7222128" y="1840235"/>
            <a:ext cx="457200" cy="457200"/>
          </a:xfrm>
          <a:prstGeom prst="ellipse">
            <a:avLst/>
          </a:prstGeom>
          <a:solidFill>
            <a:srgbClr val="1568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 rot="180000">
            <a:off x="7395573" y="1607964"/>
            <a:ext cx="457200" cy="457200"/>
          </a:xfrm>
          <a:prstGeom prst="ellipse">
            <a:avLst/>
          </a:prstGeom>
          <a:solidFill>
            <a:srgbClr val="1568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 rot="180000">
            <a:off x="7644702" y="1459748"/>
            <a:ext cx="457200" cy="457200"/>
          </a:xfrm>
          <a:prstGeom prst="ellipse">
            <a:avLst/>
          </a:prstGeom>
          <a:solidFill>
            <a:srgbClr val="1568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 rot="180000">
            <a:off x="7931587" y="1418151"/>
            <a:ext cx="457200" cy="457200"/>
          </a:xfrm>
          <a:prstGeom prst="ellipse">
            <a:avLst/>
          </a:prstGeom>
          <a:solidFill>
            <a:srgbClr val="1568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 rot="180000">
            <a:off x="8212552" y="1489507"/>
            <a:ext cx="457200" cy="457200"/>
          </a:xfrm>
          <a:prstGeom prst="ellipse">
            <a:avLst/>
          </a:prstGeom>
          <a:solidFill>
            <a:srgbClr val="1568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 rot="180000">
            <a:off x="8444823" y="1662953"/>
            <a:ext cx="457200" cy="457200"/>
          </a:xfrm>
          <a:prstGeom prst="ellipse">
            <a:avLst/>
          </a:prstGeom>
          <a:solidFill>
            <a:srgbClr val="1568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 rot="180000">
            <a:off x="8593039" y="1912081"/>
            <a:ext cx="457200" cy="457200"/>
          </a:xfrm>
          <a:prstGeom prst="ellipse">
            <a:avLst/>
          </a:prstGeom>
          <a:solidFill>
            <a:srgbClr val="1568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 rot="180000">
            <a:off x="8663211" y="2227541"/>
            <a:ext cx="400050" cy="400050"/>
          </a:xfrm>
          <a:prstGeom prst="ellipse">
            <a:avLst/>
          </a:prstGeom>
          <a:solidFill>
            <a:srgbClr val="F4F1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 rot="180000">
            <a:off x="8591855" y="2508506"/>
            <a:ext cx="400050" cy="400050"/>
          </a:xfrm>
          <a:prstGeom prst="ellipse">
            <a:avLst/>
          </a:prstGeom>
          <a:solidFill>
            <a:srgbClr val="F4F1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 rot="180000">
            <a:off x="8418410" y="2740778"/>
            <a:ext cx="400050" cy="400050"/>
          </a:xfrm>
          <a:prstGeom prst="ellipse">
            <a:avLst/>
          </a:prstGeom>
          <a:solidFill>
            <a:srgbClr val="F4F1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 rot="180000">
            <a:off x="8169281" y="2888994"/>
            <a:ext cx="400050" cy="400050"/>
          </a:xfrm>
          <a:prstGeom prst="ellipse">
            <a:avLst/>
          </a:prstGeom>
          <a:solidFill>
            <a:srgbClr val="F4F1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 rot="180000">
            <a:off x="7882396" y="2930590"/>
            <a:ext cx="400050" cy="400050"/>
          </a:xfrm>
          <a:prstGeom prst="ellipse">
            <a:avLst/>
          </a:prstGeom>
          <a:solidFill>
            <a:srgbClr val="F4F1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 rot="180000">
            <a:off x="7601431" y="2859234"/>
            <a:ext cx="400050" cy="400050"/>
          </a:xfrm>
          <a:prstGeom prst="ellipse">
            <a:avLst/>
          </a:prstGeom>
          <a:solidFill>
            <a:srgbClr val="F4F1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 rot="180000">
            <a:off x="7369159" y="2685789"/>
            <a:ext cx="400050" cy="400050"/>
          </a:xfrm>
          <a:prstGeom prst="ellipse">
            <a:avLst/>
          </a:prstGeom>
          <a:solidFill>
            <a:srgbClr val="F4F1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Oval 27"/>
          <p:cNvSpPr/>
          <p:nvPr/>
        </p:nvSpPr>
        <p:spPr>
          <a:xfrm rot="180000">
            <a:off x="7220943" y="2436660"/>
            <a:ext cx="400050" cy="400050"/>
          </a:xfrm>
          <a:prstGeom prst="ellipse">
            <a:avLst/>
          </a:prstGeom>
          <a:solidFill>
            <a:srgbClr val="F4F1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Oval 28"/>
          <p:cNvSpPr/>
          <p:nvPr/>
        </p:nvSpPr>
        <p:spPr>
          <a:xfrm rot="180000">
            <a:off x="7179347" y="2149775"/>
            <a:ext cx="400050" cy="400050"/>
          </a:xfrm>
          <a:prstGeom prst="ellipse">
            <a:avLst/>
          </a:prstGeom>
          <a:solidFill>
            <a:srgbClr val="F4F1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Oval 29"/>
          <p:cNvSpPr/>
          <p:nvPr/>
        </p:nvSpPr>
        <p:spPr>
          <a:xfrm rot="180000">
            <a:off x="7250703" y="1868810"/>
            <a:ext cx="400050" cy="400050"/>
          </a:xfrm>
          <a:prstGeom prst="ellipse">
            <a:avLst/>
          </a:prstGeom>
          <a:solidFill>
            <a:srgbClr val="F4F1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Oval 30"/>
          <p:cNvSpPr/>
          <p:nvPr/>
        </p:nvSpPr>
        <p:spPr>
          <a:xfrm rot="180000">
            <a:off x="7424148" y="1636539"/>
            <a:ext cx="400050" cy="400050"/>
          </a:xfrm>
          <a:prstGeom prst="ellipse">
            <a:avLst/>
          </a:prstGeom>
          <a:solidFill>
            <a:srgbClr val="F4F1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Oval 31"/>
          <p:cNvSpPr/>
          <p:nvPr/>
        </p:nvSpPr>
        <p:spPr>
          <a:xfrm rot="180000">
            <a:off x="7673277" y="1488323"/>
            <a:ext cx="400050" cy="400050"/>
          </a:xfrm>
          <a:prstGeom prst="ellipse">
            <a:avLst/>
          </a:prstGeom>
          <a:solidFill>
            <a:srgbClr val="F4F1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Oval 32"/>
          <p:cNvSpPr/>
          <p:nvPr/>
        </p:nvSpPr>
        <p:spPr>
          <a:xfrm rot="180000">
            <a:off x="7960162" y="1446726"/>
            <a:ext cx="400050" cy="400050"/>
          </a:xfrm>
          <a:prstGeom prst="ellipse">
            <a:avLst/>
          </a:prstGeom>
          <a:solidFill>
            <a:srgbClr val="F4F1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Oval 33"/>
          <p:cNvSpPr/>
          <p:nvPr/>
        </p:nvSpPr>
        <p:spPr>
          <a:xfrm rot="180000">
            <a:off x="8241127" y="1518082"/>
            <a:ext cx="400050" cy="400050"/>
          </a:xfrm>
          <a:prstGeom prst="ellipse">
            <a:avLst/>
          </a:prstGeom>
          <a:solidFill>
            <a:srgbClr val="F4F1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Oval 34"/>
          <p:cNvSpPr/>
          <p:nvPr/>
        </p:nvSpPr>
        <p:spPr>
          <a:xfrm rot="180000">
            <a:off x="8473398" y="1691528"/>
            <a:ext cx="400050" cy="400050"/>
          </a:xfrm>
          <a:prstGeom prst="ellipse">
            <a:avLst/>
          </a:prstGeom>
          <a:solidFill>
            <a:srgbClr val="F4F1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Oval 35"/>
          <p:cNvSpPr/>
          <p:nvPr/>
        </p:nvSpPr>
        <p:spPr>
          <a:xfrm rot="180000">
            <a:off x="8621614" y="1940656"/>
            <a:ext cx="400050" cy="400050"/>
          </a:xfrm>
          <a:prstGeom prst="ellipse">
            <a:avLst/>
          </a:prstGeom>
          <a:solidFill>
            <a:srgbClr val="F4F1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Oval 36"/>
          <p:cNvSpPr/>
          <p:nvPr/>
        </p:nvSpPr>
        <p:spPr>
          <a:xfrm rot="180000">
            <a:off x="7397404" y="1664783"/>
            <a:ext cx="1447800" cy="1447800"/>
          </a:xfrm>
          <a:prstGeom prst="ellipse">
            <a:avLst/>
          </a:prstGeom>
          <a:solidFill>
            <a:srgbClr val="F4F1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8" name="Picture 37" descr="foundation-logo-color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 rot="180000">
            <a:off x="7597429" y="1917689"/>
            <a:ext cx="1047750" cy="941987"/>
          </a:xfrm>
          <a:prstGeom prst="rect">
            <a:avLst/>
          </a:prstGeom>
        </p:spPr>
      </p:pic>
      <p:sp>
        <p:nvSpPr>
          <p:cNvPr id="39" name="TextBox 38"/>
          <p:cNvSpPr txBox="1"/>
          <p:nvPr/>
        </p:nvSpPr>
        <p:spPr>
          <a:xfrm rot="180000">
            <a:off x="1571357" y="5382865"/>
            <a:ext cx="7239000" cy="285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000" b="1" i="0" spc="200">
                <a:solidFill>
                  <a:srgbClr val="156826"/>
                </a:solidFill>
                <a:latin typeface="Montserrat"/>
              </a:rPr>
              <a:t>BASED IN</a:t>
            </a:r>
          </a:p>
        </p:txBody>
      </p:sp>
      <p:sp>
        <p:nvSpPr>
          <p:cNvPr id="40" name="TextBox 39"/>
          <p:cNvSpPr txBox="1"/>
          <p:nvPr/>
        </p:nvSpPr>
        <p:spPr>
          <a:xfrm rot="180000">
            <a:off x="1552912" y="5668132"/>
            <a:ext cx="7239000" cy="419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3000" b="0" i="0">
                <a:solidFill>
                  <a:srgbClr val="333130"/>
                </a:solidFill>
                <a:latin typeface="Source Sans 3"/>
              </a:rPr>
              <a:t>[COPY: Allison]</a:t>
            </a:r>
          </a:p>
        </p:txBody>
      </p:sp>
      <p:sp>
        <p:nvSpPr>
          <p:cNvPr id="41" name="TextBox 40"/>
          <p:cNvSpPr txBox="1"/>
          <p:nvPr/>
        </p:nvSpPr>
        <p:spPr>
          <a:xfrm rot="180000">
            <a:off x="1521507" y="6334059"/>
            <a:ext cx="7239000" cy="285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000" b="1" i="0" spc="200">
                <a:solidFill>
                  <a:srgbClr val="156826"/>
                </a:solidFill>
                <a:latin typeface="Montserrat"/>
              </a:rPr>
              <a:t>TEACHING SINCE</a:t>
            </a:r>
          </a:p>
        </p:txBody>
      </p:sp>
      <p:sp>
        <p:nvSpPr>
          <p:cNvPr id="42" name="TextBox 41"/>
          <p:cNvSpPr txBox="1"/>
          <p:nvPr/>
        </p:nvSpPr>
        <p:spPr>
          <a:xfrm rot="180000">
            <a:off x="1503063" y="6619326"/>
            <a:ext cx="7239000" cy="419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3000" b="0" i="0">
                <a:solidFill>
                  <a:srgbClr val="333130"/>
                </a:solidFill>
                <a:latin typeface="Source Sans 3"/>
              </a:rPr>
              <a:t>[COPY: Allison]</a:t>
            </a:r>
          </a:p>
        </p:txBody>
      </p:sp>
      <p:sp>
        <p:nvSpPr>
          <p:cNvPr id="43" name="TextBox 42"/>
          <p:cNvSpPr txBox="1"/>
          <p:nvPr/>
        </p:nvSpPr>
        <p:spPr>
          <a:xfrm rot="180000">
            <a:off x="1471657" y="7285254"/>
            <a:ext cx="7239000" cy="285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000" b="1" i="0" spc="200">
                <a:solidFill>
                  <a:srgbClr val="156826"/>
                </a:solidFill>
                <a:latin typeface="Montserrat"/>
              </a:rPr>
              <a:t>ASK ME ABOUT</a:t>
            </a:r>
          </a:p>
        </p:txBody>
      </p:sp>
      <p:sp>
        <p:nvSpPr>
          <p:cNvPr id="44" name="TextBox 43"/>
          <p:cNvSpPr txBox="1"/>
          <p:nvPr/>
        </p:nvSpPr>
        <p:spPr>
          <a:xfrm rot="180000">
            <a:off x="1453213" y="7570521"/>
            <a:ext cx="7239000" cy="419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3000" b="0" i="0">
                <a:solidFill>
                  <a:srgbClr val="333130"/>
                </a:solidFill>
                <a:latin typeface="Source Sans 3"/>
              </a:rPr>
              <a:t>[COPY: Allison]</a:t>
            </a:r>
          </a:p>
        </p:txBody>
      </p:sp>
      <p:sp>
        <p:nvSpPr>
          <p:cNvPr id="45" name="TextBox 44"/>
          <p:cNvSpPr txBox="1"/>
          <p:nvPr/>
        </p:nvSpPr>
        <p:spPr>
          <a:xfrm rot="180000">
            <a:off x="1421807" y="8236448"/>
            <a:ext cx="7239000" cy="285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000" b="1" i="0" spc="200">
                <a:solidFill>
                  <a:srgbClr val="156826"/>
                </a:solidFill>
                <a:latin typeface="Montserrat"/>
              </a:rPr>
              <a:t>FAVORITE ORGANISM</a:t>
            </a:r>
          </a:p>
        </p:txBody>
      </p:sp>
      <p:sp>
        <p:nvSpPr>
          <p:cNvPr id="46" name="TextBox 45"/>
          <p:cNvSpPr txBox="1"/>
          <p:nvPr/>
        </p:nvSpPr>
        <p:spPr>
          <a:xfrm rot="180000">
            <a:off x="1403363" y="8521716"/>
            <a:ext cx="7239000" cy="419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3000" b="0" i="0">
                <a:solidFill>
                  <a:srgbClr val="333130"/>
                </a:solidFill>
                <a:latin typeface="Source Sans 3"/>
              </a:rPr>
              <a:t>[COPY: Allison]</a:t>
            </a:r>
          </a:p>
        </p:txBody>
      </p:sp>
      <p:sp>
        <p:nvSpPr>
          <p:cNvPr id="47" name="Freeform 46"/>
          <p:cNvSpPr/>
          <p:nvPr/>
        </p:nvSpPr>
        <p:spPr>
          <a:xfrm rot="180000">
            <a:off x="1334570" y="9520039"/>
            <a:ext cx="7239000" cy="1047750"/>
          </a:xfrm>
          <a:custGeom>
            <a:avLst/>
            <a:gdLst/>
            <a:ahLst/>
            <a:cxnLst/>
            <a:rect l="l" t="t" r="r" b="b"/>
            <a:pathLst>
              <a:path w="7239000" h="1047750">
                <a:moveTo>
                  <a:pt x="0" y="0"/>
                </a:moveTo>
                <a:lnTo>
                  <a:pt x="7239000" y="0"/>
                </a:lnTo>
                <a:lnTo>
                  <a:pt x="6953250" y="523875"/>
                </a:lnTo>
                <a:lnTo>
                  <a:pt x="7239000" y="1047750"/>
                </a:lnTo>
                <a:lnTo>
                  <a:pt x="0" y="1047750"/>
                </a:lnTo>
                <a:lnTo>
                  <a:pt x="285750" y="523875"/>
                </a:lnTo>
                <a:close/>
              </a:path>
            </a:pathLst>
          </a:custGeom>
          <a:solidFill>
            <a:srgbClr val="1568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 rot="180000">
            <a:off x="1715570" y="9520039"/>
            <a:ext cx="6477000" cy="1047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3800" b="1" i="0">
                <a:solidFill>
                  <a:srgbClr val="F4F1EA"/>
                </a:solidFill>
                <a:latin typeface="Montserrat"/>
              </a:rPr>
              <a:t>DR. CARLA PORTUGAL</a:t>
            </a:r>
          </a:p>
        </p:txBody>
      </p:sp>
      <p:sp>
        <p:nvSpPr>
          <p:cNvPr id="49" name="Freeform 48"/>
          <p:cNvSpPr/>
          <p:nvPr/>
        </p:nvSpPr>
        <p:spPr>
          <a:xfrm rot="180000">
            <a:off x="1863697" y="10471430"/>
            <a:ext cx="6096000" cy="762000"/>
          </a:xfrm>
          <a:custGeom>
            <a:avLst/>
            <a:gdLst/>
            <a:ahLst/>
            <a:cxnLst/>
            <a:rect l="l" t="t" r="r" b="b"/>
            <a:pathLst>
              <a:path w="6096000" h="762000">
                <a:moveTo>
                  <a:pt x="0" y="0"/>
                </a:moveTo>
                <a:lnTo>
                  <a:pt x="6096000" y="0"/>
                </a:lnTo>
                <a:lnTo>
                  <a:pt x="5810250" y="381000"/>
                </a:lnTo>
                <a:lnTo>
                  <a:pt x="6096000" y="762000"/>
                </a:lnTo>
                <a:lnTo>
                  <a:pt x="0" y="762000"/>
                </a:lnTo>
                <a:lnTo>
                  <a:pt x="285750" y="381000"/>
                </a:lnTo>
                <a:close/>
              </a:path>
            </a:pathLst>
          </a:custGeom>
          <a:solidFill>
            <a:srgbClr val="2237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 rot="180000">
            <a:off x="2244697" y="10471430"/>
            <a:ext cx="5334000" cy="762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2800" b="0" i="0">
                <a:solidFill>
                  <a:srgbClr val="DBE6A7"/>
                </a:solidFill>
                <a:latin typeface="Source Sans 3"/>
              </a:rPr>
              <a:t>Science Leader</a:t>
            </a:r>
          </a:p>
        </p:txBody>
      </p:sp>
      <p:sp>
        <p:nvSpPr>
          <p:cNvPr id="51" name="Rectangle 50"/>
          <p:cNvSpPr/>
          <p:nvPr/>
        </p:nvSpPr>
        <p:spPr>
          <a:xfrm rot="180000">
            <a:off x="669352" y="11622610"/>
            <a:ext cx="8382000" cy="419100"/>
          </a:xfrm>
          <a:prstGeom prst="rect">
            <a:avLst/>
          </a:prstGeom>
          <a:solidFill>
            <a:srgbClr val="4F34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 rot="180000">
            <a:off x="669352" y="11622610"/>
            <a:ext cx="8382000" cy="4191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800" b="0" i="0">
                <a:solidFill>
                  <a:srgbClr val="F4F1EA"/>
                </a:solidFill>
                <a:latin typeface="Source Sans 3"/>
              </a:rPr>
              <a:t>soilfoodweb.com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8191500" y="762000"/>
            <a:ext cx="1333500" cy="285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2000" b="0" i="0">
                <a:solidFill>
                  <a:srgbClr val="F4F1EA">
                    <a:alpha val="60000"/>
                  </a:srgbClr>
                </a:solidFill>
                <a:latin typeface="Source Sans 3"/>
              </a:rPr>
              <a:t>2/7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22371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 rot="180000">
            <a:off x="952500" y="809625"/>
            <a:ext cx="8382000" cy="11239500"/>
          </a:xfrm>
          <a:prstGeom prst="roundRect">
            <a:avLst>
              <a:gd name="adj" fmla="val 3181"/>
            </a:avLst>
          </a:prstGeom>
          <a:pattFill prst="ltUpDiag">
            <a:fgClr>
              <a:srgbClr val="E8E2D4"/>
            </a:fgClr>
            <a:bgClr>
              <a:srgbClr val="F4F1EA"/>
            </a:bgClr>
          </a:pattFill>
          <a:ln>
            <a:noFill/>
          </a:ln>
          <a:effectLst>
            <a:outerShdw blurRad="228600" dist="76200" dir="5400000" algn="t" rotWithShape="0">
              <a:srgbClr val="000000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 rot="180000">
            <a:off x="1600720" y="1195598"/>
            <a:ext cx="3810000" cy="3810000"/>
          </a:xfrm>
          <a:prstGeom prst="rect">
            <a:avLst/>
          </a:prstGeom>
          <a:solidFill>
            <a:srgbClr val="F4F1EA"/>
          </a:solidFill>
          <a:ln w="19050">
            <a:solidFill>
              <a:srgbClr val="22371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5595351576869054060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 rot="180000">
            <a:off x="1695970" y="1290848"/>
            <a:ext cx="3619500" cy="3619500"/>
          </a:xfrm>
          <a:prstGeom prst="rect">
            <a:avLst/>
          </a:prstGeom>
        </p:spPr>
      </p:pic>
      <p:sp>
        <p:nvSpPr>
          <p:cNvPr id="5" name="Oval 4"/>
          <p:cNvSpPr/>
          <p:nvPr/>
        </p:nvSpPr>
        <p:spPr>
          <a:xfrm rot="180000">
            <a:off x="8634636" y="2198966"/>
            <a:ext cx="457200" cy="457200"/>
          </a:xfrm>
          <a:prstGeom prst="ellipse">
            <a:avLst/>
          </a:prstGeom>
          <a:solidFill>
            <a:srgbClr val="1568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 rot="180000">
            <a:off x="8563280" y="2479931"/>
            <a:ext cx="457200" cy="457200"/>
          </a:xfrm>
          <a:prstGeom prst="ellipse">
            <a:avLst/>
          </a:prstGeom>
          <a:solidFill>
            <a:srgbClr val="1568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 rot="180000">
            <a:off x="8389835" y="2712203"/>
            <a:ext cx="457200" cy="457200"/>
          </a:xfrm>
          <a:prstGeom prst="ellipse">
            <a:avLst/>
          </a:prstGeom>
          <a:solidFill>
            <a:srgbClr val="1568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 rot="180000">
            <a:off x="8140706" y="2860419"/>
            <a:ext cx="457200" cy="457200"/>
          </a:xfrm>
          <a:prstGeom prst="ellipse">
            <a:avLst/>
          </a:prstGeom>
          <a:solidFill>
            <a:srgbClr val="1568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 rot="180000">
            <a:off x="7853821" y="2902015"/>
            <a:ext cx="457200" cy="457200"/>
          </a:xfrm>
          <a:prstGeom prst="ellipse">
            <a:avLst/>
          </a:prstGeom>
          <a:solidFill>
            <a:srgbClr val="1568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 rot="180000">
            <a:off x="7572856" y="2830659"/>
            <a:ext cx="457200" cy="457200"/>
          </a:xfrm>
          <a:prstGeom prst="ellipse">
            <a:avLst/>
          </a:prstGeom>
          <a:solidFill>
            <a:srgbClr val="1568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 rot="180000">
            <a:off x="7340584" y="2657214"/>
            <a:ext cx="457200" cy="457200"/>
          </a:xfrm>
          <a:prstGeom prst="ellipse">
            <a:avLst/>
          </a:prstGeom>
          <a:solidFill>
            <a:srgbClr val="1568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 rot="180000">
            <a:off x="7192368" y="2408085"/>
            <a:ext cx="457200" cy="457200"/>
          </a:xfrm>
          <a:prstGeom prst="ellipse">
            <a:avLst/>
          </a:prstGeom>
          <a:solidFill>
            <a:srgbClr val="1568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 rot="180000">
            <a:off x="7150772" y="2121200"/>
            <a:ext cx="457200" cy="457200"/>
          </a:xfrm>
          <a:prstGeom prst="ellipse">
            <a:avLst/>
          </a:prstGeom>
          <a:solidFill>
            <a:srgbClr val="1568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 rot="180000">
            <a:off x="7222128" y="1840235"/>
            <a:ext cx="457200" cy="457200"/>
          </a:xfrm>
          <a:prstGeom prst="ellipse">
            <a:avLst/>
          </a:prstGeom>
          <a:solidFill>
            <a:srgbClr val="1568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 rot="180000">
            <a:off x="7395573" y="1607964"/>
            <a:ext cx="457200" cy="457200"/>
          </a:xfrm>
          <a:prstGeom prst="ellipse">
            <a:avLst/>
          </a:prstGeom>
          <a:solidFill>
            <a:srgbClr val="1568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 rot="180000">
            <a:off x="7644702" y="1459748"/>
            <a:ext cx="457200" cy="457200"/>
          </a:xfrm>
          <a:prstGeom prst="ellipse">
            <a:avLst/>
          </a:prstGeom>
          <a:solidFill>
            <a:srgbClr val="1568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 rot="180000">
            <a:off x="7931587" y="1418151"/>
            <a:ext cx="457200" cy="457200"/>
          </a:xfrm>
          <a:prstGeom prst="ellipse">
            <a:avLst/>
          </a:prstGeom>
          <a:solidFill>
            <a:srgbClr val="1568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 rot="180000">
            <a:off x="8212552" y="1489507"/>
            <a:ext cx="457200" cy="457200"/>
          </a:xfrm>
          <a:prstGeom prst="ellipse">
            <a:avLst/>
          </a:prstGeom>
          <a:solidFill>
            <a:srgbClr val="1568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 rot="180000">
            <a:off x="8444823" y="1662953"/>
            <a:ext cx="457200" cy="457200"/>
          </a:xfrm>
          <a:prstGeom prst="ellipse">
            <a:avLst/>
          </a:prstGeom>
          <a:solidFill>
            <a:srgbClr val="1568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 rot="180000">
            <a:off x="8593039" y="1912081"/>
            <a:ext cx="457200" cy="457200"/>
          </a:xfrm>
          <a:prstGeom prst="ellipse">
            <a:avLst/>
          </a:prstGeom>
          <a:solidFill>
            <a:srgbClr val="1568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 rot="180000">
            <a:off x="8663211" y="2227541"/>
            <a:ext cx="400050" cy="400050"/>
          </a:xfrm>
          <a:prstGeom prst="ellipse">
            <a:avLst/>
          </a:prstGeom>
          <a:solidFill>
            <a:srgbClr val="F4F1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 rot="180000">
            <a:off x="8591855" y="2508506"/>
            <a:ext cx="400050" cy="400050"/>
          </a:xfrm>
          <a:prstGeom prst="ellipse">
            <a:avLst/>
          </a:prstGeom>
          <a:solidFill>
            <a:srgbClr val="F4F1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 rot="180000">
            <a:off x="8418410" y="2740778"/>
            <a:ext cx="400050" cy="400050"/>
          </a:xfrm>
          <a:prstGeom prst="ellipse">
            <a:avLst/>
          </a:prstGeom>
          <a:solidFill>
            <a:srgbClr val="F4F1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 rot="180000">
            <a:off x="8169281" y="2888994"/>
            <a:ext cx="400050" cy="400050"/>
          </a:xfrm>
          <a:prstGeom prst="ellipse">
            <a:avLst/>
          </a:prstGeom>
          <a:solidFill>
            <a:srgbClr val="F4F1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 rot="180000">
            <a:off x="7882396" y="2930590"/>
            <a:ext cx="400050" cy="400050"/>
          </a:xfrm>
          <a:prstGeom prst="ellipse">
            <a:avLst/>
          </a:prstGeom>
          <a:solidFill>
            <a:srgbClr val="F4F1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 rot="180000">
            <a:off x="7601431" y="2859234"/>
            <a:ext cx="400050" cy="400050"/>
          </a:xfrm>
          <a:prstGeom prst="ellipse">
            <a:avLst/>
          </a:prstGeom>
          <a:solidFill>
            <a:srgbClr val="F4F1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 rot="180000">
            <a:off x="7369159" y="2685789"/>
            <a:ext cx="400050" cy="400050"/>
          </a:xfrm>
          <a:prstGeom prst="ellipse">
            <a:avLst/>
          </a:prstGeom>
          <a:solidFill>
            <a:srgbClr val="F4F1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Oval 27"/>
          <p:cNvSpPr/>
          <p:nvPr/>
        </p:nvSpPr>
        <p:spPr>
          <a:xfrm rot="180000">
            <a:off x="7220943" y="2436660"/>
            <a:ext cx="400050" cy="400050"/>
          </a:xfrm>
          <a:prstGeom prst="ellipse">
            <a:avLst/>
          </a:prstGeom>
          <a:solidFill>
            <a:srgbClr val="F4F1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Oval 28"/>
          <p:cNvSpPr/>
          <p:nvPr/>
        </p:nvSpPr>
        <p:spPr>
          <a:xfrm rot="180000">
            <a:off x="7179347" y="2149775"/>
            <a:ext cx="400050" cy="400050"/>
          </a:xfrm>
          <a:prstGeom prst="ellipse">
            <a:avLst/>
          </a:prstGeom>
          <a:solidFill>
            <a:srgbClr val="F4F1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Oval 29"/>
          <p:cNvSpPr/>
          <p:nvPr/>
        </p:nvSpPr>
        <p:spPr>
          <a:xfrm rot="180000">
            <a:off x="7250703" y="1868810"/>
            <a:ext cx="400050" cy="400050"/>
          </a:xfrm>
          <a:prstGeom prst="ellipse">
            <a:avLst/>
          </a:prstGeom>
          <a:solidFill>
            <a:srgbClr val="F4F1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Oval 30"/>
          <p:cNvSpPr/>
          <p:nvPr/>
        </p:nvSpPr>
        <p:spPr>
          <a:xfrm rot="180000">
            <a:off x="7424148" y="1636539"/>
            <a:ext cx="400050" cy="400050"/>
          </a:xfrm>
          <a:prstGeom prst="ellipse">
            <a:avLst/>
          </a:prstGeom>
          <a:solidFill>
            <a:srgbClr val="F4F1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Oval 31"/>
          <p:cNvSpPr/>
          <p:nvPr/>
        </p:nvSpPr>
        <p:spPr>
          <a:xfrm rot="180000">
            <a:off x="7673277" y="1488323"/>
            <a:ext cx="400050" cy="400050"/>
          </a:xfrm>
          <a:prstGeom prst="ellipse">
            <a:avLst/>
          </a:prstGeom>
          <a:solidFill>
            <a:srgbClr val="F4F1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Oval 32"/>
          <p:cNvSpPr/>
          <p:nvPr/>
        </p:nvSpPr>
        <p:spPr>
          <a:xfrm rot="180000">
            <a:off x="7960162" y="1446726"/>
            <a:ext cx="400050" cy="400050"/>
          </a:xfrm>
          <a:prstGeom prst="ellipse">
            <a:avLst/>
          </a:prstGeom>
          <a:solidFill>
            <a:srgbClr val="F4F1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Oval 33"/>
          <p:cNvSpPr/>
          <p:nvPr/>
        </p:nvSpPr>
        <p:spPr>
          <a:xfrm rot="180000">
            <a:off x="8241127" y="1518082"/>
            <a:ext cx="400050" cy="400050"/>
          </a:xfrm>
          <a:prstGeom prst="ellipse">
            <a:avLst/>
          </a:prstGeom>
          <a:solidFill>
            <a:srgbClr val="F4F1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Oval 34"/>
          <p:cNvSpPr/>
          <p:nvPr/>
        </p:nvSpPr>
        <p:spPr>
          <a:xfrm rot="180000">
            <a:off x="8473398" y="1691528"/>
            <a:ext cx="400050" cy="400050"/>
          </a:xfrm>
          <a:prstGeom prst="ellipse">
            <a:avLst/>
          </a:prstGeom>
          <a:solidFill>
            <a:srgbClr val="F4F1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Oval 35"/>
          <p:cNvSpPr/>
          <p:nvPr/>
        </p:nvSpPr>
        <p:spPr>
          <a:xfrm rot="180000">
            <a:off x="8621614" y="1940656"/>
            <a:ext cx="400050" cy="400050"/>
          </a:xfrm>
          <a:prstGeom prst="ellipse">
            <a:avLst/>
          </a:prstGeom>
          <a:solidFill>
            <a:srgbClr val="F4F1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Oval 36"/>
          <p:cNvSpPr/>
          <p:nvPr/>
        </p:nvSpPr>
        <p:spPr>
          <a:xfrm rot="180000">
            <a:off x="7397404" y="1664783"/>
            <a:ext cx="1447800" cy="1447800"/>
          </a:xfrm>
          <a:prstGeom prst="ellipse">
            <a:avLst/>
          </a:prstGeom>
          <a:solidFill>
            <a:srgbClr val="F4F1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8" name="Picture 37" descr="foundation-logo-color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 rot="180000">
            <a:off x="7597429" y="1917689"/>
            <a:ext cx="1047750" cy="941987"/>
          </a:xfrm>
          <a:prstGeom prst="rect">
            <a:avLst/>
          </a:prstGeom>
        </p:spPr>
      </p:pic>
      <p:sp>
        <p:nvSpPr>
          <p:cNvPr id="39" name="TextBox 38"/>
          <p:cNvSpPr txBox="1"/>
          <p:nvPr/>
        </p:nvSpPr>
        <p:spPr>
          <a:xfrm rot="180000">
            <a:off x="1571357" y="5382865"/>
            <a:ext cx="7239000" cy="285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000" b="1" i="0" spc="200">
                <a:solidFill>
                  <a:srgbClr val="156826"/>
                </a:solidFill>
                <a:latin typeface="Montserrat"/>
              </a:rPr>
              <a:t>BASED IN</a:t>
            </a:r>
          </a:p>
        </p:txBody>
      </p:sp>
      <p:sp>
        <p:nvSpPr>
          <p:cNvPr id="40" name="TextBox 39"/>
          <p:cNvSpPr txBox="1"/>
          <p:nvPr/>
        </p:nvSpPr>
        <p:spPr>
          <a:xfrm rot="180000">
            <a:off x="1552912" y="5668132"/>
            <a:ext cx="7239000" cy="419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3000" b="0" i="0">
                <a:solidFill>
                  <a:srgbClr val="333130"/>
                </a:solidFill>
                <a:latin typeface="Source Sans 3"/>
              </a:rPr>
              <a:t>[COPY: Allison]</a:t>
            </a:r>
          </a:p>
        </p:txBody>
      </p:sp>
      <p:sp>
        <p:nvSpPr>
          <p:cNvPr id="41" name="TextBox 40"/>
          <p:cNvSpPr txBox="1"/>
          <p:nvPr/>
        </p:nvSpPr>
        <p:spPr>
          <a:xfrm rot="180000">
            <a:off x="1521507" y="6334059"/>
            <a:ext cx="7239000" cy="285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000" b="1" i="0" spc="200">
                <a:solidFill>
                  <a:srgbClr val="156826"/>
                </a:solidFill>
                <a:latin typeface="Montserrat"/>
              </a:rPr>
              <a:t>TEACHING SINCE</a:t>
            </a:r>
          </a:p>
        </p:txBody>
      </p:sp>
      <p:sp>
        <p:nvSpPr>
          <p:cNvPr id="42" name="TextBox 41"/>
          <p:cNvSpPr txBox="1"/>
          <p:nvPr/>
        </p:nvSpPr>
        <p:spPr>
          <a:xfrm rot="180000">
            <a:off x="1503063" y="6619326"/>
            <a:ext cx="7239000" cy="419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3000" b="0" i="0">
                <a:solidFill>
                  <a:srgbClr val="333130"/>
                </a:solidFill>
                <a:latin typeface="Source Sans 3"/>
              </a:rPr>
              <a:t>[COPY: Allison]</a:t>
            </a:r>
          </a:p>
        </p:txBody>
      </p:sp>
      <p:sp>
        <p:nvSpPr>
          <p:cNvPr id="43" name="TextBox 42"/>
          <p:cNvSpPr txBox="1"/>
          <p:nvPr/>
        </p:nvSpPr>
        <p:spPr>
          <a:xfrm rot="180000">
            <a:off x="1471657" y="7285254"/>
            <a:ext cx="7239000" cy="285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000" b="1" i="0" spc="200">
                <a:solidFill>
                  <a:srgbClr val="156826"/>
                </a:solidFill>
                <a:latin typeface="Montserrat"/>
              </a:rPr>
              <a:t>ASK ME ABOUT</a:t>
            </a:r>
          </a:p>
        </p:txBody>
      </p:sp>
      <p:sp>
        <p:nvSpPr>
          <p:cNvPr id="44" name="TextBox 43"/>
          <p:cNvSpPr txBox="1"/>
          <p:nvPr/>
        </p:nvSpPr>
        <p:spPr>
          <a:xfrm rot="180000">
            <a:off x="1453213" y="7570521"/>
            <a:ext cx="7239000" cy="419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3000" b="0" i="0">
                <a:solidFill>
                  <a:srgbClr val="333130"/>
                </a:solidFill>
                <a:latin typeface="Source Sans 3"/>
              </a:rPr>
              <a:t>[COPY: Allison]</a:t>
            </a:r>
          </a:p>
        </p:txBody>
      </p:sp>
      <p:sp>
        <p:nvSpPr>
          <p:cNvPr id="45" name="TextBox 44"/>
          <p:cNvSpPr txBox="1"/>
          <p:nvPr/>
        </p:nvSpPr>
        <p:spPr>
          <a:xfrm rot="180000">
            <a:off x="1421807" y="8236448"/>
            <a:ext cx="7239000" cy="285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000" b="1" i="0" spc="200">
                <a:solidFill>
                  <a:srgbClr val="156826"/>
                </a:solidFill>
                <a:latin typeface="Montserrat"/>
              </a:rPr>
              <a:t>FAVORITE ORGANISM</a:t>
            </a:r>
          </a:p>
        </p:txBody>
      </p:sp>
      <p:sp>
        <p:nvSpPr>
          <p:cNvPr id="46" name="TextBox 45"/>
          <p:cNvSpPr txBox="1"/>
          <p:nvPr/>
        </p:nvSpPr>
        <p:spPr>
          <a:xfrm rot="180000">
            <a:off x="1403363" y="8521716"/>
            <a:ext cx="7239000" cy="419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3000" b="0" i="0">
                <a:solidFill>
                  <a:srgbClr val="333130"/>
                </a:solidFill>
                <a:latin typeface="Source Sans 3"/>
              </a:rPr>
              <a:t>[COPY: Allison]</a:t>
            </a:r>
          </a:p>
        </p:txBody>
      </p:sp>
      <p:sp>
        <p:nvSpPr>
          <p:cNvPr id="47" name="Freeform 46"/>
          <p:cNvSpPr/>
          <p:nvPr/>
        </p:nvSpPr>
        <p:spPr>
          <a:xfrm rot="180000">
            <a:off x="1334570" y="9520039"/>
            <a:ext cx="7239000" cy="1047750"/>
          </a:xfrm>
          <a:custGeom>
            <a:avLst/>
            <a:gdLst/>
            <a:ahLst/>
            <a:cxnLst/>
            <a:rect l="l" t="t" r="r" b="b"/>
            <a:pathLst>
              <a:path w="7239000" h="1047750">
                <a:moveTo>
                  <a:pt x="0" y="0"/>
                </a:moveTo>
                <a:lnTo>
                  <a:pt x="7239000" y="0"/>
                </a:lnTo>
                <a:lnTo>
                  <a:pt x="6953250" y="523875"/>
                </a:lnTo>
                <a:lnTo>
                  <a:pt x="7239000" y="1047750"/>
                </a:lnTo>
                <a:lnTo>
                  <a:pt x="0" y="1047750"/>
                </a:lnTo>
                <a:lnTo>
                  <a:pt x="285750" y="523875"/>
                </a:lnTo>
                <a:close/>
              </a:path>
            </a:pathLst>
          </a:custGeom>
          <a:solidFill>
            <a:srgbClr val="1568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 rot="180000">
            <a:off x="1715570" y="9520039"/>
            <a:ext cx="6477000" cy="1047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5000" b="1" i="0">
                <a:solidFill>
                  <a:srgbClr val="F4F1EA"/>
                </a:solidFill>
                <a:latin typeface="Montserrat"/>
              </a:rPr>
              <a:t>NICK PADWICK</a:t>
            </a:r>
          </a:p>
        </p:txBody>
      </p:sp>
      <p:sp>
        <p:nvSpPr>
          <p:cNvPr id="49" name="Freeform 48"/>
          <p:cNvSpPr/>
          <p:nvPr/>
        </p:nvSpPr>
        <p:spPr>
          <a:xfrm rot="180000">
            <a:off x="1863697" y="10471430"/>
            <a:ext cx="6096000" cy="762000"/>
          </a:xfrm>
          <a:custGeom>
            <a:avLst/>
            <a:gdLst/>
            <a:ahLst/>
            <a:cxnLst/>
            <a:rect l="l" t="t" r="r" b="b"/>
            <a:pathLst>
              <a:path w="6096000" h="762000">
                <a:moveTo>
                  <a:pt x="0" y="0"/>
                </a:moveTo>
                <a:lnTo>
                  <a:pt x="6096000" y="0"/>
                </a:lnTo>
                <a:lnTo>
                  <a:pt x="5810250" y="381000"/>
                </a:lnTo>
                <a:lnTo>
                  <a:pt x="6096000" y="762000"/>
                </a:lnTo>
                <a:lnTo>
                  <a:pt x="0" y="762000"/>
                </a:lnTo>
                <a:lnTo>
                  <a:pt x="285750" y="381000"/>
                </a:lnTo>
                <a:close/>
              </a:path>
            </a:pathLst>
          </a:custGeom>
          <a:solidFill>
            <a:srgbClr val="2237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 rot="180000">
            <a:off x="2244697" y="10471430"/>
            <a:ext cx="5334000" cy="762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2800" b="0" i="0">
                <a:solidFill>
                  <a:srgbClr val="DBE6A7"/>
                </a:solidFill>
                <a:latin typeface="Source Sans 3"/>
              </a:rPr>
              <a:t>Farmer, Norfolk</a:t>
            </a:r>
          </a:p>
        </p:txBody>
      </p:sp>
      <p:sp>
        <p:nvSpPr>
          <p:cNvPr id="51" name="Rectangle 50"/>
          <p:cNvSpPr/>
          <p:nvPr/>
        </p:nvSpPr>
        <p:spPr>
          <a:xfrm rot="180000">
            <a:off x="669352" y="11622610"/>
            <a:ext cx="8382000" cy="419100"/>
          </a:xfrm>
          <a:prstGeom prst="rect">
            <a:avLst/>
          </a:prstGeom>
          <a:solidFill>
            <a:srgbClr val="4F34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 rot="180000">
            <a:off x="669352" y="11622610"/>
            <a:ext cx="8382000" cy="4191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800" b="0" i="0">
                <a:solidFill>
                  <a:srgbClr val="F4F1EA"/>
                </a:solidFill>
                <a:latin typeface="Source Sans 3"/>
              </a:rPr>
              <a:t>soilfoodweb.com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8191500" y="762000"/>
            <a:ext cx="1333500" cy="285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2000" b="0" i="0">
                <a:solidFill>
                  <a:srgbClr val="F4F1EA">
                    <a:alpha val="60000"/>
                  </a:srgbClr>
                </a:solidFill>
                <a:latin typeface="Source Sans 3"/>
              </a:rPr>
              <a:t>3/7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22371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 rot="180000">
            <a:off x="952500" y="809625"/>
            <a:ext cx="8382000" cy="11239500"/>
          </a:xfrm>
          <a:prstGeom prst="roundRect">
            <a:avLst>
              <a:gd name="adj" fmla="val 3181"/>
            </a:avLst>
          </a:prstGeom>
          <a:pattFill prst="ltUpDiag">
            <a:fgClr>
              <a:srgbClr val="E8E2D4"/>
            </a:fgClr>
            <a:bgClr>
              <a:srgbClr val="F4F1EA"/>
            </a:bgClr>
          </a:pattFill>
          <a:ln>
            <a:noFill/>
          </a:ln>
          <a:effectLst>
            <a:outerShdw blurRad="228600" dist="76200" dir="5400000" algn="t" rotWithShape="0">
              <a:srgbClr val="000000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 rot="180000">
            <a:off x="1600720" y="1195598"/>
            <a:ext cx="3810000" cy="3810000"/>
          </a:xfrm>
          <a:prstGeom prst="rect">
            <a:avLst/>
          </a:prstGeom>
          <a:solidFill>
            <a:srgbClr val="F4F1EA"/>
          </a:solidFill>
          <a:ln w="19050">
            <a:solidFill>
              <a:srgbClr val="22371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141209792141385858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 rot="180000">
            <a:off x="1695970" y="1290848"/>
            <a:ext cx="3619500" cy="3619500"/>
          </a:xfrm>
          <a:prstGeom prst="rect">
            <a:avLst/>
          </a:prstGeom>
        </p:spPr>
      </p:pic>
      <p:sp>
        <p:nvSpPr>
          <p:cNvPr id="5" name="Oval 4"/>
          <p:cNvSpPr/>
          <p:nvPr/>
        </p:nvSpPr>
        <p:spPr>
          <a:xfrm rot="180000">
            <a:off x="8634636" y="2198966"/>
            <a:ext cx="457200" cy="457200"/>
          </a:xfrm>
          <a:prstGeom prst="ellipse">
            <a:avLst/>
          </a:prstGeom>
          <a:solidFill>
            <a:srgbClr val="1568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 rot="180000">
            <a:off x="8563280" y="2479931"/>
            <a:ext cx="457200" cy="457200"/>
          </a:xfrm>
          <a:prstGeom prst="ellipse">
            <a:avLst/>
          </a:prstGeom>
          <a:solidFill>
            <a:srgbClr val="1568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 rot="180000">
            <a:off x="8389835" y="2712203"/>
            <a:ext cx="457200" cy="457200"/>
          </a:xfrm>
          <a:prstGeom prst="ellipse">
            <a:avLst/>
          </a:prstGeom>
          <a:solidFill>
            <a:srgbClr val="1568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 rot="180000">
            <a:off x="8140706" y="2860419"/>
            <a:ext cx="457200" cy="457200"/>
          </a:xfrm>
          <a:prstGeom prst="ellipse">
            <a:avLst/>
          </a:prstGeom>
          <a:solidFill>
            <a:srgbClr val="1568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 rot="180000">
            <a:off x="7853821" y="2902015"/>
            <a:ext cx="457200" cy="457200"/>
          </a:xfrm>
          <a:prstGeom prst="ellipse">
            <a:avLst/>
          </a:prstGeom>
          <a:solidFill>
            <a:srgbClr val="1568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 rot="180000">
            <a:off x="7572856" y="2830659"/>
            <a:ext cx="457200" cy="457200"/>
          </a:xfrm>
          <a:prstGeom prst="ellipse">
            <a:avLst/>
          </a:prstGeom>
          <a:solidFill>
            <a:srgbClr val="1568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 rot="180000">
            <a:off x="7340584" y="2657214"/>
            <a:ext cx="457200" cy="457200"/>
          </a:xfrm>
          <a:prstGeom prst="ellipse">
            <a:avLst/>
          </a:prstGeom>
          <a:solidFill>
            <a:srgbClr val="1568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 rot="180000">
            <a:off x="7192368" y="2408085"/>
            <a:ext cx="457200" cy="457200"/>
          </a:xfrm>
          <a:prstGeom prst="ellipse">
            <a:avLst/>
          </a:prstGeom>
          <a:solidFill>
            <a:srgbClr val="1568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 rot="180000">
            <a:off x="7150772" y="2121200"/>
            <a:ext cx="457200" cy="457200"/>
          </a:xfrm>
          <a:prstGeom prst="ellipse">
            <a:avLst/>
          </a:prstGeom>
          <a:solidFill>
            <a:srgbClr val="1568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 rot="180000">
            <a:off x="7222128" y="1840235"/>
            <a:ext cx="457200" cy="457200"/>
          </a:xfrm>
          <a:prstGeom prst="ellipse">
            <a:avLst/>
          </a:prstGeom>
          <a:solidFill>
            <a:srgbClr val="1568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 rot="180000">
            <a:off x="7395573" y="1607964"/>
            <a:ext cx="457200" cy="457200"/>
          </a:xfrm>
          <a:prstGeom prst="ellipse">
            <a:avLst/>
          </a:prstGeom>
          <a:solidFill>
            <a:srgbClr val="1568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 rot="180000">
            <a:off x="7644702" y="1459748"/>
            <a:ext cx="457200" cy="457200"/>
          </a:xfrm>
          <a:prstGeom prst="ellipse">
            <a:avLst/>
          </a:prstGeom>
          <a:solidFill>
            <a:srgbClr val="1568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 rot="180000">
            <a:off x="7931587" y="1418151"/>
            <a:ext cx="457200" cy="457200"/>
          </a:xfrm>
          <a:prstGeom prst="ellipse">
            <a:avLst/>
          </a:prstGeom>
          <a:solidFill>
            <a:srgbClr val="1568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 rot="180000">
            <a:off x="8212552" y="1489507"/>
            <a:ext cx="457200" cy="457200"/>
          </a:xfrm>
          <a:prstGeom prst="ellipse">
            <a:avLst/>
          </a:prstGeom>
          <a:solidFill>
            <a:srgbClr val="1568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 rot="180000">
            <a:off x="8444823" y="1662953"/>
            <a:ext cx="457200" cy="457200"/>
          </a:xfrm>
          <a:prstGeom prst="ellipse">
            <a:avLst/>
          </a:prstGeom>
          <a:solidFill>
            <a:srgbClr val="1568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 rot="180000">
            <a:off x="8593039" y="1912081"/>
            <a:ext cx="457200" cy="457200"/>
          </a:xfrm>
          <a:prstGeom prst="ellipse">
            <a:avLst/>
          </a:prstGeom>
          <a:solidFill>
            <a:srgbClr val="1568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 rot="180000">
            <a:off x="8663211" y="2227541"/>
            <a:ext cx="400050" cy="400050"/>
          </a:xfrm>
          <a:prstGeom prst="ellipse">
            <a:avLst/>
          </a:prstGeom>
          <a:solidFill>
            <a:srgbClr val="F4F1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 rot="180000">
            <a:off x="8591855" y="2508506"/>
            <a:ext cx="400050" cy="400050"/>
          </a:xfrm>
          <a:prstGeom prst="ellipse">
            <a:avLst/>
          </a:prstGeom>
          <a:solidFill>
            <a:srgbClr val="F4F1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 rot="180000">
            <a:off x="8418410" y="2740778"/>
            <a:ext cx="400050" cy="400050"/>
          </a:xfrm>
          <a:prstGeom prst="ellipse">
            <a:avLst/>
          </a:prstGeom>
          <a:solidFill>
            <a:srgbClr val="F4F1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 rot="180000">
            <a:off x="8169281" y="2888994"/>
            <a:ext cx="400050" cy="400050"/>
          </a:xfrm>
          <a:prstGeom prst="ellipse">
            <a:avLst/>
          </a:prstGeom>
          <a:solidFill>
            <a:srgbClr val="F4F1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 rot="180000">
            <a:off x="7882396" y="2930590"/>
            <a:ext cx="400050" cy="400050"/>
          </a:xfrm>
          <a:prstGeom prst="ellipse">
            <a:avLst/>
          </a:prstGeom>
          <a:solidFill>
            <a:srgbClr val="F4F1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 rot="180000">
            <a:off x="7601431" y="2859234"/>
            <a:ext cx="400050" cy="400050"/>
          </a:xfrm>
          <a:prstGeom prst="ellipse">
            <a:avLst/>
          </a:prstGeom>
          <a:solidFill>
            <a:srgbClr val="F4F1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 rot="180000">
            <a:off x="7369159" y="2685789"/>
            <a:ext cx="400050" cy="400050"/>
          </a:xfrm>
          <a:prstGeom prst="ellipse">
            <a:avLst/>
          </a:prstGeom>
          <a:solidFill>
            <a:srgbClr val="F4F1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Oval 27"/>
          <p:cNvSpPr/>
          <p:nvPr/>
        </p:nvSpPr>
        <p:spPr>
          <a:xfrm rot="180000">
            <a:off x="7220943" y="2436660"/>
            <a:ext cx="400050" cy="400050"/>
          </a:xfrm>
          <a:prstGeom prst="ellipse">
            <a:avLst/>
          </a:prstGeom>
          <a:solidFill>
            <a:srgbClr val="F4F1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Oval 28"/>
          <p:cNvSpPr/>
          <p:nvPr/>
        </p:nvSpPr>
        <p:spPr>
          <a:xfrm rot="180000">
            <a:off x="7179347" y="2149775"/>
            <a:ext cx="400050" cy="400050"/>
          </a:xfrm>
          <a:prstGeom prst="ellipse">
            <a:avLst/>
          </a:prstGeom>
          <a:solidFill>
            <a:srgbClr val="F4F1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Oval 29"/>
          <p:cNvSpPr/>
          <p:nvPr/>
        </p:nvSpPr>
        <p:spPr>
          <a:xfrm rot="180000">
            <a:off x="7250703" y="1868810"/>
            <a:ext cx="400050" cy="400050"/>
          </a:xfrm>
          <a:prstGeom prst="ellipse">
            <a:avLst/>
          </a:prstGeom>
          <a:solidFill>
            <a:srgbClr val="F4F1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Oval 30"/>
          <p:cNvSpPr/>
          <p:nvPr/>
        </p:nvSpPr>
        <p:spPr>
          <a:xfrm rot="180000">
            <a:off x="7424148" y="1636539"/>
            <a:ext cx="400050" cy="400050"/>
          </a:xfrm>
          <a:prstGeom prst="ellipse">
            <a:avLst/>
          </a:prstGeom>
          <a:solidFill>
            <a:srgbClr val="F4F1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Oval 31"/>
          <p:cNvSpPr/>
          <p:nvPr/>
        </p:nvSpPr>
        <p:spPr>
          <a:xfrm rot="180000">
            <a:off x="7673277" y="1488323"/>
            <a:ext cx="400050" cy="400050"/>
          </a:xfrm>
          <a:prstGeom prst="ellipse">
            <a:avLst/>
          </a:prstGeom>
          <a:solidFill>
            <a:srgbClr val="F4F1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Oval 32"/>
          <p:cNvSpPr/>
          <p:nvPr/>
        </p:nvSpPr>
        <p:spPr>
          <a:xfrm rot="180000">
            <a:off x="7960162" y="1446726"/>
            <a:ext cx="400050" cy="400050"/>
          </a:xfrm>
          <a:prstGeom prst="ellipse">
            <a:avLst/>
          </a:prstGeom>
          <a:solidFill>
            <a:srgbClr val="F4F1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Oval 33"/>
          <p:cNvSpPr/>
          <p:nvPr/>
        </p:nvSpPr>
        <p:spPr>
          <a:xfrm rot="180000">
            <a:off x="8241127" y="1518082"/>
            <a:ext cx="400050" cy="400050"/>
          </a:xfrm>
          <a:prstGeom prst="ellipse">
            <a:avLst/>
          </a:prstGeom>
          <a:solidFill>
            <a:srgbClr val="F4F1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Oval 34"/>
          <p:cNvSpPr/>
          <p:nvPr/>
        </p:nvSpPr>
        <p:spPr>
          <a:xfrm rot="180000">
            <a:off x="8473398" y="1691528"/>
            <a:ext cx="400050" cy="400050"/>
          </a:xfrm>
          <a:prstGeom prst="ellipse">
            <a:avLst/>
          </a:prstGeom>
          <a:solidFill>
            <a:srgbClr val="F4F1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Oval 35"/>
          <p:cNvSpPr/>
          <p:nvPr/>
        </p:nvSpPr>
        <p:spPr>
          <a:xfrm rot="180000">
            <a:off x="8621614" y="1940656"/>
            <a:ext cx="400050" cy="400050"/>
          </a:xfrm>
          <a:prstGeom prst="ellipse">
            <a:avLst/>
          </a:prstGeom>
          <a:solidFill>
            <a:srgbClr val="F4F1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Oval 36"/>
          <p:cNvSpPr/>
          <p:nvPr/>
        </p:nvSpPr>
        <p:spPr>
          <a:xfrm rot="180000">
            <a:off x="7397404" y="1664783"/>
            <a:ext cx="1447800" cy="1447800"/>
          </a:xfrm>
          <a:prstGeom prst="ellipse">
            <a:avLst/>
          </a:prstGeom>
          <a:solidFill>
            <a:srgbClr val="F4F1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8" name="Picture 37" descr="foundation-logo-color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 rot="180000">
            <a:off x="7597429" y="1917689"/>
            <a:ext cx="1047750" cy="941987"/>
          </a:xfrm>
          <a:prstGeom prst="rect">
            <a:avLst/>
          </a:prstGeom>
        </p:spPr>
      </p:pic>
      <p:sp>
        <p:nvSpPr>
          <p:cNvPr id="39" name="TextBox 38"/>
          <p:cNvSpPr txBox="1"/>
          <p:nvPr/>
        </p:nvSpPr>
        <p:spPr>
          <a:xfrm rot="180000">
            <a:off x="1571357" y="5382865"/>
            <a:ext cx="7239000" cy="285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000" b="1" i="0" spc="200">
                <a:solidFill>
                  <a:srgbClr val="156826"/>
                </a:solidFill>
                <a:latin typeface="Montserrat"/>
              </a:rPr>
              <a:t>BASED IN</a:t>
            </a:r>
          </a:p>
        </p:txBody>
      </p:sp>
      <p:sp>
        <p:nvSpPr>
          <p:cNvPr id="40" name="TextBox 39"/>
          <p:cNvSpPr txBox="1"/>
          <p:nvPr/>
        </p:nvSpPr>
        <p:spPr>
          <a:xfrm rot="180000">
            <a:off x="1552912" y="5668132"/>
            <a:ext cx="7239000" cy="419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3000" b="0" i="0">
                <a:solidFill>
                  <a:srgbClr val="333130"/>
                </a:solidFill>
                <a:latin typeface="Source Sans 3"/>
              </a:rPr>
              <a:t>[COPY: Allison]</a:t>
            </a:r>
          </a:p>
        </p:txBody>
      </p:sp>
      <p:sp>
        <p:nvSpPr>
          <p:cNvPr id="41" name="TextBox 40"/>
          <p:cNvSpPr txBox="1"/>
          <p:nvPr/>
        </p:nvSpPr>
        <p:spPr>
          <a:xfrm rot="180000">
            <a:off x="1521507" y="6334059"/>
            <a:ext cx="7239000" cy="285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000" b="1" i="0" spc="200">
                <a:solidFill>
                  <a:srgbClr val="156826"/>
                </a:solidFill>
                <a:latin typeface="Montserrat"/>
              </a:rPr>
              <a:t>TEACHING SINCE</a:t>
            </a:r>
          </a:p>
        </p:txBody>
      </p:sp>
      <p:sp>
        <p:nvSpPr>
          <p:cNvPr id="42" name="TextBox 41"/>
          <p:cNvSpPr txBox="1"/>
          <p:nvPr/>
        </p:nvSpPr>
        <p:spPr>
          <a:xfrm rot="180000">
            <a:off x="1503063" y="6619326"/>
            <a:ext cx="7239000" cy="419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3000" b="0" i="0">
                <a:solidFill>
                  <a:srgbClr val="333130"/>
                </a:solidFill>
                <a:latin typeface="Source Sans 3"/>
              </a:rPr>
              <a:t>[COPY: Allison]</a:t>
            </a:r>
          </a:p>
        </p:txBody>
      </p:sp>
      <p:sp>
        <p:nvSpPr>
          <p:cNvPr id="43" name="TextBox 42"/>
          <p:cNvSpPr txBox="1"/>
          <p:nvPr/>
        </p:nvSpPr>
        <p:spPr>
          <a:xfrm rot="180000">
            <a:off x="1471657" y="7285254"/>
            <a:ext cx="7239000" cy="285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000" b="1" i="0" spc="200">
                <a:solidFill>
                  <a:srgbClr val="156826"/>
                </a:solidFill>
                <a:latin typeface="Montserrat"/>
              </a:rPr>
              <a:t>ASK ME ABOUT</a:t>
            </a:r>
          </a:p>
        </p:txBody>
      </p:sp>
      <p:sp>
        <p:nvSpPr>
          <p:cNvPr id="44" name="TextBox 43"/>
          <p:cNvSpPr txBox="1"/>
          <p:nvPr/>
        </p:nvSpPr>
        <p:spPr>
          <a:xfrm rot="180000">
            <a:off x="1453213" y="7570521"/>
            <a:ext cx="7239000" cy="419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3000" b="0" i="0">
                <a:solidFill>
                  <a:srgbClr val="333130"/>
                </a:solidFill>
                <a:latin typeface="Source Sans 3"/>
              </a:rPr>
              <a:t>[COPY: Allison]</a:t>
            </a:r>
          </a:p>
        </p:txBody>
      </p:sp>
      <p:sp>
        <p:nvSpPr>
          <p:cNvPr id="45" name="TextBox 44"/>
          <p:cNvSpPr txBox="1"/>
          <p:nvPr/>
        </p:nvSpPr>
        <p:spPr>
          <a:xfrm rot="180000">
            <a:off x="1421807" y="8236448"/>
            <a:ext cx="7239000" cy="285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000" b="1" i="0" spc="200">
                <a:solidFill>
                  <a:srgbClr val="156826"/>
                </a:solidFill>
                <a:latin typeface="Montserrat"/>
              </a:rPr>
              <a:t>FAVORITE ORGANISM</a:t>
            </a:r>
          </a:p>
        </p:txBody>
      </p:sp>
      <p:sp>
        <p:nvSpPr>
          <p:cNvPr id="46" name="TextBox 45"/>
          <p:cNvSpPr txBox="1"/>
          <p:nvPr/>
        </p:nvSpPr>
        <p:spPr>
          <a:xfrm rot="180000">
            <a:off x="1403363" y="8521716"/>
            <a:ext cx="7239000" cy="419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3000" b="0" i="0">
                <a:solidFill>
                  <a:srgbClr val="333130"/>
                </a:solidFill>
                <a:latin typeface="Source Sans 3"/>
              </a:rPr>
              <a:t>[COPY: Allison]</a:t>
            </a:r>
          </a:p>
        </p:txBody>
      </p:sp>
      <p:sp>
        <p:nvSpPr>
          <p:cNvPr id="47" name="Freeform 46"/>
          <p:cNvSpPr/>
          <p:nvPr/>
        </p:nvSpPr>
        <p:spPr>
          <a:xfrm rot="180000">
            <a:off x="1334570" y="9520039"/>
            <a:ext cx="7239000" cy="1047750"/>
          </a:xfrm>
          <a:custGeom>
            <a:avLst/>
            <a:gdLst/>
            <a:ahLst/>
            <a:cxnLst/>
            <a:rect l="l" t="t" r="r" b="b"/>
            <a:pathLst>
              <a:path w="7239000" h="1047750">
                <a:moveTo>
                  <a:pt x="0" y="0"/>
                </a:moveTo>
                <a:lnTo>
                  <a:pt x="7239000" y="0"/>
                </a:lnTo>
                <a:lnTo>
                  <a:pt x="6953250" y="523875"/>
                </a:lnTo>
                <a:lnTo>
                  <a:pt x="7239000" y="1047750"/>
                </a:lnTo>
                <a:lnTo>
                  <a:pt x="0" y="1047750"/>
                </a:lnTo>
                <a:lnTo>
                  <a:pt x="285750" y="523875"/>
                </a:lnTo>
                <a:close/>
              </a:path>
            </a:pathLst>
          </a:custGeom>
          <a:solidFill>
            <a:srgbClr val="1568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 rot="180000">
            <a:off x="1715570" y="9520039"/>
            <a:ext cx="6477000" cy="1047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5000" b="1" i="0">
                <a:solidFill>
                  <a:srgbClr val="F4F1EA"/>
                </a:solidFill>
                <a:latin typeface="Montserrat"/>
              </a:rPr>
              <a:t>WES SANDER</a:t>
            </a:r>
          </a:p>
        </p:txBody>
      </p:sp>
      <p:sp>
        <p:nvSpPr>
          <p:cNvPr id="49" name="Freeform 48"/>
          <p:cNvSpPr/>
          <p:nvPr/>
        </p:nvSpPr>
        <p:spPr>
          <a:xfrm rot="180000">
            <a:off x="1863697" y="10471430"/>
            <a:ext cx="6096000" cy="762000"/>
          </a:xfrm>
          <a:custGeom>
            <a:avLst/>
            <a:gdLst/>
            <a:ahLst/>
            <a:cxnLst/>
            <a:rect l="l" t="t" r="r" b="b"/>
            <a:pathLst>
              <a:path w="6096000" h="762000">
                <a:moveTo>
                  <a:pt x="0" y="0"/>
                </a:moveTo>
                <a:lnTo>
                  <a:pt x="6096000" y="0"/>
                </a:lnTo>
                <a:lnTo>
                  <a:pt x="5810250" y="381000"/>
                </a:lnTo>
                <a:lnTo>
                  <a:pt x="6096000" y="762000"/>
                </a:lnTo>
                <a:lnTo>
                  <a:pt x="0" y="762000"/>
                </a:lnTo>
                <a:lnTo>
                  <a:pt x="285750" y="381000"/>
                </a:lnTo>
                <a:close/>
              </a:path>
            </a:pathLst>
          </a:custGeom>
          <a:solidFill>
            <a:srgbClr val="2237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 rot="180000">
            <a:off x="2244697" y="10471430"/>
            <a:ext cx="5334000" cy="762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2800" b="0" i="0">
                <a:solidFill>
                  <a:srgbClr val="DBE6A7"/>
                </a:solidFill>
                <a:latin typeface="Source Sans 3"/>
              </a:rPr>
              <a:t>Microscopy</a:t>
            </a:r>
          </a:p>
        </p:txBody>
      </p:sp>
      <p:sp>
        <p:nvSpPr>
          <p:cNvPr id="51" name="Rectangle 50"/>
          <p:cNvSpPr/>
          <p:nvPr/>
        </p:nvSpPr>
        <p:spPr>
          <a:xfrm rot="180000">
            <a:off x="669352" y="11622610"/>
            <a:ext cx="8382000" cy="419100"/>
          </a:xfrm>
          <a:prstGeom prst="rect">
            <a:avLst/>
          </a:prstGeom>
          <a:solidFill>
            <a:srgbClr val="4F34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 rot="180000">
            <a:off x="669352" y="11622610"/>
            <a:ext cx="8382000" cy="4191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800" b="0" i="0">
                <a:solidFill>
                  <a:srgbClr val="F4F1EA"/>
                </a:solidFill>
                <a:latin typeface="Source Sans 3"/>
              </a:rPr>
              <a:t>soilfoodweb.com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8191500" y="762000"/>
            <a:ext cx="1333500" cy="285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2000" b="0" i="0">
                <a:solidFill>
                  <a:srgbClr val="F4F1EA">
                    <a:alpha val="60000"/>
                  </a:srgbClr>
                </a:solidFill>
                <a:latin typeface="Source Sans 3"/>
              </a:rPr>
              <a:t>4/7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22371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 rot="180000">
            <a:off x="952500" y="809625"/>
            <a:ext cx="8382000" cy="11239500"/>
          </a:xfrm>
          <a:prstGeom prst="roundRect">
            <a:avLst>
              <a:gd name="adj" fmla="val 3181"/>
            </a:avLst>
          </a:prstGeom>
          <a:pattFill prst="ltUpDiag">
            <a:fgClr>
              <a:srgbClr val="E8E2D4"/>
            </a:fgClr>
            <a:bgClr>
              <a:srgbClr val="F4F1EA"/>
            </a:bgClr>
          </a:pattFill>
          <a:ln>
            <a:noFill/>
          </a:ln>
          <a:effectLst>
            <a:outerShdw blurRad="228600" dist="76200" dir="5400000" algn="t" rotWithShape="0">
              <a:srgbClr val="000000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 rot="180000">
            <a:off x="1600720" y="1195598"/>
            <a:ext cx="3810000" cy="3810000"/>
          </a:xfrm>
          <a:prstGeom prst="rect">
            <a:avLst/>
          </a:prstGeom>
          <a:solidFill>
            <a:srgbClr val="F4F1EA"/>
          </a:solidFill>
          <a:ln w="19050">
            <a:solidFill>
              <a:srgbClr val="22371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8872118310774173954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 rot="180000">
            <a:off x="1695970" y="1290848"/>
            <a:ext cx="3619500" cy="3619500"/>
          </a:xfrm>
          <a:prstGeom prst="rect">
            <a:avLst/>
          </a:prstGeom>
        </p:spPr>
      </p:pic>
      <p:sp>
        <p:nvSpPr>
          <p:cNvPr id="5" name="Oval 4"/>
          <p:cNvSpPr/>
          <p:nvPr/>
        </p:nvSpPr>
        <p:spPr>
          <a:xfrm rot="180000">
            <a:off x="8634636" y="2198966"/>
            <a:ext cx="457200" cy="457200"/>
          </a:xfrm>
          <a:prstGeom prst="ellipse">
            <a:avLst/>
          </a:prstGeom>
          <a:solidFill>
            <a:srgbClr val="1568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 rot="180000">
            <a:off x="8563280" y="2479931"/>
            <a:ext cx="457200" cy="457200"/>
          </a:xfrm>
          <a:prstGeom prst="ellipse">
            <a:avLst/>
          </a:prstGeom>
          <a:solidFill>
            <a:srgbClr val="1568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 rot="180000">
            <a:off x="8389835" y="2712203"/>
            <a:ext cx="457200" cy="457200"/>
          </a:xfrm>
          <a:prstGeom prst="ellipse">
            <a:avLst/>
          </a:prstGeom>
          <a:solidFill>
            <a:srgbClr val="1568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 rot="180000">
            <a:off x="8140706" y="2860419"/>
            <a:ext cx="457200" cy="457200"/>
          </a:xfrm>
          <a:prstGeom prst="ellipse">
            <a:avLst/>
          </a:prstGeom>
          <a:solidFill>
            <a:srgbClr val="1568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 rot="180000">
            <a:off x="7853821" y="2902015"/>
            <a:ext cx="457200" cy="457200"/>
          </a:xfrm>
          <a:prstGeom prst="ellipse">
            <a:avLst/>
          </a:prstGeom>
          <a:solidFill>
            <a:srgbClr val="1568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 rot="180000">
            <a:off x="7572856" y="2830659"/>
            <a:ext cx="457200" cy="457200"/>
          </a:xfrm>
          <a:prstGeom prst="ellipse">
            <a:avLst/>
          </a:prstGeom>
          <a:solidFill>
            <a:srgbClr val="1568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 rot="180000">
            <a:off x="7340584" y="2657214"/>
            <a:ext cx="457200" cy="457200"/>
          </a:xfrm>
          <a:prstGeom prst="ellipse">
            <a:avLst/>
          </a:prstGeom>
          <a:solidFill>
            <a:srgbClr val="1568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 rot="180000">
            <a:off x="7192368" y="2408085"/>
            <a:ext cx="457200" cy="457200"/>
          </a:xfrm>
          <a:prstGeom prst="ellipse">
            <a:avLst/>
          </a:prstGeom>
          <a:solidFill>
            <a:srgbClr val="1568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 rot="180000">
            <a:off x="7150772" y="2121200"/>
            <a:ext cx="457200" cy="457200"/>
          </a:xfrm>
          <a:prstGeom prst="ellipse">
            <a:avLst/>
          </a:prstGeom>
          <a:solidFill>
            <a:srgbClr val="1568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 rot="180000">
            <a:off x="7222128" y="1840235"/>
            <a:ext cx="457200" cy="457200"/>
          </a:xfrm>
          <a:prstGeom prst="ellipse">
            <a:avLst/>
          </a:prstGeom>
          <a:solidFill>
            <a:srgbClr val="1568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 rot="180000">
            <a:off x="7395573" y="1607964"/>
            <a:ext cx="457200" cy="457200"/>
          </a:xfrm>
          <a:prstGeom prst="ellipse">
            <a:avLst/>
          </a:prstGeom>
          <a:solidFill>
            <a:srgbClr val="1568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 rot="180000">
            <a:off x="7644702" y="1459748"/>
            <a:ext cx="457200" cy="457200"/>
          </a:xfrm>
          <a:prstGeom prst="ellipse">
            <a:avLst/>
          </a:prstGeom>
          <a:solidFill>
            <a:srgbClr val="1568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 rot="180000">
            <a:off x="7931587" y="1418151"/>
            <a:ext cx="457200" cy="457200"/>
          </a:xfrm>
          <a:prstGeom prst="ellipse">
            <a:avLst/>
          </a:prstGeom>
          <a:solidFill>
            <a:srgbClr val="1568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 rot="180000">
            <a:off x="8212552" y="1489507"/>
            <a:ext cx="457200" cy="457200"/>
          </a:xfrm>
          <a:prstGeom prst="ellipse">
            <a:avLst/>
          </a:prstGeom>
          <a:solidFill>
            <a:srgbClr val="1568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 rot="180000">
            <a:off x="8444823" y="1662953"/>
            <a:ext cx="457200" cy="457200"/>
          </a:xfrm>
          <a:prstGeom prst="ellipse">
            <a:avLst/>
          </a:prstGeom>
          <a:solidFill>
            <a:srgbClr val="1568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 rot="180000">
            <a:off x="8593039" y="1912081"/>
            <a:ext cx="457200" cy="457200"/>
          </a:xfrm>
          <a:prstGeom prst="ellipse">
            <a:avLst/>
          </a:prstGeom>
          <a:solidFill>
            <a:srgbClr val="1568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 rot="180000">
            <a:off x="8663211" y="2227541"/>
            <a:ext cx="400050" cy="400050"/>
          </a:xfrm>
          <a:prstGeom prst="ellipse">
            <a:avLst/>
          </a:prstGeom>
          <a:solidFill>
            <a:srgbClr val="F4F1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 rot="180000">
            <a:off x="8591855" y="2508506"/>
            <a:ext cx="400050" cy="400050"/>
          </a:xfrm>
          <a:prstGeom prst="ellipse">
            <a:avLst/>
          </a:prstGeom>
          <a:solidFill>
            <a:srgbClr val="F4F1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 rot="180000">
            <a:off x="8418410" y="2740778"/>
            <a:ext cx="400050" cy="400050"/>
          </a:xfrm>
          <a:prstGeom prst="ellipse">
            <a:avLst/>
          </a:prstGeom>
          <a:solidFill>
            <a:srgbClr val="F4F1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 rot="180000">
            <a:off x="8169281" y="2888994"/>
            <a:ext cx="400050" cy="400050"/>
          </a:xfrm>
          <a:prstGeom prst="ellipse">
            <a:avLst/>
          </a:prstGeom>
          <a:solidFill>
            <a:srgbClr val="F4F1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 rot="180000">
            <a:off x="7882396" y="2930590"/>
            <a:ext cx="400050" cy="400050"/>
          </a:xfrm>
          <a:prstGeom prst="ellipse">
            <a:avLst/>
          </a:prstGeom>
          <a:solidFill>
            <a:srgbClr val="F4F1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 rot="180000">
            <a:off x="7601431" y="2859234"/>
            <a:ext cx="400050" cy="400050"/>
          </a:xfrm>
          <a:prstGeom prst="ellipse">
            <a:avLst/>
          </a:prstGeom>
          <a:solidFill>
            <a:srgbClr val="F4F1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 rot="180000">
            <a:off x="7369159" y="2685789"/>
            <a:ext cx="400050" cy="400050"/>
          </a:xfrm>
          <a:prstGeom prst="ellipse">
            <a:avLst/>
          </a:prstGeom>
          <a:solidFill>
            <a:srgbClr val="F4F1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Oval 27"/>
          <p:cNvSpPr/>
          <p:nvPr/>
        </p:nvSpPr>
        <p:spPr>
          <a:xfrm rot="180000">
            <a:off x="7220943" y="2436660"/>
            <a:ext cx="400050" cy="400050"/>
          </a:xfrm>
          <a:prstGeom prst="ellipse">
            <a:avLst/>
          </a:prstGeom>
          <a:solidFill>
            <a:srgbClr val="F4F1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Oval 28"/>
          <p:cNvSpPr/>
          <p:nvPr/>
        </p:nvSpPr>
        <p:spPr>
          <a:xfrm rot="180000">
            <a:off x="7179347" y="2149775"/>
            <a:ext cx="400050" cy="400050"/>
          </a:xfrm>
          <a:prstGeom prst="ellipse">
            <a:avLst/>
          </a:prstGeom>
          <a:solidFill>
            <a:srgbClr val="F4F1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Oval 29"/>
          <p:cNvSpPr/>
          <p:nvPr/>
        </p:nvSpPr>
        <p:spPr>
          <a:xfrm rot="180000">
            <a:off x="7250703" y="1868810"/>
            <a:ext cx="400050" cy="400050"/>
          </a:xfrm>
          <a:prstGeom prst="ellipse">
            <a:avLst/>
          </a:prstGeom>
          <a:solidFill>
            <a:srgbClr val="F4F1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Oval 30"/>
          <p:cNvSpPr/>
          <p:nvPr/>
        </p:nvSpPr>
        <p:spPr>
          <a:xfrm rot="180000">
            <a:off x="7424148" y="1636539"/>
            <a:ext cx="400050" cy="400050"/>
          </a:xfrm>
          <a:prstGeom prst="ellipse">
            <a:avLst/>
          </a:prstGeom>
          <a:solidFill>
            <a:srgbClr val="F4F1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Oval 31"/>
          <p:cNvSpPr/>
          <p:nvPr/>
        </p:nvSpPr>
        <p:spPr>
          <a:xfrm rot="180000">
            <a:off x="7673277" y="1488323"/>
            <a:ext cx="400050" cy="400050"/>
          </a:xfrm>
          <a:prstGeom prst="ellipse">
            <a:avLst/>
          </a:prstGeom>
          <a:solidFill>
            <a:srgbClr val="F4F1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Oval 32"/>
          <p:cNvSpPr/>
          <p:nvPr/>
        </p:nvSpPr>
        <p:spPr>
          <a:xfrm rot="180000">
            <a:off x="7960162" y="1446726"/>
            <a:ext cx="400050" cy="400050"/>
          </a:xfrm>
          <a:prstGeom prst="ellipse">
            <a:avLst/>
          </a:prstGeom>
          <a:solidFill>
            <a:srgbClr val="F4F1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Oval 33"/>
          <p:cNvSpPr/>
          <p:nvPr/>
        </p:nvSpPr>
        <p:spPr>
          <a:xfrm rot="180000">
            <a:off x="8241127" y="1518082"/>
            <a:ext cx="400050" cy="400050"/>
          </a:xfrm>
          <a:prstGeom prst="ellipse">
            <a:avLst/>
          </a:prstGeom>
          <a:solidFill>
            <a:srgbClr val="F4F1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Oval 34"/>
          <p:cNvSpPr/>
          <p:nvPr/>
        </p:nvSpPr>
        <p:spPr>
          <a:xfrm rot="180000">
            <a:off x="8473398" y="1691528"/>
            <a:ext cx="400050" cy="400050"/>
          </a:xfrm>
          <a:prstGeom prst="ellipse">
            <a:avLst/>
          </a:prstGeom>
          <a:solidFill>
            <a:srgbClr val="F4F1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Oval 35"/>
          <p:cNvSpPr/>
          <p:nvPr/>
        </p:nvSpPr>
        <p:spPr>
          <a:xfrm rot="180000">
            <a:off x="8621614" y="1940656"/>
            <a:ext cx="400050" cy="400050"/>
          </a:xfrm>
          <a:prstGeom prst="ellipse">
            <a:avLst/>
          </a:prstGeom>
          <a:solidFill>
            <a:srgbClr val="F4F1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Oval 36"/>
          <p:cNvSpPr/>
          <p:nvPr/>
        </p:nvSpPr>
        <p:spPr>
          <a:xfrm rot="180000">
            <a:off x="7397404" y="1664783"/>
            <a:ext cx="1447800" cy="1447800"/>
          </a:xfrm>
          <a:prstGeom prst="ellipse">
            <a:avLst/>
          </a:prstGeom>
          <a:solidFill>
            <a:srgbClr val="F4F1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8" name="Picture 37" descr="foundation-logo-color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 rot="180000">
            <a:off x="7597429" y="1917689"/>
            <a:ext cx="1047750" cy="941987"/>
          </a:xfrm>
          <a:prstGeom prst="rect">
            <a:avLst/>
          </a:prstGeom>
        </p:spPr>
      </p:pic>
      <p:sp>
        <p:nvSpPr>
          <p:cNvPr id="39" name="TextBox 38"/>
          <p:cNvSpPr txBox="1"/>
          <p:nvPr/>
        </p:nvSpPr>
        <p:spPr>
          <a:xfrm rot="180000">
            <a:off x="1571357" y="5382865"/>
            <a:ext cx="7239000" cy="285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000" b="1" i="0" spc="200">
                <a:solidFill>
                  <a:srgbClr val="156826"/>
                </a:solidFill>
                <a:latin typeface="Montserrat"/>
              </a:rPr>
              <a:t>BASED IN</a:t>
            </a:r>
          </a:p>
        </p:txBody>
      </p:sp>
      <p:sp>
        <p:nvSpPr>
          <p:cNvPr id="40" name="TextBox 39"/>
          <p:cNvSpPr txBox="1"/>
          <p:nvPr/>
        </p:nvSpPr>
        <p:spPr>
          <a:xfrm rot="180000">
            <a:off x="1552912" y="5668132"/>
            <a:ext cx="7239000" cy="419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3000" b="0" i="0">
                <a:solidFill>
                  <a:srgbClr val="333130"/>
                </a:solidFill>
                <a:latin typeface="Source Sans 3"/>
              </a:rPr>
              <a:t>[COPY: Allison]</a:t>
            </a:r>
          </a:p>
        </p:txBody>
      </p:sp>
      <p:sp>
        <p:nvSpPr>
          <p:cNvPr id="41" name="TextBox 40"/>
          <p:cNvSpPr txBox="1"/>
          <p:nvPr/>
        </p:nvSpPr>
        <p:spPr>
          <a:xfrm rot="180000">
            <a:off x="1521507" y="6334059"/>
            <a:ext cx="7239000" cy="285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000" b="1" i="0" spc="200">
                <a:solidFill>
                  <a:srgbClr val="156826"/>
                </a:solidFill>
                <a:latin typeface="Montserrat"/>
              </a:rPr>
              <a:t>TEACHING SINCE</a:t>
            </a:r>
          </a:p>
        </p:txBody>
      </p:sp>
      <p:sp>
        <p:nvSpPr>
          <p:cNvPr id="42" name="TextBox 41"/>
          <p:cNvSpPr txBox="1"/>
          <p:nvPr/>
        </p:nvSpPr>
        <p:spPr>
          <a:xfrm rot="180000">
            <a:off x="1503063" y="6619326"/>
            <a:ext cx="7239000" cy="419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3000" b="0" i="0">
                <a:solidFill>
                  <a:srgbClr val="333130"/>
                </a:solidFill>
                <a:latin typeface="Source Sans 3"/>
              </a:rPr>
              <a:t>[COPY: Allison]</a:t>
            </a:r>
          </a:p>
        </p:txBody>
      </p:sp>
      <p:sp>
        <p:nvSpPr>
          <p:cNvPr id="43" name="TextBox 42"/>
          <p:cNvSpPr txBox="1"/>
          <p:nvPr/>
        </p:nvSpPr>
        <p:spPr>
          <a:xfrm rot="180000">
            <a:off x="1471657" y="7285254"/>
            <a:ext cx="7239000" cy="285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000" b="1" i="0" spc="200">
                <a:solidFill>
                  <a:srgbClr val="156826"/>
                </a:solidFill>
                <a:latin typeface="Montserrat"/>
              </a:rPr>
              <a:t>ASK ME ABOUT</a:t>
            </a:r>
          </a:p>
        </p:txBody>
      </p:sp>
      <p:sp>
        <p:nvSpPr>
          <p:cNvPr id="44" name="TextBox 43"/>
          <p:cNvSpPr txBox="1"/>
          <p:nvPr/>
        </p:nvSpPr>
        <p:spPr>
          <a:xfrm rot="180000">
            <a:off x="1453213" y="7570521"/>
            <a:ext cx="7239000" cy="419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3000" b="0" i="0">
                <a:solidFill>
                  <a:srgbClr val="333130"/>
                </a:solidFill>
                <a:latin typeface="Source Sans 3"/>
              </a:rPr>
              <a:t>[COPY: Allison]</a:t>
            </a:r>
          </a:p>
        </p:txBody>
      </p:sp>
      <p:sp>
        <p:nvSpPr>
          <p:cNvPr id="45" name="TextBox 44"/>
          <p:cNvSpPr txBox="1"/>
          <p:nvPr/>
        </p:nvSpPr>
        <p:spPr>
          <a:xfrm rot="180000">
            <a:off x="1421807" y="8236448"/>
            <a:ext cx="7239000" cy="285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000" b="1" i="0" spc="200">
                <a:solidFill>
                  <a:srgbClr val="156826"/>
                </a:solidFill>
                <a:latin typeface="Montserrat"/>
              </a:rPr>
              <a:t>FAVORITE ORGANISM</a:t>
            </a:r>
          </a:p>
        </p:txBody>
      </p:sp>
      <p:sp>
        <p:nvSpPr>
          <p:cNvPr id="46" name="TextBox 45"/>
          <p:cNvSpPr txBox="1"/>
          <p:nvPr/>
        </p:nvSpPr>
        <p:spPr>
          <a:xfrm rot="180000">
            <a:off x="1403363" y="8521716"/>
            <a:ext cx="7239000" cy="419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3000" b="0" i="0">
                <a:solidFill>
                  <a:srgbClr val="333130"/>
                </a:solidFill>
                <a:latin typeface="Source Sans 3"/>
              </a:rPr>
              <a:t>[COPY: Allison]</a:t>
            </a:r>
          </a:p>
        </p:txBody>
      </p:sp>
      <p:sp>
        <p:nvSpPr>
          <p:cNvPr id="47" name="Freeform 46"/>
          <p:cNvSpPr/>
          <p:nvPr/>
        </p:nvSpPr>
        <p:spPr>
          <a:xfrm rot="180000">
            <a:off x="1334570" y="9520039"/>
            <a:ext cx="7239000" cy="1047750"/>
          </a:xfrm>
          <a:custGeom>
            <a:avLst/>
            <a:gdLst/>
            <a:ahLst/>
            <a:cxnLst/>
            <a:rect l="l" t="t" r="r" b="b"/>
            <a:pathLst>
              <a:path w="7239000" h="1047750">
                <a:moveTo>
                  <a:pt x="0" y="0"/>
                </a:moveTo>
                <a:lnTo>
                  <a:pt x="7239000" y="0"/>
                </a:lnTo>
                <a:lnTo>
                  <a:pt x="6953250" y="523875"/>
                </a:lnTo>
                <a:lnTo>
                  <a:pt x="7239000" y="1047750"/>
                </a:lnTo>
                <a:lnTo>
                  <a:pt x="0" y="1047750"/>
                </a:lnTo>
                <a:lnTo>
                  <a:pt x="285750" y="523875"/>
                </a:lnTo>
                <a:close/>
              </a:path>
            </a:pathLst>
          </a:custGeom>
          <a:solidFill>
            <a:srgbClr val="1568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 rot="180000">
            <a:off x="1715570" y="9520039"/>
            <a:ext cx="6477000" cy="1047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5000" b="1" i="0">
                <a:solidFill>
                  <a:srgbClr val="F4F1EA"/>
                </a:solidFill>
                <a:latin typeface="Montserrat"/>
              </a:rPr>
              <a:t>GERALD RAMÍREZ</a:t>
            </a:r>
          </a:p>
        </p:txBody>
      </p:sp>
      <p:sp>
        <p:nvSpPr>
          <p:cNvPr id="49" name="Freeform 48"/>
          <p:cNvSpPr/>
          <p:nvPr/>
        </p:nvSpPr>
        <p:spPr>
          <a:xfrm rot="180000">
            <a:off x="1863697" y="10471430"/>
            <a:ext cx="6096000" cy="762000"/>
          </a:xfrm>
          <a:custGeom>
            <a:avLst/>
            <a:gdLst/>
            <a:ahLst/>
            <a:cxnLst/>
            <a:rect l="l" t="t" r="r" b="b"/>
            <a:pathLst>
              <a:path w="6096000" h="762000">
                <a:moveTo>
                  <a:pt x="0" y="0"/>
                </a:moveTo>
                <a:lnTo>
                  <a:pt x="6096000" y="0"/>
                </a:lnTo>
                <a:lnTo>
                  <a:pt x="5810250" y="381000"/>
                </a:lnTo>
                <a:lnTo>
                  <a:pt x="6096000" y="762000"/>
                </a:lnTo>
                <a:lnTo>
                  <a:pt x="0" y="762000"/>
                </a:lnTo>
                <a:lnTo>
                  <a:pt x="285750" y="381000"/>
                </a:lnTo>
                <a:close/>
              </a:path>
            </a:pathLst>
          </a:custGeom>
          <a:solidFill>
            <a:srgbClr val="2237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 rot="180000">
            <a:off x="2244697" y="10471430"/>
            <a:ext cx="5334000" cy="762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2800" b="0" i="0">
                <a:solidFill>
                  <a:srgbClr val="DBE6A7"/>
                </a:solidFill>
                <a:latin typeface="Source Sans 3"/>
              </a:rPr>
              <a:t>Compost extracts and teas</a:t>
            </a:r>
          </a:p>
        </p:txBody>
      </p:sp>
      <p:sp>
        <p:nvSpPr>
          <p:cNvPr id="51" name="Rectangle 50"/>
          <p:cNvSpPr/>
          <p:nvPr/>
        </p:nvSpPr>
        <p:spPr>
          <a:xfrm rot="180000">
            <a:off x="669352" y="11622610"/>
            <a:ext cx="8382000" cy="419100"/>
          </a:xfrm>
          <a:prstGeom prst="rect">
            <a:avLst/>
          </a:prstGeom>
          <a:solidFill>
            <a:srgbClr val="4F34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 rot="180000">
            <a:off x="669352" y="11622610"/>
            <a:ext cx="8382000" cy="4191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800" b="0" i="0">
                <a:solidFill>
                  <a:srgbClr val="F4F1EA"/>
                </a:solidFill>
                <a:latin typeface="Source Sans 3"/>
              </a:rPr>
              <a:t>soilfoodweb.com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8191500" y="762000"/>
            <a:ext cx="1333500" cy="285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2000" b="0" i="0">
                <a:solidFill>
                  <a:srgbClr val="F4F1EA">
                    <a:alpha val="60000"/>
                  </a:srgbClr>
                </a:solidFill>
                <a:latin typeface="Source Sans 3"/>
              </a:rPr>
              <a:t>5/7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22371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 rot="180000">
            <a:off x="952500" y="809625"/>
            <a:ext cx="8382000" cy="11239500"/>
          </a:xfrm>
          <a:prstGeom prst="roundRect">
            <a:avLst>
              <a:gd name="adj" fmla="val 3181"/>
            </a:avLst>
          </a:prstGeom>
          <a:pattFill prst="ltUpDiag">
            <a:fgClr>
              <a:srgbClr val="E8E2D4"/>
            </a:fgClr>
            <a:bgClr>
              <a:srgbClr val="F4F1EA"/>
            </a:bgClr>
          </a:pattFill>
          <a:ln>
            <a:noFill/>
          </a:ln>
          <a:effectLst>
            <a:outerShdw blurRad="228600" dist="76200" dir="5400000" algn="t" rotWithShape="0">
              <a:srgbClr val="000000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 rot="180000">
            <a:off x="1600720" y="1195598"/>
            <a:ext cx="3810000" cy="3810000"/>
          </a:xfrm>
          <a:prstGeom prst="rect">
            <a:avLst/>
          </a:prstGeom>
          <a:solidFill>
            <a:srgbClr val="F4F1EA"/>
          </a:solidFill>
          <a:ln w="19050">
            <a:solidFill>
              <a:srgbClr val="22371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 rot="180000">
            <a:off x="1695970" y="1290848"/>
            <a:ext cx="3619500" cy="3619500"/>
          </a:xfrm>
          <a:prstGeom prst="rect">
            <a:avLst/>
          </a:prstGeom>
          <a:solidFill>
            <a:srgbClr val="C9C4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 rot="180000">
            <a:off x="1848370" y="1290848"/>
            <a:ext cx="3314700" cy="36195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2000" b="1" i="0">
                <a:solidFill>
                  <a:srgbClr val="4A463F"/>
                </a:solidFill>
                <a:latin typeface="Source Sans 3"/>
              </a:rPr>
              <a:t>PHOTO: Dr. Caterina Capri, square headshot</a:t>
            </a:r>
          </a:p>
        </p:txBody>
      </p:sp>
      <p:sp>
        <p:nvSpPr>
          <p:cNvPr id="6" name="Oval 5"/>
          <p:cNvSpPr/>
          <p:nvPr/>
        </p:nvSpPr>
        <p:spPr>
          <a:xfrm rot="180000">
            <a:off x="8634636" y="2198966"/>
            <a:ext cx="457200" cy="457200"/>
          </a:xfrm>
          <a:prstGeom prst="ellipse">
            <a:avLst/>
          </a:prstGeom>
          <a:solidFill>
            <a:srgbClr val="1568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 rot="180000">
            <a:off x="8563280" y="2479931"/>
            <a:ext cx="457200" cy="457200"/>
          </a:xfrm>
          <a:prstGeom prst="ellipse">
            <a:avLst/>
          </a:prstGeom>
          <a:solidFill>
            <a:srgbClr val="1568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 rot="180000">
            <a:off x="8389835" y="2712203"/>
            <a:ext cx="457200" cy="457200"/>
          </a:xfrm>
          <a:prstGeom prst="ellipse">
            <a:avLst/>
          </a:prstGeom>
          <a:solidFill>
            <a:srgbClr val="1568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 rot="180000">
            <a:off x="8140706" y="2860419"/>
            <a:ext cx="457200" cy="457200"/>
          </a:xfrm>
          <a:prstGeom prst="ellipse">
            <a:avLst/>
          </a:prstGeom>
          <a:solidFill>
            <a:srgbClr val="1568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 rot="180000">
            <a:off x="7853821" y="2902015"/>
            <a:ext cx="457200" cy="457200"/>
          </a:xfrm>
          <a:prstGeom prst="ellipse">
            <a:avLst/>
          </a:prstGeom>
          <a:solidFill>
            <a:srgbClr val="1568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 rot="180000">
            <a:off x="7572856" y="2830659"/>
            <a:ext cx="457200" cy="457200"/>
          </a:xfrm>
          <a:prstGeom prst="ellipse">
            <a:avLst/>
          </a:prstGeom>
          <a:solidFill>
            <a:srgbClr val="1568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 rot="180000">
            <a:off x="7340584" y="2657214"/>
            <a:ext cx="457200" cy="457200"/>
          </a:xfrm>
          <a:prstGeom prst="ellipse">
            <a:avLst/>
          </a:prstGeom>
          <a:solidFill>
            <a:srgbClr val="1568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 rot="180000">
            <a:off x="7192368" y="2408085"/>
            <a:ext cx="457200" cy="457200"/>
          </a:xfrm>
          <a:prstGeom prst="ellipse">
            <a:avLst/>
          </a:prstGeom>
          <a:solidFill>
            <a:srgbClr val="1568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 rot="180000">
            <a:off x="7150772" y="2121200"/>
            <a:ext cx="457200" cy="457200"/>
          </a:xfrm>
          <a:prstGeom prst="ellipse">
            <a:avLst/>
          </a:prstGeom>
          <a:solidFill>
            <a:srgbClr val="1568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 rot="180000">
            <a:off x="7222128" y="1840235"/>
            <a:ext cx="457200" cy="457200"/>
          </a:xfrm>
          <a:prstGeom prst="ellipse">
            <a:avLst/>
          </a:prstGeom>
          <a:solidFill>
            <a:srgbClr val="1568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 rot="180000">
            <a:off x="7395573" y="1607964"/>
            <a:ext cx="457200" cy="457200"/>
          </a:xfrm>
          <a:prstGeom prst="ellipse">
            <a:avLst/>
          </a:prstGeom>
          <a:solidFill>
            <a:srgbClr val="1568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 rot="180000">
            <a:off x="7644702" y="1459748"/>
            <a:ext cx="457200" cy="457200"/>
          </a:xfrm>
          <a:prstGeom prst="ellipse">
            <a:avLst/>
          </a:prstGeom>
          <a:solidFill>
            <a:srgbClr val="1568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 rot="180000">
            <a:off x="7931587" y="1418151"/>
            <a:ext cx="457200" cy="457200"/>
          </a:xfrm>
          <a:prstGeom prst="ellipse">
            <a:avLst/>
          </a:prstGeom>
          <a:solidFill>
            <a:srgbClr val="1568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 rot="180000">
            <a:off x="8212552" y="1489507"/>
            <a:ext cx="457200" cy="457200"/>
          </a:xfrm>
          <a:prstGeom prst="ellipse">
            <a:avLst/>
          </a:prstGeom>
          <a:solidFill>
            <a:srgbClr val="1568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 rot="180000">
            <a:off x="8444823" y="1662953"/>
            <a:ext cx="457200" cy="457200"/>
          </a:xfrm>
          <a:prstGeom prst="ellipse">
            <a:avLst/>
          </a:prstGeom>
          <a:solidFill>
            <a:srgbClr val="1568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 rot="180000">
            <a:off x="8593039" y="1912081"/>
            <a:ext cx="457200" cy="457200"/>
          </a:xfrm>
          <a:prstGeom prst="ellipse">
            <a:avLst/>
          </a:prstGeom>
          <a:solidFill>
            <a:srgbClr val="1568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 rot="180000">
            <a:off x="8663211" y="2227541"/>
            <a:ext cx="400050" cy="400050"/>
          </a:xfrm>
          <a:prstGeom prst="ellipse">
            <a:avLst/>
          </a:prstGeom>
          <a:solidFill>
            <a:srgbClr val="F4F1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 rot="180000">
            <a:off x="8591855" y="2508506"/>
            <a:ext cx="400050" cy="400050"/>
          </a:xfrm>
          <a:prstGeom prst="ellipse">
            <a:avLst/>
          </a:prstGeom>
          <a:solidFill>
            <a:srgbClr val="F4F1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 rot="180000">
            <a:off x="8418410" y="2740778"/>
            <a:ext cx="400050" cy="400050"/>
          </a:xfrm>
          <a:prstGeom prst="ellipse">
            <a:avLst/>
          </a:prstGeom>
          <a:solidFill>
            <a:srgbClr val="F4F1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 rot="180000">
            <a:off x="8169281" y="2888994"/>
            <a:ext cx="400050" cy="400050"/>
          </a:xfrm>
          <a:prstGeom prst="ellipse">
            <a:avLst/>
          </a:prstGeom>
          <a:solidFill>
            <a:srgbClr val="F4F1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 rot="180000">
            <a:off x="7882396" y="2930590"/>
            <a:ext cx="400050" cy="400050"/>
          </a:xfrm>
          <a:prstGeom prst="ellipse">
            <a:avLst/>
          </a:prstGeom>
          <a:solidFill>
            <a:srgbClr val="F4F1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 rot="180000">
            <a:off x="7601431" y="2859234"/>
            <a:ext cx="400050" cy="400050"/>
          </a:xfrm>
          <a:prstGeom prst="ellipse">
            <a:avLst/>
          </a:prstGeom>
          <a:solidFill>
            <a:srgbClr val="F4F1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Oval 27"/>
          <p:cNvSpPr/>
          <p:nvPr/>
        </p:nvSpPr>
        <p:spPr>
          <a:xfrm rot="180000">
            <a:off x="7369159" y="2685789"/>
            <a:ext cx="400050" cy="400050"/>
          </a:xfrm>
          <a:prstGeom prst="ellipse">
            <a:avLst/>
          </a:prstGeom>
          <a:solidFill>
            <a:srgbClr val="F4F1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Oval 28"/>
          <p:cNvSpPr/>
          <p:nvPr/>
        </p:nvSpPr>
        <p:spPr>
          <a:xfrm rot="180000">
            <a:off x="7220943" y="2436660"/>
            <a:ext cx="400050" cy="400050"/>
          </a:xfrm>
          <a:prstGeom prst="ellipse">
            <a:avLst/>
          </a:prstGeom>
          <a:solidFill>
            <a:srgbClr val="F4F1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Oval 29"/>
          <p:cNvSpPr/>
          <p:nvPr/>
        </p:nvSpPr>
        <p:spPr>
          <a:xfrm rot="180000">
            <a:off x="7179347" y="2149775"/>
            <a:ext cx="400050" cy="400050"/>
          </a:xfrm>
          <a:prstGeom prst="ellipse">
            <a:avLst/>
          </a:prstGeom>
          <a:solidFill>
            <a:srgbClr val="F4F1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Oval 30"/>
          <p:cNvSpPr/>
          <p:nvPr/>
        </p:nvSpPr>
        <p:spPr>
          <a:xfrm rot="180000">
            <a:off x="7250703" y="1868810"/>
            <a:ext cx="400050" cy="400050"/>
          </a:xfrm>
          <a:prstGeom prst="ellipse">
            <a:avLst/>
          </a:prstGeom>
          <a:solidFill>
            <a:srgbClr val="F4F1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Oval 31"/>
          <p:cNvSpPr/>
          <p:nvPr/>
        </p:nvSpPr>
        <p:spPr>
          <a:xfrm rot="180000">
            <a:off x="7424148" y="1636539"/>
            <a:ext cx="400050" cy="400050"/>
          </a:xfrm>
          <a:prstGeom prst="ellipse">
            <a:avLst/>
          </a:prstGeom>
          <a:solidFill>
            <a:srgbClr val="F4F1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Oval 32"/>
          <p:cNvSpPr/>
          <p:nvPr/>
        </p:nvSpPr>
        <p:spPr>
          <a:xfrm rot="180000">
            <a:off x="7673277" y="1488323"/>
            <a:ext cx="400050" cy="400050"/>
          </a:xfrm>
          <a:prstGeom prst="ellipse">
            <a:avLst/>
          </a:prstGeom>
          <a:solidFill>
            <a:srgbClr val="F4F1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Oval 33"/>
          <p:cNvSpPr/>
          <p:nvPr/>
        </p:nvSpPr>
        <p:spPr>
          <a:xfrm rot="180000">
            <a:off x="7960162" y="1446726"/>
            <a:ext cx="400050" cy="400050"/>
          </a:xfrm>
          <a:prstGeom prst="ellipse">
            <a:avLst/>
          </a:prstGeom>
          <a:solidFill>
            <a:srgbClr val="F4F1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Oval 34"/>
          <p:cNvSpPr/>
          <p:nvPr/>
        </p:nvSpPr>
        <p:spPr>
          <a:xfrm rot="180000">
            <a:off x="8241127" y="1518082"/>
            <a:ext cx="400050" cy="400050"/>
          </a:xfrm>
          <a:prstGeom prst="ellipse">
            <a:avLst/>
          </a:prstGeom>
          <a:solidFill>
            <a:srgbClr val="F4F1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Oval 35"/>
          <p:cNvSpPr/>
          <p:nvPr/>
        </p:nvSpPr>
        <p:spPr>
          <a:xfrm rot="180000">
            <a:off x="8473398" y="1691528"/>
            <a:ext cx="400050" cy="400050"/>
          </a:xfrm>
          <a:prstGeom prst="ellipse">
            <a:avLst/>
          </a:prstGeom>
          <a:solidFill>
            <a:srgbClr val="F4F1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Oval 36"/>
          <p:cNvSpPr/>
          <p:nvPr/>
        </p:nvSpPr>
        <p:spPr>
          <a:xfrm rot="180000">
            <a:off x="8621614" y="1940656"/>
            <a:ext cx="400050" cy="400050"/>
          </a:xfrm>
          <a:prstGeom prst="ellipse">
            <a:avLst/>
          </a:prstGeom>
          <a:solidFill>
            <a:srgbClr val="F4F1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Oval 37"/>
          <p:cNvSpPr/>
          <p:nvPr/>
        </p:nvSpPr>
        <p:spPr>
          <a:xfrm rot="180000">
            <a:off x="7397404" y="1664783"/>
            <a:ext cx="1447800" cy="1447800"/>
          </a:xfrm>
          <a:prstGeom prst="ellipse">
            <a:avLst/>
          </a:prstGeom>
          <a:solidFill>
            <a:srgbClr val="F4F1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9" name="Picture 38" descr="foundation-logo-colo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 rot="180000">
            <a:off x="7597429" y="1917689"/>
            <a:ext cx="1047750" cy="941987"/>
          </a:xfrm>
          <a:prstGeom prst="rect">
            <a:avLst/>
          </a:prstGeom>
        </p:spPr>
      </p:pic>
      <p:sp>
        <p:nvSpPr>
          <p:cNvPr id="40" name="TextBox 39"/>
          <p:cNvSpPr txBox="1"/>
          <p:nvPr/>
        </p:nvSpPr>
        <p:spPr>
          <a:xfrm rot="180000">
            <a:off x="1571357" y="5382865"/>
            <a:ext cx="7239000" cy="285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000" b="1" i="0" spc="200">
                <a:solidFill>
                  <a:srgbClr val="156826"/>
                </a:solidFill>
                <a:latin typeface="Montserrat"/>
              </a:rPr>
              <a:t>BASED IN</a:t>
            </a:r>
          </a:p>
        </p:txBody>
      </p:sp>
      <p:sp>
        <p:nvSpPr>
          <p:cNvPr id="41" name="TextBox 40"/>
          <p:cNvSpPr txBox="1"/>
          <p:nvPr/>
        </p:nvSpPr>
        <p:spPr>
          <a:xfrm rot="180000">
            <a:off x="1552912" y="5668132"/>
            <a:ext cx="7239000" cy="419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3000" b="0" i="0">
                <a:solidFill>
                  <a:srgbClr val="333130"/>
                </a:solidFill>
                <a:latin typeface="Source Sans 3"/>
              </a:rPr>
              <a:t>[COPY: Allison]</a:t>
            </a:r>
          </a:p>
        </p:txBody>
      </p:sp>
      <p:sp>
        <p:nvSpPr>
          <p:cNvPr id="42" name="TextBox 41"/>
          <p:cNvSpPr txBox="1"/>
          <p:nvPr/>
        </p:nvSpPr>
        <p:spPr>
          <a:xfrm rot="180000">
            <a:off x="1521507" y="6334059"/>
            <a:ext cx="7239000" cy="285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000" b="1" i="0" spc="200">
                <a:solidFill>
                  <a:srgbClr val="156826"/>
                </a:solidFill>
                <a:latin typeface="Montserrat"/>
              </a:rPr>
              <a:t>TEACHING SINCE</a:t>
            </a:r>
          </a:p>
        </p:txBody>
      </p:sp>
      <p:sp>
        <p:nvSpPr>
          <p:cNvPr id="43" name="TextBox 42"/>
          <p:cNvSpPr txBox="1"/>
          <p:nvPr/>
        </p:nvSpPr>
        <p:spPr>
          <a:xfrm rot="180000">
            <a:off x="1503063" y="6619326"/>
            <a:ext cx="7239000" cy="419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3000" b="0" i="0">
                <a:solidFill>
                  <a:srgbClr val="333130"/>
                </a:solidFill>
                <a:latin typeface="Source Sans 3"/>
              </a:rPr>
              <a:t>[COPY: Allison]</a:t>
            </a:r>
          </a:p>
        </p:txBody>
      </p:sp>
      <p:sp>
        <p:nvSpPr>
          <p:cNvPr id="44" name="TextBox 43"/>
          <p:cNvSpPr txBox="1"/>
          <p:nvPr/>
        </p:nvSpPr>
        <p:spPr>
          <a:xfrm rot="180000">
            <a:off x="1471657" y="7285254"/>
            <a:ext cx="7239000" cy="285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000" b="1" i="0" spc="200">
                <a:solidFill>
                  <a:srgbClr val="156826"/>
                </a:solidFill>
                <a:latin typeface="Montserrat"/>
              </a:rPr>
              <a:t>ASK ME ABOUT</a:t>
            </a:r>
          </a:p>
        </p:txBody>
      </p:sp>
      <p:sp>
        <p:nvSpPr>
          <p:cNvPr id="45" name="TextBox 44"/>
          <p:cNvSpPr txBox="1"/>
          <p:nvPr/>
        </p:nvSpPr>
        <p:spPr>
          <a:xfrm rot="180000">
            <a:off x="1453213" y="7570521"/>
            <a:ext cx="7239000" cy="419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3000" b="0" i="0">
                <a:solidFill>
                  <a:srgbClr val="333130"/>
                </a:solidFill>
                <a:latin typeface="Source Sans 3"/>
              </a:rPr>
              <a:t>[COPY: Allison]</a:t>
            </a:r>
          </a:p>
        </p:txBody>
      </p:sp>
      <p:sp>
        <p:nvSpPr>
          <p:cNvPr id="46" name="TextBox 45"/>
          <p:cNvSpPr txBox="1"/>
          <p:nvPr/>
        </p:nvSpPr>
        <p:spPr>
          <a:xfrm rot="180000">
            <a:off x="1421807" y="8236448"/>
            <a:ext cx="7239000" cy="285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000" b="1" i="0" spc="200">
                <a:solidFill>
                  <a:srgbClr val="156826"/>
                </a:solidFill>
                <a:latin typeface="Montserrat"/>
              </a:rPr>
              <a:t>FAVORITE ORGANISM</a:t>
            </a:r>
          </a:p>
        </p:txBody>
      </p:sp>
      <p:sp>
        <p:nvSpPr>
          <p:cNvPr id="47" name="TextBox 46"/>
          <p:cNvSpPr txBox="1"/>
          <p:nvPr/>
        </p:nvSpPr>
        <p:spPr>
          <a:xfrm rot="180000">
            <a:off x="1403363" y="8521716"/>
            <a:ext cx="7239000" cy="419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3000" b="0" i="0">
                <a:solidFill>
                  <a:srgbClr val="333130"/>
                </a:solidFill>
                <a:latin typeface="Source Sans 3"/>
              </a:rPr>
              <a:t>[COPY: Allison]</a:t>
            </a:r>
          </a:p>
        </p:txBody>
      </p:sp>
      <p:sp>
        <p:nvSpPr>
          <p:cNvPr id="48" name="Freeform 47"/>
          <p:cNvSpPr/>
          <p:nvPr/>
        </p:nvSpPr>
        <p:spPr>
          <a:xfrm rot="180000">
            <a:off x="1334570" y="9520039"/>
            <a:ext cx="7239000" cy="1047750"/>
          </a:xfrm>
          <a:custGeom>
            <a:avLst/>
            <a:gdLst/>
            <a:ahLst/>
            <a:cxnLst/>
            <a:rect l="l" t="t" r="r" b="b"/>
            <a:pathLst>
              <a:path w="7239000" h="1047750">
                <a:moveTo>
                  <a:pt x="0" y="0"/>
                </a:moveTo>
                <a:lnTo>
                  <a:pt x="7239000" y="0"/>
                </a:lnTo>
                <a:lnTo>
                  <a:pt x="6953250" y="523875"/>
                </a:lnTo>
                <a:lnTo>
                  <a:pt x="7239000" y="1047750"/>
                </a:lnTo>
                <a:lnTo>
                  <a:pt x="0" y="1047750"/>
                </a:lnTo>
                <a:lnTo>
                  <a:pt x="285750" y="523875"/>
                </a:lnTo>
                <a:close/>
              </a:path>
            </a:pathLst>
          </a:custGeom>
          <a:solidFill>
            <a:srgbClr val="1568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 rot="180000">
            <a:off x="1715570" y="9520039"/>
            <a:ext cx="6477000" cy="1047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3800" b="1" i="0">
                <a:solidFill>
                  <a:srgbClr val="F4F1EA"/>
                </a:solidFill>
                <a:latin typeface="Montserrat"/>
              </a:rPr>
              <a:t>DR. CATERINA CAPRI</a:t>
            </a:r>
          </a:p>
        </p:txBody>
      </p:sp>
      <p:sp>
        <p:nvSpPr>
          <p:cNvPr id="50" name="Freeform 49"/>
          <p:cNvSpPr/>
          <p:nvPr/>
        </p:nvSpPr>
        <p:spPr>
          <a:xfrm rot="180000">
            <a:off x="1863697" y="10471430"/>
            <a:ext cx="6096000" cy="762000"/>
          </a:xfrm>
          <a:custGeom>
            <a:avLst/>
            <a:gdLst/>
            <a:ahLst/>
            <a:cxnLst/>
            <a:rect l="l" t="t" r="r" b="b"/>
            <a:pathLst>
              <a:path w="6096000" h="762000">
                <a:moveTo>
                  <a:pt x="0" y="0"/>
                </a:moveTo>
                <a:lnTo>
                  <a:pt x="6096000" y="0"/>
                </a:lnTo>
                <a:lnTo>
                  <a:pt x="5810250" y="381000"/>
                </a:lnTo>
                <a:lnTo>
                  <a:pt x="6096000" y="762000"/>
                </a:lnTo>
                <a:lnTo>
                  <a:pt x="0" y="762000"/>
                </a:lnTo>
                <a:lnTo>
                  <a:pt x="285750" y="381000"/>
                </a:lnTo>
                <a:close/>
              </a:path>
            </a:pathLst>
          </a:custGeom>
          <a:solidFill>
            <a:srgbClr val="2237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 rot="180000">
            <a:off x="2244697" y="10471430"/>
            <a:ext cx="5334000" cy="762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2800" b="0" i="0">
                <a:solidFill>
                  <a:srgbClr val="DBE6A7"/>
                </a:solidFill>
                <a:latin typeface="Source Sans 3"/>
              </a:rPr>
              <a:t>Advanced Programs</a:t>
            </a:r>
          </a:p>
        </p:txBody>
      </p:sp>
      <p:sp>
        <p:nvSpPr>
          <p:cNvPr id="52" name="Rectangle 51"/>
          <p:cNvSpPr/>
          <p:nvPr/>
        </p:nvSpPr>
        <p:spPr>
          <a:xfrm rot="180000">
            <a:off x="669352" y="11622610"/>
            <a:ext cx="8382000" cy="419100"/>
          </a:xfrm>
          <a:prstGeom prst="rect">
            <a:avLst/>
          </a:prstGeom>
          <a:solidFill>
            <a:srgbClr val="4F34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 rot="180000">
            <a:off x="669352" y="11622610"/>
            <a:ext cx="8382000" cy="4191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800" b="0" i="0">
                <a:solidFill>
                  <a:srgbClr val="F4F1EA"/>
                </a:solidFill>
                <a:latin typeface="Source Sans 3"/>
              </a:rPr>
              <a:t>soilfoodweb.com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8191500" y="762000"/>
            <a:ext cx="1333500" cy="285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2000" b="0" i="0">
                <a:solidFill>
                  <a:srgbClr val="F4F1EA">
                    <a:alpha val="60000"/>
                  </a:srgbClr>
                </a:solidFill>
                <a:latin typeface="Source Sans 3"/>
              </a:rPr>
              <a:t>6/7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22371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62000" y="2381250"/>
            <a:ext cx="8382000" cy="32244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5600" b="1" i="0">
                <a:solidFill>
                  <a:srgbClr val="F4F1EA"/>
                </a:solidFill>
                <a:latin typeface="Montserrat"/>
              </a:rPr>
              <a:t>Thank you to every mentor who teaches our students to see soil.</a:t>
            </a:r>
          </a:p>
        </p:txBody>
      </p:sp>
      <p:sp>
        <p:nvSpPr>
          <p:cNvPr id="3" name="Rounded Rectangle 2"/>
          <p:cNvSpPr/>
          <p:nvPr/>
        </p:nvSpPr>
        <p:spPr>
          <a:xfrm rot="21240000">
            <a:off x="381000" y="6191250"/>
            <a:ext cx="4953000" cy="6667500"/>
          </a:xfrm>
          <a:prstGeom prst="roundRect">
            <a:avLst>
              <a:gd name="adj" fmla="val 5384"/>
            </a:avLst>
          </a:prstGeom>
          <a:pattFill prst="ltUpDiag">
            <a:fgClr>
              <a:srgbClr val="E8E2D4"/>
            </a:fgClr>
            <a:bgClr>
              <a:srgbClr val="F4F1EA"/>
            </a:bgClr>
          </a:pattFill>
          <a:ln>
            <a:noFill/>
          </a:ln>
          <a:effectLst>
            <a:outerShdw blurRad="228600" dist="76200" dir="5400000" algn="t" rotWithShape="0">
              <a:srgbClr val="000000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1714500" y="6191250"/>
            <a:ext cx="4953000" cy="6667500"/>
          </a:xfrm>
          <a:prstGeom prst="roundRect">
            <a:avLst>
              <a:gd name="adj" fmla="val 5384"/>
            </a:avLst>
          </a:prstGeom>
          <a:pattFill prst="ltUpDiag">
            <a:fgClr>
              <a:srgbClr val="E8E2D4"/>
            </a:fgClr>
            <a:bgClr>
              <a:srgbClr val="F4F1EA"/>
            </a:bgClr>
          </a:pattFill>
          <a:ln>
            <a:noFill/>
          </a:ln>
          <a:effectLst>
            <a:outerShdw blurRad="228600" dist="76200" dir="5400000" algn="t" rotWithShape="0">
              <a:srgbClr val="000000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 rot="360000">
            <a:off x="3048000" y="6191250"/>
            <a:ext cx="4953000" cy="6667500"/>
          </a:xfrm>
          <a:prstGeom prst="roundRect">
            <a:avLst>
              <a:gd name="adj" fmla="val 5384"/>
            </a:avLst>
          </a:prstGeom>
          <a:pattFill prst="ltUpDiag">
            <a:fgClr>
              <a:srgbClr val="E8E2D4"/>
            </a:fgClr>
            <a:bgClr>
              <a:srgbClr val="F4F1EA"/>
            </a:bgClr>
          </a:pattFill>
          <a:ln>
            <a:noFill/>
          </a:ln>
          <a:effectLst>
            <a:outerShdw blurRad="228600" dist="76200" dir="5400000" algn="t" rotWithShape="0">
              <a:srgbClr val="000000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191500" y="762000"/>
            <a:ext cx="1333500" cy="285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2000" b="0" i="0">
                <a:solidFill>
                  <a:srgbClr val="F4F1EA">
                    <a:alpha val="60000"/>
                  </a:srgbClr>
                </a:solidFill>
                <a:latin typeface="Source Sans 3"/>
              </a:rPr>
              <a:t>7/7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