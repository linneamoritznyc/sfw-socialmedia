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381250"/>
            <a:ext cx="8382000" cy="367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4F1EA"/>
                </a:solidFill>
                <a:latin typeface="Montserrat"/>
              </a:rPr>
              <a:t>Happy World Teachers' Day. Collect them all.</a:t>
            </a:r>
          </a:p>
        </p:txBody>
      </p:sp>
      <p:sp>
        <p:nvSpPr>
          <p:cNvPr id="3" name="Rounded Rectangle 2"/>
          <p:cNvSpPr/>
          <p:nvPr/>
        </p:nvSpPr>
        <p:spPr>
          <a:xfrm rot="21240000">
            <a:off x="381000" y="6191250"/>
            <a:ext cx="4953000" cy="6667500"/>
          </a:xfrm>
          <a:prstGeom prst="roundRect">
            <a:avLst>
              <a:gd name="adj" fmla="val 5384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14500" y="6191250"/>
            <a:ext cx="4953000" cy="6667500"/>
          </a:xfrm>
          <a:prstGeom prst="roundRect">
            <a:avLst>
              <a:gd name="adj" fmla="val 5384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3048000" y="6191250"/>
            <a:ext cx="4953000" cy="6667500"/>
          </a:xfrm>
          <a:prstGeom prst="roundRect">
            <a:avLst>
              <a:gd name="adj" fmla="val 5384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180000">
            <a:off x="952500" y="809625"/>
            <a:ext cx="8382000" cy="11239500"/>
          </a:xfrm>
          <a:prstGeom prst="roundRect">
            <a:avLst>
              <a:gd name="adj" fmla="val 3181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1600720" y="1195598"/>
            <a:ext cx="3810000" cy="3810000"/>
          </a:xfrm>
          <a:prstGeom prst="rect">
            <a:avLst/>
          </a:prstGeom>
          <a:solidFill>
            <a:srgbClr val="F4F1EA"/>
          </a:solidFill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003988144269946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695970" y="1290848"/>
            <a:ext cx="3619500" cy="36195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rot="180000">
            <a:off x="8634636" y="2198966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80000">
            <a:off x="8563280" y="247993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">
            <a:off x="8389835" y="271220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80000">
            <a:off x="8140706" y="286041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">
            <a:off x="7853821" y="290201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0000">
            <a:off x="7572856" y="283065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0000">
            <a:off x="7340584" y="265721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0000">
            <a:off x="7192368" y="240808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80000">
            <a:off x="7150772" y="2121200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0000">
            <a:off x="7222128" y="184023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80000">
            <a:off x="7395573" y="160796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80000">
            <a:off x="7644702" y="1459748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80000">
            <a:off x="7931587" y="141815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80000">
            <a:off x="8212552" y="1489507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80000">
            <a:off x="8444823" y="166295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80000">
            <a:off x="8593039" y="191208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">
            <a:off x="8663211" y="2227541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80000">
            <a:off x="8591855" y="250850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">
            <a:off x="8418410" y="274077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180000">
            <a:off x="8169281" y="288899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180000">
            <a:off x="7882396" y="293059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180000">
            <a:off x="7601431" y="285923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180000">
            <a:off x="7369159" y="268578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180000">
            <a:off x="7220943" y="243666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180000">
            <a:off x="7179347" y="2149775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180000">
            <a:off x="7250703" y="186881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 rot="180000">
            <a:off x="7424148" y="163653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180000">
            <a:off x="7673277" y="1488323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180000">
            <a:off x="7960162" y="144672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180000">
            <a:off x="8241127" y="1518082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180000">
            <a:off x="8473398" y="169152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 rot="180000">
            <a:off x="8621614" y="194065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180000">
            <a:off x="7397404" y="1664783"/>
            <a:ext cx="1447800" cy="14478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 rot="180000">
            <a:off x="7264054" y="2150558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56826"/>
                </a:solidFill>
                <a:latin typeface="Montserrat"/>
              </a:rPr>
              <a:t>LOGO</a:t>
            </a:r>
          </a:p>
        </p:txBody>
      </p:sp>
      <p:sp>
        <p:nvSpPr>
          <p:cNvPr id="39" name="TextBox 38"/>
          <p:cNvSpPr txBox="1"/>
          <p:nvPr/>
        </p:nvSpPr>
        <p:spPr>
          <a:xfrm rot="180000">
            <a:off x="1571357" y="5382865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BASED IN</a:t>
            </a:r>
          </a:p>
        </p:txBody>
      </p:sp>
      <p:sp>
        <p:nvSpPr>
          <p:cNvPr id="40" name="TextBox 39"/>
          <p:cNvSpPr txBox="1"/>
          <p:nvPr/>
        </p:nvSpPr>
        <p:spPr>
          <a:xfrm rot="180000">
            <a:off x="1552912" y="5668132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1" name="TextBox 40"/>
          <p:cNvSpPr txBox="1"/>
          <p:nvPr/>
        </p:nvSpPr>
        <p:spPr>
          <a:xfrm rot="180000">
            <a:off x="1521507" y="6334059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TEACHING SINCE</a:t>
            </a:r>
          </a:p>
        </p:txBody>
      </p:sp>
      <p:sp>
        <p:nvSpPr>
          <p:cNvPr id="42" name="TextBox 41"/>
          <p:cNvSpPr txBox="1"/>
          <p:nvPr/>
        </p:nvSpPr>
        <p:spPr>
          <a:xfrm rot="180000">
            <a:off x="1503063" y="661932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3" name="TextBox 42"/>
          <p:cNvSpPr txBox="1"/>
          <p:nvPr/>
        </p:nvSpPr>
        <p:spPr>
          <a:xfrm rot="180000">
            <a:off x="1471657" y="7285254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ASK ME ABOUT</a:t>
            </a:r>
          </a:p>
        </p:txBody>
      </p:sp>
      <p:sp>
        <p:nvSpPr>
          <p:cNvPr id="44" name="TextBox 43"/>
          <p:cNvSpPr txBox="1"/>
          <p:nvPr/>
        </p:nvSpPr>
        <p:spPr>
          <a:xfrm rot="180000">
            <a:off x="1453213" y="7570521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5" name="TextBox 44"/>
          <p:cNvSpPr txBox="1"/>
          <p:nvPr/>
        </p:nvSpPr>
        <p:spPr>
          <a:xfrm rot="180000">
            <a:off x="1421807" y="8236448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FAVORITE ORGANISM</a:t>
            </a:r>
          </a:p>
        </p:txBody>
      </p:sp>
      <p:sp>
        <p:nvSpPr>
          <p:cNvPr id="46" name="TextBox 45"/>
          <p:cNvSpPr txBox="1"/>
          <p:nvPr/>
        </p:nvSpPr>
        <p:spPr>
          <a:xfrm rot="180000">
            <a:off x="1403363" y="852171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7" name="Freeform 46"/>
          <p:cNvSpPr/>
          <p:nvPr/>
        </p:nvSpPr>
        <p:spPr>
          <a:xfrm rot="180000">
            <a:off x="1334570" y="9520039"/>
            <a:ext cx="7239000" cy="1047750"/>
          </a:xfrm>
          <a:custGeom>
            <a:avLst/>
            <a:gdLst/>
            <a:ahLst/>
            <a:cxnLst/>
            <a:rect l="l" t="t" r="r" b="b"/>
            <a:pathLst>
              <a:path w="7239000" h="1047750">
                <a:moveTo>
                  <a:pt x="0" y="0"/>
                </a:moveTo>
                <a:lnTo>
                  <a:pt x="7239000" y="0"/>
                </a:lnTo>
                <a:lnTo>
                  <a:pt x="6953250" y="523875"/>
                </a:lnTo>
                <a:lnTo>
                  <a:pt x="7239000" y="1047750"/>
                </a:lnTo>
                <a:lnTo>
                  <a:pt x="0" y="1047750"/>
                </a:lnTo>
                <a:lnTo>
                  <a:pt x="285750" y="523875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 rot="180000">
            <a:off x="1715570" y="9520039"/>
            <a:ext cx="6477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800" b="1" i="0">
                <a:solidFill>
                  <a:srgbClr val="F4F1EA"/>
                </a:solidFill>
                <a:latin typeface="Montserrat"/>
              </a:rPr>
              <a:t>DR. CARLA PORTUGAL</a:t>
            </a:r>
          </a:p>
        </p:txBody>
      </p:sp>
      <p:sp>
        <p:nvSpPr>
          <p:cNvPr id="49" name="Freeform 48"/>
          <p:cNvSpPr/>
          <p:nvPr/>
        </p:nvSpPr>
        <p:spPr>
          <a:xfrm rot="180000">
            <a:off x="1863697" y="10471430"/>
            <a:ext cx="6096000" cy="762000"/>
          </a:xfrm>
          <a:custGeom>
            <a:avLst/>
            <a:gdLst/>
            <a:ahLst/>
            <a:cxnLst/>
            <a:rect l="l" t="t" r="r" b="b"/>
            <a:pathLst>
              <a:path w="6096000" h="762000">
                <a:moveTo>
                  <a:pt x="0" y="0"/>
                </a:moveTo>
                <a:lnTo>
                  <a:pt x="6096000" y="0"/>
                </a:lnTo>
                <a:lnTo>
                  <a:pt x="5810250" y="381000"/>
                </a:lnTo>
                <a:lnTo>
                  <a:pt x="6096000" y="762000"/>
                </a:lnTo>
                <a:lnTo>
                  <a:pt x="0" y="762000"/>
                </a:lnTo>
                <a:lnTo>
                  <a:pt x="285750" y="381000"/>
                </a:lnTo>
                <a:close/>
              </a:path>
            </a:pathLst>
          </a:cu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 rot="180000">
            <a:off x="2244697" y="1047143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DBE6A7"/>
                </a:solidFill>
                <a:latin typeface="Source Sans 3"/>
              </a:rPr>
              <a:t>Science Leader</a:t>
            </a:r>
          </a:p>
        </p:txBody>
      </p:sp>
      <p:sp>
        <p:nvSpPr>
          <p:cNvPr id="51" name="Rectangle 50"/>
          <p:cNvSpPr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4F1EA"/>
                </a:solidFill>
                <a:latin typeface="Source Sans 3"/>
              </a:rPr>
              <a:t>soilfoodweb.com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180000">
            <a:off x="952500" y="809625"/>
            <a:ext cx="8382000" cy="11239500"/>
          </a:xfrm>
          <a:prstGeom prst="roundRect">
            <a:avLst>
              <a:gd name="adj" fmla="val 3181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1600720" y="1195598"/>
            <a:ext cx="3810000" cy="3810000"/>
          </a:xfrm>
          <a:prstGeom prst="rect">
            <a:avLst/>
          </a:prstGeom>
          <a:solidFill>
            <a:srgbClr val="F4F1EA"/>
          </a:solidFill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7852166181010451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695970" y="1290848"/>
            <a:ext cx="3619500" cy="36195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rot="180000">
            <a:off x="8634636" y="2198966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80000">
            <a:off x="8563280" y="247993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">
            <a:off x="8389835" y="271220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80000">
            <a:off x="8140706" y="286041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">
            <a:off x="7853821" y="290201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0000">
            <a:off x="7572856" y="283065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0000">
            <a:off x="7340584" y="265721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0000">
            <a:off x="7192368" y="240808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80000">
            <a:off x="7150772" y="2121200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0000">
            <a:off x="7222128" y="184023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80000">
            <a:off x="7395573" y="160796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80000">
            <a:off x="7644702" y="1459748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80000">
            <a:off x="7931587" y="141815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80000">
            <a:off x="8212552" y="1489507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80000">
            <a:off x="8444823" y="166295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80000">
            <a:off x="8593039" y="191208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">
            <a:off x="8663211" y="2227541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80000">
            <a:off x="8591855" y="250850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">
            <a:off x="8418410" y="274077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180000">
            <a:off x="8169281" y="288899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180000">
            <a:off x="7882396" y="293059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180000">
            <a:off x="7601431" y="285923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180000">
            <a:off x="7369159" y="268578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180000">
            <a:off x="7220943" y="243666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180000">
            <a:off x="7179347" y="2149775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180000">
            <a:off x="7250703" y="186881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 rot="180000">
            <a:off x="7424148" y="163653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180000">
            <a:off x="7673277" y="1488323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180000">
            <a:off x="7960162" y="144672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180000">
            <a:off x="8241127" y="1518082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180000">
            <a:off x="8473398" y="169152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 rot="180000">
            <a:off x="8621614" y="194065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180000">
            <a:off x="7397404" y="1664783"/>
            <a:ext cx="1447800" cy="14478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 rot="180000">
            <a:off x="7264054" y="2150558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56826"/>
                </a:solidFill>
                <a:latin typeface="Montserrat"/>
              </a:rPr>
              <a:t>LOGO</a:t>
            </a:r>
          </a:p>
        </p:txBody>
      </p:sp>
      <p:sp>
        <p:nvSpPr>
          <p:cNvPr id="39" name="TextBox 38"/>
          <p:cNvSpPr txBox="1"/>
          <p:nvPr/>
        </p:nvSpPr>
        <p:spPr>
          <a:xfrm rot="180000">
            <a:off x="1571357" y="5382865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BASED IN</a:t>
            </a:r>
          </a:p>
        </p:txBody>
      </p:sp>
      <p:sp>
        <p:nvSpPr>
          <p:cNvPr id="40" name="TextBox 39"/>
          <p:cNvSpPr txBox="1"/>
          <p:nvPr/>
        </p:nvSpPr>
        <p:spPr>
          <a:xfrm rot="180000">
            <a:off x="1552912" y="5668132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1" name="TextBox 40"/>
          <p:cNvSpPr txBox="1"/>
          <p:nvPr/>
        </p:nvSpPr>
        <p:spPr>
          <a:xfrm rot="180000">
            <a:off x="1521507" y="6334059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TEACHING SINCE</a:t>
            </a:r>
          </a:p>
        </p:txBody>
      </p:sp>
      <p:sp>
        <p:nvSpPr>
          <p:cNvPr id="42" name="TextBox 41"/>
          <p:cNvSpPr txBox="1"/>
          <p:nvPr/>
        </p:nvSpPr>
        <p:spPr>
          <a:xfrm rot="180000">
            <a:off x="1503063" y="661932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3" name="TextBox 42"/>
          <p:cNvSpPr txBox="1"/>
          <p:nvPr/>
        </p:nvSpPr>
        <p:spPr>
          <a:xfrm rot="180000">
            <a:off x="1471657" y="7285254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ASK ME ABOUT</a:t>
            </a:r>
          </a:p>
        </p:txBody>
      </p:sp>
      <p:sp>
        <p:nvSpPr>
          <p:cNvPr id="44" name="TextBox 43"/>
          <p:cNvSpPr txBox="1"/>
          <p:nvPr/>
        </p:nvSpPr>
        <p:spPr>
          <a:xfrm rot="180000">
            <a:off x="1453213" y="7570521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5" name="TextBox 44"/>
          <p:cNvSpPr txBox="1"/>
          <p:nvPr/>
        </p:nvSpPr>
        <p:spPr>
          <a:xfrm rot="180000">
            <a:off x="1421807" y="8236448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FAVORITE ORGANISM</a:t>
            </a:r>
          </a:p>
        </p:txBody>
      </p:sp>
      <p:sp>
        <p:nvSpPr>
          <p:cNvPr id="46" name="TextBox 45"/>
          <p:cNvSpPr txBox="1"/>
          <p:nvPr/>
        </p:nvSpPr>
        <p:spPr>
          <a:xfrm rot="180000">
            <a:off x="1403363" y="852171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7" name="Freeform 46"/>
          <p:cNvSpPr/>
          <p:nvPr/>
        </p:nvSpPr>
        <p:spPr>
          <a:xfrm rot="180000">
            <a:off x="1334570" y="9520039"/>
            <a:ext cx="7239000" cy="1047750"/>
          </a:xfrm>
          <a:custGeom>
            <a:avLst/>
            <a:gdLst/>
            <a:ahLst/>
            <a:cxnLst/>
            <a:rect l="l" t="t" r="r" b="b"/>
            <a:pathLst>
              <a:path w="7239000" h="1047750">
                <a:moveTo>
                  <a:pt x="0" y="0"/>
                </a:moveTo>
                <a:lnTo>
                  <a:pt x="7239000" y="0"/>
                </a:lnTo>
                <a:lnTo>
                  <a:pt x="6953250" y="523875"/>
                </a:lnTo>
                <a:lnTo>
                  <a:pt x="7239000" y="1047750"/>
                </a:lnTo>
                <a:lnTo>
                  <a:pt x="0" y="1047750"/>
                </a:lnTo>
                <a:lnTo>
                  <a:pt x="285750" y="523875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 rot="180000">
            <a:off x="1715570" y="9520039"/>
            <a:ext cx="6477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000" b="1" i="0">
                <a:solidFill>
                  <a:srgbClr val="F4F1EA"/>
                </a:solidFill>
                <a:latin typeface="Montserrat"/>
              </a:rPr>
              <a:t>NICK PADWICK</a:t>
            </a:r>
          </a:p>
        </p:txBody>
      </p:sp>
      <p:sp>
        <p:nvSpPr>
          <p:cNvPr id="49" name="Freeform 48"/>
          <p:cNvSpPr/>
          <p:nvPr/>
        </p:nvSpPr>
        <p:spPr>
          <a:xfrm rot="180000">
            <a:off x="1863697" y="10471430"/>
            <a:ext cx="6096000" cy="762000"/>
          </a:xfrm>
          <a:custGeom>
            <a:avLst/>
            <a:gdLst/>
            <a:ahLst/>
            <a:cxnLst/>
            <a:rect l="l" t="t" r="r" b="b"/>
            <a:pathLst>
              <a:path w="6096000" h="762000">
                <a:moveTo>
                  <a:pt x="0" y="0"/>
                </a:moveTo>
                <a:lnTo>
                  <a:pt x="6096000" y="0"/>
                </a:lnTo>
                <a:lnTo>
                  <a:pt x="5810250" y="381000"/>
                </a:lnTo>
                <a:lnTo>
                  <a:pt x="6096000" y="762000"/>
                </a:lnTo>
                <a:lnTo>
                  <a:pt x="0" y="762000"/>
                </a:lnTo>
                <a:lnTo>
                  <a:pt x="285750" y="381000"/>
                </a:lnTo>
                <a:close/>
              </a:path>
            </a:pathLst>
          </a:cu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 rot="180000">
            <a:off x="2244697" y="1047143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DBE6A7"/>
                </a:solidFill>
                <a:latin typeface="Source Sans 3"/>
              </a:rPr>
              <a:t>Farmer, Norfolk</a:t>
            </a:r>
          </a:p>
        </p:txBody>
      </p:sp>
      <p:sp>
        <p:nvSpPr>
          <p:cNvPr id="51" name="Rectangle 50"/>
          <p:cNvSpPr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4F1EA"/>
                </a:solidFill>
                <a:latin typeface="Source Sans 3"/>
              </a:rPr>
              <a:t>soilfoodweb.com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180000">
            <a:off x="952500" y="809625"/>
            <a:ext cx="8382000" cy="11239500"/>
          </a:xfrm>
          <a:prstGeom prst="roundRect">
            <a:avLst>
              <a:gd name="adj" fmla="val 3181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1600720" y="1195598"/>
            <a:ext cx="3810000" cy="3810000"/>
          </a:xfrm>
          <a:prstGeom prst="rect">
            <a:avLst/>
          </a:prstGeom>
          <a:solidFill>
            <a:srgbClr val="F4F1EA"/>
          </a:solidFill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5558977574680150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695970" y="1290848"/>
            <a:ext cx="3619500" cy="36195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rot="180000">
            <a:off x="8634636" y="2198966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80000">
            <a:off x="8563280" y="247993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">
            <a:off x="8389835" y="271220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80000">
            <a:off x="8140706" y="286041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">
            <a:off x="7853821" y="290201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0000">
            <a:off x="7572856" y="283065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0000">
            <a:off x="7340584" y="265721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0000">
            <a:off x="7192368" y="240808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80000">
            <a:off x="7150772" y="2121200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0000">
            <a:off x="7222128" y="184023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80000">
            <a:off x="7395573" y="160796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80000">
            <a:off x="7644702" y="1459748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80000">
            <a:off x="7931587" y="141815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80000">
            <a:off x="8212552" y="1489507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80000">
            <a:off x="8444823" y="166295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80000">
            <a:off x="8593039" y="191208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">
            <a:off x="8663211" y="2227541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80000">
            <a:off x="8591855" y="250850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">
            <a:off x="8418410" y="274077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180000">
            <a:off x="8169281" y="288899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180000">
            <a:off x="7882396" y="293059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180000">
            <a:off x="7601431" y="285923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180000">
            <a:off x="7369159" y="268578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180000">
            <a:off x="7220943" y="243666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180000">
            <a:off x="7179347" y="2149775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180000">
            <a:off x="7250703" y="186881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 rot="180000">
            <a:off x="7424148" y="163653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180000">
            <a:off x="7673277" y="1488323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180000">
            <a:off x="7960162" y="144672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180000">
            <a:off x="8241127" y="1518082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180000">
            <a:off x="8473398" y="169152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 rot="180000">
            <a:off x="8621614" y="194065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180000">
            <a:off x="7397404" y="1664783"/>
            <a:ext cx="1447800" cy="14478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 rot="180000">
            <a:off x="7264054" y="2150558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56826"/>
                </a:solidFill>
                <a:latin typeface="Montserrat"/>
              </a:rPr>
              <a:t>LOGO</a:t>
            </a:r>
          </a:p>
        </p:txBody>
      </p:sp>
      <p:sp>
        <p:nvSpPr>
          <p:cNvPr id="39" name="TextBox 38"/>
          <p:cNvSpPr txBox="1"/>
          <p:nvPr/>
        </p:nvSpPr>
        <p:spPr>
          <a:xfrm rot="180000">
            <a:off x="1571357" y="5382865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BASED IN</a:t>
            </a:r>
          </a:p>
        </p:txBody>
      </p:sp>
      <p:sp>
        <p:nvSpPr>
          <p:cNvPr id="40" name="TextBox 39"/>
          <p:cNvSpPr txBox="1"/>
          <p:nvPr/>
        </p:nvSpPr>
        <p:spPr>
          <a:xfrm rot="180000">
            <a:off x="1552912" y="5668132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1" name="TextBox 40"/>
          <p:cNvSpPr txBox="1"/>
          <p:nvPr/>
        </p:nvSpPr>
        <p:spPr>
          <a:xfrm rot="180000">
            <a:off x="1521507" y="6334059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TEACHING SINCE</a:t>
            </a:r>
          </a:p>
        </p:txBody>
      </p:sp>
      <p:sp>
        <p:nvSpPr>
          <p:cNvPr id="42" name="TextBox 41"/>
          <p:cNvSpPr txBox="1"/>
          <p:nvPr/>
        </p:nvSpPr>
        <p:spPr>
          <a:xfrm rot="180000">
            <a:off x="1503063" y="661932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3" name="TextBox 42"/>
          <p:cNvSpPr txBox="1"/>
          <p:nvPr/>
        </p:nvSpPr>
        <p:spPr>
          <a:xfrm rot="180000">
            <a:off x="1471657" y="7285254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ASK ME ABOUT</a:t>
            </a:r>
          </a:p>
        </p:txBody>
      </p:sp>
      <p:sp>
        <p:nvSpPr>
          <p:cNvPr id="44" name="TextBox 43"/>
          <p:cNvSpPr txBox="1"/>
          <p:nvPr/>
        </p:nvSpPr>
        <p:spPr>
          <a:xfrm rot="180000">
            <a:off x="1453213" y="7570521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5" name="TextBox 44"/>
          <p:cNvSpPr txBox="1"/>
          <p:nvPr/>
        </p:nvSpPr>
        <p:spPr>
          <a:xfrm rot="180000">
            <a:off x="1421807" y="8236448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FAVORITE ORGANISM</a:t>
            </a:r>
          </a:p>
        </p:txBody>
      </p:sp>
      <p:sp>
        <p:nvSpPr>
          <p:cNvPr id="46" name="TextBox 45"/>
          <p:cNvSpPr txBox="1"/>
          <p:nvPr/>
        </p:nvSpPr>
        <p:spPr>
          <a:xfrm rot="180000">
            <a:off x="1403363" y="852171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7" name="Freeform 46"/>
          <p:cNvSpPr/>
          <p:nvPr/>
        </p:nvSpPr>
        <p:spPr>
          <a:xfrm rot="180000">
            <a:off x="1334570" y="9520039"/>
            <a:ext cx="7239000" cy="1047750"/>
          </a:xfrm>
          <a:custGeom>
            <a:avLst/>
            <a:gdLst/>
            <a:ahLst/>
            <a:cxnLst/>
            <a:rect l="l" t="t" r="r" b="b"/>
            <a:pathLst>
              <a:path w="7239000" h="1047750">
                <a:moveTo>
                  <a:pt x="0" y="0"/>
                </a:moveTo>
                <a:lnTo>
                  <a:pt x="7239000" y="0"/>
                </a:lnTo>
                <a:lnTo>
                  <a:pt x="6953250" y="523875"/>
                </a:lnTo>
                <a:lnTo>
                  <a:pt x="7239000" y="1047750"/>
                </a:lnTo>
                <a:lnTo>
                  <a:pt x="0" y="1047750"/>
                </a:lnTo>
                <a:lnTo>
                  <a:pt x="285750" y="523875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 rot="180000">
            <a:off x="1715570" y="9520039"/>
            <a:ext cx="6477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000" b="1" i="0">
                <a:solidFill>
                  <a:srgbClr val="F4F1EA"/>
                </a:solidFill>
                <a:latin typeface="Montserrat"/>
              </a:rPr>
              <a:t>WES SANDER</a:t>
            </a:r>
          </a:p>
        </p:txBody>
      </p:sp>
      <p:sp>
        <p:nvSpPr>
          <p:cNvPr id="49" name="Freeform 48"/>
          <p:cNvSpPr/>
          <p:nvPr/>
        </p:nvSpPr>
        <p:spPr>
          <a:xfrm rot="180000">
            <a:off x="1863697" y="10471430"/>
            <a:ext cx="6096000" cy="762000"/>
          </a:xfrm>
          <a:custGeom>
            <a:avLst/>
            <a:gdLst/>
            <a:ahLst/>
            <a:cxnLst/>
            <a:rect l="l" t="t" r="r" b="b"/>
            <a:pathLst>
              <a:path w="6096000" h="762000">
                <a:moveTo>
                  <a:pt x="0" y="0"/>
                </a:moveTo>
                <a:lnTo>
                  <a:pt x="6096000" y="0"/>
                </a:lnTo>
                <a:lnTo>
                  <a:pt x="5810250" y="381000"/>
                </a:lnTo>
                <a:lnTo>
                  <a:pt x="6096000" y="762000"/>
                </a:lnTo>
                <a:lnTo>
                  <a:pt x="0" y="762000"/>
                </a:lnTo>
                <a:lnTo>
                  <a:pt x="285750" y="381000"/>
                </a:lnTo>
                <a:close/>
              </a:path>
            </a:pathLst>
          </a:cu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 rot="180000">
            <a:off x="2244697" y="1047143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DBE6A7"/>
                </a:solidFill>
                <a:latin typeface="Source Sans 3"/>
              </a:rPr>
              <a:t>Microscopy</a:t>
            </a:r>
          </a:p>
        </p:txBody>
      </p:sp>
      <p:sp>
        <p:nvSpPr>
          <p:cNvPr id="51" name="Rectangle 50"/>
          <p:cNvSpPr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4F1EA"/>
                </a:solidFill>
                <a:latin typeface="Source Sans 3"/>
              </a:rPr>
              <a:t>soilfoodweb.com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180000">
            <a:off x="952500" y="809625"/>
            <a:ext cx="8382000" cy="11239500"/>
          </a:xfrm>
          <a:prstGeom prst="roundRect">
            <a:avLst>
              <a:gd name="adj" fmla="val 3181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1600720" y="1195598"/>
            <a:ext cx="3810000" cy="3810000"/>
          </a:xfrm>
          <a:prstGeom prst="rect">
            <a:avLst/>
          </a:prstGeom>
          <a:solidFill>
            <a:srgbClr val="F4F1EA"/>
          </a:solidFill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5709164788203653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695970" y="1290848"/>
            <a:ext cx="3619500" cy="36195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rot="180000">
            <a:off x="8634636" y="2198966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80000">
            <a:off x="8563280" y="247993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">
            <a:off x="8389835" y="271220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80000">
            <a:off x="8140706" y="286041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">
            <a:off x="7853821" y="290201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0000">
            <a:off x="7572856" y="283065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0000">
            <a:off x="7340584" y="265721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0000">
            <a:off x="7192368" y="240808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80000">
            <a:off x="7150772" y="2121200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0000">
            <a:off x="7222128" y="184023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80000">
            <a:off x="7395573" y="160796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80000">
            <a:off x="7644702" y="1459748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80000">
            <a:off x="7931587" y="141815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80000">
            <a:off x="8212552" y="1489507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80000">
            <a:off x="8444823" y="166295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80000">
            <a:off x="8593039" y="191208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">
            <a:off x="8663211" y="2227541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80000">
            <a:off x="8591855" y="250850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">
            <a:off x="8418410" y="274077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180000">
            <a:off x="8169281" y="288899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180000">
            <a:off x="7882396" y="293059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180000">
            <a:off x="7601431" y="285923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180000">
            <a:off x="7369159" y="268578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180000">
            <a:off x="7220943" y="243666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180000">
            <a:off x="7179347" y="2149775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180000">
            <a:off x="7250703" y="186881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 rot="180000">
            <a:off x="7424148" y="163653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180000">
            <a:off x="7673277" y="1488323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180000">
            <a:off x="7960162" y="144672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180000">
            <a:off x="8241127" y="1518082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180000">
            <a:off x="8473398" y="169152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 rot="180000">
            <a:off x="8621614" y="194065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180000">
            <a:off x="7397404" y="1664783"/>
            <a:ext cx="1447800" cy="14478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 rot="180000">
            <a:off x="7264054" y="2150558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56826"/>
                </a:solidFill>
                <a:latin typeface="Montserrat"/>
              </a:rPr>
              <a:t>LOGO</a:t>
            </a:r>
          </a:p>
        </p:txBody>
      </p:sp>
      <p:sp>
        <p:nvSpPr>
          <p:cNvPr id="39" name="TextBox 38"/>
          <p:cNvSpPr txBox="1"/>
          <p:nvPr/>
        </p:nvSpPr>
        <p:spPr>
          <a:xfrm rot="180000">
            <a:off x="1571357" y="5382865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BASED IN</a:t>
            </a:r>
          </a:p>
        </p:txBody>
      </p:sp>
      <p:sp>
        <p:nvSpPr>
          <p:cNvPr id="40" name="TextBox 39"/>
          <p:cNvSpPr txBox="1"/>
          <p:nvPr/>
        </p:nvSpPr>
        <p:spPr>
          <a:xfrm rot="180000">
            <a:off x="1552912" y="5668132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1" name="TextBox 40"/>
          <p:cNvSpPr txBox="1"/>
          <p:nvPr/>
        </p:nvSpPr>
        <p:spPr>
          <a:xfrm rot="180000">
            <a:off x="1521507" y="6334059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TEACHING SINCE</a:t>
            </a:r>
          </a:p>
        </p:txBody>
      </p:sp>
      <p:sp>
        <p:nvSpPr>
          <p:cNvPr id="42" name="TextBox 41"/>
          <p:cNvSpPr txBox="1"/>
          <p:nvPr/>
        </p:nvSpPr>
        <p:spPr>
          <a:xfrm rot="180000">
            <a:off x="1503063" y="661932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3" name="TextBox 42"/>
          <p:cNvSpPr txBox="1"/>
          <p:nvPr/>
        </p:nvSpPr>
        <p:spPr>
          <a:xfrm rot="180000">
            <a:off x="1471657" y="7285254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ASK ME ABOUT</a:t>
            </a:r>
          </a:p>
        </p:txBody>
      </p:sp>
      <p:sp>
        <p:nvSpPr>
          <p:cNvPr id="44" name="TextBox 43"/>
          <p:cNvSpPr txBox="1"/>
          <p:nvPr/>
        </p:nvSpPr>
        <p:spPr>
          <a:xfrm rot="180000">
            <a:off x="1453213" y="7570521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5" name="TextBox 44"/>
          <p:cNvSpPr txBox="1"/>
          <p:nvPr/>
        </p:nvSpPr>
        <p:spPr>
          <a:xfrm rot="180000">
            <a:off x="1421807" y="8236448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FAVORITE ORGANISM</a:t>
            </a:r>
          </a:p>
        </p:txBody>
      </p:sp>
      <p:sp>
        <p:nvSpPr>
          <p:cNvPr id="46" name="TextBox 45"/>
          <p:cNvSpPr txBox="1"/>
          <p:nvPr/>
        </p:nvSpPr>
        <p:spPr>
          <a:xfrm rot="180000">
            <a:off x="1403363" y="852171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7" name="Freeform 46"/>
          <p:cNvSpPr/>
          <p:nvPr/>
        </p:nvSpPr>
        <p:spPr>
          <a:xfrm rot="180000">
            <a:off x="1334570" y="9520039"/>
            <a:ext cx="7239000" cy="1047750"/>
          </a:xfrm>
          <a:custGeom>
            <a:avLst/>
            <a:gdLst/>
            <a:ahLst/>
            <a:cxnLst/>
            <a:rect l="l" t="t" r="r" b="b"/>
            <a:pathLst>
              <a:path w="7239000" h="1047750">
                <a:moveTo>
                  <a:pt x="0" y="0"/>
                </a:moveTo>
                <a:lnTo>
                  <a:pt x="7239000" y="0"/>
                </a:lnTo>
                <a:lnTo>
                  <a:pt x="6953250" y="523875"/>
                </a:lnTo>
                <a:lnTo>
                  <a:pt x="7239000" y="1047750"/>
                </a:lnTo>
                <a:lnTo>
                  <a:pt x="0" y="1047750"/>
                </a:lnTo>
                <a:lnTo>
                  <a:pt x="285750" y="523875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 rot="180000">
            <a:off x="1715570" y="9520039"/>
            <a:ext cx="6477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000" b="1" i="0">
                <a:solidFill>
                  <a:srgbClr val="F4F1EA"/>
                </a:solidFill>
                <a:latin typeface="Montserrat"/>
              </a:rPr>
              <a:t>GERALD RAMIREZ</a:t>
            </a:r>
          </a:p>
        </p:txBody>
      </p:sp>
      <p:sp>
        <p:nvSpPr>
          <p:cNvPr id="49" name="Freeform 48"/>
          <p:cNvSpPr/>
          <p:nvPr/>
        </p:nvSpPr>
        <p:spPr>
          <a:xfrm rot="180000">
            <a:off x="1863697" y="10471430"/>
            <a:ext cx="6096000" cy="762000"/>
          </a:xfrm>
          <a:custGeom>
            <a:avLst/>
            <a:gdLst/>
            <a:ahLst/>
            <a:cxnLst/>
            <a:rect l="l" t="t" r="r" b="b"/>
            <a:pathLst>
              <a:path w="6096000" h="762000">
                <a:moveTo>
                  <a:pt x="0" y="0"/>
                </a:moveTo>
                <a:lnTo>
                  <a:pt x="6096000" y="0"/>
                </a:lnTo>
                <a:lnTo>
                  <a:pt x="5810250" y="381000"/>
                </a:lnTo>
                <a:lnTo>
                  <a:pt x="6096000" y="762000"/>
                </a:lnTo>
                <a:lnTo>
                  <a:pt x="0" y="762000"/>
                </a:lnTo>
                <a:lnTo>
                  <a:pt x="285750" y="381000"/>
                </a:lnTo>
                <a:close/>
              </a:path>
            </a:pathLst>
          </a:cu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 rot="180000">
            <a:off x="2244697" y="1047143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DBE6A7"/>
                </a:solidFill>
                <a:latin typeface="Source Sans 3"/>
              </a:rPr>
              <a:t>Compost extracts and teas</a:t>
            </a:r>
          </a:p>
        </p:txBody>
      </p:sp>
      <p:sp>
        <p:nvSpPr>
          <p:cNvPr id="51" name="Rectangle 50"/>
          <p:cNvSpPr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4F1EA"/>
                </a:solidFill>
                <a:latin typeface="Source Sans 3"/>
              </a:rPr>
              <a:t>soilfoodweb.com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180000">
            <a:off x="952500" y="809625"/>
            <a:ext cx="8382000" cy="11239500"/>
          </a:xfrm>
          <a:prstGeom prst="roundRect">
            <a:avLst>
              <a:gd name="adj" fmla="val 3181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1600720" y="1195598"/>
            <a:ext cx="3810000" cy="3810000"/>
          </a:xfrm>
          <a:prstGeom prst="rect">
            <a:avLst/>
          </a:prstGeom>
          <a:solidFill>
            <a:srgbClr val="F4F1EA"/>
          </a:solidFill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">
            <a:off x="1695970" y="1290848"/>
            <a:ext cx="3619500" cy="36195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180000">
            <a:off x="1848370" y="1290848"/>
            <a:ext cx="3314700" cy="361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Dr. Caterina Capri, square headshot</a:t>
            </a:r>
          </a:p>
        </p:txBody>
      </p:sp>
      <p:sp>
        <p:nvSpPr>
          <p:cNvPr id="6" name="Oval 5"/>
          <p:cNvSpPr/>
          <p:nvPr/>
        </p:nvSpPr>
        <p:spPr>
          <a:xfrm rot="180000">
            <a:off x="8634636" y="2198966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">
            <a:off x="8563280" y="247993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80000">
            <a:off x="8389835" y="271220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">
            <a:off x="8140706" y="286041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0000">
            <a:off x="7853821" y="290201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0000">
            <a:off x="7572856" y="2830659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0000">
            <a:off x="7340584" y="265721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80000">
            <a:off x="7192368" y="240808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0000">
            <a:off x="7150772" y="2121200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80000">
            <a:off x="7222128" y="1840235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80000">
            <a:off x="7395573" y="1607964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80000">
            <a:off x="7644702" y="1459748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80000">
            <a:off x="7931587" y="141815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80000">
            <a:off x="8212552" y="1489507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80000">
            <a:off x="8444823" y="1662953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">
            <a:off x="8593039" y="1912081"/>
            <a:ext cx="457200" cy="4572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80000">
            <a:off x="8663211" y="2227541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">
            <a:off x="8591855" y="250850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180000">
            <a:off x="8418410" y="274077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180000">
            <a:off x="8169281" y="288899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180000">
            <a:off x="7882396" y="293059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180000">
            <a:off x="7601431" y="2859234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180000">
            <a:off x="7369159" y="268578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180000">
            <a:off x="7220943" y="243666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180000">
            <a:off x="7179347" y="2149775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 rot="180000">
            <a:off x="7250703" y="1868810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180000">
            <a:off x="7424148" y="1636539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180000">
            <a:off x="7673277" y="1488323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180000">
            <a:off x="7960162" y="144672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180000">
            <a:off x="8241127" y="1518082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 rot="180000">
            <a:off x="8473398" y="1691528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180000">
            <a:off x="8621614" y="1940656"/>
            <a:ext cx="400050" cy="40005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 rot="180000">
            <a:off x="7397404" y="1664783"/>
            <a:ext cx="1447800" cy="14478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 rot="180000">
            <a:off x="7264054" y="2150558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56826"/>
                </a:solidFill>
                <a:latin typeface="Montserrat"/>
              </a:rPr>
              <a:t>LOGO</a:t>
            </a:r>
          </a:p>
        </p:txBody>
      </p:sp>
      <p:sp>
        <p:nvSpPr>
          <p:cNvPr id="40" name="TextBox 39"/>
          <p:cNvSpPr txBox="1"/>
          <p:nvPr/>
        </p:nvSpPr>
        <p:spPr>
          <a:xfrm rot="180000">
            <a:off x="1571357" y="5382865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BASED IN</a:t>
            </a:r>
          </a:p>
        </p:txBody>
      </p:sp>
      <p:sp>
        <p:nvSpPr>
          <p:cNvPr id="41" name="TextBox 40"/>
          <p:cNvSpPr txBox="1"/>
          <p:nvPr/>
        </p:nvSpPr>
        <p:spPr>
          <a:xfrm rot="180000">
            <a:off x="1552912" y="5668132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2" name="TextBox 41"/>
          <p:cNvSpPr txBox="1"/>
          <p:nvPr/>
        </p:nvSpPr>
        <p:spPr>
          <a:xfrm rot="180000">
            <a:off x="1521507" y="6334059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TEACHING SINCE</a:t>
            </a:r>
          </a:p>
        </p:txBody>
      </p:sp>
      <p:sp>
        <p:nvSpPr>
          <p:cNvPr id="43" name="TextBox 42"/>
          <p:cNvSpPr txBox="1"/>
          <p:nvPr/>
        </p:nvSpPr>
        <p:spPr>
          <a:xfrm rot="180000">
            <a:off x="1503063" y="661932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4" name="TextBox 43"/>
          <p:cNvSpPr txBox="1"/>
          <p:nvPr/>
        </p:nvSpPr>
        <p:spPr>
          <a:xfrm rot="180000">
            <a:off x="1471657" y="7285254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ASK ME ABOUT</a:t>
            </a:r>
          </a:p>
        </p:txBody>
      </p:sp>
      <p:sp>
        <p:nvSpPr>
          <p:cNvPr id="45" name="TextBox 44"/>
          <p:cNvSpPr txBox="1"/>
          <p:nvPr/>
        </p:nvSpPr>
        <p:spPr>
          <a:xfrm rot="180000">
            <a:off x="1453213" y="7570521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6" name="TextBox 45"/>
          <p:cNvSpPr txBox="1"/>
          <p:nvPr/>
        </p:nvSpPr>
        <p:spPr>
          <a:xfrm rot="180000">
            <a:off x="1421807" y="8236448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FAVORITE ORGANISM</a:t>
            </a:r>
          </a:p>
        </p:txBody>
      </p:sp>
      <p:sp>
        <p:nvSpPr>
          <p:cNvPr id="47" name="TextBox 46"/>
          <p:cNvSpPr txBox="1"/>
          <p:nvPr/>
        </p:nvSpPr>
        <p:spPr>
          <a:xfrm rot="180000">
            <a:off x="1403363" y="8521716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[COPY: Allison]</a:t>
            </a:r>
          </a:p>
        </p:txBody>
      </p:sp>
      <p:sp>
        <p:nvSpPr>
          <p:cNvPr id="48" name="Freeform 47"/>
          <p:cNvSpPr/>
          <p:nvPr/>
        </p:nvSpPr>
        <p:spPr>
          <a:xfrm rot="180000">
            <a:off x="1334570" y="9520039"/>
            <a:ext cx="7239000" cy="1047750"/>
          </a:xfrm>
          <a:custGeom>
            <a:avLst/>
            <a:gdLst/>
            <a:ahLst/>
            <a:cxnLst/>
            <a:rect l="l" t="t" r="r" b="b"/>
            <a:pathLst>
              <a:path w="7239000" h="1047750">
                <a:moveTo>
                  <a:pt x="0" y="0"/>
                </a:moveTo>
                <a:lnTo>
                  <a:pt x="7239000" y="0"/>
                </a:lnTo>
                <a:lnTo>
                  <a:pt x="6953250" y="523875"/>
                </a:lnTo>
                <a:lnTo>
                  <a:pt x="7239000" y="1047750"/>
                </a:lnTo>
                <a:lnTo>
                  <a:pt x="0" y="1047750"/>
                </a:lnTo>
                <a:lnTo>
                  <a:pt x="285750" y="523875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 rot="180000">
            <a:off x="1715570" y="9520039"/>
            <a:ext cx="6477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800" b="1" i="0">
                <a:solidFill>
                  <a:srgbClr val="F4F1EA"/>
                </a:solidFill>
                <a:latin typeface="Montserrat"/>
              </a:rPr>
              <a:t>DR. CATERINA CAPRI</a:t>
            </a:r>
          </a:p>
        </p:txBody>
      </p:sp>
      <p:sp>
        <p:nvSpPr>
          <p:cNvPr id="50" name="Freeform 49"/>
          <p:cNvSpPr/>
          <p:nvPr/>
        </p:nvSpPr>
        <p:spPr>
          <a:xfrm rot="180000">
            <a:off x="1863697" y="10471430"/>
            <a:ext cx="6096000" cy="762000"/>
          </a:xfrm>
          <a:custGeom>
            <a:avLst/>
            <a:gdLst/>
            <a:ahLst/>
            <a:cxnLst/>
            <a:rect l="l" t="t" r="r" b="b"/>
            <a:pathLst>
              <a:path w="6096000" h="762000">
                <a:moveTo>
                  <a:pt x="0" y="0"/>
                </a:moveTo>
                <a:lnTo>
                  <a:pt x="6096000" y="0"/>
                </a:lnTo>
                <a:lnTo>
                  <a:pt x="5810250" y="381000"/>
                </a:lnTo>
                <a:lnTo>
                  <a:pt x="6096000" y="762000"/>
                </a:lnTo>
                <a:lnTo>
                  <a:pt x="0" y="762000"/>
                </a:lnTo>
                <a:lnTo>
                  <a:pt x="285750" y="381000"/>
                </a:lnTo>
                <a:close/>
              </a:path>
            </a:pathLst>
          </a:cu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 rot="180000">
            <a:off x="2244697" y="1047143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DBE6A7"/>
                </a:solidFill>
                <a:latin typeface="Source Sans 3"/>
              </a:rPr>
              <a:t>Advanced Programs</a:t>
            </a:r>
          </a:p>
        </p:txBody>
      </p:sp>
      <p:sp>
        <p:nvSpPr>
          <p:cNvPr id="52" name="Rectangle 51"/>
          <p:cNvSpPr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 rot="180000">
            <a:off x="669352" y="1162261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4F1EA"/>
                </a:solidFill>
                <a:latin typeface="Source Sans 3"/>
              </a:rPr>
              <a:t>soilfoodweb.com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381250"/>
            <a:ext cx="8382000" cy="3224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F4F1EA"/>
                </a:solidFill>
                <a:latin typeface="Montserrat"/>
              </a:rPr>
              <a:t>Thank you to every mentor who teaches our students to see soil.</a:t>
            </a:r>
          </a:p>
        </p:txBody>
      </p:sp>
      <p:sp>
        <p:nvSpPr>
          <p:cNvPr id="3" name="Rounded Rectangle 2"/>
          <p:cNvSpPr/>
          <p:nvPr/>
        </p:nvSpPr>
        <p:spPr>
          <a:xfrm rot="21240000">
            <a:off x="381000" y="6191250"/>
            <a:ext cx="4953000" cy="6667500"/>
          </a:xfrm>
          <a:prstGeom prst="roundRect">
            <a:avLst>
              <a:gd name="adj" fmla="val 5384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14500" y="6191250"/>
            <a:ext cx="4953000" cy="6667500"/>
          </a:xfrm>
          <a:prstGeom prst="roundRect">
            <a:avLst>
              <a:gd name="adj" fmla="val 5384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3048000" y="6191250"/>
            <a:ext cx="4953000" cy="6667500"/>
          </a:xfrm>
          <a:prstGeom prst="roundRect">
            <a:avLst>
              <a:gd name="adj" fmla="val 5384"/>
            </a:avLst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