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Every advice line is written as the mentor's own words: get each one confirmed by the mentor before posting. Items marked [confirm] need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Every advice line is written as the mentor's own words: get each one confirmed by the mentor before posting. Items marked [confirm] need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Every advice line is written as the mentor's own words: get each one confirmed by the mentor before posting. Items marked [confirm] need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Every advice line is written as the mentor's own words: get each one confirmed by the mentor before posting. Items marked [confirm] need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Every advice line is written as the mentor's own words: get each one confirmed by the mentor before posting. Items marked [confirm] need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9.jp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0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1.jpg"/><Relationship Id="rId8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ones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0" y="1428750"/>
            <a:ext cx="3691701" cy="10668000"/>
          </a:xfrm>
          <a:prstGeom prst="rect">
            <a:avLst/>
          </a:prstGeom>
        </p:spPr>
      </p:pic>
      <p:pic>
        <p:nvPicPr>
          <p:cNvPr id="3" name="Picture 2" descr="fern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-1143000" y="9525000"/>
            <a:ext cx="7239000" cy="3731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2381250"/>
            <a:ext cx="4953000" cy="545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ern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-1619250" y="8858250"/>
            <a:ext cx="4953000" cy="2569892"/>
          </a:xfrm>
          <a:prstGeom prst="rect">
            <a:avLst/>
          </a:prstGeom>
        </p:spPr>
      </p:pic>
      <p:pic>
        <p:nvPicPr>
          <p:cNvPr id="3" name="Picture 2" descr="leaf-sprig-t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40000">
            <a:off x="8858250" y="190500"/>
            <a:ext cx="2103247" cy="4953000"/>
          </a:xfrm>
          <a:prstGeom prst="rect">
            <a:avLst/>
          </a:prstGeom>
        </p:spPr>
      </p:pic>
      <p:pic>
        <p:nvPicPr>
          <p:cNvPr id="4" name="Picture 3" descr="cut-blue-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620125" y="9620250"/>
            <a:ext cx="2190750" cy="2658858"/>
          </a:xfrm>
          <a:prstGeom prst="rect">
            <a:avLst/>
          </a:prstGeom>
        </p:spPr>
      </p:pic>
      <p:pic>
        <p:nvPicPr>
          <p:cNvPr id="5" name="Picture 4" descr="cut-green-scrib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-666750" y="381000"/>
            <a:ext cx="1714500" cy="23639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6750" y="381000"/>
            <a:ext cx="8953500" cy="12096750"/>
          </a:xfrm>
          <a:prstGeom prst="roundRect">
            <a:avLst>
              <a:gd name="adj" fmla="val 2978"/>
            </a:avLst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259081847247681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" y="381000"/>
            <a:ext cx="8953500" cy="5715000"/>
          </a:xfrm>
          <a:prstGeom prst="round2SameRect">
            <a:avLst>
              <a:gd name="adj1" fmla="val 4500"/>
              <a:gd name="adj2" fmla="val 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1047750" y="6286500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F1D"/>
                </a:solidFill>
                <a:latin typeface="Montserrat"/>
              </a:rPr>
              <a:t>Dr. 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7077075"/>
            <a:ext cx="819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Instructor, Mentor and Researcher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7620000"/>
            <a:ext cx="8191500" cy="1546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E3F1D"/>
                </a:solidFill>
                <a:latin typeface="Montserrat"/>
              </a:rPr>
              <a:t>“Bare soil erodes. Living roots and cover hold the aggregates together.”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357322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9633547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Brazil [confirm]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9357322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9633547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10126299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BACKGROUND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10402524"/>
            <a:ext cx="3238500" cy="1561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PhD in Environmental Sciences, 20 years of environmental and farm consulting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0126299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SPEAKS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402524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Portuguese, English, Spanish</a:t>
            </a:r>
          </a:p>
        </p:txBody>
      </p:sp>
      <p:pic>
        <p:nvPicPr>
          <p:cNvPr id="19" name="Picture 18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42128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ern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-1619250" y="8858250"/>
            <a:ext cx="4953000" cy="2569892"/>
          </a:xfrm>
          <a:prstGeom prst="rect">
            <a:avLst/>
          </a:prstGeom>
        </p:spPr>
      </p:pic>
      <p:pic>
        <p:nvPicPr>
          <p:cNvPr id="3" name="Picture 2" descr="leaf-sprig-t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40000">
            <a:off x="8858250" y="190500"/>
            <a:ext cx="2103247" cy="4953000"/>
          </a:xfrm>
          <a:prstGeom prst="rect">
            <a:avLst/>
          </a:prstGeom>
        </p:spPr>
      </p:pic>
      <p:pic>
        <p:nvPicPr>
          <p:cNvPr id="4" name="Picture 3" descr="cut-blue-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620125" y="9620250"/>
            <a:ext cx="2190750" cy="2658858"/>
          </a:xfrm>
          <a:prstGeom prst="rect">
            <a:avLst/>
          </a:prstGeom>
        </p:spPr>
      </p:pic>
      <p:pic>
        <p:nvPicPr>
          <p:cNvPr id="5" name="Picture 4" descr="cut-green-scrib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-666750" y="381000"/>
            <a:ext cx="1714500" cy="23639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6750" y="381000"/>
            <a:ext cx="8953500" cy="12096750"/>
          </a:xfrm>
          <a:prstGeom prst="roundRect">
            <a:avLst>
              <a:gd name="adj" fmla="val 2978"/>
            </a:avLst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61642968373591542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" y="381000"/>
            <a:ext cx="8953500" cy="5715000"/>
          </a:xfrm>
          <a:prstGeom prst="round2SameRect">
            <a:avLst>
              <a:gd name="adj1" fmla="val 4500"/>
              <a:gd name="adj2" fmla="val 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1047750" y="6286500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Nick Padwick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7077075"/>
            <a:ext cx="819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Farmer, Consultant and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7620000"/>
            <a:ext cx="8191500" cy="1546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E3F1D"/>
                </a:solidFill>
                <a:latin typeface="Montserrat"/>
              </a:rPr>
              <a:t>“I make 750 tons of compost a year. Biology works at any scale.”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357322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9633547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West Norfolk, England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9357322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9633547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[confirm]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10126299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BACKGROUND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10402524"/>
            <a:ext cx="3238500" cy="1240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Farmers Weekly Farm Manager and Farmer of the Year, 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0126299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KNOWN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402524"/>
            <a:ext cx="3238500" cy="1240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Managing Ken Hill Estate, home of Wild Ken Hill</a:t>
            </a:r>
          </a:p>
        </p:txBody>
      </p:sp>
      <p:pic>
        <p:nvPicPr>
          <p:cNvPr id="19" name="Picture 18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42128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ern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-1619250" y="8858250"/>
            <a:ext cx="4953000" cy="2569892"/>
          </a:xfrm>
          <a:prstGeom prst="rect">
            <a:avLst/>
          </a:prstGeom>
        </p:spPr>
      </p:pic>
      <p:pic>
        <p:nvPicPr>
          <p:cNvPr id="3" name="Picture 2" descr="leaf-sprig-t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40000">
            <a:off x="8858250" y="190500"/>
            <a:ext cx="2103247" cy="4953000"/>
          </a:xfrm>
          <a:prstGeom prst="rect">
            <a:avLst/>
          </a:prstGeom>
        </p:spPr>
      </p:pic>
      <p:pic>
        <p:nvPicPr>
          <p:cNvPr id="4" name="Picture 3" descr="cut-blue-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620125" y="9620250"/>
            <a:ext cx="2190750" cy="2658858"/>
          </a:xfrm>
          <a:prstGeom prst="rect">
            <a:avLst/>
          </a:prstGeom>
        </p:spPr>
      </p:pic>
      <p:pic>
        <p:nvPicPr>
          <p:cNvPr id="5" name="Picture 4" descr="cut-green-scrib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-666750" y="381000"/>
            <a:ext cx="1714500" cy="23639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6750" y="381000"/>
            <a:ext cx="8953500" cy="12096750"/>
          </a:xfrm>
          <a:prstGeom prst="roundRect">
            <a:avLst>
              <a:gd name="adj" fmla="val 2978"/>
            </a:avLst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6739873113327577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" y="381000"/>
            <a:ext cx="8953500" cy="5596982"/>
          </a:xfrm>
          <a:prstGeom prst="round2SameRect">
            <a:avLst>
              <a:gd name="adj1" fmla="val 4500"/>
              <a:gd name="adj2" fmla="val 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1047750" y="6168482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Wes Sander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959057"/>
            <a:ext cx="819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Consultant and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7501982"/>
            <a:ext cx="8191500" cy="1809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3F1D"/>
                </a:solidFill>
                <a:latin typeface="Montserrat"/>
              </a:rPr>
              <a:t>“Compost can look finished and still lack the biology you need. Check it under the microscope before you apply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502188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9778413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Sierra Nevada foothills, California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9502188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9778413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10592467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BACKGROUND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10868692"/>
            <a:ext cx="3238500" cy="1561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10 years as an agricultural journalist, then 10 years managing a farm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0592467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KNOWN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868692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Foothill Biological Soil Health Services</a:t>
            </a:r>
          </a:p>
        </p:txBody>
      </p:sp>
      <p:pic>
        <p:nvPicPr>
          <p:cNvPr id="19" name="Picture 18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42128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ern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-1619250" y="8858250"/>
            <a:ext cx="4953000" cy="2569892"/>
          </a:xfrm>
          <a:prstGeom prst="rect">
            <a:avLst/>
          </a:prstGeom>
        </p:spPr>
      </p:pic>
      <p:pic>
        <p:nvPicPr>
          <p:cNvPr id="3" name="Picture 2" descr="leaf-sprig-t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40000">
            <a:off x="8858250" y="190500"/>
            <a:ext cx="2103247" cy="4953000"/>
          </a:xfrm>
          <a:prstGeom prst="rect">
            <a:avLst/>
          </a:prstGeom>
        </p:spPr>
      </p:pic>
      <p:pic>
        <p:nvPicPr>
          <p:cNvPr id="4" name="Picture 3" descr="cut-blue-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620125" y="9620250"/>
            <a:ext cx="2190750" cy="2658858"/>
          </a:xfrm>
          <a:prstGeom prst="rect">
            <a:avLst/>
          </a:prstGeom>
        </p:spPr>
      </p:pic>
      <p:pic>
        <p:nvPicPr>
          <p:cNvPr id="5" name="Picture 4" descr="cut-green-scrib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-666750" y="381000"/>
            <a:ext cx="1714500" cy="23639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6750" y="381000"/>
            <a:ext cx="8953500" cy="12096750"/>
          </a:xfrm>
          <a:prstGeom prst="roundRect">
            <a:avLst>
              <a:gd name="adj" fmla="val 2978"/>
            </a:avLst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8888583432465455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" y="381000"/>
            <a:ext cx="8953500" cy="5715000"/>
          </a:xfrm>
          <a:prstGeom prst="round2SameRect">
            <a:avLst>
              <a:gd name="adj1" fmla="val 4500"/>
              <a:gd name="adj2" fmla="val 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1047750" y="6286500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Gerald Ramírez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7077075"/>
            <a:ext cx="819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Instructor and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7620000"/>
            <a:ext cx="8191500" cy="2043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E3F1D"/>
                </a:solidFill>
                <a:latin typeface="Montserrat"/>
              </a:rPr>
              <a:t>“Extracts pull organisms off the compost into solution, so you can apply biology across a whole field.”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53880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10130105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Costa Rica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9853880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0130105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[confirm]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10622857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BACKGROUND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10899082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Agronomist, University of Costa 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0622857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KNOWN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899082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Teaching the CLP and CTP courses</a:t>
            </a:r>
          </a:p>
        </p:txBody>
      </p:sp>
      <p:pic>
        <p:nvPicPr>
          <p:cNvPr id="19" name="Picture 18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42128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ern-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20000">
            <a:off x="-1619250" y="8858250"/>
            <a:ext cx="4953000" cy="2569892"/>
          </a:xfrm>
          <a:prstGeom prst="rect">
            <a:avLst/>
          </a:prstGeom>
        </p:spPr>
      </p:pic>
      <p:pic>
        <p:nvPicPr>
          <p:cNvPr id="3" name="Picture 2" descr="leaf-sprig-t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40000">
            <a:off x="8858250" y="190500"/>
            <a:ext cx="2103247" cy="4953000"/>
          </a:xfrm>
          <a:prstGeom prst="rect">
            <a:avLst/>
          </a:prstGeom>
        </p:spPr>
      </p:pic>
      <p:pic>
        <p:nvPicPr>
          <p:cNvPr id="4" name="Picture 3" descr="cut-blue-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620125" y="9620250"/>
            <a:ext cx="2190750" cy="2658858"/>
          </a:xfrm>
          <a:prstGeom prst="rect">
            <a:avLst/>
          </a:prstGeom>
        </p:spPr>
      </p:pic>
      <p:pic>
        <p:nvPicPr>
          <p:cNvPr id="5" name="Picture 4" descr="cut-green-scrib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-666750" y="381000"/>
            <a:ext cx="1714500" cy="23639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6750" y="381000"/>
            <a:ext cx="8953500" cy="12096750"/>
          </a:xfrm>
          <a:prstGeom prst="roundRect">
            <a:avLst>
              <a:gd name="adj" fmla="val 2978"/>
            </a:avLst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66750" y="381000"/>
            <a:ext cx="8953500" cy="5363307"/>
          </a:xfrm>
          <a:prstGeom prst="round2Same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381000"/>
            <a:ext cx="8648700" cy="5363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593480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F1D"/>
                </a:solidFill>
                <a:latin typeface="Montserrat"/>
              </a:rPr>
              <a:t>Dr. Caterina Capri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6725382"/>
            <a:ext cx="819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Advanced Programs Instructor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7268307"/>
            <a:ext cx="8191500" cy="2043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E3F1D"/>
                </a:solidFill>
                <a:latin typeface="Montserrat"/>
              </a:rPr>
              <a:t>“Cover crops feed the rhizosphere with root exudates while they protect the surface.”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9502188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9778413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[confirm]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9502188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9778413"/>
            <a:ext cx="3238500" cy="59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[confirm]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10271165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BACKGROUND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0547390"/>
            <a:ext cx="3238500" cy="918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[need her bio from Allison or the website]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271165"/>
            <a:ext cx="3238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50">
                <a:solidFill>
                  <a:srgbClr val="31662F"/>
                </a:solidFill>
                <a:latin typeface="Montserrat"/>
              </a:rPr>
              <a:t>KNOWN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0547390"/>
            <a:ext cx="3238500" cy="18827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Research on how living cover crops build soil biology, co-written with Dr. Elaine Ingham and Dr. Carla Portugal</a:t>
            </a:r>
          </a:p>
        </p:txBody>
      </p:sp>
      <p:pic>
        <p:nvPicPr>
          <p:cNvPr id="20" name="Picture 19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0" y="1142128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ones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0" y="1428750"/>
            <a:ext cx="3691701" cy="10668000"/>
          </a:xfrm>
          <a:prstGeom prst="rect">
            <a:avLst/>
          </a:prstGeom>
        </p:spPr>
      </p:pic>
      <p:pic>
        <p:nvPicPr>
          <p:cNvPr id="3" name="Picture 2" descr="fern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-1143000" y="9525000"/>
            <a:ext cx="7239000" cy="3731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2381250"/>
            <a:ext cx="4953000" cy="44537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