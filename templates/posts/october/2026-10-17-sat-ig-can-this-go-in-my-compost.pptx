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762000"/>
            <a:ext cx="1996397" cy="571500"/>
          </a:xfrm>
          <a:prstGeom prst="roundRect">
            <a:avLst>
              <a:gd name="adj" fmla="val 50000"/>
            </a:avLst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99639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spc="200">
                <a:solidFill>
                  <a:srgbClr val="F4F1EA"/>
                </a:solidFill>
                <a:latin typeface="Montserrat"/>
              </a:rPr>
              <a:t>SAVE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95500"/>
            <a:ext cx="8763000" cy="4006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You can compost your hair. You probably shouldn't compost that ‘compostable’ fork.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0001250"/>
            <a:ext cx="2095500" cy="2095500"/>
          </a:xfrm>
          <a:prstGeom prst="roundRect">
            <a:avLst>
              <a:gd name="adj" fmla="val 10909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01250"/>
            <a:ext cx="17907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4A463F"/>
                </a:solidFill>
                <a:latin typeface="Source Sans 3"/>
              </a:rPr>
              <a:t>PHOTO: hair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4468" y="10001250"/>
            <a:ext cx="2095500" cy="2095500"/>
          </a:xfrm>
          <a:prstGeom prst="roundRect">
            <a:avLst>
              <a:gd name="adj" fmla="val 10909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868" y="10001250"/>
            <a:ext cx="17907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4A463F"/>
                </a:solidFill>
                <a:latin typeface="Source Sans 3"/>
              </a:rPr>
              <a:t>PHOTO: cardboard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6936" y="10001250"/>
            <a:ext cx="2095500" cy="2095500"/>
          </a:xfrm>
          <a:prstGeom prst="roundRect">
            <a:avLst>
              <a:gd name="adj" fmla="val 10909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59336" y="10001250"/>
            <a:ext cx="17907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4A463F"/>
                </a:solidFill>
                <a:latin typeface="Source Sans 3"/>
              </a:rPr>
              <a:t>PHOTO: eggshells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9404" y="10001250"/>
            <a:ext cx="2095500" cy="2095500"/>
          </a:xfrm>
          <a:prstGeom prst="roundRect">
            <a:avLst>
              <a:gd name="adj" fmla="val 10909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1804" y="10001250"/>
            <a:ext cx="17907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4A463F"/>
                </a:solidFill>
                <a:latin typeface="Source Sans 3"/>
              </a:rPr>
              <a:t>PHOTO: ‘compostable’ fork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hair and pet fur, top-down on cream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43800" y="1581150"/>
            <a:ext cx="781050" cy="628650"/>
          </a:xfrm>
          <a:custGeom>
            <a:avLst/>
            <a:gdLst/>
            <a:ahLst/>
            <a:cxnLst/>
            <a:rect l="l" t="t" r="r" b="b"/>
            <a:pathLst>
              <a:path w="781050" h="628650">
                <a:moveTo>
                  <a:pt x="0" y="342900"/>
                </a:moveTo>
                <a:lnTo>
                  <a:pt x="133350" y="209550"/>
                </a:lnTo>
                <a:lnTo>
                  <a:pt x="285750" y="361950"/>
                </a:lnTo>
                <a:lnTo>
                  <a:pt x="647700" y="0"/>
                </a:lnTo>
                <a:lnTo>
                  <a:pt x="781050" y="133350"/>
                </a:lnTo>
                <a:lnTo>
                  <a:pt x="285750" y="6286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839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Hair and pet fur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516725"/>
            <a:ext cx="8763000" cy="2580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Pure protein. Adds nitrogen, breaks down slowly.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cardboard and egg cartons, top-down on cream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43800" y="1581150"/>
            <a:ext cx="781050" cy="628650"/>
          </a:xfrm>
          <a:custGeom>
            <a:avLst/>
            <a:gdLst/>
            <a:ahLst/>
            <a:cxnLst/>
            <a:rect l="l" t="t" r="r" b="b"/>
            <a:pathLst>
              <a:path w="781050" h="628650">
                <a:moveTo>
                  <a:pt x="0" y="342900"/>
                </a:moveTo>
                <a:lnTo>
                  <a:pt x="133350" y="209550"/>
                </a:lnTo>
                <a:lnTo>
                  <a:pt x="285750" y="361950"/>
                </a:lnTo>
                <a:lnTo>
                  <a:pt x="647700" y="0"/>
                </a:lnTo>
                <a:lnTo>
                  <a:pt x="781050" y="133350"/>
                </a:lnTo>
                <a:lnTo>
                  <a:pt x="285750" y="6286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162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Cardboard and egg cartons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299025"/>
            <a:ext cx="8763000" cy="1797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Great carbon. Tear off plastic tape and shred it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eggshells, top-down on cream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43800" y="1581150"/>
            <a:ext cx="781050" cy="628650"/>
          </a:xfrm>
          <a:custGeom>
            <a:avLst/>
            <a:gdLst/>
            <a:ahLst/>
            <a:cxnLst/>
            <a:rect l="l" t="t" r="r" b="b"/>
            <a:pathLst>
              <a:path w="781050" h="628650">
                <a:moveTo>
                  <a:pt x="0" y="342900"/>
                </a:moveTo>
                <a:lnTo>
                  <a:pt x="133350" y="209550"/>
                </a:lnTo>
                <a:lnTo>
                  <a:pt x="285750" y="361950"/>
                </a:lnTo>
                <a:lnTo>
                  <a:pt x="647700" y="0"/>
                </a:lnTo>
                <a:lnTo>
                  <a:pt x="781050" y="133350"/>
                </a:lnTo>
                <a:lnTo>
                  <a:pt x="285750" y="6286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839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Eggshells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516725"/>
            <a:ext cx="8763000" cy="2580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Same mineral as chalk. Crush them fine.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paper tea bags, top-down on cream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43800" y="1581150"/>
            <a:ext cx="781050" cy="628650"/>
          </a:xfrm>
          <a:custGeom>
            <a:avLst/>
            <a:gdLst/>
            <a:ahLst/>
            <a:cxnLst/>
            <a:rect l="l" t="t" r="r" b="b"/>
            <a:pathLst>
              <a:path w="781050" h="628650">
                <a:moveTo>
                  <a:pt x="0" y="342900"/>
                </a:moveTo>
                <a:lnTo>
                  <a:pt x="133350" y="209550"/>
                </a:lnTo>
                <a:lnTo>
                  <a:pt x="285750" y="361950"/>
                </a:lnTo>
                <a:lnTo>
                  <a:pt x="647700" y="0"/>
                </a:lnTo>
                <a:lnTo>
                  <a:pt x="781050" y="133350"/>
                </a:lnTo>
                <a:lnTo>
                  <a:pt x="285750" y="6286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15000" y="1238250"/>
            <a:ext cx="1333500" cy="13335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1238250"/>
            <a:ext cx="13335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22371F"/>
                </a:solidFill>
                <a:latin typeface="Montserrat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524875"/>
            <a:ext cx="8763000" cy="839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Paper tea bags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516725"/>
            <a:ext cx="8763000" cy="2580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Silky mesh bags are plastic and stay in soil for years.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“plant-based” tea bags and cutlery, top-down on cream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0" y="1238250"/>
            <a:ext cx="13335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22371F"/>
                </a:solidFill>
                <a:latin typeface="Montserrat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162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“Plant-based” tea bags and cutlery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299025"/>
            <a:ext cx="8763000" cy="1797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Most are PLA. It needs industrial heat above 60°C to break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cat litter, top-down on cream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0" y="1238250"/>
            <a:ext cx="13335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22371F"/>
                </a:solidFill>
                <a:latin typeface="Montserrat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839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Cat litter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516725"/>
            <a:ext cx="8763000" cy="2580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Wood, paper, wheat and corn litters break down. Clay and silica never do. Keep anything with cat poop far from food gardens.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cotton and wool scraps, top-down on cream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43800" y="1581150"/>
            <a:ext cx="781050" cy="628650"/>
          </a:xfrm>
          <a:custGeom>
            <a:avLst/>
            <a:gdLst/>
            <a:ahLst/>
            <a:cxnLst/>
            <a:rect l="l" t="t" r="r" b="b"/>
            <a:pathLst>
              <a:path w="781050" h="628650">
                <a:moveTo>
                  <a:pt x="0" y="342900"/>
                </a:moveTo>
                <a:lnTo>
                  <a:pt x="133350" y="209550"/>
                </a:lnTo>
                <a:lnTo>
                  <a:pt x="285750" y="361950"/>
                </a:lnTo>
                <a:lnTo>
                  <a:pt x="647700" y="0"/>
                </a:lnTo>
                <a:lnTo>
                  <a:pt x="781050" y="133350"/>
                </a:lnTo>
                <a:lnTo>
                  <a:pt x="285750" y="6286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162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Cotton and wool scraps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299025"/>
            <a:ext cx="8763000" cy="1797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Polyester sheds microplastics.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dryer lint, top-down on cream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43800" y="1581150"/>
            <a:ext cx="781050" cy="628650"/>
          </a:xfrm>
          <a:custGeom>
            <a:avLst/>
            <a:gdLst/>
            <a:ahLst/>
            <a:cxnLst/>
            <a:rect l="l" t="t" r="r" b="b"/>
            <a:pathLst>
              <a:path w="781050" h="628650">
                <a:moveTo>
                  <a:pt x="0" y="342900"/>
                </a:moveTo>
                <a:lnTo>
                  <a:pt x="133350" y="209550"/>
                </a:lnTo>
                <a:lnTo>
                  <a:pt x="285750" y="361950"/>
                </a:lnTo>
                <a:lnTo>
                  <a:pt x="647700" y="0"/>
                </a:lnTo>
                <a:lnTo>
                  <a:pt x="781050" y="133350"/>
                </a:lnTo>
                <a:lnTo>
                  <a:pt x="285750" y="6286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839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Dryer lint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516725"/>
            <a:ext cx="8763000" cy="2580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Only from natural fabrics.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natural wine corks, top-down on cream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43800" y="1581150"/>
            <a:ext cx="781050" cy="628650"/>
          </a:xfrm>
          <a:custGeom>
            <a:avLst/>
            <a:gdLst/>
            <a:ahLst/>
            <a:cxnLst/>
            <a:rect l="l" t="t" r="r" b="b"/>
            <a:pathLst>
              <a:path w="781050" h="628650">
                <a:moveTo>
                  <a:pt x="0" y="342900"/>
                </a:moveTo>
                <a:lnTo>
                  <a:pt x="133350" y="209550"/>
                </a:lnTo>
                <a:lnTo>
                  <a:pt x="285750" y="361950"/>
                </a:lnTo>
                <a:lnTo>
                  <a:pt x="647700" y="0"/>
                </a:lnTo>
                <a:lnTo>
                  <a:pt x="781050" y="133350"/>
                </a:lnTo>
                <a:lnTo>
                  <a:pt x="285750" y="6286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839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Natural wine corks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516725"/>
            <a:ext cx="8763000" cy="2580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Real cork is tree bark. Chop it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