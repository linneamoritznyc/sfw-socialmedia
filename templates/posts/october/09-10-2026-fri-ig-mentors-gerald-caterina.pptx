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Photo: assets/mentors-teachers-day/gerald-teaching.jpg (Gerald teaching a workshop). Confirm it is the Costa Rica workshop, March 2025, demonstrating liquid amendments [VERIFY]. Earlier posts spell his name Ramírez [VERIFY]. Stickers are drawn shapes.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[PHOTO NEEDED: Caterina headshot from Allison] Stickers are drawn shapes.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jp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Relationship Id="rId4" Type="http://schemas.openxmlformats.org/officeDocument/2006/relationships/image" Target="../media/image5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per-grain-cream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 rot="21480000">
            <a:off x="476250" y="381000"/>
            <a:ext cx="9334500" cy="7810500"/>
          </a:xfrm>
          <a:prstGeom prst="rect">
            <a:avLst/>
          </a:prstGeom>
          <a:solidFill>
            <a:srgbClr val="FFFDF7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382161659184697036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480000">
            <a:off x="666750" y="571500"/>
            <a:ext cx="8953500" cy="74295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 rot="19800000">
            <a:off x="285750" y="323850"/>
            <a:ext cx="1714500" cy="495300"/>
          </a:xfrm>
          <a:prstGeom prst="rect">
            <a:avLst/>
          </a:prstGeom>
          <a:solidFill>
            <a:srgbClr val="DBE6A7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1800000">
            <a:off x="8286750" y="323850"/>
            <a:ext cx="1714500" cy="495300"/>
          </a:xfrm>
          <a:prstGeom prst="rect">
            <a:avLst/>
          </a:prstGeom>
          <a:solidFill>
            <a:srgbClr val="DBE6A7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8362950"/>
            <a:ext cx="10287000" cy="4495800"/>
          </a:xfrm>
          <a:prstGeom prst="rect">
            <a:avLst/>
          </a:prstGeom>
          <a:solidFill>
            <a:srgbClr val="223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rim-dried-flowers-2-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80000">
            <a:off x="8477250" y="6352322"/>
            <a:ext cx="1809750" cy="2725855"/>
          </a:xfrm>
          <a:prstGeom prst="rect">
            <a:avLst/>
          </a:prstGeom>
        </p:spPr>
      </p:pic>
      <p:grpSp>
        <p:nvGrpSpPr>
          <p:cNvPr id="9" name="Group 8"/>
          <p:cNvGrpSpPr/>
          <p:nvPr/>
        </p:nvGrpSpPr>
        <p:grpSpPr>
          <a:xfrm rot="360000">
            <a:off x="0" y="0"/>
            <a:ext cx="9479280" cy="11161395"/>
            <a:chOff x="0" y="0"/>
            <a:chExt cx="9479280" cy="11161395"/>
          </a:xfrm>
        </p:grpSpPr>
        <p:sp>
          <p:nvSpPr>
            <p:cNvPr id="10" name="Oval 9"/>
            <p:cNvSpPr/>
            <p:nvPr/>
          </p:nvSpPr>
          <p:spPr>
            <a:xfrm>
              <a:off x="7681912" y="10740390"/>
              <a:ext cx="1781175" cy="421005"/>
            </a:xfrm>
            <a:prstGeom prst="ellipse">
              <a:avLst/>
            </a:prstGeom>
            <a:solidFill>
              <a:srgbClr val="FFFDF7"/>
            </a:solidFill>
            <a:ln w="57150">
              <a:solidFill>
                <a:srgbClr val="FFFFFF"/>
              </a:solidFill>
            </a:ln>
            <a:effectLst>
              <a:outerShdw blurRad="228600" dist="76200" dir="5400000" algn="t" rotWithShape="0">
                <a:srgbClr val="000000">
                  <a:alpha val="30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Donut 10"/>
            <p:cNvSpPr/>
            <p:nvPr/>
          </p:nvSpPr>
          <p:spPr>
            <a:xfrm>
              <a:off x="8993505" y="10092690"/>
              <a:ext cx="485775" cy="485775"/>
            </a:xfrm>
            <a:prstGeom prst="donut">
              <a:avLst/>
            </a:prstGeom>
            <a:solidFill>
              <a:srgbClr val="FFFDF7"/>
            </a:solidFill>
            <a:ln w="571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7957185" y="9882187"/>
              <a:ext cx="1230630" cy="1003935"/>
            </a:xfrm>
            <a:prstGeom prst="roundRect">
              <a:avLst/>
            </a:prstGeom>
            <a:solidFill>
              <a:srgbClr val="FFFDF7"/>
            </a:solidFill>
            <a:ln w="571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7985760" y="10481310"/>
              <a:ext cx="1173480" cy="129540"/>
            </a:xfrm>
            <a:prstGeom prst="rect">
              <a:avLst/>
            </a:prstGeom>
            <a:solidFill>
              <a:srgbClr val="15682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Oval 13"/>
            <p:cNvSpPr/>
            <p:nvPr/>
          </p:nvSpPr>
          <p:spPr>
            <a:xfrm>
              <a:off x="7989570" y="9768840"/>
              <a:ext cx="1165860" cy="259080"/>
            </a:xfrm>
            <a:prstGeom prst="ellipse">
              <a:avLst/>
            </a:prstGeom>
            <a:solidFill>
              <a:srgbClr val="4F3433"/>
            </a:solidFill>
            <a:ln w="571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Oval 14"/>
            <p:cNvSpPr/>
            <p:nvPr/>
          </p:nvSpPr>
          <p:spPr>
            <a:xfrm>
              <a:off x="8397081" y="10223129"/>
              <a:ext cx="62970" cy="62970"/>
            </a:xfrm>
            <a:prstGeom prst="ellipse">
              <a:avLst/>
            </a:prstGeom>
            <a:solidFill>
              <a:srgbClr val="4F34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Oval 15"/>
            <p:cNvSpPr/>
            <p:nvPr/>
          </p:nvSpPr>
          <p:spPr>
            <a:xfrm>
              <a:off x="8684947" y="10223129"/>
              <a:ext cx="62970" cy="62970"/>
            </a:xfrm>
            <a:prstGeom prst="ellipse">
              <a:avLst/>
            </a:prstGeom>
            <a:solidFill>
              <a:srgbClr val="4F34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Block Arc 16"/>
            <p:cNvSpPr/>
            <p:nvPr/>
          </p:nvSpPr>
          <p:spPr>
            <a:xfrm rot="10800000">
              <a:off x="8473545" y="10272606"/>
              <a:ext cx="197908" cy="143933"/>
            </a:xfrm>
            <a:prstGeom prst="blockArc">
              <a:avLst>
                <a:gd name="adj1" fmla="val 10800000"/>
                <a:gd name="adj2" fmla="val 0"/>
                <a:gd name="adj3" fmla="val 18000"/>
              </a:avLst>
            </a:prstGeom>
            <a:solidFill>
              <a:srgbClr val="4F34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Wave 17"/>
            <p:cNvSpPr/>
            <p:nvPr/>
          </p:nvSpPr>
          <p:spPr>
            <a:xfrm rot="5400000">
              <a:off x="8264842" y="9283065"/>
              <a:ext cx="97155" cy="388620"/>
            </a:xfrm>
            <a:prstGeom prst="wave">
              <a:avLst/>
            </a:prstGeom>
            <a:solidFill>
              <a:srgbClr val="D8D2C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Wave 18"/>
            <p:cNvSpPr/>
            <p:nvPr/>
          </p:nvSpPr>
          <p:spPr>
            <a:xfrm rot="5400000">
              <a:off x="8523922" y="9283065"/>
              <a:ext cx="97155" cy="388620"/>
            </a:xfrm>
            <a:prstGeom prst="wave">
              <a:avLst/>
            </a:prstGeom>
            <a:solidFill>
              <a:srgbClr val="D8D2C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Wave 19"/>
            <p:cNvSpPr/>
            <p:nvPr/>
          </p:nvSpPr>
          <p:spPr>
            <a:xfrm rot="5400000">
              <a:off x="8783002" y="9283065"/>
              <a:ext cx="97155" cy="388620"/>
            </a:xfrm>
            <a:prstGeom prst="wave">
              <a:avLst/>
            </a:prstGeom>
            <a:solidFill>
              <a:srgbClr val="D8D2C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21" name="Rounded Rectangle 20"/>
          <p:cNvSpPr/>
          <p:nvPr/>
        </p:nvSpPr>
        <p:spPr>
          <a:xfrm>
            <a:off x="762000" y="8763000"/>
            <a:ext cx="3143250" cy="571500"/>
          </a:xfrm>
          <a:prstGeom prst="roundRect">
            <a:avLst>
              <a:gd name="adj" fmla="val 50000"/>
            </a:avLst>
          </a:prstGeom>
          <a:solidFill>
            <a:srgbClr val="DBE6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2000" y="8763000"/>
            <a:ext cx="314325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 i="0">
                <a:solidFill>
                  <a:srgbClr val="22371F"/>
                </a:solidFill>
                <a:latin typeface="Montserrat"/>
              </a:rPr>
              <a:t>Meet our mentors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2000" y="9620250"/>
            <a:ext cx="7620000" cy="857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6000" b="1" i="0">
                <a:solidFill>
                  <a:srgbClr val="F4F1EA"/>
                </a:solidFill>
                <a:latin typeface="Montserrat"/>
              </a:rPr>
              <a:t>Gerald Ramirez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2000" y="10525125"/>
            <a:ext cx="72390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0" i="0">
                <a:solidFill>
                  <a:srgbClr val="DBE6A7"/>
                </a:solidFill>
                <a:latin typeface="Source Sans 3"/>
              </a:rPr>
              <a:t>AP Mentor</a:t>
            </a:r>
          </a:p>
        </p:txBody>
      </p:sp>
      <p:pic>
        <p:nvPicPr>
          <p:cNvPr id="25" name="Picture 24" descr="foundation-logo-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58250" y="11516532"/>
            <a:ext cx="857250" cy="77071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per-grain-cream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 rot="21480000">
            <a:off x="476250" y="381000"/>
            <a:ext cx="9334500" cy="7810500"/>
          </a:xfrm>
          <a:prstGeom prst="rect">
            <a:avLst/>
          </a:prstGeom>
          <a:solidFill>
            <a:srgbClr val="FFFDF7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1480000">
            <a:off x="666750" y="571500"/>
            <a:ext cx="8953500" cy="7429500"/>
          </a:xfrm>
          <a:prstGeom prst="rect">
            <a:avLst/>
          </a:prstGeom>
          <a:pattFill prst="ltUpDiag">
            <a:fgClr>
              <a:srgbClr val="E8E2D4"/>
            </a:fgClr>
            <a:bgClr>
              <a:srgbClr val="F4F1EA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oundation-logo-col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3250" y="2476500"/>
            <a:ext cx="4000500" cy="359668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 rot="19800000">
            <a:off x="285750" y="323850"/>
            <a:ext cx="1714500" cy="495300"/>
          </a:xfrm>
          <a:prstGeom prst="rect">
            <a:avLst/>
          </a:prstGeom>
          <a:solidFill>
            <a:srgbClr val="DBE6A7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1800000">
            <a:off x="8286750" y="323850"/>
            <a:ext cx="1714500" cy="495300"/>
          </a:xfrm>
          <a:prstGeom prst="rect">
            <a:avLst/>
          </a:prstGeom>
          <a:solidFill>
            <a:srgbClr val="DBE6A7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8362950"/>
            <a:ext cx="10287000" cy="4495800"/>
          </a:xfrm>
          <a:prstGeom prst="rect">
            <a:avLst/>
          </a:prstGeom>
          <a:solidFill>
            <a:srgbClr val="223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rim-dried-flowers-2-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9920000">
            <a:off x="0" y="-124677"/>
            <a:ext cx="1809750" cy="2725855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 rot="480000">
            <a:off x="0" y="0"/>
            <a:ext cx="9307829" cy="10887075"/>
            <a:chOff x="0" y="0"/>
            <a:chExt cx="9307829" cy="10887075"/>
          </a:xfrm>
        </p:grpSpPr>
        <p:sp>
          <p:nvSpPr>
            <p:cNvPr id="11" name="Rectangle 10"/>
            <p:cNvSpPr/>
            <p:nvPr/>
          </p:nvSpPr>
          <p:spPr>
            <a:xfrm>
              <a:off x="8734425" y="9525000"/>
              <a:ext cx="57150" cy="1362075"/>
            </a:xfrm>
            <a:prstGeom prst="rect">
              <a:avLst/>
            </a:prstGeom>
            <a:solidFill>
              <a:srgbClr val="7FA05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Oval 11"/>
            <p:cNvSpPr/>
            <p:nvPr/>
          </p:nvSpPr>
          <p:spPr>
            <a:xfrm rot="19800000">
              <a:off x="8782050" y="10206037"/>
              <a:ext cx="471487" cy="209550"/>
            </a:xfrm>
            <a:prstGeom prst="ellipse">
              <a:avLst/>
            </a:prstGeom>
            <a:solidFill>
              <a:srgbClr val="59A66C"/>
            </a:solidFill>
            <a:ln w="571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Oval 12"/>
            <p:cNvSpPr/>
            <p:nvPr/>
          </p:nvSpPr>
          <p:spPr>
            <a:xfrm>
              <a:off x="8867775" y="9378315"/>
              <a:ext cx="440054" cy="293370"/>
            </a:xfrm>
            <a:prstGeom prst="ellipse">
              <a:avLst/>
            </a:prstGeom>
            <a:solidFill>
              <a:srgbClr val="F2CF5B"/>
            </a:solidFill>
            <a:ln w="381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Oval 13"/>
            <p:cNvSpPr/>
            <p:nvPr/>
          </p:nvSpPr>
          <p:spPr>
            <a:xfrm rot="3600000">
              <a:off x="8705373" y="9659602"/>
              <a:ext cx="440054" cy="293370"/>
            </a:xfrm>
            <a:prstGeom prst="ellipse">
              <a:avLst/>
            </a:prstGeom>
            <a:solidFill>
              <a:srgbClr val="F2CF5B"/>
            </a:solidFill>
            <a:ln w="381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Oval 14"/>
            <p:cNvSpPr/>
            <p:nvPr/>
          </p:nvSpPr>
          <p:spPr>
            <a:xfrm rot="7200000">
              <a:off x="8380571" y="9659602"/>
              <a:ext cx="440054" cy="293370"/>
            </a:xfrm>
            <a:prstGeom prst="ellipse">
              <a:avLst/>
            </a:prstGeom>
            <a:solidFill>
              <a:srgbClr val="F2CF5B"/>
            </a:solidFill>
            <a:ln w="381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Oval 15"/>
            <p:cNvSpPr/>
            <p:nvPr/>
          </p:nvSpPr>
          <p:spPr>
            <a:xfrm rot="10800000">
              <a:off x="8218170" y="9378315"/>
              <a:ext cx="440054" cy="293370"/>
            </a:xfrm>
            <a:prstGeom prst="ellipse">
              <a:avLst/>
            </a:prstGeom>
            <a:solidFill>
              <a:srgbClr val="F2CF5B"/>
            </a:solidFill>
            <a:ln w="381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Oval 16"/>
            <p:cNvSpPr/>
            <p:nvPr/>
          </p:nvSpPr>
          <p:spPr>
            <a:xfrm rot="14400000">
              <a:off x="8380571" y="9097027"/>
              <a:ext cx="440054" cy="293370"/>
            </a:xfrm>
            <a:prstGeom prst="ellipse">
              <a:avLst/>
            </a:prstGeom>
            <a:solidFill>
              <a:srgbClr val="F2CF5B"/>
            </a:solidFill>
            <a:ln w="381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Oval 17"/>
            <p:cNvSpPr/>
            <p:nvPr/>
          </p:nvSpPr>
          <p:spPr>
            <a:xfrm rot="18000000">
              <a:off x="8705373" y="9097027"/>
              <a:ext cx="440054" cy="293370"/>
            </a:xfrm>
            <a:prstGeom prst="ellipse">
              <a:avLst/>
            </a:prstGeom>
            <a:solidFill>
              <a:srgbClr val="F2CF5B"/>
            </a:solidFill>
            <a:ln w="381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Oval 18"/>
            <p:cNvSpPr/>
            <p:nvPr/>
          </p:nvSpPr>
          <p:spPr>
            <a:xfrm>
              <a:off x="8563927" y="9325927"/>
              <a:ext cx="398145" cy="398145"/>
            </a:xfrm>
            <a:prstGeom prst="ellipse">
              <a:avLst/>
            </a:prstGeom>
            <a:solidFill>
              <a:srgbClr val="8C6A4E"/>
            </a:solidFill>
            <a:ln w="381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20" name="Rounded Rectangle 19"/>
          <p:cNvSpPr/>
          <p:nvPr/>
        </p:nvSpPr>
        <p:spPr>
          <a:xfrm>
            <a:off x="762000" y="8763000"/>
            <a:ext cx="3143250" cy="571500"/>
          </a:xfrm>
          <a:prstGeom prst="roundRect">
            <a:avLst>
              <a:gd name="adj" fmla="val 50000"/>
            </a:avLst>
          </a:prstGeom>
          <a:solidFill>
            <a:srgbClr val="DBE6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2000" y="8763000"/>
            <a:ext cx="314325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 i="0">
                <a:solidFill>
                  <a:srgbClr val="22371F"/>
                </a:solidFill>
                <a:latin typeface="Montserrat"/>
              </a:rPr>
              <a:t>Meet our mentors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2000" y="9620250"/>
            <a:ext cx="7620000" cy="857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5000" b="1" i="0">
                <a:solidFill>
                  <a:srgbClr val="F4F1EA"/>
                </a:solidFill>
                <a:latin typeface="Montserrat"/>
              </a:rPr>
              <a:t>Dr. Caterina Capri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2000" y="10525125"/>
            <a:ext cx="72390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0" i="0">
                <a:solidFill>
                  <a:srgbClr val="DBE6A7"/>
                </a:solidFill>
                <a:latin typeface="Source Sans 3"/>
              </a:rPr>
              <a:t>Advanced Programs Instructor</a:t>
            </a:r>
          </a:p>
        </p:txBody>
      </p:sp>
      <p:pic>
        <p:nvPicPr>
          <p:cNvPr id="24" name="Picture 23" descr="foundation-logo-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58250" y="11516532"/>
            <a:ext cx="857250" cy="77071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