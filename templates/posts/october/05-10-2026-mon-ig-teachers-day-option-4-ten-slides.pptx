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Pederson,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Portugal, Gerald Ramirez.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Sanders, Isadora Schmidt.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Tepper.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Aysen Ustunay.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Relationship Id="rId9" Type="http://schemas.openxmlformats.org/officeDocument/2006/relationships/image" Target="../media/image22.jpg"/><Relationship Id="rId10" Type="http://schemas.openxmlformats.org/officeDocument/2006/relationships/image" Target="../media/image23.jpg"/><Relationship Id="rId11" Type="http://schemas.openxmlformats.org/officeDocument/2006/relationships/image" Target="../media/image24.jpg"/><Relationship Id="rId12" Type="http://schemas.openxmlformats.org/officeDocument/2006/relationships/image" Target="../media/image25.jpg"/><Relationship Id="rId13" Type="http://schemas.openxmlformats.org/officeDocument/2006/relationships/image" Target="../media/image26.jpg"/><Relationship Id="rId14" Type="http://schemas.openxmlformats.org/officeDocument/2006/relationships/image" Target="../media/image27.jpg"/><Relationship Id="rId15" Type="http://schemas.openxmlformats.org/officeDocument/2006/relationships/image" Target="../media/image28.jpg"/><Relationship Id="rId16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1A1A1A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8518245627840956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403858137776157601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Manages orchards in California, after years in New Mexico. Favourite microbes: the small underdogs.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7422080318231537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2545827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Admin</a:t>
            </a:r>
          </a:p>
        </p:txBody>
      </p:sp>
      <p:pic>
        <p:nvPicPr>
          <p:cNvPr id="72" name="Picture 71" descr="69220635681670271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7927452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70901"/>
            <a:ext cx="3848100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“I make 750 tons of compost a year. Biology works at any scale.”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2779153728138400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67400" y="3653903"/>
            <a:ext cx="3848100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“Bare soil erodes. Living roots and cover hold the aggregates together.”</a:t>
            </a:r>
          </a:p>
        </p:txBody>
      </p:sp>
      <p:pic>
        <p:nvPicPr>
          <p:cNvPr id="73" name="Picture 72" descr="16045477492592131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“Extracts pull organisms off the compost into solution, so you can apply biology across a whole field.”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2280251299465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67400" y="3653903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“Compost can look finished and still lack the biology you need. Check it under the microscope before you apply it.”</a:t>
            </a:r>
          </a:p>
        </p:txBody>
      </p:sp>
      <p:pic>
        <p:nvPicPr>
          <p:cNvPr id="73" name="Picture 72" descr="770480233787436374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From Florianópolis, Brazil, now living in Spain. Favourite: lichens, though she loves all her microbes equally.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30909470884917235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3110455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72" name="Picture 71" descr="316885907301828364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7927452"/>
            <a:ext cx="38481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Director of Education &amp; Mentor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2637041681431721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2545827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2" name="Picture 71" descr="177073420921908900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7927452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8470901"/>
            <a:ext cx="3848100" cy="12230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Favourite microbe: flagellates. She loves watching them as babies, running around.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569330420888988475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1905000"/>
            <a:ext cx="3848100" cy="6598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2545827"/>
            <a:ext cx="38481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Lead &amp; Mentor</a:t>
            </a:r>
          </a:p>
        </p:txBody>
      </p:sp>
      <p:pic>
        <p:nvPicPr>
          <p:cNvPr id="72" name="Picture 71" descr="157923052252422197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7286625"/>
            <a:ext cx="3848100" cy="1224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8492080"/>
            <a:ext cx="3848100" cy="5053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67400" y="9035528"/>
            <a:ext cx="3848100" cy="1598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1662F"/>
                </a:solidFill>
                <a:latin typeface="Source Sans 3"/>
              </a:rPr>
              <a:t>Around ten years of farming and gardening. A long-time student, now teaching. Favourite microbe: rotifers.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300" y="24955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887704452346866032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495550"/>
            <a:ext cx="2286000" cy="228600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5181600" y="43624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38750" y="43624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73" name="Picture 72" descr="901357518615780486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495550"/>
            <a:ext cx="2286000" cy="2286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7543800" y="43624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600950" y="43624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76" name="Picture 75" descr="410283473196461426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857750"/>
            <a:ext cx="2286000" cy="2286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4572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43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79" name="Picture 78" descr="858565498371114603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857750"/>
            <a:ext cx="2286000" cy="2286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28194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65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82" name="Picture 81" descr="852605270732293724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857750"/>
            <a:ext cx="2286000" cy="2286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51816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2387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85" name="Picture 84" descr="203173926179349327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857750"/>
            <a:ext cx="2286000" cy="2286000"/>
          </a:xfrm>
          <a:prstGeom prst="rect">
            <a:avLst/>
          </a:prstGeom>
        </p:spPr>
      </p:pic>
      <p:sp>
        <p:nvSpPr>
          <p:cNvPr id="86" name="Rectangle 85"/>
          <p:cNvSpPr/>
          <p:nvPr/>
        </p:nvSpPr>
        <p:spPr>
          <a:xfrm>
            <a:off x="7543800" y="6724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600950" y="6724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88" name="Picture 87" descr="446364048402302055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7219950"/>
            <a:ext cx="2286000" cy="2286000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4572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43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91" name="Picture 90" descr="552972569989557359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7219950"/>
            <a:ext cx="2286000" cy="2286000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28194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8765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94" name="Picture 93" descr="8174182683401141233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7219950"/>
            <a:ext cx="2286000" cy="2286000"/>
          </a:xfrm>
          <a:prstGeom prst="rect">
            <a:avLst/>
          </a:prstGeom>
        </p:spPr>
      </p:pic>
      <p:sp>
        <p:nvSpPr>
          <p:cNvPr id="95" name="Rectangle 94"/>
          <p:cNvSpPr/>
          <p:nvPr/>
        </p:nvSpPr>
        <p:spPr>
          <a:xfrm>
            <a:off x="51816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387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pic>
        <p:nvPicPr>
          <p:cNvPr id="97" name="Picture 96" descr="440895109529477118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7219950"/>
            <a:ext cx="2286000" cy="2286000"/>
          </a:xfrm>
          <a:prstGeom prst="rect">
            <a:avLst/>
          </a:prstGeom>
        </p:spPr>
      </p:pic>
      <p:sp>
        <p:nvSpPr>
          <p:cNvPr id="98" name="Rectangle 97"/>
          <p:cNvSpPr/>
          <p:nvPr/>
        </p:nvSpPr>
        <p:spPr>
          <a:xfrm>
            <a:off x="7543800" y="9086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600950" y="9086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100" name="Picture 99" descr="116498583436079969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582150"/>
            <a:ext cx="2286000" cy="2286000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4572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143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103" name="Picture 102" descr="240762439582346340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582150"/>
            <a:ext cx="2286000" cy="228600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8194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8765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106" name="Picture 105" descr="205348067317851554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582150"/>
            <a:ext cx="2286000" cy="2286000"/>
          </a:xfrm>
          <a:prstGeom prst="rect">
            <a:avLst/>
          </a:prstGeom>
        </p:spPr>
      </p:pic>
      <p:sp>
        <p:nvSpPr>
          <p:cNvPr id="107" name="Rectangle 106"/>
          <p:cNvSpPr/>
          <p:nvPr/>
        </p:nvSpPr>
        <p:spPr>
          <a:xfrm>
            <a:off x="51816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2387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9" name="Picture 108" descr="226229298727140723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582150"/>
            <a:ext cx="2286000" cy="2286000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7543800" y="11449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600950" y="11449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