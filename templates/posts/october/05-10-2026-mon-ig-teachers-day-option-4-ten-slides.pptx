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bunting, balloons and stars (PowerPoint shapes), big logo.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Ib Borup Pederson, Brian Daubenspeck.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Elena Kalli, Nick Padwick.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Carla Portugal, Gerald Ramirez.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Wesley Sanders, Isadora Schmidt.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Delvin Solkinson, Tommy Tepper.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Dora Tkalec, Aysen Ustunay.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Loida Vasquez, Casey Williams. About lines: drafts from the team notes; confirm with each mentor (05-10-2026-mon-ig-teachers-day-mentors.md).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fourteen in a grid, alphabetical.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bunting, balloons and a big logo. Line to confirm with Linnea.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jpg"/><Relationship Id="rId11" Type="http://schemas.openxmlformats.org/officeDocument/2006/relationships/image" Target="../media/image24.jpg"/><Relationship Id="rId12" Type="http://schemas.openxmlformats.org/officeDocument/2006/relationships/image" Target="../media/image25.jpg"/><Relationship Id="rId13" Type="http://schemas.openxmlformats.org/officeDocument/2006/relationships/image" Target="../media/image26.jpg"/><Relationship Id="rId14" Type="http://schemas.openxmlformats.org/officeDocument/2006/relationships/image" Target="../media/image27.jpg"/><Relationship Id="rId15" Type="http://schemas.openxmlformats.org/officeDocument/2006/relationships/image" Target="../media/image28.jpg"/><Relationship Id="rId16" Type="http://schemas.openxmlformats.org/officeDocument/2006/relationships/image" Target="../media/image2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5-Point Star 66"/>
          <p:cNvSpPr/>
          <p:nvPr/>
        </p:nvSpPr>
        <p:spPr>
          <a:xfrm>
            <a:off x="29813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5-Point Star 67"/>
          <p:cNvSpPr/>
          <p:nvPr/>
        </p:nvSpPr>
        <p:spPr>
          <a:xfrm>
            <a:off x="69818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2000" y="24288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0" y="30480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000" y="571500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1A1A1A"/>
                </a:solidFill>
                <a:latin typeface="Source Sans 3"/>
              </a:rPr>
              <a:t>Meet our fourteen mentors.</a:t>
            </a:r>
          </a:p>
        </p:txBody>
      </p:sp>
      <p:sp>
        <p:nvSpPr>
          <p:cNvPr id="72" name="Oval 71"/>
          <p:cNvSpPr/>
          <p:nvPr/>
        </p:nvSpPr>
        <p:spPr>
          <a:xfrm>
            <a:off x="1952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266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581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667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685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704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20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35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47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755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760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59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53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44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31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716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698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680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61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42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624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608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594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583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576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2572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2572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572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2575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582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593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606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622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640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659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2678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696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714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729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742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752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59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61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56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748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736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722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06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688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669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650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632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615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600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588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579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573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571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571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573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667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02029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3430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4287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4476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4658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4825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4970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089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5175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5226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5215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5153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5057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4930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4778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4606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4421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4231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4044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3865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3704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3566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3457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3381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3341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3338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3338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3374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3446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3551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3686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3844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4021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4208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4398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4584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4758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4913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5043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15143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5209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5229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5183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5101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4987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844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4680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4499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4311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4121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3938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3769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3620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3498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3408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3353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3335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3335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3354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3411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3503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3626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3776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3946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4129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4319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14508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335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6268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9145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0002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0191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20373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0540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20685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20804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0890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20941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0930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0868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0772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0645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0493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0321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0136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9946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9759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9580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9419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9281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9172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9096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9056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9053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9053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9089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9161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9266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9401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9559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9736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19923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0113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0299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0473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0628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0758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0858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0924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0944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0898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6905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219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7534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620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638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7657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7673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7688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7700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7708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7713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7712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7706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7697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7684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7669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7651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7633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7614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7595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7577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7561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7547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7536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7529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7525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7525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7525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7528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7535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7546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7559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7575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7593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7612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7631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7649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7667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7682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7695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7705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7712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7714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7709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7701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7689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7675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7659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7641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7622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7603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7585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7568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7553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7541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7532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7526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7524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7524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7526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80962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431530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87725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88582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88771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88953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89120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89265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89384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89470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89521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89510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89448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89352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89225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89073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88901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88716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88526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88339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88160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87999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87861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87752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87676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87636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87633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87633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87669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87741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87846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87981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88139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88316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88503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88693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88879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89053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89208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89338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89438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89504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89524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89478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89396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89282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89139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88975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88794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88606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88416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88233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88064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87915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87793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87703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87648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87630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87630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87649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87706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87798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87921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88071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88241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88424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88614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88803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76200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79133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2010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82867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83056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83238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83405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83550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83669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83755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83806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83795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83733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83637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83510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83358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83186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83001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82811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82624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82445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82284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82146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82037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81961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81921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81918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81918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81954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82026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82131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82266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82424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82601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82788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82978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83164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83338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83493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83623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83723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83789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83809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83763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6" name="Picture 415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7239000"/>
            <a:ext cx="2857500" cy="2569057"/>
          </a:xfrm>
          <a:prstGeom prst="rect">
            <a:avLst/>
          </a:prstGeom>
        </p:spPr>
      </p:pic>
      <p:sp>
        <p:nvSpPr>
          <p:cNvPr id="417" name="TextBox 416"/>
          <p:cNvSpPr txBox="1"/>
          <p:nvPr/>
        </p:nvSpPr>
        <p:spPr>
          <a:xfrm>
            <a:off x="762000" y="10668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57986026811382994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4953000" cy="4953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867400" y="1905000"/>
            <a:ext cx="3848100" cy="1224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Ib Borup Pederson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7400" y="3110455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pic>
        <p:nvPicPr>
          <p:cNvPr id="72" name="Picture 71" descr="86401647052639914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096125"/>
            <a:ext cx="4953000" cy="49530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867400" y="7286625"/>
            <a:ext cx="3848100" cy="1224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67400" y="8492080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67400" y="9035528"/>
            <a:ext cx="3848100" cy="1598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1662F"/>
                </a:solidFill>
                <a:latin typeface="Source Sans 3"/>
              </a:rPr>
              <a:t>Manages orchards in California, after years in New Mexico. Favourite microbes: the small underdogs.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59470692549588935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4953000" cy="4953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867400" y="1905000"/>
            <a:ext cx="38481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7400" y="2545827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Admin</a:t>
            </a:r>
          </a:p>
        </p:txBody>
      </p:sp>
      <p:pic>
        <p:nvPicPr>
          <p:cNvPr id="72" name="Picture 71" descr="69849762954606999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096125"/>
            <a:ext cx="4953000" cy="49530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867400" y="7286625"/>
            <a:ext cx="38481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67400" y="7927452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67400" y="8470901"/>
            <a:ext cx="3848100" cy="122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1662F"/>
                </a:solidFill>
                <a:latin typeface="Source Sans 3"/>
              </a:rPr>
              <a:t>“I make 750 tons of compost a year. Biology works at any scale.”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82391493772660535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4953000" cy="4953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867400" y="1905000"/>
            <a:ext cx="3848100" cy="1224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Dr. Carla Portugal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7400" y="3110455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Science Lead &amp; Mentor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67400" y="3653903"/>
            <a:ext cx="3848100" cy="122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1662F"/>
                </a:solidFill>
                <a:latin typeface="Source Sans 3"/>
              </a:rPr>
              <a:t>“Bare soil erodes. Living roots and cover hold the aggregates together.”</a:t>
            </a:r>
          </a:p>
        </p:txBody>
      </p:sp>
      <p:pic>
        <p:nvPicPr>
          <p:cNvPr id="73" name="Picture 72" descr="29633870831690239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096125"/>
            <a:ext cx="4953000" cy="4953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867400" y="7286625"/>
            <a:ext cx="3848100" cy="1224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Gerald Ramirez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67400" y="8492080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67400" y="9035528"/>
            <a:ext cx="3848100" cy="1598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1662F"/>
                </a:solidFill>
                <a:latin typeface="Source Sans 3"/>
              </a:rPr>
              <a:t>“Extracts pull organisms off the compost into solution, so you can apply biology across a whole field.”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12128325200387380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4953000" cy="4953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867400" y="1905000"/>
            <a:ext cx="3848100" cy="1224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7400" y="3110455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67400" y="3653903"/>
            <a:ext cx="3848100" cy="1598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1662F"/>
                </a:solidFill>
                <a:latin typeface="Source Sans 3"/>
              </a:rPr>
              <a:t>“Compost can look finished and still lack the biology you need. Check it under the microscope before you apply it.”</a:t>
            </a:r>
          </a:p>
        </p:txBody>
      </p:sp>
      <p:pic>
        <p:nvPicPr>
          <p:cNvPr id="73" name="Picture 72" descr="40037835801023862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096125"/>
            <a:ext cx="4953000" cy="4953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867400" y="7286625"/>
            <a:ext cx="3848100" cy="1224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67400" y="8492080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67400" y="9035528"/>
            <a:ext cx="3848100" cy="1598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1662F"/>
                </a:solidFill>
                <a:latin typeface="Source Sans 3"/>
              </a:rPr>
              <a:t>From Florianópolis, Brazil, now living in Spain. Favourite: lichens, though she loves all her microbes equally.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17481175388887499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4953000" cy="4953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867400" y="1905000"/>
            <a:ext cx="3848100" cy="1224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7400" y="3110455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Permaculture Lead Teacher</a:t>
            </a:r>
          </a:p>
        </p:txBody>
      </p:sp>
      <p:pic>
        <p:nvPicPr>
          <p:cNvPr id="72" name="Picture 71" descr="143476511695784918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096125"/>
            <a:ext cx="4953000" cy="49530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867400" y="7286625"/>
            <a:ext cx="38481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67400" y="7927452"/>
            <a:ext cx="3848100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Director of Education &amp; Mentor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1669309116472512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4953000" cy="4953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867400" y="1905000"/>
            <a:ext cx="38481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7400" y="2545827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pic>
        <p:nvPicPr>
          <p:cNvPr id="72" name="Picture 71" descr="40323338116040998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096125"/>
            <a:ext cx="4953000" cy="49530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867400" y="7286625"/>
            <a:ext cx="38481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Aysen Ustunay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67400" y="7927452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67400" y="8470901"/>
            <a:ext cx="3848100" cy="122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1662F"/>
                </a:solidFill>
                <a:latin typeface="Source Sans 3"/>
              </a:rPr>
              <a:t>Favourite microbe: flagellates. She loves watching them as babies, running around.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54341607768727522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4953000" cy="4953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867400" y="1905000"/>
            <a:ext cx="38481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7400" y="2545827"/>
            <a:ext cx="3848100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2" name="Picture 71" descr="69752035041698020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096125"/>
            <a:ext cx="4953000" cy="49530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867400" y="7286625"/>
            <a:ext cx="3848100" cy="1224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67400" y="8492080"/>
            <a:ext cx="3848100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67400" y="9035528"/>
            <a:ext cx="3848100" cy="1598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1662F"/>
                </a:solidFill>
                <a:latin typeface="Source Sans 3"/>
              </a:rPr>
              <a:t>Around ten years of farming and gardening. A long-time student, now teaching. Favourite microbe: rotifers.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86727611614647773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00250"/>
            <a:ext cx="2286000" cy="228600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457200" y="38671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4350" y="38671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Ib Borup Pederson</a:t>
            </a:r>
          </a:p>
        </p:txBody>
      </p:sp>
      <p:pic>
        <p:nvPicPr>
          <p:cNvPr id="72" name="Picture 71" descr="85363738047988332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2000250"/>
            <a:ext cx="2286000" cy="2286000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2819400" y="38671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76550" y="38671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pic>
        <p:nvPicPr>
          <p:cNvPr id="75" name="Picture 74" descr="920837902697533974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2000250"/>
            <a:ext cx="2286000" cy="2286000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5181600" y="38671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38750" y="38671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pic>
        <p:nvPicPr>
          <p:cNvPr id="78" name="Picture 77" descr="33598426669020289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000250"/>
            <a:ext cx="2286000" cy="22860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7543800" y="38671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00950" y="38671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pic>
        <p:nvPicPr>
          <p:cNvPr id="81" name="Picture 80" descr="910684174532323085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4362450"/>
            <a:ext cx="2286000" cy="228600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1638300" y="62293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95450" y="62293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Carla Portugal</a:t>
            </a:r>
          </a:p>
        </p:txBody>
      </p:sp>
      <p:pic>
        <p:nvPicPr>
          <p:cNvPr id="84" name="Picture 83" descr="351243176512856537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0" y="4362450"/>
            <a:ext cx="2286000" cy="228600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4000500" y="62293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57650" y="62293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Gerald Ramirez</a:t>
            </a:r>
          </a:p>
        </p:txBody>
      </p:sp>
      <p:pic>
        <p:nvPicPr>
          <p:cNvPr id="87" name="Picture 86" descr="644575923020472519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4362450"/>
            <a:ext cx="2286000" cy="228600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6362700" y="62293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19850" y="62293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pic>
        <p:nvPicPr>
          <p:cNvPr id="90" name="Picture 89" descr="816458086163518619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6724650"/>
            <a:ext cx="2286000" cy="2286000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457200" y="85915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4350" y="85915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pic>
        <p:nvPicPr>
          <p:cNvPr id="93" name="Picture 92" descr="802599811393704002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19400" y="6724650"/>
            <a:ext cx="2286000" cy="2286000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2819400" y="85915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76550" y="85915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pic>
        <p:nvPicPr>
          <p:cNvPr id="96" name="Picture 95" descr="903628422828791425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1600" y="6724650"/>
            <a:ext cx="2286000" cy="2286000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5181600" y="85915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38750" y="85915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pic>
        <p:nvPicPr>
          <p:cNvPr id="99" name="Picture 98" descr="454656652608966177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3800" y="6724650"/>
            <a:ext cx="2286000" cy="2286000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7543800" y="85915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00950" y="85915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pic>
        <p:nvPicPr>
          <p:cNvPr id="102" name="Picture 101" descr="289497148334418938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300" y="9086850"/>
            <a:ext cx="2286000" cy="2286000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1638300" y="109537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95450" y="109537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Aysen Ustunay</a:t>
            </a:r>
          </a:p>
        </p:txBody>
      </p:sp>
      <p:pic>
        <p:nvPicPr>
          <p:cNvPr id="105" name="Picture 104" descr="726449072432090815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0500" y="9086850"/>
            <a:ext cx="2286000" cy="228600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000500" y="109537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057650" y="109537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pic>
        <p:nvPicPr>
          <p:cNvPr id="108" name="Picture 107" descr="880381958164104489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9086850"/>
            <a:ext cx="2286000" cy="2286000"/>
          </a:xfrm>
          <a:prstGeom prst="rect">
            <a:avLst/>
          </a:prstGeom>
        </p:spPr>
      </p:pic>
      <p:sp>
        <p:nvSpPr>
          <p:cNvPr id="109" name="Rectangle 108"/>
          <p:cNvSpPr/>
          <p:nvPr/>
        </p:nvSpPr>
        <p:spPr>
          <a:xfrm>
            <a:off x="6362700" y="10953750"/>
            <a:ext cx="2286000" cy="419100"/>
          </a:xfrm>
          <a:prstGeom prst="rect">
            <a:avLst/>
          </a:prstGeom>
          <a:solidFill>
            <a:srgbClr val="F3F1E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19850" y="10953750"/>
            <a:ext cx="2171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5-Point Star 66"/>
          <p:cNvSpPr/>
          <p:nvPr/>
        </p:nvSpPr>
        <p:spPr>
          <a:xfrm>
            <a:off x="29813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5-Point Star 67"/>
          <p:cNvSpPr/>
          <p:nvPr/>
        </p:nvSpPr>
        <p:spPr>
          <a:xfrm>
            <a:off x="6981825" y="2486025"/>
            <a:ext cx="323850" cy="323850"/>
          </a:xfrm>
          <a:prstGeom prst="star5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2000" y="24288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0" y="30480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71" name="Oval 70"/>
          <p:cNvSpPr/>
          <p:nvPr/>
        </p:nvSpPr>
        <p:spPr>
          <a:xfrm>
            <a:off x="1952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266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581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667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685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704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720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35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47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55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760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759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53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44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31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16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698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680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661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42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24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608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594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583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576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572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2572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2572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575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2582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593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606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622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640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659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678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2696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714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729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742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752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759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61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56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48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736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722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706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688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669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650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632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615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600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588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579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573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571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571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573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667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02029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3430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4287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4476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4658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4825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4970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5089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175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5226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5215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5153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5057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4930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4778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4606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4421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4231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4044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3865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3704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3566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3457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3381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3341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3338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3338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3374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3446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3551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3686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3844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4021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4208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4398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4584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4758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4913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5043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5143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15209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5229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5183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5101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4987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4844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680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4499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4311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4121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3938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3769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3620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3498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3408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3353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3335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3335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3354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3411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3503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3626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3776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3946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4129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4319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4508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335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6268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9145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20002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0191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0373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20540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0685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20804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20890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0941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20930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0868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0772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0645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0493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0321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0136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19946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9759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9580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9419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9281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9172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9096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9056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9053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9053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9089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9161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9266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9401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9559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9736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9923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0113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0299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0473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0628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0758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0858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0924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0944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0898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905625" y="78105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219950" y="80893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7534275" y="95154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7620000" y="96488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638923" y="97059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657092" y="97631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7673782" y="98202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7688328" y="98774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7700150" y="99345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7708776" y="99917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7713864" y="100488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7712758" y="101060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7706610" y="101631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7697009" y="102203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7684337" y="102774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7669101" y="103346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7651907" y="103917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7633441" y="104489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7614439" y="105060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7595659" y="105632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7577849" y="106203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7561720" y="106775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7547914" y="107346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7536982" y="107918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7529359" y="108489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7525350" y="109061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7525115" y="109632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7525115" y="110204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7528662" y="110775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7535850" y="111347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7546394" y="111918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7559871" y="112490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7575746" y="113061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7593385" y="113633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7612085" y="114204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7631101" y="114776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7649674" y="115347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7667064" y="115919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7682577" y="116490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7695596" y="117062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7705601" y="117633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7712194" y="118205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7714236" y="11877675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7709604" y="11934825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7701400" y="11991975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7689951" y="12049125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7675713" y="12106275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7659254" y="12163425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7641230" y="12220575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7622359" y="12277725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7603395" y="12334875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7585092" y="12392025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7568181" y="12449175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7553336" y="12506325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7541149" y="12563475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7532105" y="12620625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7526565" y="12677775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7524750" y="12734925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7524750" y="12792075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7526733" y="12849225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8096250" y="7239000"/>
            <a:ext cx="1524000" cy="185928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8431530" y="75364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8772525" y="90601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8858250" y="91935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8877173" y="92506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8895342" y="93078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8912032" y="93649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8926578" y="94221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8938400" y="94792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8947026" y="95364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8952114" y="95935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8951008" y="96507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8944860" y="97078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8935259" y="97650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8922587" y="98221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8907351" y="98793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8890157" y="99364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8871691" y="99936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8852689" y="100507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8833909" y="101079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8816099" y="101650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8799970" y="102222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8786164" y="102793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8775232" y="103365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8767609" y="103936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8763600" y="104508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8763365" y="105079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8763365" y="105651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8766912" y="106222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8774100" y="106794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8784644" y="107365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8798121" y="107937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8813996" y="108508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8831635" y="109080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8850335" y="109651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8869351" y="110223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8887924" y="110794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8905314" y="111366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8920827" y="111937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8933846" y="112509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8943851" y="113080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8950444" y="113652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8952486" y="114223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8947854" y="114795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8939650" y="115366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8928201" y="115938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8913963" y="116509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8897504" y="117081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8879480" y="117652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8860609" y="118224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8841645" y="11879580"/>
            <a:ext cx="38014" cy="57150"/>
          </a:xfrm>
          <a:custGeom>
            <a:avLst/>
            <a:gdLst/>
            <a:ahLst/>
            <a:cxnLst/>
            <a:rect l="l" t="t" r="r" b="b"/>
            <a:pathLst>
              <a:path w="38014" h="57150">
                <a:moveTo>
                  <a:pt x="1896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1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8823342" y="11936730"/>
            <a:ext cx="37352" cy="57150"/>
          </a:xfrm>
          <a:custGeom>
            <a:avLst/>
            <a:gdLst/>
            <a:ahLst/>
            <a:cxnLst/>
            <a:rect l="l" t="t" r="r" b="b"/>
            <a:pathLst>
              <a:path w="37353" h="57150">
                <a:moveTo>
                  <a:pt x="1830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35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8806431" y="11993880"/>
            <a:ext cx="35960" cy="57150"/>
          </a:xfrm>
          <a:custGeom>
            <a:avLst/>
            <a:gdLst/>
            <a:ahLst/>
            <a:cxnLst/>
            <a:rect l="l" t="t" r="r" b="b"/>
            <a:pathLst>
              <a:path w="35961" h="57150">
                <a:moveTo>
                  <a:pt x="1691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96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8791586" y="12051030"/>
            <a:ext cx="33895" cy="57150"/>
          </a:xfrm>
          <a:custGeom>
            <a:avLst/>
            <a:gdLst/>
            <a:ahLst/>
            <a:cxnLst/>
            <a:rect l="l" t="t" r="r" b="b"/>
            <a:pathLst>
              <a:path w="33895" h="57150">
                <a:moveTo>
                  <a:pt x="1484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89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8779399" y="12108180"/>
            <a:ext cx="31237" cy="57150"/>
          </a:xfrm>
          <a:custGeom>
            <a:avLst/>
            <a:gdLst/>
            <a:ahLst/>
            <a:cxnLst/>
            <a:rect l="l" t="t" r="r" b="b"/>
            <a:pathLst>
              <a:path w="31237" h="57150">
                <a:moveTo>
                  <a:pt x="12187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237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8770355" y="12165330"/>
            <a:ext cx="28093" cy="57150"/>
          </a:xfrm>
          <a:custGeom>
            <a:avLst/>
            <a:gdLst/>
            <a:ahLst/>
            <a:cxnLst/>
            <a:rect l="l" t="t" r="r" b="b"/>
            <a:pathLst>
              <a:path w="28094" h="57150">
                <a:moveTo>
                  <a:pt x="904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09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8764815" y="12222480"/>
            <a:ext cx="24589" cy="57150"/>
          </a:xfrm>
          <a:custGeom>
            <a:avLst/>
            <a:gdLst/>
            <a:ahLst/>
            <a:cxnLst/>
            <a:rect l="l" t="t" r="r" b="b"/>
            <a:pathLst>
              <a:path w="24590" h="57150">
                <a:moveTo>
                  <a:pt x="554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459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8763000" y="12279630"/>
            <a:ext cx="20864" cy="57150"/>
          </a:xfrm>
          <a:custGeom>
            <a:avLst/>
            <a:gdLst/>
            <a:ahLst/>
            <a:cxnLst/>
            <a:rect l="l" t="t" r="r" b="b"/>
            <a:pathLst>
              <a:path w="20865" h="57150">
                <a:moveTo>
                  <a:pt x="181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086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8763000" y="12336780"/>
            <a:ext cx="21032" cy="57150"/>
          </a:xfrm>
          <a:custGeom>
            <a:avLst/>
            <a:gdLst/>
            <a:ahLst/>
            <a:cxnLst/>
            <a:rect l="l" t="t" r="r" b="b"/>
            <a:pathLst>
              <a:path w="21033" h="57150">
                <a:moveTo>
                  <a:pt x="0" y="0"/>
                </a:moveTo>
                <a:lnTo>
                  <a:pt x="1983" y="57150"/>
                </a:lnTo>
                <a:lnTo>
                  <a:pt x="2103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8764983" y="12393930"/>
            <a:ext cx="24750" cy="57150"/>
          </a:xfrm>
          <a:custGeom>
            <a:avLst/>
            <a:gdLst/>
            <a:ahLst/>
            <a:cxnLst/>
            <a:rect l="l" t="t" r="r" b="b"/>
            <a:pathLst>
              <a:path w="24750" h="57150">
                <a:moveTo>
                  <a:pt x="0" y="0"/>
                </a:moveTo>
                <a:lnTo>
                  <a:pt x="5700" y="57150"/>
                </a:lnTo>
                <a:lnTo>
                  <a:pt x="24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8770683" y="12451080"/>
            <a:ext cx="28241" cy="57150"/>
          </a:xfrm>
          <a:custGeom>
            <a:avLst/>
            <a:gdLst/>
            <a:ahLst/>
            <a:cxnLst/>
            <a:rect l="l" t="t" r="r" b="b"/>
            <a:pathLst>
              <a:path w="28242" h="57150">
                <a:moveTo>
                  <a:pt x="0" y="0"/>
                </a:moveTo>
                <a:lnTo>
                  <a:pt x="9192" y="57150"/>
                </a:lnTo>
                <a:lnTo>
                  <a:pt x="2824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8779875" y="12508230"/>
            <a:ext cx="31366" cy="57150"/>
          </a:xfrm>
          <a:custGeom>
            <a:avLst/>
            <a:gdLst/>
            <a:ahLst/>
            <a:cxnLst/>
            <a:rect l="l" t="t" r="r" b="b"/>
            <a:pathLst>
              <a:path w="31366" h="57150">
                <a:moveTo>
                  <a:pt x="0" y="0"/>
                </a:moveTo>
                <a:lnTo>
                  <a:pt x="12316" y="57150"/>
                </a:lnTo>
                <a:lnTo>
                  <a:pt x="313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8792191" y="12565380"/>
            <a:ext cx="33999" cy="57150"/>
          </a:xfrm>
          <a:custGeom>
            <a:avLst/>
            <a:gdLst/>
            <a:ahLst/>
            <a:cxnLst/>
            <a:rect l="l" t="t" r="r" b="b"/>
            <a:pathLst>
              <a:path w="34000" h="57150">
                <a:moveTo>
                  <a:pt x="0" y="0"/>
                </a:moveTo>
                <a:lnTo>
                  <a:pt x="14950" y="57150"/>
                </a:lnTo>
                <a:lnTo>
                  <a:pt x="3400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8807141" y="12622530"/>
            <a:ext cx="36037" cy="57150"/>
          </a:xfrm>
          <a:custGeom>
            <a:avLst/>
            <a:gdLst/>
            <a:ahLst/>
            <a:cxnLst/>
            <a:rect l="l" t="t" r="r" b="b"/>
            <a:pathLst>
              <a:path w="36037" h="57150">
                <a:moveTo>
                  <a:pt x="0" y="0"/>
                </a:moveTo>
                <a:lnTo>
                  <a:pt x="16987" y="57150"/>
                </a:lnTo>
                <a:lnTo>
                  <a:pt x="3603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8824128" y="12679680"/>
            <a:ext cx="37397" cy="57150"/>
          </a:xfrm>
          <a:custGeom>
            <a:avLst/>
            <a:gdLst/>
            <a:ahLst/>
            <a:cxnLst/>
            <a:rect l="l" t="t" r="r" b="b"/>
            <a:pathLst>
              <a:path w="37398" h="57150">
                <a:moveTo>
                  <a:pt x="0" y="0"/>
                </a:moveTo>
                <a:lnTo>
                  <a:pt x="18348" y="57150"/>
                </a:lnTo>
                <a:lnTo>
                  <a:pt x="3739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8842476" y="12736830"/>
            <a:ext cx="38026" cy="57150"/>
          </a:xfrm>
          <a:custGeom>
            <a:avLst/>
            <a:gdLst/>
            <a:ahLst/>
            <a:cxnLst/>
            <a:rect l="l" t="t" r="r" b="b"/>
            <a:pathLst>
              <a:path w="38026" h="57150">
                <a:moveTo>
                  <a:pt x="0" y="0"/>
                </a:moveTo>
                <a:lnTo>
                  <a:pt x="18976" y="57150"/>
                </a:lnTo>
                <a:lnTo>
                  <a:pt x="3802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8861452" y="12793980"/>
            <a:ext cx="37898" cy="57150"/>
          </a:xfrm>
          <a:custGeom>
            <a:avLst/>
            <a:gdLst/>
            <a:ahLst/>
            <a:cxnLst/>
            <a:rect l="l" t="t" r="r" b="b"/>
            <a:pathLst>
              <a:path w="37899" h="57150">
                <a:moveTo>
                  <a:pt x="0" y="0"/>
                </a:moveTo>
                <a:lnTo>
                  <a:pt x="18849" y="57150"/>
                </a:lnTo>
                <a:lnTo>
                  <a:pt x="3789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8880301" y="12851130"/>
            <a:ext cx="37019" cy="57150"/>
          </a:xfrm>
          <a:custGeom>
            <a:avLst/>
            <a:gdLst/>
            <a:ahLst/>
            <a:cxnLst/>
            <a:rect l="l" t="t" r="r" b="b"/>
            <a:pathLst>
              <a:path w="37019" h="57150">
                <a:moveTo>
                  <a:pt x="0" y="0"/>
                </a:moveTo>
                <a:lnTo>
                  <a:pt x="17969" y="57150"/>
                </a:lnTo>
                <a:lnTo>
                  <a:pt x="370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7620000" y="88582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7913370" y="91185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8201025" y="104470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286750" y="105803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8305673" y="106375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8323842" y="106946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8340532" y="107518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8355078" y="108089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8366900" y="108661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8375526" y="109232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8380614" y="109804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8379508" y="110375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8373360" y="110947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8363759" y="111518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8351087" y="112090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8335851" y="112661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8318657" y="113233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8300191" y="113804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8281189" y="114376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8262409" y="114947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8244599" y="115519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8228470" y="116090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8214664" y="116662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8203732" y="117233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8196109" y="117805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8192100" y="118376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8191865" y="1189482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8191865" y="1195197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8195412" y="1200912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8202600" y="1206627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8213144" y="1212342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8226621" y="1218057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8242496" y="1223772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8260135" y="1229487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8278835" y="1235202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8297851" y="1240917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8316424" y="1246632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8333814" y="1252347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8349327" y="1258062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8362346" y="1263777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8372351" y="1269492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8378944" y="1275207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8380986" y="1280922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8376354" y="1286637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5" name="Picture 414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7239000"/>
            <a:ext cx="2857500" cy="2569057"/>
          </a:xfrm>
          <a:prstGeom prst="rect">
            <a:avLst/>
          </a:prstGeom>
        </p:spPr>
      </p:pic>
      <p:sp>
        <p:nvSpPr>
          <p:cNvPr id="416" name="TextBox 415"/>
          <p:cNvSpPr txBox="1"/>
          <p:nvPr/>
        </p:nvSpPr>
        <p:spPr>
          <a:xfrm>
            <a:off x="762000" y="10668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