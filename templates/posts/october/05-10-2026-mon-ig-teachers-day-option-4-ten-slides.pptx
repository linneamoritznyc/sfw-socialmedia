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 cover with five mentor faces.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Tommy Tepper, Loida Vasquez.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Portugal, Wesley Sanders.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Casey Williams,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Isadora Schmidt, Aysen Ustunay.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Gerald Ramirez.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Ib Borup Pederson.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Nick Padwick, Delvin Solkinson.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all fourteen in a grid.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thank you, with bunting and confetti.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jpg"/><Relationship Id="rId4" Type="http://schemas.openxmlformats.org/officeDocument/2006/relationships/image" Target="../media/image2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image" Target="../media/image25.jpg"/><Relationship Id="rId8" Type="http://schemas.openxmlformats.org/officeDocument/2006/relationships/image" Target="../media/image26.jpg"/><Relationship Id="rId9" Type="http://schemas.openxmlformats.org/officeDocument/2006/relationships/image" Target="../media/image27.jpg"/><Relationship Id="rId10" Type="http://schemas.openxmlformats.org/officeDocument/2006/relationships/image" Target="../media/image28.jpg"/><Relationship Id="rId11" Type="http://schemas.openxmlformats.org/officeDocument/2006/relationships/image" Target="../media/image29.jpg"/><Relationship Id="rId12" Type="http://schemas.openxmlformats.org/officeDocument/2006/relationships/image" Target="../media/image30.jpg"/><Relationship Id="rId13" Type="http://schemas.openxmlformats.org/officeDocument/2006/relationships/image" Target="../media/image31.jpg"/><Relationship Id="rId14" Type="http://schemas.openxmlformats.org/officeDocument/2006/relationships/image" Target="../media/image32.jpg"/><Relationship Id="rId15" Type="http://schemas.openxmlformats.org/officeDocument/2006/relationships/image" Target="../media/image33.jpg"/><Relationship Id="rId16" Type="http://schemas.openxmlformats.org/officeDocument/2006/relationships/image" Target="../media/image34.jpg"/><Relationship Id="rId17" Type="http://schemas.openxmlformats.org/officeDocument/2006/relationships/image" Target="../media/image3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602280" y="2423378"/>
            <a:ext cx="124487" cy="12448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221786" y="1967416"/>
            <a:ext cx="87104" cy="87104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801940" y="2128200"/>
            <a:ext cx="190043" cy="190043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30720" y="2428523"/>
            <a:ext cx="127334" cy="12733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545875" y="2049420"/>
            <a:ext cx="182729" cy="18272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00215" y="2544519"/>
            <a:ext cx="92433" cy="9243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193182" y="1934538"/>
            <a:ext cx="176410" cy="17641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32689" y="2781449"/>
            <a:ext cx="126336" cy="12633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067785" y="2667865"/>
            <a:ext cx="132310" cy="13231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84780" y="1997825"/>
            <a:ext cx="99971" cy="9997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789125" y="2545119"/>
            <a:ext cx="167341" cy="167341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312210" y="2698886"/>
            <a:ext cx="145868" cy="145868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834698" y="2766252"/>
            <a:ext cx="157179" cy="15717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375071" y="2848917"/>
            <a:ext cx="156057" cy="15605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02229" y="2215886"/>
            <a:ext cx="142488" cy="14248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044124" y="2106096"/>
            <a:ext cx="172856" cy="172856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040935" y="1965446"/>
            <a:ext cx="175196" cy="17519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207272" y="2667567"/>
            <a:ext cx="128731" cy="12873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68860" y="2311852"/>
            <a:ext cx="129227" cy="129227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93492" y="2490342"/>
            <a:ext cx="90433" cy="90433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22922" y="2783092"/>
            <a:ext cx="114964" cy="11496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701581" y="2199960"/>
            <a:ext cx="93789" cy="9378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238464" y="2830285"/>
            <a:ext cx="116278" cy="116278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39039" y="1945420"/>
            <a:ext cx="176646" cy="176646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743255" y="2036755"/>
            <a:ext cx="176010" cy="17601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678693" y="2400369"/>
            <a:ext cx="153188" cy="15318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62000" y="31432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000" y="3619500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000" y="59055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Meet the mentors who teach our students to see soil.</a:t>
            </a:r>
          </a:p>
        </p:txBody>
      </p:sp>
      <p:pic>
        <p:nvPicPr>
          <p:cNvPr id="96" name="Picture 95" descr="54007359944922576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7810500"/>
            <a:ext cx="1619250" cy="1619250"/>
          </a:xfrm>
          <a:prstGeom prst="rect">
            <a:avLst/>
          </a:prstGeom>
        </p:spPr>
      </p:pic>
      <p:pic>
        <p:nvPicPr>
          <p:cNvPr id="97" name="Picture 96" descr="380152467207423626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4125" y="7810500"/>
            <a:ext cx="1619250" cy="1619250"/>
          </a:xfrm>
          <a:prstGeom prst="rect">
            <a:avLst/>
          </a:prstGeom>
        </p:spPr>
      </p:pic>
      <p:pic>
        <p:nvPicPr>
          <p:cNvPr id="98" name="Picture 97" descr="372567498425162725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875" y="7810500"/>
            <a:ext cx="1619250" cy="1619250"/>
          </a:xfrm>
          <a:prstGeom prst="rect">
            <a:avLst/>
          </a:prstGeom>
        </p:spPr>
      </p:pic>
      <p:pic>
        <p:nvPicPr>
          <p:cNvPr id="99" name="Picture 98" descr="25284313821854161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3625" y="7810500"/>
            <a:ext cx="1619250" cy="1619250"/>
          </a:xfrm>
          <a:prstGeom prst="rect">
            <a:avLst/>
          </a:prstGeom>
        </p:spPr>
      </p:pic>
      <p:pic>
        <p:nvPicPr>
          <p:cNvPr id="100" name="Picture 99" descr="72293742171757451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3375" y="7810500"/>
            <a:ext cx="1619250" cy="161925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62000" y="9810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  <p:pic>
        <p:nvPicPr>
          <p:cNvPr id="102" name="Picture 101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725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1338907091645466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95500"/>
            <a:ext cx="4572000" cy="4572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Director of Education &amp; Mentor</a:t>
            </a:r>
          </a:p>
        </p:txBody>
      </p:sp>
      <p:pic>
        <p:nvPicPr>
          <p:cNvPr id="72" name="Picture 71" descr="4739708601756104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095500"/>
            <a:ext cx="4572000" cy="4572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2578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578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72300" y="12334875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657223093895016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95500"/>
            <a:ext cx="4572000" cy="4572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Dr. Carla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7803795"/>
            <a:ext cx="4572000" cy="778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A1A1A"/>
                </a:solidFill>
                <a:latin typeface="Source Sans 3"/>
              </a:rPr>
              <a:t>“Bare soil erodes. Living roots and cover hold the aggregates together.”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8563491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1662F"/>
                </a:solidFill>
                <a:latin typeface="Source Sans 3"/>
              </a:rPr>
              <a:t>PhD in Environmental Sciences. 20 years of environmental and farm consulting. Mentoring since 2019.</a:t>
            </a:r>
          </a:p>
        </p:txBody>
      </p:sp>
      <p:pic>
        <p:nvPicPr>
          <p:cNvPr id="74" name="Picture 73" descr="46826280406700113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095500"/>
            <a:ext cx="4572000" cy="45720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2578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578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57800" y="7803795"/>
            <a:ext cx="4572000" cy="1120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A1A1A"/>
                </a:solidFill>
                <a:latin typeface="Source Sans 3"/>
              </a:rPr>
              <a:t>“Compost can look finished and still lack the biology you need. Check it under the microscope before you apply it.”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57800" y="8905240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1662F"/>
                </a:solidFill>
                <a:latin typeface="Source Sans 3"/>
              </a:rPr>
              <a:t>A farmer and agricultural journalist, then our first lab tech. Runs Foothill Biological Soil Health Services in California's Sierra Nevada foothills.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72300" y="12334875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2359412706681472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95500"/>
            <a:ext cx="4572000" cy="4572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7803795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1662F"/>
                </a:solidFill>
                <a:latin typeface="Source Sans 3"/>
              </a:rPr>
              <a:t>Around ten years of farming and gardening. A long-time student, now teaching. Favourite microbe: rotifers.</a:t>
            </a:r>
          </a:p>
        </p:txBody>
      </p:sp>
      <p:pic>
        <p:nvPicPr>
          <p:cNvPr id="73" name="Picture 72" descr="8888250656399903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095500"/>
            <a:ext cx="4572000" cy="4572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2578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57800" y="7803795"/>
            <a:ext cx="4572000" cy="642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1662F"/>
                </a:solidFill>
                <a:latin typeface="Source Sans 3"/>
              </a:rPr>
              <a:t>Manages orchards in California, after years in New Mexico. Favourite microbes: the small underdogs.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72300" y="12334875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4328576087631695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95500"/>
            <a:ext cx="4572000" cy="4572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7803795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1662F"/>
                </a:solidFill>
                <a:latin typeface="Source Sans 3"/>
              </a:rPr>
              <a:t>From Florianópolis, Brazil, now living in Spain. Favourite: lichens, though she loves all her microbes equally.</a:t>
            </a:r>
          </a:p>
        </p:txBody>
      </p:sp>
      <p:pic>
        <p:nvPicPr>
          <p:cNvPr id="73" name="Picture 72" descr="889851401295299520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095500"/>
            <a:ext cx="4572000" cy="4572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2578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57800" y="7803795"/>
            <a:ext cx="4572000" cy="642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1662F"/>
                </a:solidFill>
                <a:latin typeface="Source Sans 3"/>
              </a:rPr>
              <a:t>Favourite microbe: flagellates. She loves watching them as babies, running around.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72300" y="12334875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3712486517819317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95500"/>
            <a:ext cx="4572000" cy="4572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72" name="Picture 71" descr="17432496475370519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095500"/>
            <a:ext cx="4572000" cy="4572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2578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578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7803795"/>
            <a:ext cx="4572000" cy="1120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A1A1A"/>
                </a:solidFill>
                <a:latin typeface="Source Sans 3"/>
              </a:rPr>
              <a:t>“Extracts pull organisms off the compost into solution, so you can apply biology across a whole field.”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57800" y="8905240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1662F"/>
                </a:solidFill>
                <a:latin typeface="Source Sans 3"/>
              </a:rPr>
              <a:t>An agronomist from the University of Costa Rica, who went looking for Dr. Elaine's teaching. Now he teaches it, from compost extracts to teas.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72300" y="12334875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9096665366682163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95500"/>
            <a:ext cx="4572000" cy="4572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Admin</a:t>
            </a:r>
          </a:p>
        </p:txBody>
      </p:sp>
      <p:pic>
        <p:nvPicPr>
          <p:cNvPr id="72" name="Picture 71" descr="64429276377138739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095500"/>
            <a:ext cx="4572000" cy="4572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2578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578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72300" y="12334875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3974751380731362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95500"/>
            <a:ext cx="4572000" cy="4572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7803795"/>
            <a:ext cx="4572000" cy="778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A1A1A"/>
                </a:solidFill>
                <a:latin typeface="Source Sans 3"/>
              </a:rPr>
              <a:t>“I make 750 tons of compost a year. Biology works at any scale.”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8563491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1662F"/>
                </a:solidFill>
                <a:latin typeface="Source Sans 3"/>
              </a:rPr>
              <a:t>Manages Ken Hill Estate, home of Wild Ken Hill, in West Norfolk, England. Farmers Weekly Farmer of the Year, 2009.</a:t>
            </a:r>
          </a:p>
        </p:txBody>
      </p:sp>
      <p:pic>
        <p:nvPicPr>
          <p:cNvPr id="74" name="Picture 73" descr="60587860587524499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095500"/>
            <a:ext cx="4572000" cy="45720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257800" y="6896100"/>
            <a:ext cx="4572000" cy="5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57800" y="7379958"/>
            <a:ext cx="4572000" cy="385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A1A"/>
                </a:solidFill>
                <a:latin typeface="Source Sans 3"/>
              </a:rPr>
              <a:t>Permaculture Lead Teacher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72300" y="12334875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945247316190234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2" name="Picture 71" descr="74272397332337237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5" name="Picture 74" descr="602336038809987064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8" name="Picture 77" descr="80803593578291654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1" name="Picture 80" descr="197435642688119783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82" name="Rectangle 81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4" name="Picture 83" descr="30278169814632076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7" name="Picture 86" descr="642287759220186381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0" name="Picture 89" descr="519635425592874252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93" name="Picture 92" descr="183904904576741340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6" name="Picture 95" descr="3635735852169036292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99" name="Picture 98" descr="574775552984405474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100" name="Rectangle 99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2" name="Picture 101" descr="839919035106450500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103" name="Rectangle 102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105" name="Picture 104" descr="584256364799939099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8" name="Picture 107" descr="150383973314640645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9" name="Rectangle 108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81600" y="9277350"/>
            <a:ext cx="2286000" cy="2286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353050" y="9277350"/>
            <a:ext cx="19431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3F1EA"/>
                </a:solidFill>
                <a:latin typeface="Montserrat"/>
              </a:rPr>
              <a:t>Thank you, mentors!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543800" y="9277350"/>
            <a:ext cx="2286000" cy="22860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foundation-logo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20050" y="9820903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603736" y="2544819"/>
            <a:ext cx="182559" cy="18255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98628" y="2882317"/>
            <a:ext cx="105621" cy="105621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260640" y="2811372"/>
            <a:ext cx="95586" cy="95586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04586" y="2520726"/>
            <a:ext cx="179014" cy="179014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939102" y="2357810"/>
            <a:ext cx="133187" cy="13318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197592" y="2855634"/>
            <a:ext cx="92343" cy="9234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156499" y="2181540"/>
            <a:ext cx="88876" cy="8887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426785" y="2580466"/>
            <a:ext cx="106189" cy="106189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357802" y="2476240"/>
            <a:ext cx="155133" cy="155133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493245" y="2369948"/>
            <a:ext cx="143484" cy="143484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988048" y="2265361"/>
            <a:ext cx="109788" cy="109788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58719" y="2548671"/>
            <a:ext cx="97033" cy="9703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283434" y="2346784"/>
            <a:ext cx="186103" cy="18610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373931" y="2964609"/>
            <a:ext cx="91207" cy="9120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532160" y="2359256"/>
            <a:ext cx="93377" cy="9337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648009" y="2213353"/>
            <a:ext cx="94855" cy="94855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22413" y="2373688"/>
            <a:ext cx="182416" cy="182416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680908" y="2020495"/>
            <a:ext cx="92000" cy="9200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039536" y="2544274"/>
            <a:ext cx="132603" cy="132603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578109" y="2784563"/>
            <a:ext cx="129649" cy="12964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468543" y="2385923"/>
            <a:ext cx="108028" cy="108028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449125" y="3019261"/>
            <a:ext cx="147829" cy="14782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347874" y="2355655"/>
            <a:ext cx="175242" cy="175242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74055" y="2072287"/>
            <a:ext cx="131987" cy="131987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593671" y="2280996"/>
            <a:ext cx="116772" cy="116772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74375" y="2143582"/>
            <a:ext cx="152423" cy="15242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993684" y="2329857"/>
            <a:ext cx="133209" cy="13320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150657" y="2060148"/>
            <a:ext cx="126178" cy="126178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282267" y="2166042"/>
            <a:ext cx="149684" cy="14968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860291" y="2623921"/>
            <a:ext cx="143763" cy="143763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62000" y="3619500"/>
            <a:ext cx="8763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600" b="1" i="0">
                <a:solidFill>
                  <a:srgbClr val="31662F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62000" y="7620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Tag a teacher who helped you see soil differently.</a:t>
            </a:r>
          </a:p>
        </p:txBody>
      </p:sp>
      <p:sp>
        <p:nvSpPr>
          <p:cNvPr id="99" name="Oval 98"/>
          <p:cNvSpPr/>
          <p:nvPr/>
        </p:nvSpPr>
        <p:spPr>
          <a:xfrm>
            <a:off x="2798714" y="9551562"/>
            <a:ext cx="157399" cy="157399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467184" y="9524312"/>
            <a:ext cx="176798" cy="176798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596473" y="9331615"/>
            <a:ext cx="108137" cy="108137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60792" y="8752946"/>
            <a:ext cx="157407" cy="157407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649926" y="9764622"/>
            <a:ext cx="94625" cy="94625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094707" y="9636561"/>
            <a:ext cx="185190" cy="18519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701628" y="8906867"/>
            <a:ext cx="179838" cy="179838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641913" y="9842129"/>
            <a:ext cx="152638" cy="15263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610543" y="9422142"/>
            <a:ext cx="152129" cy="15212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830417" y="9364350"/>
            <a:ext cx="164139" cy="164139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491724" y="9613985"/>
            <a:ext cx="141881" cy="141881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272418" y="9319298"/>
            <a:ext cx="112265" cy="112265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824420" y="8972745"/>
            <a:ext cx="178897" cy="17889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515222" y="9380253"/>
            <a:ext cx="178620" cy="17862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604765" y="9187406"/>
            <a:ext cx="151637" cy="15163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018549" y="9599602"/>
            <a:ext cx="183477" cy="183477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50" y="10897856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