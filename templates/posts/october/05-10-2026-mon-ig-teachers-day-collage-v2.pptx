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Cover: meadow photo (Annie Spratt, Unsplash) under a brown gradient; cream card. Mentor photos: Linnea's Drive folder (5 Oct 2026). Pressed flowers and meadow: Unsplash, credits in assets/unsplash-flowers/CREDITS.md.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Ib Borup Pedersen, Brian Daubenspeck. Mentor photos: Linnea's Drive folder (5 Oct 2026). Pressed flowers and meadow: Unsplash, credits in assets/unsplash-flowers/CREDITS.md.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Elena Kalli, Nick Padwick. Mentor photos: Linnea's Drive folder (5 Oct 2026). Pressed flowers and meadow: Unsplash, credits in assets/unsplash-flowers/CREDITS.md.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Carla Ribeiro Machado e Portugal, Gerald Ramírez. Mentor photos: Linnea's Drive folder (5 Oct 2026). Pressed flowers and meadow: Unsplash, credits in assets/unsplash-flowers/CREDITS.md.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Wesley Sander, Isadora Schmidt. Mentor photos: Linnea's Drive folder (5 Oct 2026). Pressed flowers and meadow: Unsplash, credits in assets/unsplash-flowers/CREDITS.md.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Delvin Solkinson, Tommy Tepper. Mentor photos: Linnea's Drive folder (5 Oct 2026). Pressed flowers and meadow: Unsplash, credits in assets/unsplash-flowers/CREDITS.md.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Dora Tkalec, Ayşen Üstünay. Mentor photos: Linnea's Drive folder (5 Oct 2026). Pressed flowers and meadow: Unsplash, credits in assets/unsplash-flowers/CREDITS.md.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Loida Vasquez, Casey Williams. Mentor photos: Linnea's Drive folder (5 Oct 2026). Pressed flowers and meadow: Unsplash, credits in assets/unsplash-flowers/CREDITS.md.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fourteen on one card. Mentor photos: Linnea's Drive folder (5 Oct 2026). Pressed flowers and meadow: Unsplash, credits in assets/unsplash-flowers/CREDITS.md.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 dried flowers (Katsia Jazwinska, Unsplash) under a brown gradient; big logo. Mentor photos: Linnea's Drive folder (5 Oct 2026). Pressed flowers and meadow: Unsplash, credits in assets/unsplash-flowers/CREDITS.md.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png"/><Relationship Id="rId9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5.jpg"/><Relationship Id="rId7" Type="http://schemas.openxmlformats.org/officeDocument/2006/relationships/image" Target="../media/image16.jpg"/><Relationship Id="rId8" Type="http://schemas.openxmlformats.org/officeDocument/2006/relationships/image" Target="../media/image17.png"/><Relationship Id="rId9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png"/><Relationship Id="rId9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4.png"/><Relationship Id="rId6" Type="http://schemas.openxmlformats.org/officeDocument/2006/relationships/image" Target="../media/image23.jpg"/><Relationship Id="rId7" Type="http://schemas.openxmlformats.org/officeDocument/2006/relationships/image" Target="../media/image24.jpg"/><Relationship Id="rId8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5.jpg"/><Relationship Id="rId7" Type="http://schemas.openxmlformats.org/officeDocument/2006/relationships/image" Target="../media/image26.jpg"/><Relationship Id="rId8" Type="http://schemas.openxmlformats.org/officeDocument/2006/relationships/image" Target="../media/image14.png"/><Relationship Id="rId9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27.jpg"/><Relationship Id="rId7" Type="http://schemas.openxmlformats.org/officeDocument/2006/relationships/image" Target="../media/image28.jpg"/><Relationship Id="rId8" Type="http://schemas.openxmlformats.org/officeDocument/2006/relationships/image" Target="../media/image17.png"/><Relationship Id="rId9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29.jpg"/><Relationship Id="rId8" Type="http://schemas.openxmlformats.org/officeDocument/2006/relationships/image" Target="../media/image30.jpg"/><Relationship Id="rId9" Type="http://schemas.openxmlformats.org/officeDocument/2006/relationships/image" Target="../media/image31.jpg"/><Relationship Id="rId10" Type="http://schemas.openxmlformats.org/officeDocument/2006/relationships/image" Target="../media/image32.jpg"/><Relationship Id="rId11" Type="http://schemas.openxmlformats.org/officeDocument/2006/relationships/image" Target="../media/image33.jpg"/><Relationship Id="rId12" Type="http://schemas.openxmlformats.org/officeDocument/2006/relationships/image" Target="../media/image34.jpg"/><Relationship Id="rId13" Type="http://schemas.openxmlformats.org/officeDocument/2006/relationships/image" Target="../media/image35.jpg"/><Relationship Id="rId14" Type="http://schemas.openxmlformats.org/officeDocument/2006/relationships/image" Target="../media/image36.jpg"/><Relationship Id="rId15" Type="http://schemas.openxmlformats.org/officeDocument/2006/relationships/image" Target="../media/image37.jpg"/><Relationship Id="rId16" Type="http://schemas.openxmlformats.org/officeDocument/2006/relationships/image" Target="../media/image38.jpg"/><Relationship Id="rId17" Type="http://schemas.openxmlformats.org/officeDocument/2006/relationships/image" Target="../media/image39.jpg"/><Relationship Id="rId18" Type="http://schemas.openxmlformats.org/officeDocument/2006/relationships/image" Target="../media/image40.jpg"/><Relationship Id="rId19" Type="http://schemas.openxmlformats.org/officeDocument/2006/relationships/image" Target="../media/image41.jpg"/><Relationship Id="rId20" Type="http://schemas.openxmlformats.org/officeDocument/2006/relationships/image" Target="../media/image42.jpg"/><Relationship Id="rId21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jp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5435455826686345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4C3634">
                  <a:alpha val="15000"/>
                </a:srgbClr>
              </a:gs>
              <a:gs pos="100000">
                <a:srgbClr val="4C3634">
                  <a:alpha val="92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ckground-g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5" name="Picture 4" descr="white-tithonia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47750" y="7239000"/>
            <a:ext cx="4000500" cy="39890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47750" y="2381250"/>
            <a:ext cx="8191500" cy="6096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per-g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0" y="2381250"/>
            <a:ext cx="8191500" cy="6096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 rot="19680000">
            <a:off x="714375" y="224790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920000">
            <a:off x="8143875" y="224790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3048000"/>
            <a:ext cx="7429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spc="400">
                <a:solidFill>
                  <a:srgbClr val="4C3634"/>
                </a:solidFill>
                <a:latin typeface="Montserrat"/>
              </a:rPr>
              <a:t>OCTOBER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0" y="3619500"/>
            <a:ext cx="74295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5500" y="6286500"/>
            <a:ext cx="6096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Thank you to everyone who teaches and mentors our students.</a:t>
            </a:r>
          </a:p>
        </p:txBody>
      </p:sp>
      <p:pic>
        <p:nvPicPr>
          <p:cNvPr id="13" name="Picture 12" descr="pressed-red-fern-cu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760000">
            <a:off x="381000" y="1333500"/>
            <a:ext cx="2190750" cy="2839133"/>
          </a:xfrm>
          <a:prstGeom prst="rect">
            <a:avLst/>
          </a:prstGeom>
        </p:spPr>
      </p:pic>
      <p:pic>
        <p:nvPicPr>
          <p:cNvPr id="14" name="Picture 13" descr="white-coffee-branch-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0" y="7810500"/>
            <a:ext cx="4000500" cy="4061421"/>
          </a:xfrm>
          <a:prstGeom prst="rect">
            <a:avLst/>
          </a:prstGeom>
        </p:spPr>
      </p:pic>
      <p:pic>
        <p:nvPicPr>
          <p:cNvPr id="15" name="Picture 14" descr="foundation-logo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8125" y="9715500"/>
            <a:ext cx="2190750" cy="196961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0" y="1190625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3F1EA"/>
                </a:solidFill>
                <a:latin typeface="Montserrat"/>
              </a:rPr>
              <a:t>Swipe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3F1EA"/>
                </a:solidFill>
                <a:latin typeface="Source Sans 3"/>
              </a:rPr>
              <a:t>Meadow: Annie Spratt on Unsplash. Pressed flowers: Evie S. on Unsplash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7E6352"/>
              </a:gs>
              <a:gs pos="100000">
                <a:srgbClr val="C09D7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ckground-g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white-tithonia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9525000"/>
            <a:ext cx="4953000" cy="49388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7250" y="952500"/>
            <a:ext cx="8572500" cy="100965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per-g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952500"/>
            <a:ext cx="8572500" cy="10096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 rot="19680000">
            <a:off x="5238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920000">
            <a:off x="83343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4748636188269514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" y="1381125"/>
            <a:ext cx="428625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7875" y="2809875"/>
            <a:ext cx="3286125" cy="1016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Ib Borup Pedersen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7875" y="3826359"/>
            <a:ext cx="3286125" cy="915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Farmer, Consultant &amp; Mentor</a:t>
            </a:r>
          </a:p>
        </p:txBody>
      </p:sp>
      <p:sp>
        <p:nvSpPr>
          <p:cNvPr id="12" name="Rectangle 11"/>
          <p:cNvSpPr/>
          <p:nvPr/>
        </p:nvSpPr>
        <p:spPr>
          <a:xfrm rot="21510000">
            <a:off x="5781697" y="4838794"/>
            <a:ext cx="3438525" cy="323850"/>
          </a:xfrm>
          <a:prstGeom prst="rect">
            <a:avLst/>
          </a:prstGeom>
          <a:solidFill>
            <a:srgbClr val="C09D7F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7875" y="4856106"/>
            <a:ext cx="3286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4C3634"/>
                </a:solidFill>
                <a:latin typeface="Montserrat"/>
              </a:rPr>
              <a:t>On the team since 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8250" y="5905500"/>
            <a:ext cx="7810500" cy="19050"/>
          </a:xfrm>
          <a:prstGeom prst="rect">
            <a:avLst/>
          </a:prstGeom>
          <a:solidFill>
            <a:srgbClr val="C09D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659988624358647777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250" y="6143625"/>
            <a:ext cx="4286250" cy="428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7875" y="7572375"/>
            <a:ext cx="3286125" cy="1016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Brian Daubenspeck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7875" y="8588859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Consultant &amp; Mentor</a:t>
            </a:r>
          </a:p>
        </p:txBody>
      </p:sp>
      <p:sp>
        <p:nvSpPr>
          <p:cNvPr id="18" name="Rectangle 17"/>
          <p:cNvSpPr/>
          <p:nvPr/>
        </p:nvSpPr>
        <p:spPr>
          <a:xfrm rot="21510000">
            <a:off x="5781697" y="9191196"/>
            <a:ext cx="3438525" cy="323850"/>
          </a:xfrm>
          <a:prstGeom prst="rect">
            <a:avLst/>
          </a:prstGeom>
          <a:solidFill>
            <a:srgbClr val="C09D7F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7875" y="9208508"/>
            <a:ext cx="3286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4C3634"/>
                </a:solidFill>
                <a:latin typeface="Montserrat"/>
              </a:rPr>
              <a:t>On the team since ____</a:t>
            </a:r>
          </a:p>
        </p:txBody>
      </p:sp>
      <p:pic>
        <p:nvPicPr>
          <p:cNvPr id="20" name="Picture 19" descr="pressed-red-fern-c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720000">
            <a:off x="8191500" y="571500"/>
            <a:ext cx="1905000" cy="2468811"/>
          </a:xfrm>
          <a:prstGeom prst="rect">
            <a:avLst/>
          </a:prstGeom>
        </p:spPr>
      </p:pic>
      <p:pic>
        <p:nvPicPr>
          <p:cNvPr id="21" name="Picture 20" descr="foundation-logo-col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0" y="11525250"/>
            <a:ext cx="1238250" cy="111325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1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3F1EA"/>
                </a:solidFill>
                <a:latin typeface="Source Sans 3"/>
              </a:rPr>
              <a:t>Pressed flowers: Evie S. and Angèle Kamp on Unsplash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C09D7F"/>
              </a:gs>
              <a:gs pos="100000">
                <a:srgbClr val="B9AE9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ckground-g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white-mushroom-cluster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0096500"/>
            <a:ext cx="4381500" cy="43721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7250" y="952500"/>
            <a:ext cx="8572500" cy="100965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per-g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952500"/>
            <a:ext cx="8572500" cy="10096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 rot="19680000">
            <a:off x="5238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920000">
            <a:off x="83343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804188467150231647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" y="1381125"/>
            <a:ext cx="428625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7875" y="28098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Elena Kalli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7875" y="3365742"/>
            <a:ext cx="3286125" cy="915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School Administration Officer</a:t>
            </a:r>
          </a:p>
        </p:txBody>
      </p:sp>
      <p:sp>
        <p:nvSpPr>
          <p:cNvPr id="12" name="Rectangle 11"/>
          <p:cNvSpPr/>
          <p:nvPr/>
        </p:nvSpPr>
        <p:spPr>
          <a:xfrm rot="21510000">
            <a:off x="5781697" y="4378176"/>
            <a:ext cx="3438525" cy="323850"/>
          </a:xfrm>
          <a:prstGeom prst="rect">
            <a:avLst/>
          </a:prstGeom>
          <a:solidFill>
            <a:srgbClr val="C09D7F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7875" y="4395488"/>
            <a:ext cx="3286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4C3634"/>
                </a:solidFill>
                <a:latin typeface="Montserrat"/>
              </a:rPr>
              <a:t>On the team since 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8250" y="5905500"/>
            <a:ext cx="7810500" cy="19050"/>
          </a:xfrm>
          <a:prstGeom prst="rect">
            <a:avLst/>
          </a:prstGeom>
          <a:solidFill>
            <a:srgbClr val="C09D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55541760544900509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250" y="6143625"/>
            <a:ext cx="4286250" cy="428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7875" y="75723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Nick Padwick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7875" y="8128242"/>
            <a:ext cx="3286125" cy="915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Farmer, Consultant &amp; Mentor</a:t>
            </a:r>
          </a:p>
        </p:txBody>
      </p:sp>
      <p:sp>
        <p:nvSpPr>
          <p:cNvPr id="18" name="Rectangle 17"/>
          <p:cNvSpPr/>
          <p:nvPr/>
        </p:nvSpPr>
        <p:spPr>
          <a:xfrm rot="21510000">
            <a:off x="5781697" y="9140676"/>
            <a:ext cx="3438525" cy="323850"/>
          </a:xfrm>
          <a:prstGeom prst="rect">
            <a:avLst/>
          </a:prstGeom>
          <a:solidFill>
            <a:srgbClr val="C09D7F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7875" y="9157988"/>
            <a:ext cx="3286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4C3634"/>
                </a:solidFill>
                <a:latin typeface="Montserrat"/>
              </a:rPr>
              <a:t>On the team since ____</a:t>
            </a:r>
          </a:p>
        </p:txBody>
      </p:sp>
      <p:pic>
        <p:nvPicPr>
          <p:cNvPr id="20" name="Picture 19" descr="pressed-yellow-c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000000">
            <a:off x="-381000" y="666750"/>
            <a:ext cx="2190750" cy="1828309"/>
          </a:xfrm>
          <a:prstGeom prst="rect">
            <a:avLst/>
          </a:prstGeom>
        </p:spPr>
      </p:pic>
      <p:pic>
        <p:nvPicPr>
          <p:cNvPr id="21" name="Picture 20" descr="foundation-logo-col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0" y="11525250"/>
            <a:ext cx="1238250" cy="111325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1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3130"/>
                </a:solidFill>
                <a:latin typeface="Source Sans 3"/>
              </a:rPr>
              <a:t>Pressed flowers: Evie S. and Angèle Kamp on Unsplash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B9AE98"/>
              </a:gs>
              <a:gs pos="100000">
                <a:srgbClr val="B1BCB1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ckground-g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white-coffee-branch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9620250"/>
            <a:ext cx="4953000" cy="50284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7250" y="952500"/>
            <a:ext cx="8572500" cy="100965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per-g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952500"/>
            <a:ext cx="8572500" cy="10096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 rot="19680000">
            <a:off x="5238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920000">
            <a:off x="83343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462885535813502765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" y="1381125"/>
            <a:ext cx="428625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7875" y="2809875"/>
            <a:ext cx="3286125" cy="1937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Dr. Carla Ribeiro Machado e Portugal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7875" y="4747594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Mentor &amp; Science Lead</a:t>
            </a:r>
          </a:p>
        </p:txBody>
      </p:sp>
      <p:sp>
        <p:nvSpPr>
          <p:cNvPr id="12" name="Rectangle 11"/>
          <p:cNvSpPr/>
          <p:nvPr/>
        </p:nvSpPr>
        <p:spPr>
          <a:xfrm rot="21510000">
            <a:off x="5781712" y="5351039"/>
            <a:ext cx="3438525" cy="323850"/>
          </a:xfrm>
          <a:prstGeom prst="rect">
            <a:avLst/>
          </a:prstGeom>
          <a:solidFill>
            <a:srgbClr val="C09D7F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7875" y="5367243"/>
            <a:ext cx="3286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4C3634"/>
                </a:solidFill>
                <a:latin typeface="Montserrat"/>
              </a:rPr>
              <a:t>On the team since 2019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8250" y="5905500"/>
            <a:ext cx="7810500" cy="19050"/>
          </a:xfrm>
          <a:prstGeom prst="rect">
            <a:avLst/>
          </a:prstGeom>
          <a:solidFill>
            <a:srgbClr val="C09D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741549816972512228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250" y="6143625"/>
            <a:ext cx="4286250" cy="428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7875" y="75723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Gerald Ramírez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7875" y="8128242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Mentor</a:t>
            </a:r>
          </a:p>
        </p:txBody>
      </p:sp>
      <p:sp>
        <p:nvSpPr>
          <p:cNvPr id="18" name="Rectangle 17"/>
          <p:cNvSpPr/>
          <p:nvPr/>
        </p:nvSpPr>
        <p:spPr>
          <a:xfrm rot="21510000">
            <a:off x="5781697" y="8730578"/>
            <a:ext cx="3438525" cy="323850"/>
          </a:xfrm>
          <a:prstGeom prst="rect">
            <a:avLst/>
          </a:prstGeom>
          <a:solidFill>
            <a:srgbClr val="C09D7F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7875" y="8747890"/>
            <a:ext cx="3286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4C3634"/>
                </a:solidFill>
                <a:latin typeface="Montserrat"/>
              </a:rPr>
              <a:t>On the team since ____</a:t>
            </a:r>
          </a:p>
        </p:txBody>
      </p:sp>
      <p:pic>
        <p:nvPicPr>
          <p:cNvPr id="20" name="Picture 19" descr="pressed-sprig-c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480000">
            <a:off x="7905750" y="666750"/>
            <a:ext cx="2190750" cy="1723729"/>
          </a:xfrm>
          <a:prstGeom prst="rect">
            <a:avLst/>
          </a:prstGeom>
        </p:spPr>
      </p:pic>
      <p:pic>
        <p:nvPicPr>
          <p:cNvPr id="21" name="Picture 20" descr="foundation-logo-col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0" y="11525250"/>
            <a:ext cx="1238250" cy="111325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1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3130"/>
                </a:solidFill>
                <a:latin typeface="Source Sans 3"/>
              </a:rPr>
              <a:t>Pressed flowers: Evie S. and Angèle Kamp on Unsplash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B1BCB1"/>
              </a:gs>
              <a:gs pos="100000">
                <a:srgbClr val="9DA89C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ckground-g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white-seedling-root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9906000"/>
            <a:ext cx="5334000" cy="533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7250" y="952500"/>
            <a:ext cx="8572500" cy="100965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per-g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952500"/>
            <a:ext cx="8572500" cy="10096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 rot="19680000">
            <a:off x="5238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920000">
            <a:off x="83343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808946701128574431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" y="1381125"/>
            <a:ext cx="428625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7875" y="28098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Wesley Sander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7875" y="3365742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Consultant &amp; Mentor</a:t>
            </a:r>
          </a:p>
        </p:txBody>
      </p:sp>
      <p:sp>
        <p:nvSpPr>
          <p:cNvPr id="12" name="Rectangle 11"/>
          <p:cNvSpPr/>
          <p:nvPr/>
        </p:nvSpPr>
        <p:spPr>
          <a:xfrm rot="21510000">
            <a:off x="5781724" y="3970092"/>
            <a:ext cx="3438525" cy="323850"/>
          </a:xfrm>
          <a:prstGeom prst="rect">
            <a:avLst/>
          </a:prstGeom>
          <a:solidFill>
            <a:srgbClr val="C09D7F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7875" y="3985390"/>
            <a:ext cx="3286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4C3634"/>
                </a:solidFill>
                <a:latin typeface="Montserrat"/>
              </a:rPr>
              <a:t>On the team since 2020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8250" y="5905500"/>
            <a:ext cx="7810500" cy="19050"/>
          </a:xfrm>
          <a:prstGeom prst="rect">
            <a:avLst/>
          </a:prstGeom>
          <a:solidFill>
            <a:srgbClr val="C09D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379105629832355080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250" y="6143625"/>
            <a:ext cx="4286250" cy="428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7875" y="7572375"/>
            <a:ext cx="3286125" cy="1016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Isadora Schmidt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7875" y="8588859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Consultant &amp; Mentor</a:t>
            </a:r>
          </a:p>
        </p:txBody>
      </p:sp>
      <p:sp>
        <p:nvSpPr>
          <p:cNvPr id="18" name="Rectangle 17"/>
          <p:cNvSpPr/>
          <p:nvPr/>
        </p:nvSpPr>
        <p:spPr>
          <a:xfrm rot="21510000">
            <a:off x="5781697" y="9191196"/>
            <a:ext cx="3438525" cy="323850"/>
          </a:xfrm>
          <a:prstGeom prst="rect">
            <a:avLst/>
          </a:prstGeom>
          <a:solidFill>
            <a:srgbClr val="C09D7F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7875" y="9208508"/>
            <a:ext cx="3286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4C3634"/>
                </a:solidFill>
                <a:latin typeface="Montserrat"/>
              </a:rPr>
              <a:t>On the team since ____</a:t>
            </a:r>
          </a:p>
        </p:txBody>
      </p:sp>
      <p:pic>
        <p:nvPicPr>
          <p:cNvPr id="20" name="Picture 19" descr="pressed-four-c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240000">
            <a:off x="-571500" y="571500"/>
            <a:ext cx="2476500" cy="1650040"/>
          </a:xfrm>
          <a:prstGeom prst="rect">
            <a:avLst/>
          </a:prstGeom>
        </p:spPr>
      </p:pic>
      <p:pic>
        <p:nvPicPr>
          <p:cNvPr id="21" name="Picture 20" descr="foundation-logo-col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0" y="11525250"/>
            <a:ext cx="1238250" cy="111325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1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3130"/>
                </a:solidFill>
                <a:latin typeface="Source Sans 3"/>
              </a:rPr>
              <a:t>Pressed flowers: Evie S. and Angèle Kamp on Unsplash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9DA89C"/>
              </a:gs>
              <a:gs pos="100000">
                <a:srgbClr val="C09D7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ckground-g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white-orange-branch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9620250"/>
            <a:ext cx="4953000" cy="4953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7250" y="952500"/>
            <a:ext cx="8572500" cy="100965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per-g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952500"/>
            <a:ext cx="8572500" cy="10096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 rot="19680000">
            <a:off x="5238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920000">
            <a:off x="83343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653012156119959309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" y="1381125"/>
            <a:ext cx="428625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7875" y="2809875"/>
            <a:ext cx="3286125" cy="1016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Delvin Solkinson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7875" y="3826359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Permaculture Lead</a:t>
            </a:r>
          </a:p>
        </p:txBody>
      </p:sp>
      <p:sp>
        <p:nvSpPr>
          <p:cNvPr id="12" name="Rectangle 11"/>
          <p:cNvSpPr/>
          <p:nvPr/>
        </p:nvSpPr>
        <p:spPr>
          <a:xfrm rot="21510000">
            <a:off x="5781697" y="4428696"/>
            <a:ext cx="3438525" cy="323850"/>
          </a:xfrm>
          <a:prstGeom prst="rect">
            <a:avLst/>
          </a:prstGeom>
          <a:solidFill>
            <a:srgbClr val="C09D7F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7875" y="4446008"/>
            <a:ext cx="3286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4C3634"/>
                </a:solidFill>
                <a:latin typeface="Montserrat"/>
              </a:rPr>
              <a:t>On the team since 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8250" y="5905500"/>
            <a:ext cx="7810500" cy="19050"/>
          </a:xfrm>
          <a:prstGeom prst="rect">
            <a:avLst/>
          </a:prstGeom>
          <a:solidFill>
            <a:srgbClr val="C09D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459704572883028450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250" y="6143625"/>
            <a:ext cx="4286250" cy="428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7875" y="75723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Tommy Tepper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7875" y="8128242"/>
            <a:ext cx="3286125" cy="915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Education Department Director &amp; Mentor</a:t>
            </a:r>
          </a:p>
        </p:txBody>
      </p:sp>
      <p:sp>
        <p:nvSpPr>
          <p:cNvPr id="18" name="Rectangle 17"/>
          <p:cNvSpPr/>
          <p:nvPr/>
        </p:nvSpPr>
        <p:spPr>
          <a:xfrm rot="21510000">
            <a:off x="5781697" y="9140676"/>
            <a:ext cx="3438525" cy="323850"/>
          </a:xfrm>
          <a:prstGeom prst="rect">
            <a:avLst/>
          </a:prstGeom>
          <a:solidFill>
            <a:srgbClr val="C09D7F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7875" y="9157988"/>
            <a:ext cx="3286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4C3634"/>
                </a:solidFill>
                <a:latin typeface="Montserrat"/>
              </a:rPr>
              <a:t>On the team since ____</a:t>
            </a:r>
          </a:p>
        </p:txBody>
      </p:sp>
      <p:pic>
        <p:nvPicPr>
          <p:cNvPr id="20" name="Picture 19" descr="pressed-red-fern-c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720000">
            <a:off x="8191500" y="571500"/>
            <a:ext cx="1905000" cy="2468811"/>
          </a:xfrm>
          <a:prstGeom prst="rect">
            <a:avLst/>
          </a:prstGeom>
        </p:spPr>
      </p:pic>
      <p:pic>
        <p:nvPicPr>
          <p:cNvPr id="21" name="Picture 20" descr="foundation-logo-col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0" y="11525250"/>
            <a:ext cx="1238250" cy="111325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1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3130"/>
                </a:solidFill>
                <a:latin typeface="Source Sans 3"/>
              </a:rPr>
              <a:t>Pressed flowers: Evie S. and Angèle Kamp on Unsplash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C09D7F"/>
              </a:gs>
              <a:gs pos="100000">
                <a:srgbClr val="8E705E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ckground-g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white-tithonia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0" y="9525000"/>
            <a:ext cx="4572000" cy="45589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7250" y="952500"/>
            <a:ext cx="8572500" cy="100965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per-g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952500"/>
            <a:ext cx="8572500" cy="10096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 rot="19680000">
            <a:off x="5238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920000">
            <a:off x="83343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421767868878039912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" y="1381125"/>
            <a:ext cx="428625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7875" y="28098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Dora Tkalec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7875" y="3365742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Consultant &amp; Mentor</a:t>
            </a:r>
          </a:p>
        </p:txBody>
      </p:sp>
      <p:sp>
        <p:nvSpPr>
          <p:cNvPr id="12" name="Rectangle 11"/>
          <p:cNvSpPr/>
          <p:nvPr/>
        </p:nvSpPr>
        <p:spPr>
          <a:xfrm rot="21510000">
            <a:off x="5781697" y="3968078"/>
            <a:ext cx="3438525" cy="323850"/>
          </a:xfrm>
          <a:prstGeom prst="rect">
            <a:avLst/>
          </a:prstGeom>
          <a:solidFill>
            <a:srgbClr val="C09D7F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7875" y="3985390"/>
            <a:ext cx="3286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4C3634"/>
                </a:solidFill>
                <a:latin typeface="Montserrat"/>
              </a:rPr>
              <a:t>On the team since 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8250" y="5905500"/>
            <a:ext cx="7810500" cy="19050"/>
          </a:xfrm>
          <a:prstGeom prst="rect">
            <a:avLst/>
          </a:prstGeom>
          <a:solidFill>
            <a:srgbClr val="C09D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60723057814175293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250" y="6143625"/>
            <a:ext cx="4286250" cy="428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7875" y="75723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Ayşen Üstünay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7875" y="8128242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Consultant &amp; Mentor</a:t>
            </a:r>
          </a:p>
        </p:txBody>
      </p:sp>
      <p:sp>
        <p:nvSpPr>
          <p:cNvPr id="18" name="Rectangle 17"/>
          <p:cNvSpPr/>
          <p:nvPr/>
        </p:nvSpPr>
        <p:spPr>
          <a:xfrm rot="21510000">
            <a:off x="5781697" y="8730578"/>
            <a:ext cx="3438525" cy="323850"/>
          </a:xfrm>
          <a:prstGeom prst="rect">
            <a:avLst/>
          </a:prstGeom>
          <a:solidFill>
            <a:srgbClr val="C09D7F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7875" y="8747890"/>
            <a:ext cx="3286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4C3634"/>
                </a:solidFill>
                <a:latin typeface="Montserrat"/>
              </a:rPr>
              <a:t>On the team since ____</a:t>
            </a:r>
          </a:p>
        </p:txBody>
      </p:sp>
      <p:pic>
        <p:nvPicPr>
          <p:cNvPr id="20" name="Picture 19" descr="pressed-yellow-c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000000">
            <a:off x="-381000" y="666750"/>
            <a:ext cx="2190750" cy="1828309"/>
          </a:xfrm>
          <a:prstGeom prst="rect">
            <a:avLst/>
          </a:prstGeom>
        </p:spPr>
      </p:pic>
      <p:pic>
        <p:nvPicPr>
          <p:cNvPr id="21" name="Picture 20" descr="foundation-logo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0" y="11525250"/>
            <a:ext cx="1238250" cy="111325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1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3130"/>
                </a:solidFill>
                <a:latin typeface="Source Sans 3"/>
              </a:rPr>
              <a:t>Pressed flowers: Evie S. and Angèle Kamp on Unsplash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8E705E"/>
              </a:gs>
              <a:gs pos="100000">
                <a:srgbClr val="6A4E4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ckground-g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white-mushroom-cluster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10096500"/>
            <a:ext cx="4381500" cy="43721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7250" y="952500"/>
            <a:ext cx="8572500" cy="100965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per-g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952500"/>
            <a:ext cx="8572500" cy="10096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 rot="19680000">
            <a:off x="5238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920000">
            <a:off x="83343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857430269122746987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" y="1381125"/>
            <a:ext cx="428625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7875" y="28098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7875" y="3365742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Advanced Programs Lead</a:t>
            </a:r>
          </a:p>
        </p:txBody>
      </p:sp>
      <p:sp>
        <p:nvSpPr>
          <p:cNvPr id="12" name="Rectangle 11"/>
          <p:cNvSpPr/>
          <p:nvPr/>
        </p:nvSpPr>
        <p:spPr>
          <a:xfrm rot="21510000">
            <a:off x="5781712" y="3969187"/>
            <a:ext cx="3438525" cy="323850"/>
          </a:xfrm>
          <a:prstGeom prst="rect">
            <a:avLst/>
          </a:prstGeom>
          <a:solidFill>
            <a:srgbClr val="C09D7F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7875" y="3985390"/>
            <a:ext cx="3286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4C3634"/>
                </a:solidFill>
                <a:latin typeface="Montserrat"/>
              </a:rPr>
              <a:t>On the team since 2019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8250" y="5905500"/>
            <a:ext cx="7810500" cy="19050"/>
          </a:xfrm>
          <a:prstGeom prst="rect">
            <a:avLst/>
          </a:prstGeom>
          <a:solidFill>
            <a:srgbClr val="C09D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406087283551333028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250" y="6143625"/>
            <a:ext cx="4286250" cy="428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7875" y="75723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7875" y="8128242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Consultant &amp; Mentor</a:t>
            </a:r>
          </a:p>
        </p:txBody>
      </p:sp>
      <p:sp>
        <p:nvSpPr>
          <p:cNvPr id="18" name="Rectangle 17"/>
          <p:cNvSpPr/>
          <p:nvPr/>
        </p:nvSpPr>
        <p:spPr>
          <a:xfrm rot="21510000">
            <a:off x="5781697" y="8730578"/>
            <a:ext cx="3438525" cy="323850"/>
          </a:xfrm>
          <a:prstGeom prst="rect">
            <a:avLst/>
          </a:prstGeom>
          <a:solidFill>
            <a:srgbClr val="C09D7F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7875" y="8747890"/>
            <a:ext cx="3286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4C3634"/>
                </a:solidFill>
                <a:latin typeface="Montserrat"/>
              </a:rPr>
              <a:t>On the team since ____</a:t>
            </a:r>
          </a:p>
        </p:txBody>
      </p:sp>
      <p:pic>
        <p:nvPicPr>
          <p:cNvPr id="20" name="Picture 19" descr="pressed-sprig-c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480000">
            <a:off x="7905750" y="666750"/>
            <a:ext cx="2190750" cy="1723729"/>
          </a:xfrm>
          <a:prstGeom prst="rect">
            <a:avLst/>
          </a:prstGeom>
        </p:spPr>
      </p:pic>
      <p:pic>
        <p:nvPicPr>
          <p:cNvPr id="21" name="Picture 20" descr="foundation-logo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0" y="11525250"/>
            <a:ext cx="1238250" cy="111325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1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3F1EA"/>
                </a:solidFill>
                <a:latin typeface="Source Sans 3"/>
              </a:rPr>
              <a:t>Pressed flowers: Evie S. and Angèle Kamp on Unsplash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6A4E45"/>
              </a:gs>
              <a:gs pos="100000">
                <a:srgbClr val="4C363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ckground-g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white-seedling-root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334500"/>
            <a:ext cx="4953000" cy="4953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81000" y="857250"/>
            <a:ext cx="9525000" cy="1114425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per-g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57250"/>
            <a:ext cx="9525000" cy="11144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 rot="19680000">
            <a:off x="47625" y="72390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920000">
            <a:off x="8810625" y="72390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1371600"/>
            <a:ext cx="41148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10" name="Picture 9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2544341"/>
            <a:ext cx="1238250" cy="1113258"/>
          </a:xfrm>
          <a:prstGeom prst="rect">
            <a:avLst/>
          </a:prstGeom>
        </p:spPr>
      </p:pic>
      <p:pic>
        <p:nvPicPr>
          <p:cNvPr id="11" name="Picture 10" descr="743029409744491402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0650" y="1333500"/>
            <a:ext cx="2000250" cy="2000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00650" y="33813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Delvin Solkinson</a:t>
            </a:r>
          </a:p>
        </p:txBody>
      </p:sp>
      <p:pic>
        <p:nvPicPr>
          <p:cNvPr id="13" name="Picture 12" descr="127001463424652362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1333500"/>
            <a:ext cx="2000250" cy="2000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0" y="33813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Brian Daubenspeck</a:t>
            </a:r>
          </a:p>
        </p:txBody>
      </p:sp>
      <p:pic>
        <p:nvPicPr>
          <p:cNvPr id="15" name="Picture 14" descr="780145455176177130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550" y="3771900"/>
            <a:ext cx="2000250" cy="2000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71550" y="58197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Elena Kalli</a:t>
            </a:r>
          </a:p>
        </p:txBody>
      </p:sp>
      <p:pic>
        <p:nvPicPr>
          <p:cNvPr id="17" name="Picture 16" descr="435037013798790938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86100" y="3771900"/>
            <a:ext cx="2000250" cy="2000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86100" y="58197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Nick Padwick</a:t>
            </a:r>
          </a:p>
        </p:txBody>
      </p:sp>
      <p:pic>
        <p:nvPicPr>
          <p:cNvPr id="19" name="Picture 18" descr="92669560111077497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0650" y="3771900"/>
            <a:ext cx="2000250" cy="2000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00650" y="58197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Carla Portugal</a:t>
            </a:r>
          </a:p>
        </p:txBody>
      </p:sp>
      <p:pic>
        <p:nvPicPr>
          <p:cNvPr id="21" name="Picture 20" descr="8709797322155349812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0" y="3771900"/>
            <a:ext cx="2000250" cy="2000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15200" y="58197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Gerald Ramírez</a:t>
            </a:r>
          </a:p>
        </p:txBody>
      </p:sp>
      <p:pic>
        <p:nvPicPr>
          <p:cNvPr id="23" name="Picture 22" descr="8133362152687807847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550" y="6210300"/>
            <a:ext cx="2000250" cy="2000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71550" y="82581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Wesley Sander</a:t>
            </a:r>
          </a:p>
        </p:txBody>
      </p:sp>
      <p:pic>
        <p:nvPicPr>
          <p:cNvPr id="25" name="Picture 24" descr="577755962176362949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86100" y="6210300"/>
            <a:ext cx="2000250" cy="20002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086100" y="82581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Isadora Schmidt</a:t>
            </a:r>
          </a:p>
        </p:txBody>
      </p:sp>
      <p:pic>
        <p:nvPicPr>
          <p:cNvPr id="27" name="Picture 26" descr="8903221562847728460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00650" y="6210300"/>
            <a:ext cx="2000250" cy="2000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200650" y="82581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Ib Borup Pedersen</a:t>
            </a:r>
          </a:p>
        </p:txBody>
      </p:sp>
      <p:pic>
        <p:nvPicPr>
          <p:cNvPr id="29" name="Picture 28" descr="4615993966717548719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15200" y="6210300"/>
            <a:ext cx="2000250" cy="20002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15200" y="82581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Tommy Tepper</a:t>
            </a:r>
          </a:p>
        </p:txBody>
      </p:sp>
      <p:pic>
        <p:nvPicPr>
          <p:cNvPr id="31" name="Picture 30" descr="1614273838334935289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1550" y="8648700"/>
            <a:ext cx="2000250" cy="20002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71550" y="106965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Dora Tkalec</a:t>
            </a:r>
          </a:p>
        </p:txBody>
      </p:sp>
      <p:pic>
        <p:nvPicPr>
          <p:cNvPr id="33" name="Picture 32" descr="8072343852083516795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86100" y="8648700"/>
            <a:ext cx="2000250" cy="2000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086100" y="106965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Ayşen Üstünay</a:t>
            </a:r>
          </a:p>
        </p:txBody>
      </p:sp>
      <p:pic>
        <p:nvPicPr>
          <p:cNvPr id="35" name="Picture 34" descr="8077488849943177458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00650" y="8648700"/>
            <a:ext cx="2000250" cy="20002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200650" y="106965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Loida Vasquez</a:t>
            </a:r>
          </a:p>
        </p:txBody>
      </p:sp>
      <p:pic>
        <p:nvPicPr>
          <p:cNvPr id="37" name="Picture 36" descr="307939424986583469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15200" y="8648700"/>
            <a:ext cx="2000250" cy="20002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315200" y="106965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Casey Williams</a:t>
            </a:r>
          </a:p>
        </p:txBody>
      </p:sp>
      <p:pic>
        <p:nvPicPr>
          <p:cNvPr id="39" name="Picture 38" descr="pressed-sprig-cut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600000">
            <a:off x="8001000" y="285750"/>
            <a:ext cx="2095500" cy="164878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81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3F1EA"/>
                </a:solidFill>
                <a:latin typeface="Source Sans 3"/>
              </a:rPr>
              <a:t>Pressed flowers: Evie S. on Unsplash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350628620610047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4C3634">
                  <a:alpha val="92000"/>
                </a:srgbClr>
              </a:gs>
              <a:gs pos="100000">
                <a:srgbClr val="4C3634">
                  <a:alpha val="35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ckground-g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5" name="Picture 4" descr="white-mushroom-cluster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571500"/>
            <a:ext cx="4000500" cy="3991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19075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spc="400">
                <a:solidFill>
                  <a:srgbClr val="F3F1EA"/>
                </a:solidFill>
                <a:latin typeface="Montserrat"/>
              </a:rPr>
              <a:t>OCTOBER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762250"/>
            <a:ext cx="8763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0" b="1" i="0">
                <a:solidFill>
                  <a:srgbClr val="F3F1EA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8" name="Picture 7" descr="foundation-logo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500" y="5715000"/>
            <a:ext cx="3048000" cy="2740328"/>
          </a:xfrm>
          <a:prstGeom prst="rect">
            <a:avLst/>
          </a:prstGeom>
        </p:spPr>
      </p:pic>
      <p:pic>
        <p:nvPicPr>
          <p:cNvPr id="9" name="Picture 8" descr="white-seedling-roots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71500" y="8572500"/>
            <a:ext cx="4953000" cy="4953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114300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3F1EA"/>
                </a:solidFill>
                <a:latin typeface="Source Sans 3"/>
              </a:rPr>
              <a:t>Dried flowers: Katsia Jazwinska on Unsplash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