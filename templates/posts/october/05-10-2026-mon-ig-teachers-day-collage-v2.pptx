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Cover: meadow photo (Annie Spratt, Unsplash) under a brown gradient; cream card. Mentor photos: Linnea's Drive folder (5 Oct 2026). Pressed flowers and meadow: Unsplash, credits in assets/unsplash-flowers/CREDITS.md. Line art: SFW collage pieces (assets/collage/).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Ib Borup Pedersen, Brian Daubenspeck. Mentor photos: Linnea's Drive folder (5 Oct 2026). Pressed flowers and meadow: Unsplash, credits in assets/unsplash-flowers/CREDITS.md. Line art: SFW collage pieces (assets/collage/).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Elena Kalli, Nick Padwick. Mentor photos: Linnea's Drive folder (5 Oct 2026). Pressed flowers and meadow: Unsplash, credits in assets/unsplash-flowers/CREDITS.md. Line art: SFW collage pieces (assets/collage/).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Carla Ribeiro Machado e Portugal, Gerald Ramírez. Mentor photos: Linnea's Drive folder (5 Oct 2026). Pressed flowers and meadow: Unsplash, credits in assets/unsplash-flowers/CREDITS.md. Line art: SFW collage pieces (assets/collage/).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Wesley Sander, Isadora Schmidt. Mentor photos: Linnea's Drive folder (5 Oct 2026). Pressed flowers and meadow: Unsplash, credits in assets/unsplash-flowers/CREDITS.md. Line art: SFW collage pieces (assets/collage/).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Delvin Solkinson, Tommy Tepper. Mentor photos: Linnea's Drive folder (5 Oct 2026). Pressed flowers and meadow: Unsplash, credits in assets/unsplash-flowers/CREDITS.md. Line art: SFW collage pieces (assets/collage/).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Dora Tkalec, Ayşen Üstünay. Mentor photos: Linnea's Drive folder (5 Oct 2026). Pressed flowers and meadow: Unsplash, credits in assets/unsplash-flowers/CREDITS.md. Line art: SFW collage pieces (assets/collage/).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Loida Vasquez, Casey Williams. Mentor photos: Linnea's Drive folder (5 Oct 2026). Pressed flowers and meadow: Unsplash, credits in assets/unsplash-flowers/CREDITS.md. Line art: SFW collage pieces (assets/collage/).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fourteen on one card. Mentor photos: Linnea's Drive folder (5 Oct 2026). Pressed flowers and meadow: Unsplash, credits in assets/unsplash-flowers/CREDITS.md. Line art: SFW collage pieces (assets/collage/).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dried flowers (Katsia Jazwinska, Unsplash) under a brown gradient; big logo. Mentor photos: Linnea's Drive folder (5 Oct 2026). Pressed flowers and meadow: Unsplash, credits in assets/unsplash-flowers/CREDITS.md. Line art: SFW collage pieces (assets/collage/).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png"/><Relationship Id="rId9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15.jpg"/><Relationship Id="rId7" Type="http://schemas.openxmlformats.org/officeDocument/2006/relationships/image" Target="../media/image16.jpg"/><Relationship Id="rId8" Type="http://schemas.openxmlformats.org/officeDocument/2006/relationships/image" Target="../media/image17.png"/><Relationship Id="rId9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4.pn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21.png"/><Relationship Id="rId9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image" Target="../media/image4.pn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25.jpg"/><Relationship Id="rId7" Type="http://schemas.openxmlformats.org/officeDocument/2006/relationships/image" Target="../media/image26.jpg"/><Relationship Id="rId8" Type="http://schemas.openxmlformats.org/officeDocument/2006/relationships/image" Target="../media/image14.png"/><Relationship Id="rId9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27.jpg"/><Relationship Id="rId7" Type="http://schemas.openxmlformats.org/officeDocument/2006/relationships/image" Target="../media/image28.jpg"/><Relationship Id="rId8" Type="http://schemas.openxmlformats.org/officeDocument/2006/relationships/image" Target="../media/image17.png"/><Relationship Id="rId9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4.png"/><Relationship Id="rId6" Type="http://schemas.openxmlformats.org/officeDocument/2006/relationships/image" Target="../media/image10.png"/><Relationship Id="rId7" Type="http://schemas.openxmlformats.org/officeDocument/2006/relationships/image" Target="../media/image29.jpg"/><Relationship Id="rId8" Type="http://schemas.openxmlformats.org/officeDocument/2006/relationships/image" Target="../media/image30.jpg"/><Relationship Id="rId9" Type="http://schemas.openxmlformats.org/officeDocument/2006/relationships/image" Target="../media/image31.jpg"/><Relationship Id="rId10" Type="http://schemas.openxmlformats.org/officeDocument/2006/relationships/image" Target="../media/image32.jpg"/><Relationship Id="rId11" Type="http://schemas.openxmlformats.org/officeDocument/2006/relationships/image" Target="../media/image33.jpg"/><Relationship Id="rId12" Type="http://schemas.openxmlformats.org/officeDocument/2006/relationships/image" Target="../media/image34.jpg"/><Relationship Id="rId13" Type="http://schemas.openxmlformats.org/officeDocument/2006/relationships/image" Target="../media/image35.jpg"/><Relationship Id="rId14" Type="http://schemas.openxmlformats.org/officeDocument/2006/relationships/image" Target="../media/image36.jpg"/><Relationship Id="rId15" Type="http://schemas.openxmlformats.org/officeDocument/2006/relationships/image" Target="../media/image37.jpg"/><Relationship Id="rId16" Type="http://schemas.openxmlformats.org/officeDocument/2006/relationships/image" Target="../media/image38.jpg"/><Relationship Id="rId17" Type="http://schemas.openxmlformats.org/officeDocument/2006/relationships/image" Target="../media/image39.jpg"/><Relationship Id="rId18" Type="http://schemas.openxmlformats.org/officeDocument/2006/relationships/image" Target="../media/image40.jpg"/><Relationship Id="rId19" Type="http://schemas.openxmlformats.org/officeDocument/2006/relationships/image" Target="../media/image41.jpg"/><Relationship Id="rId20" Type="http://schemas.openxmlformats.org/officeDocument/2006/relationships/image" Target="../media/image42.jpg"/><Relationship Id="rId21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3.jpg"/><Relationship Id="rId4" Type="http://schemas.openxmlformats.org/officeDocument/2006/relationships/image" Target="../media/image2.png"/><Relationship Id="rId5" Type="http://schemas.openxmlformats.org/officeDocument/2006/relationships/image" Target="../media/image11.png"/><Relationship Id="rId6" Type="http://schemas.openxmlformats.org/officeDocument/2006/relationships/image" Target="../media/image7.png"/><Relationship Id="rId7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0024692824902232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4C3634">
                  <a:alpha val="15000"/>
                </a:srgbClr>
              </a:gs>
              <a:gs pos="100000">
                <a:srgbClr val="4C3634">
                  <a:alpha val="92000"/>
                </a:srgbClr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ckground-g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5" name="Picture 4" descr="white-tithonia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047750" y="7239000"/>
            <a:ext cx="4000500" cy="39890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47750" y="2381250"/>
            <a:ext cx="8191500" cy="6096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per-g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7750" y="2381250"/>
            <a:ext cx="8191500" cy="6096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 rot="19680000">
            <a:off x="714375" y="224790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1920000">
            <a:off x="8143875" y="224790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3048000"/>
            <a:ext cx="7429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spc="400">
                <a:solidFill>
                  <a:srgbClr val="4C3634"/>
                </a:solidFill>
                <a:latin typeface="Montserrat"/>
              </a:rPr>
              <a:t>OCTOBER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8750" y="3619500"/>
            <a:ext cx="74295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5500" y="6286500"/>
            <a:ext cx="6096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everyone who teaches and mentors our students.</a:t>
            </a:r>
          </a:p>
        </p:txBody>
      </p:sp>
      <p:pic>
        <p:nvPicPr>
          <p:cNvPr id="13" name="Picture 12" descr="pressed-red-fern-c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760000">
            <a:off x="381000" y="1333500"/>
            <a:ext cx="2190750" cy="2839133"/>
          </a:xfrm>
          <a:prstGeom prst="rect">
            <a:avLst/>
          </a:prstGeom>
        </p:spPr>
      </p:pic>
      <p:pic>
        <p:nvPicPr>
          <p:cNvPr id="14" name="Picture 13" descr="white-coffee-branch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7500" y="7810500"/>
            <a:ext cx="4000500" cy="4061421"/>
          </a:xfrm>
          <a:prstGeom prst="rect">
            <a:avLst/>
          </a:prstGeom>
        </p:spPr>
      </p:pic>
      <p:pic>
        <p:nvPicPr>
          <p:cNvPr id="15" name="Picture 14" descr="foundation-logo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48125" y="9715500"/>
            <a:ext cx="2190750" cy="19696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0" y="11906250"/>
            <a:ext cx="10287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3F1EA"/>
                </a:solidFill>
                <a:latin typeface="Montserrat"/>
              </a:rPr>
              <a:t>Swipe 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000" y="125349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3F1EA"/>
                </a:solidFill>
                <a:latin typeface="Source Sans 3"/>
              </a:rPr>
              <a:t>Meadow: Annie Spratt on Unsplash. Pressed flowers: Evie S. on Unsplash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7E6352"/>
              </a:gs>
              <a:gs pos="100000">
                <a:srgbClr val="C09D7F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white-tithonia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9525000"/>
            <a:ext cx="4953000" cy="49388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57250" y="952500"/>
            <a:ext cx="8572500" cy="100965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per-g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952500"/>
            <a:ext cx="8572500" cy="10096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 rot="19680000">
            <a:off x="523875" y="81915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920000">
            <a:off x="8334375" y="81915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62450984569517283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250" y="1381125"/>
            <a:ext cx="4286250" cy="428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7875" y="2809875"/>
            <a:ext cx="3286125" cy="1016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7875" y="3826359"/>
            <a:ext cx="3286125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Farmer, Consultant &amp; Mentor</a:t>
            </a:r>
          </a:p>
        </p:txBody>
      </p:sp>
      <p:sp>
        <p:nvSpPr>
          <p:cNvPr id="12" name="Rectangle 11"/>
          <p:cNvSpPr/>
          <p:nvPr/>
        </p:nvSpPr>
        <p:spPr>
          <a:xfrm rot="21510000">
            <a:off x="5781697" y="4838794"/>
            <a:ext cx="3438525" cy="323850"/>
          </a:xfrm>
          <a:prstGeom prst="rect">
            <a:avLst/>
          </a:prstGeom>
          <a:solidFill>
            <a:srgbClr val="C09D7F">
              <a:alpha val="4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7875" y="4856106"/>
            <a:ext cx="328612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4C3634"/>
                </a:solidFill>
                <a:latin typeface="Montserrat"/>
              </a:rPr>
              <a:t>On the team since ____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8250" y="5905500"/>
            <a:ext cx="7810500" cy="19050"/>
          </a:xfrm>
          <a:prstGeom prst="rect">
            <a:avLst/>
          </a:prstGeom>
          <a:solidFill>
            <a:srgbClr val="C09D7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488111225271309797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50" y="6143625"/>
            <a:ext cx="4286250" cy="428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57875" y="7572375"/>
            <a:ext cx="3286125" cy="1016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7875" y="8588859"/>
            <a:ext cx="328612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Consultant &amp; Mentor</a:t>
            </a:r>
          </a:p>
        </p:txBody>
      </p:sp>
      <p:sp>
        <p:nvSpPr>
          <p:cNvPr id="18" name="Rectangle 17"/>
          <p:cNvSpPr/>
          <p:nvPr/>
        </p:nvSpPr>
        <p:spPr>
          <a:xfrm rot="21510000">
            <a:off x="5781697" y="9191196"/>
            <a:ext cx="3438525" cy="323850"/>
          </a:xfrm>
          <a:prstGeom prst="rect">
            <a:avLst/>
          </a:prstGeom>
          <a:solidFill>
            <a:srgbClr val="C09D7F">
              <a:alpha val="4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7875" y="9208508"/>
            <a:ext cx="328612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4C3634"/>
                </a:solidFill>
                <a:latin typeface="Montserrat"/>
              </a:rPr>
              <a:t>On the team since ____</a:t>
            </a:r>
          </a:p>
        </p:txBody>
      </p:sp>
      <p:pic>
        <p:nvPicPr>
          <p:cNvPr id="20" name="Picture 19" descr="pressed-red-fern-cu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720000">
            <a:off x="8191500" y="571500"/>
            <a:ext cx="1905000" cy="2468811"/>
          </a:xfrm>
          <a:prstGeom prst="rect">
            <a:avLst/>
          </a:prstGeom>
        </p:spPr>
      </p:pic>
      <p:pic>
        <p:nvPicPr>
          <p:cNvPr id="21" name="Picture 20" descr="foundation-logo-colo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7750" y="11525250"/>
            <a:ext cx="1238250" cy="111325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81000" y="125349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3F1EA"/>
                </a:solidFill>
                <a:latin typeface="Source Sans 3"/>
              </a:rPr>
              <a:t>Pressed flowers: Evie S. and Angèle Kamp on Unsplash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C09D7F"/>
              </a:gs>
              <a:gs pos="100000">
                <a:srgbClr val="B9AE9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white-mushroom-clust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0096500"/>
            <a:ext cx="4381500" cy="43721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57250" y="952500"/>
            <a:ext cx="8572500" cy="100965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per-g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952500"/>
            <a:ext cx="8572500" cy="10096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 rot="19680000">
            <a:off x="523875" y="81915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920000">
            <a:off x="8334375" y="81915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3505333585763113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250" y="1381125"/>
            <a:ext cx="4286250" cy="428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7875" y="2809875"/>
            <a:ext cx="3286125" cy="555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7875" y="3365742"/>
            <a:ext cx="3286125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School Administration Officer</a:t>
            </a:r>
          </a:p>
        </p:txBody>
      </p:sp>
      <p:sp>
        <p:nvSpPr>
          <p:cNvPr id="12" name="Rectangle 11"/>
          <p:cNvSpPr/>
          <p:nvPr/>
        </p:nvSpPr>
        <p:spPr>
          <a:xfrm rot="21510000">
            <a:off x="5781697" y="4378176"/>
            <a:ext cx="3438525" cy="323850"/>
          </a:xfrm>
          <a:prstGeom prst="rect">
            <a:avLst/>
          </a:prstGeom>
          <a:solidFill>
            <a:srgbClr val="C09D7F">
              <a:alpha val="4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7875" y="4395488"/>
            <a:ext cx="328612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4C3634"/>
                </a:solidFill>
                <a:latin typeface="Montserrat"/>
              </a:rPr>
              <a:t>On the team since ____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8250" y="5905500"/>
            <a:ext cx="7810500" cy="19050"/>
          </a:xfrm>
          <a:prstGeom prst="rect">
            <a:avLst/>
          </a:prstGeom>
          <a:solidFill>
            <a:srgbClr val="C09D7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22066204737029068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50" y="6143625"/>
            <a:ext cx="4286250" cy="428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57875" y="7572375"/>
            <a:ext cx="3286125" cy="555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7875" y="8128242"/>
            <a:ext cx="3286125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Farmer, Consultant &amp; Mentor</a:t>
            </a:r>
          </a:p>
        </p:txBody>
      </p:sp>
      <p:sp>
        <p:nvSpPr>
          <p:cNvPr id="18" name="Rectangle 17"/>
          <p:cNvSpPr/>
          <p:nvPr/>
        </p:nvSpPr>
        <p:spPr>
          <a:xfrm rot="21510000">
            <a:off x="5781697" y="9140676"/>
            <a:ext cx="3438525" cy="323850"/>
          </a:xfrm>
          <a:prstGeom prst="rect">
            <a:avLst/>
          </a:prstGeom>
          <a:solidFill>
            <a:srgbClr val="C09D7F">
              <a:alpha val="4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7875" y="9157988"/>
            <a:ext cx="328612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4C3634"/>
                </a:solidFill>
                <a:latin typeface="Montserrat"/>
              </a:rPr>
              <a:t>On the team since ____</a:t>
            </a:r>
          </a:p>
        </p:txBody>
      </p:sp>
      <p:pic>
        <p:nvPicPr>
          <p:cNvPr id="20" name="Picture 19" descr="pressed-yellow-cu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000000">
            <a:off x="-381000" y="666750"/>
            <a:ext cx="2190750" cy="1828309"/>
          </a:xfrm>
          <a:prstGeom prst="rect">
            <a:avLst/>
          </a:prstGeom>
        </p:spPr>
      </p:pic>
      <p:pic>
        <p:nvPicPr>
          <p:cNvPr id="21" name="Picture 20" descr="foundation-logo-colo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7750" y="11525250"/>
            <a:ext cx="1238250" cy="111325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81000" y="125349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3130"/>
                </a:solidFill>
                <a:latin typeface="Source Sans 3"/>
              </a:rPr>
              <a:t>Pressed flowers: Evie S. and Angèle Kamp on Unsplash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B9AE98"/>
              </a:gs>
              <a:gs pos="100000">
                <a:srgbClr val="B1BCB1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white-coffee-branch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9620250"/>
            <a:ext cx="4953000" cy="502842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57250" y="952500"/>
            <a:ext cx="8572500" cy="100965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per-g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952500"/>
            <a:ext cx="8572500" cy="10096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 rot="19680000">
            <a:off x="523875" y="81915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920000">
            <a:off x="8334375" y="81915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579359647312423550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250" y="1381125"/>
            <a:ext cx="4286250" cy="428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7875" y="2809875"/>
            <a:ext cx="3286125" cy="1937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31662F"/>
                </a:solidFill>
                <a:latin typeface="Montserrat"/>
              </a:rPr>
              <a:t>Dr. Carla Ribeiro Machado e Portugal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7875" y="4747594"/>
            <a:ext cx="328612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Mentor &amp; Science Lead</a:t>
            </a:r>
          </a:p>
        </p:txBody>
      </p:sp>
      <p:sp>
        <p:nvSpPr>
          <p:cNvPr id="12" name="Rectangle 11"/>
          <p:cNvSpPr/>
          <p:nvPr/>
        </p:nvSpPr>
        <p:spPr>
          <a:xfrm rot="21510000">
            <a:off x="5781712" y="5351039"/>
            <a:ext cx="3438525" cy="323850"/>
          </a:xfrm>
          <a:prstGeom prst="rect">
            <a:avLst/>
          </a:prstGeom>
          <a:solidFill>
            <a:srgbClr val="C09D7F">
              <a:alpha val="4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7875" y="5367243"/>
            <a:ext cx="328612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4C3634"/>
                </a:solidFill>
                <a:latin typeface="Montserrat"/>
              </a:rPr>
              <a:t>On the team since 2019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8250" y="5905500"/>
            <a:ext cx="7810500" cy="19050"/>
          </a:xfrm>
          <a:prstGeom prst="rect">
            <a:avLst/>
          </a:prstGeom>
          <a:solidFill>
            <a:srgbClr val="C09D7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518381335503308163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50" y="6143625"/>
            <a:ext cx="4286250" cy="428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57875" y="7572375"/>
            <a:ext cx="3286125" cy="555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7875" y="8128242"/>
            <a:ext cx="328612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Mentor</a:t>
            </a:r>
          </a:p>
        </p:txBody>
      </p:sp>
      <p:sp>
        <p:nvSpPr>
          <p:cNvPr id="18" name="Rectangle 17"/>
          <p:cNvSpPr/>
          <p:nvPr/>
        </p:nvSpPr>
        <p:spPr>
          <a:xfrm rot="21510000">
            <a:off x="5781697" y="8730578"/>
            <a:ext cx="3438525" cy="323850"/>
          </a:xfrm>
          <a:prstGeom prst="rect">
            <a:avLst/>
          </a:prstGeom>
          <a:solidFill>
            <a:srgbClr val="C09D7F">
              <a:alpha val="4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7875" y="8747890"/>
            <a:ext cx="328612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4C3634"/>
                </a:solidFill>
                <a:latin typeface="Montserrat"/>
              </a:rPr>
              <a:t>On the team since ____</a:t>
            </a:r>
          </a:p>
        </p:txBody>
      </p:sp>
      <p:pic>
        <p:nvPicPr>
          <p:cNvPr id="20" name="Picture 19" descr="pressed-sprig-cu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480000">
            <a:off x="7905750" y="666750"/>
            <a:ext cx="2190750" cy="1723729"/>
          </a:xfrm>
          <a:prstGeom prst="rect">
            <a:avLst/>
          </a:prstGeom>
        </p:spPr>
      </p:pic>
      <p:pic>
        <p:nvPicPr>
          <p:cNvPr id="21" name="Picture 20" descr="foundation-logo-colo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7750" y="11525250"/>
            <a:ext cx="1238250" cy="111325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81000" y="125349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3130"/>
                </a:solidFill>
                <a:latin typeface="Source Sans 3"/>
              </a:rPr>
              <a:t>Pressed flowers: Evie S. and Angèle Kamp on Unsplash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B1BCB1"/>
              </a:gs>
              <a:gs pos="100000">
                <a:srgbClr val="9DA89C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white-seedling-root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9906000"/>
            <a:ext cx="5334000" cy="533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57250" y="952500"/>
            <a:ext cx="8572500" cy="100965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per-g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952500"/>
            <a:ext cx="8572500" cy="10096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 rot="19680000">
            <a:off x="523875" y="81915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920000">
            <a:off x="8334375" y="81915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396325532542214119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250" y="1381125"/>
            <a:ext cx="4286250" cy="428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7875" y="2809875"/>
            <a:ext cx="3286125" cy="555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7875" y="3365742"/>
            <a:ext cx="328612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Consultant &amp; Mentor</a:t>
            </a:r>
          </a:p>
        </p:txBody>
      </p:sp>
      <p:sp>
        <p:nvSpPr>
          <p:cNvPr id="12" name="Rectangle 11"/>
          <p:cNvSpPr/>
          <p:nvPr/>
        </p:nvSpPr>
        <p:spPr>
          <a:xfrm rot="21510000">
            <a:off x="5781724" y="3970092"/>
            <a:ext cx="3438525" cy="323850"/>
          </a:xfrm>
          <a:prstGeom prst="rect">
            <a:avLst/>
          </a:prstGeom>
          <a:solidFill>
            <a:srgbClr val="C09D7F">
              <a:alpha val="4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7875" y="3985390"/>
            <a:ext cx="328612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4C3634"/>
                </a:solidFill>
                <a:latin typeface="Montserrat"/>
              </a:rPr>
              <a:t>On the team since 2020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8250" y="5905500"/>
            <a:ext cx="7810500" cy="19050"/>
          </a:xfrm>
          <a:prstGeom prst="rect">
            <a:avLst/>
          </a:prstGeom>
          <a:solidFill>
            <a:srgbClr val="C09D7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636405799600670158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50" y="6143625"/>
            <a:ext cx="4286250" cy="428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57875" y="7572375"/>
            <a:ext cx="3286125" cy="1016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7875" y="8588859"/>
            <a:ext cx="328612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Consultant &amp; Mentor</a:t>
            </a:r>
          </a:p>
        </p:txBody>
      </p:sp>
      <p:sp>
        <p:nvSpPr>
          <p:cNvPr id="18" name="Rectangle 17"/>
          <p:cNvSpPr/>
          <p:nvPr/>
        </p:nvSpPr>
        <p:spPr>
          <a:xfrm rot="21510000">
            <a:off x="5781697" y="9191196"/>
            <a:ext cx="3438525" cy="323850"/>
          </a:xfrm>
          <a:prstGeom prst="rect">
            <a:avLst/>
          </a:prstGeom>
          <a:solidFill>
            <a:srgbClr val="C09D7F">
              <a:alpha val="4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7875" y="9208508"/>
            <a:ext cx="328612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4C3634"/>
                </a:solidFill>
                <a:latin typeface="Montserrat"/>
              </a:rPr>
              <a:t>On the team since ____</a:t>
            </a:r>
          </a:p>
        </p:txBody>
      </p:sp>
      <p:pic>
        <p:nvPicPr>
          <p:cNvPr id="20" name="Picture 19" descr="pressed-four-cu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240000">
            <a:off x="-571500" y="571500"/>
            <a:ext cx="2476500" cy="1650040"/>
          </a:xfrm>
          <a:prstGeom prst="rect">
            <a:avLst/>
          </a:prstGeom>
        </p:spPr>
      </p:pic>
      <p:pic>
        <p:nvPicPr>
          <p:cNvPr id="21" name="Picture 20" descr="foundation-logo-colo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7750" y="11525250"/>
            <a:ext cx="1238250" cy="111325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81000" y="125349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3130"/>
                </a:solidFill>
                <a:latin typeface="Source Sans 3"/>
              </a:rPr>
              <a:t>Pressed flowers: Evie S. and Angèle Kamp on Unsplash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9DA89C"/>
              </a:gs>
              <a:gs pos="100000">
                <a:srgbClr val="C09D7F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white-orange-branch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9620250"/>
            <a:ext cx="4953000" cy="4953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57250" y="952500"/>
            <a:ext cx="8572500" cy="100965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per-g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952500"/>
            <a:ext cx="8572500" cy="10096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 rot="19680000">
            <a:off x="523875" y="81915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920000">
            <a:off x="8334375" y="81915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409922274020776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250" y="1381125"/>
            <a:ext cx="4286250" cy="428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7875" y="2809875"/>
            <a:ext cx="3286125" cy="1016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7875" y="3826359"/>
            <a:ext cx="328612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Permaculture Lead</a:t>
            </a:r>
          </a:p>
        </p:txBody>
      </p:sp>
      <p:sp>
        <p:nvSpPr>
          <p:cNvPr id="12" name="Rectangle 11"/>
          <p:cNvSpPr/>
          <p:nvPr/>
        </p:nvSpPr>
        <p:spPr>
          <a:xfrm rot="21510000">
            <a:off x="5781697" y="4428696"/>
            <a:ext cx="3438525" cy="323850"/>
          </a:xfrm>
          <a:prstGeom prst="rect">
            <a:avLst/>
          </a:prstGeom>
          <a:solidFill>
            <a:srgbClr val="C09D7F">
              <a:alpha val="4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7875" y="4446008"/>
            <a:ext cx="328612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4C3634"/>
                </a:solidFill>
                <a:latin typeface="Montserrat"/>
              </a:rPr>
              <a:t>On the team since ____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8250" y="5905500"/>
            <a:ext cx="7810500" cy="19050"/>
          </a:xfrm>
          <a:prstGeom prst="rect">
            <a:avLst/>
          </a:prstGeom>
          <a:solidFill>
            <a:srgbClr val="C09D7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643467614463950980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50" y="6143625"/>
            <a:ext cx="4286250" cy="428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57875" y="7572375"/>
            <a:ext cx="3286125" cy="555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7875" y="8128242"/>
            <a:ext cx="3286125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Education Department Director &amp; Mentor</a:t>
            </a:r>
          </a:p>
        </p:txBody>
      </p:sp>
      <p:sp>
        <p:nvSpPr>
          <p:cNvPr id="18" name="Rectangle 17"/>
          <p:cNvSpPr/>
          <p:nvPr/>
        </p:nvSpPr>
        <p:spPr>
          <a:xfrm rot="21510000">
            <a:off x="5781697" y="9140676"/>
            <a:ext cx="3438525" cy="323850"/>
          </a:xfrm>
          <a:prstGeom prst="rect">
            <a:avLst/>
          </a:prstGeom>
          <a:solidFill>
            <a:srgbClr val="C09D7F">
              <a:alpha val="4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7875" y="9157988"/>
            <a:ext cx="328612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4C3634"/>
                </a:solidFill>
                <a:latin typeface="Montserrat"/>
              </a:rPr>
              <a:t>On the team since ____</a:t>
            </a:r>
          </a:p>
        </p:txBody>
      </p:sp>
      <p:pic>
        <p:nvPicPr>
          <p:cNvPr id="20" name="Picture 19" descr="pressed-red-fern-cu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720000">
            <a:off x="8191500" y="571500"/>
            <a:ext cx="1905000" cy="2468811"/>
          </a:xfrm>
          <a:prstGeom prst="rect">
            <a:avLst/>
          </a:prstGeom>
        </p:spPr>
      </p:pic>
      <p:pic>
        <p:nvPicPr>
          <p:cNvPr id="21" name="Picture 20" descr="foundation-logo-colo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7750" y="11525250"/>
            <a:ext cx="1238250" cy="111325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81000" y="125349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3130"/>
                </a:solidFill>
                <a:latin typeface="Source Sans 3"/>
              </a:rPr>
              <a:t>Pressed flowers: Evie S. and Angèle Kamp on Unsplash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C09D7F"/>
              </a:gs>
              <a:gs pos="100000">
                <a:srgbClr val="8E705E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white-tithonia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500" y="9525000"/>
            <a:ext cx="4572000" cy="45589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57250" y="952500"/>
            <a:ext cx="8572500" cy="100965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per-g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952500"/>
            <a:ext cx="8572500" cy="10096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 rot="19680000">
            <a:off x="523875" y="81915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920000">
            <a:off x="8334375" y="81915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24835021517535023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250" y="1381125"/>
            <a:ext cx="4286250" cy="428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7875" y="2809875"/>
            <a:ext cx="3286125" cy="555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7875" y="3365742"/>
            <a:ext cx="328612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Consultant &amp; Mentor</a:t>
            </a:r>
          </a:p>
        </p:txBody>
      </p:sp>
      <p:sp>
        <p:nvSpPr>
          <p:cNvPr id="12" name="Rectangle 11"/>
          <p:cNvSpPr/>
          <p:nvPr/>
        </p:nvSpPr>
        <p:spPr>
          <a:xfrm rot="21510000">
            <a:off x="5781697" y="3968078"/>
            <a:ext cx="3438525" cy="323850"/>
          </a:xfrm>
          <a:prstGeom prst="rect">
            <a:avLst/>
          </a:prstGeom>
          <a:solidFill>
            <a:srgbClr val="C09D7F">
              <a:alpha val="4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7875" y="3985390"/>
            <a:ext cx="328612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4C3634"/>
                </a:solidFill>
                <a:latin typeface="Montserrat"/>
              </a:rPr>
              <a:t>On the team since ____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8250" y="5905500"/>
            <a:ext cx="7810500" cy="19050"/>
          </a:xfrm>
          <a:prstGeom prst="rect">
            <a:avLst/>
          </a:prstGeom>
          <a:solidFill>
            <a:srgbClr val="C09D7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860546342452511508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50" y="6143625"/>
            <a:ext cx="4286250" cy="428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57875" y="7572375"/>
            <a:ext cx="3286125" cy="555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7875" y="8128242"/>
            <a:ext cx="328612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Consultant &amp; Mentor</a:t>
            </a:r>
          </a:p>
        </p:txBody>
      </p:sp>
      <p:sp>
        <p:nvSpPr>
          <p:cNvPr id="18" name="Rectangle 17"/>
          <p:cNvSpPr/>
          <p:nvPr/>
        </p:nvSpPr>
        <p:spPr>
          <a:xfrm rot="21510000">
            <a:off x="5781697" y="8730578"/>
            <a:ext cx="3438525" cy="323850"/>
          </a:xfrm>
          <a:prstGeom prst="rect">
            <a:avLst/>
          </a:prstGeom>
          <a:solidFill>
            <a:srgbClr val="C09D7F">
              <a:alpha val="4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7875" y="8747890"/>
            <a:ext cx="328612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4C3634"/>
                </a:solidFill>
                <a:latin typeface="Montserrat"/>
              </a:rPr>
              <a:t>On the team since ____</a:t>
            </a:r>
          </a:p>
        </p:txBody>
      </p:sp>
      <p:pic>
        <p:nvPicPr>
          <p:cNvPr id="20" name="Picture 19" descr="pressed-yellow-cu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000000">
            <a:off x="-381000" y="666750"/>
            <a:ext cx="2190750" cy="1828309"/>
          </a:xfrm>
          <a:prstGeom prst="rect">
            <a:avLst/>
          </a:prstGeom>
        </p:spPr>
      </p:pic>
      <p:pic>
        <p:nvPicPr>
          <p:cNvPr id="21" name="Picture 20" descr="foundation-logo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7750" y="11525250"/>
            <a:ext cx="1238250" cy="111325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81000" y="125349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3130"/>
                </a:solidFill>
                <a:latin typeface="Source Sans 3"/>
              </a:rPr>
              <a:t>Pressed flowers: Evie S. and Angèle Kamp on Unsplash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8E705E"/>
              </a:gs>
              <a:gs pos="100000">
                <a:srgbClr val="6A4E45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white-mushroom-clust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6500" y="10096500"/>
            <a:ext cx="4381500" cy="43721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57250" y="952500"/>
            <a:ext cx="8572500" cy="100965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per-g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952500"/>
            <a:ext cx="8572500" cy="10096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 rot="19680000">
            <a:off x="523875" y="81915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920000">
            <a:off x="8334375" y="81915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825691933138626875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250" y="1381125"/>
            <a:ext cx="4286250" cy="428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7875" y="2809875"/>
            <a:ext cx="3286125" cy="555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7875" y="3365742"/>
            <a:ext cx="328612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Advanced Programs Lead</a:t>
            </a:r>
          </a:p>
        </p:txBody>
      </p:sp>
      <p:sp>
        <p:nvSpPr>
          <p:cNvPr id="12" name="Rectangle 11"/>
          <p:cNvSpPr/>
          <p:nvPr/>
        </p:nvSpPr>
        <p:spPr>
          <a:xfrm rot="21510000">
            <a:off x="5781712" y="3969187"/>
            <a:ext cx="3438525" cy="323850"/>
          </a:xfrm>
          <a:prstGeom prst="rect">
            <a:avLst/>
          </a:prstGeom>
          <a:solidFill>
            <a:srgbClr val="C09D7F">
              <a:alpha val="4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7875" y="3985390"/>
            <a:ext cx="328612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4C3634"/>
                </a:solidFill>
                <a:latin typeface="Montserrat"/>
              </a:rPr>
              <a:t>On the team since 2019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8250" y="5905500"/>
            <a:ext cx="7810500" cy="19050"/>
          </a:xfrm>
          <a:prstGeom prst="rect">
            <a:avLst/>
          </a:prstGeom>
          <a:solidFill>
            <a:srgbClr val="C09D7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623245400828360349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8250" y="6143625"/>
            <a:ext cx="4286250" cy="428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57875" y="7572375"/>
            <a:ext cx="3286125" cy="555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7875" y="8128242"/>
            <a:ext cx="328612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Consultant &amp; Mentor</a:t>
            </a:r>
          </a:p>
        </p:txBody>
      </p:sp>
      <p:sp>
        <p:nvSpPr>
          <p:cNvPr id="18" name="Rectangle 17"/>
          <p:cNvSpPr/>
          <p:nvPr/>
        </p:nvSpPr>
        <p:spPr>
          <a:xfrm rot="21510000">
            <a:off x="5781697" y="8730578"/>
            <a:ext cx="3438525" cy="323850"/>
          </a:xfrm>
          <a:prstGeom prst="rect">
            <a:avLst/>
          </a:prstGeom>
          <a:solidFill>
            <a:srgbClr val="C09D7F">
              <a:alpha val="4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7875" y="8747890"/>
            <a:ext cx="328612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4C3634"/>
                </a:solidFill>
                <a:latin typeface="Montserrat"/>
              </a:rPr>
              <a:t>On the team since ____</a:t>
            </a:r>
          </a:p>
        </p:txBody>
      </p:sp>
      <p:pic>
        <p:nvPicPr>
          <p:cNvPr id="20" name="Picture 19" descr="pressed-sprig-cu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480000">
            <a:off x="7905750" y="666750"/>
            <a:ext cx="2190750" cy="1723729"/>
          </a:xfrm>
          <a:prstGeom prst="rect">
            <a:avLst/>
          </a:prstGeom>
        </p:spPr>
      </p:pic>
      <p:pic>
        <p:nvPicPr>
          <p:cNvPr id="21" name="Picture 20" descr="foundation-logo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7750" y="11525250"/>
            <a:ext cx="1238250" cy="111325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81000" y="125349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3F1EA"/>
                </a:solidFill>
                <a:latin typeface="Source Sans 3"/>
              </a:rPr>
              <a:t>Pressed flowers: Evie S. and Angèle Kamp on Unsplash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6A4E45"/>
              </a:gs>
              <a:gs pos="100000">
                <a:srgbClr val="4C3634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ckground-g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white-seedling-root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9334500"/>
            <a:ext cx="4953000" cy="4953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81000" y="857250"/>
            <a:ext cx="9525000" cy="1114425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per-g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857250"/>
            <a:ext cx="9525000" cy="11144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 rot="19680000">
            <a:off x="47625" y="72390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920000">
            <a:off x="8810625" y="723900"/>
            <a:ext cx="1428750" cy="419100"/>
          </a:xfrm>
          <a:prstGeom prst="rect">
            <a:avLst/>
          </a:prstGeom>
          <a:solidFill>
            <a:srgbClr val="DCE5C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1371600"/>
            <a:ext cx="41148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10" name="Picture 9" descr="foundation-logo-col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" y="2544341"/>
            <a:ext cx="1238250" cy="1113258"/>
          </a:xfrm>
          <a:prstGeom prst="rect">
            <a:avLst/>
          </a:prstGeom>
        </p:spPr>
      </p:pic>
      <p:pic>
        <p:nvPicPr>
          <p:cNvPr id="11" name="Picture 10" descr="635620311394349799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0650" y="1333500"/>
            <a:ext cx="2000250" cy="20002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00650" y="3381375"/>
            <a:ext cx="200025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Delvin Solkinson</a:t>
            </a:r>
          </a:p>
        </p:txBody>
      </p:sp>
      <p:pic>
        <p:nvPicPr>
          <p:cNvPr id="13" name="Picture 12" descr="309038693820809386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0" y="1333500"/>
            <a:ext cx="2000250" cy="20002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3381375"/>
            <a:ext cx="200025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Brian Daubenspeck</a:t>
            </a:r>
          </a:p>
        </p:txBody>
      </p:sp>
      <p:pic>
        <p:nvPicPr>
          <p:cNvPr id="15" name="Picture 14" descr="2356501917686710649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1550" y="3771900"/>
            <a:ext cx="2000250" cy="2000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71550" y="5819775"/>
            <a:ext cx="200025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Elena Kalli</a:t>
            </a:r>
          </a:p>
        </p:txBody>
      </p:sp>
      <p:pic>
        <p:nvPicPr>
          <p:cNvPr id="17" name="Picture 16" descr="317000222161092773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86100" y="3771900"/>
            <a:ext cx="2000250" cy="20002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86100" y="5819775"/>
            <a:ext cx="200025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Nick Padwick</a:t>
            </a:r>
          </a:p>
        </p:txBody>
      </p:sp>
      <p:pic>
        <p:nvPicPr>
          <p:cNvPr id="19" name="Picture 18" descr="768608267775621985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00650" y="3771900"/>
            <a:ext cx="2000250" cy="2000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00650" y="5819775"/>
            <a:ext cx="200025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Carla Portugal</a:t>
            </a:r>
          </a:p>
        </p:txBody>
      </p:sp>
      <p:pic>
        <p:nvPicPr>
          <p:cNvPr id="21" name="Picture 20" descr="124819068976416322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15200" y="3771900"/>
            <a:ext cx="2000250" cy="20002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15200" y="5819775"/>
            <a:ext cx="200025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Gerald Ramírez</a:t>
            </a:r>
          </a:p>
        </p:txBody>
      </p:sp>
      <p:pic>
        <p:nvPicPr>
          <p:cNvPr id="23" name="Picture 22" descr="2168302792883236909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1550" y="6210300"/>
            <a:ext cx="2000250" cy="20002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1550" y="8258175"/>
            <a:ext cx="200025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Wesley Sander</a:t>
            </a:r>
          </a:p>
        </p:txBody>
      </p:sp>
      <p:pic>
        <p:nvPicPr>
          <p:cNvPr id="25" name="Picture 24" descr="274748479496385471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86100" y="6210300"/>
            <a:ext cx="2000250" cy="20002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086100" y="8258175"/>
            <a:ext cx="200025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Isadora Schmidt</a:t>
            </a:r>
          </a:p>
        </p:txBody>
      </p:sp>
      <p:pic>
        <p:nvPicPr>
          <p:cNvPr id="27" name="Picture 26" descr="93040164437857241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00650" y="6210300"/>
            <a:ext cx="2000250" cy="20002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00650" y="8258175"/>
            <a:ext cx="200025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Ib Borup Pedersen</a:t>
            </a:r>
          </a:p>
        </p:txBody>
      </p:sp>
      <p:pic>
        <p:nvPicPr>
          <p:cNvPr id="29" name="Picture 28" descr="7632658783972937898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15200" y="6210300"/>
            <a:ext cx="2000250" cy="20002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315200" y="8258175"/>
            <a:ext cx="200025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Tommy Tepper</a:t>
            </a:r>
          </a:p>
        </p:txBody>
      </p:sp>
      <p:pic>
        <p:nvPicPr>
          <p:cNvPr id="31" name="Picture 30" descr="7518819428308931648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1550" y="8648700"/>
            <a:ext cx="2000250" cy="20002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71550" y="10696575"/>
            <a:ext cx="200025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Dora Tkalec</a:t>
            </a:r>
          </a:p>
        </p:txBody>
      </p:sp>
      <p:pic>
        <p:nvPicPr>
          <p:cNvPr id="33" name="Picture 32" descr="6810510891986210800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086100" y="8648700"/>
            <a:ext cx="2000250" cy="20002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086100" y="10696575"/>
            <a:ext cx="200025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Ayşen Üstünay</a:t>
            </a:r>
          </a:p>
        </p:txBody>
      </p:sp>
      <p:pic>
        <p:nvPicPr>
          <p:cNvPr id="35" name="Picture 34" descr="7560721705426153309.jp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200650" y="8648700"/>
            <a:ext cx="2000250" cy="20002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200650" y="10696575"/>
            <a:ext cx="200025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Loida Vasquez</a:t>
            </a:r>
          </a:p>
        </p:txBody>
      </p:sp>
      <p:pic>
        <p:nvPicPr>
          <p:cNvPr id="37" name="Picture 36" descr="5592017772705580540.jp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315200" y="8648700"/>
            <a:ext cx="2000250" cy="20002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315200" y="10696575"/>
            <a:ext cx="200025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Casey Williams</a:t>
            </a:r>
          </a:p>
        </p:txBody>
      </p:sp>
      <p:pic>
        <p:nvPicPr>
          <p:cNvPr id="39" name="Picture 38" descr="pressed-sprig-cut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 rot="600000">
            <a:off x="8001000" y="285750"/>
            <a:ext cx="2095500" cy="164878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81000" y="125349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3F1EA"/>
                </a:solidFill>
                <a:latin typeface="Source Sans 3"/>
              </a:rPr>
              <a:t>Pressed flowers: Evie S. on Unsplash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658216237396510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4C3634">
                  <a:alpha val="92000"/>
                </a:srgbClr>
              </a:gs>
              <a:gs pos="100000">
                <a:srgbClr val="4C3634">
                  <a:alpha val="35000"/>
                </a:srgbClr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ckground-g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5" name="Picture 4" descr="white-mushroom-clust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571500"/>
            <a:ext cx="4000500" cy="3991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2190750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F3F1EA"/>
                </a:solidFill>
                <a:latin typeface="Montserrat"/>
              </a:rPr>
              <a:t>OCTOBER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762250"/>
            <a:ext cx="8763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 i="0">
                <a:solidFill>
                  <a:srgbClr val="F3F1EA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5715000"/>
            <a:ext cx="3048000" cy="2740328"/>
          </a:xfrm>
          <a:prstGeom prst="rect">
            <a:avLst/>
          </a:prstGeom>
        </p:spPr>
      </p:pic>
      <p:pic>
        <p:nvPicPr>
          <p:cNvPr id="9" name="Picture 8" descr="white-seedling-roots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571500" y="8572500"/>
            <a:ext cx="4953000" cy="4953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0" y="11430000"/>
            <a:ext cx="10287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>
                <a:solidFill>
                  <a:srgbClr val="F3F1EA"/>
                </a:solidFill>
                <a:latin typeface="Montserrat"/>
              </a:rPr>
              <a:t>soilfoodweb.com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125349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3F1EA"/>
                </a:solidFill>
                <a:latin typeface="Source Sans 3"/>
              </a:rPr>
              <a:t>Dried flowers: Katsia Jazwinska on Unsplash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