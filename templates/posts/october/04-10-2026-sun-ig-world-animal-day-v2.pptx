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0287000" cy="1285875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Sources: Soil Food Web School, Compost Manual: [LINK FROM CARLA]. Soil Food Web School, BioComplete Compost, Lecture 4: Thermophilic Composting (Part 2): https://pt.soilfoodweb.com/?p=2067. Miller et al. (2015). Ascariasis in humans and pigs on small-scale farms, Maine, USA, 2010 to 2013. Emerging Infectious Diseases, 21(2): https://doi.org/10.3201/eid2102.140048. USDA NRCS and Fairbanks Soil and Water Conservation District (2005). Composting Dog Waste: https://www.epa.gov/system/files/documents/2022-11/Composting-Dog-Waste-Booklet-Alaska.pdf. CDC (2025). About Toxoplasmosis: https://www.cdc.gov/toxoplasmosis/about/index.html. Course: https://school.soilfoodweb.com/bundles/advanced-biocomplete-compost-production Photo cow.jpg: Diana Shchurova on Unsplash, https://unsplash.com/photos/a-brown-and-white-cow-standing-on-top-of-a-grass-covered-field-tDRZNFrz9yA.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Feedstocks, text.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Feedstocks, the recipe as one bar (widths 10, 30, 60 percent). Icons: assets/icons/.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Plant-eaters and poultry. Photo rabbit.jpg: Adrian Pereira on Unsplash, https://unsplash.com/photos/brown-hare-on-grass-field-cIH81koe-ao. Photo goat.jpg: Maxime Agnelli on Unsplash, https://unsplash.com/photos/selective-focus-photography-of-brown-goat-during-daytime-bhD6TGRjnWc. Photo sheep.jpg: Sam Carter on Unsplash, https://unsplash.com/photos/white-sheep-on-green-grass-during-daytime-GHOiyov2TSQ. Photo alpaca.jpg: Maksim Samuilionak on Unsplash, https://unsplash.com/photos/a-close-up-of-a-fluffy-alpacas-head-DyABRVYb4b8. Photo guinea-pig.jpg: Jack Catalano on Unsplash, https://unsplash.com/photos/brown-and-white-guinea-pig-eating-carrot-q1pw1dOW0_0. Photo horse.jpg: Roger Starnes Sr on Unsplash, https://unsplash.com/photos/a-brown-horse-grazes-peacefully-in-a-sunny-green-field-3w1VfQHm_Lc. Photo cow.jpg: Diana Shchurova on Unsplash, https://unsplash.com/photos/a-brown-and-white-cow-standing-on-top-of-a-grass-covered-field-tDRZNFrz9yA. Photo chicken.jpg: sippakorn yamkasikorn on Unsplash, https://unsplash.com/photos/white-and-brown-chicken-on-green-grass-field-during-daytime-wWIK8hnESnY.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Pig. Photo pig.jpg: Pauline Bernfeld on Unsplash, https://unsplash.com/photos/black-pig-in-blue-wooden-cage-S99OqS453go.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Dog and cat, part 1. Photo dog.jpg: iridial on Unsplash, https://unsplash.com/photos/border-collie-lying-in-green-grass-GmgYWfGTWPA.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Dog and cat, part 2. Photo cat.jpg: Sean Foster on Unsplash, https://unsplash.com/photos/an-orange-cat-laying-on-top-of-a-wooden-floor-19eq09rpv-M.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or hot, part 1. Photo compost-2.jpg: Edward Howell on Unsplash, https://unsplash.com/photos/dried-leaves-on-ground-beside-wooden-fence-v7G32kVgM84.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or hot, part 2. Thermometer icon: assets/icons/. Photo compost-4.jpg: Frank Thiemonge on Unsplash, https://unsplash.com/photos/a-couple-of-wooden-boxes-filled-with-dirt-GXEPGA3k7N0.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Course: https://school.soilfoodweb.com/bundles/advanced-biocomplete-compost-production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image" Target="../media/image9.jpg"/><Relationship Id="rId7" Type="http://schemas.openxmlformats.org/officeDocument/2006/relationships/image" Target="../media/image10.jpg"/><Relationship Id="rId8" Type="http://schemas.openxmlformats.org/officeDocument/2006/relationships/image" Target="../media/image11.jpg"/><Relationship Id="rId9" Type="http://schemas.openxmlformats.org/officeDocument/2006/relationships/image" Target="../media/image12.jpg"/><Relationship Id="rId10" Type="http://schemas.openxmlformats.org/officeDocument/2006/relationships/image" Target="../media/image13.jpg"/><Relationship Id="rId11" Type="http://schemas.openxmlformats.org/officeDocument/2006/relationships/image" Target="../media/image14.png"/><Relationship Id="rId1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5.jpg"/><Relationship Id="rId4" Type="http://schemas.openxmlformats.org/officeDocument/2006/relationships/image" Target="../media/image16.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7.jpg"/><Relationship Id="rId4" Type="http://schemas.openxmlformats.org/officeDocument/2006/relationships/image" Target="../media/image18.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9.jpg"/><Relationship Id="rId4" Type="http://schemas.openxmlformats.org/officeDocument/2006/relationships/image" Target="../media/image18.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0.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1.jpg"/><Relationship Id="rId4" Type="http://schemas.openxmlformats.org/officeDocument/2006/relationships/image" Target="../media/image22.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549106575680551216.jpg"/>
          <p:cNvPicPr>
            <a:picLocks noChangeAspect="1"/>
          </p:cNvPicPr>
          <p:nvPr/>
        </p:nvPicPr>
        <p:blipFill>
          <a:blip r:embed="rId3"/>
          <a:stretch>
            <a:fillRect/>
          </a:stretch>
        </p:blipFill>
        <p:spPr>
          <a:xfrm>
            <a:off x="0" y="0"/>
            <a:ext cx="10287000" cy="12858750"/>
          </a:xfrm>
          <a:prstGeom prst="rect">
            <a:avLst/>
          </a:prstGeom>
        </p:spPr>
      </p:pic>
      <p:sp>
        <p:nvSpPr>
          <p:cNvPr id="3" name="Rectangle 2"/>
          <p:cNvSpPr/>
          <p:nvPr/>
        </p:nvSpPr>
        <p:spPr>
          <a:xfrm>
            <a:off x="0" y="6429375"/>
            <a:ext cx="10287000" cy="6429375"/>
          </a:xfrm>
          <a:prstGeom prst="rect">
            <a:avLst/>
          </a:prstGeom>
          <a:solidFill>
            <a:srgbClr val="22371F">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7000875"/>
            <a:ext cx="8763000" cy="3333750"/>
          </a:xfrm>
          <a:prstGeom prst="rect">
            <a:avLst/>
          </a:prstGeom>
          <a:noFill/>
        </p:spPr>
        <p:txBody>
          <a:bodyPr wrap="square" lIns="0" rIns="0" tIns="0" bIns="0" anchor="t">
            <a:spAutoFit/>
          </a:bodyPr>
          <a:lstStyle/>
          <a:p>
            <a:pPr algn="l">
              <a:lnSpc>
                <a:spcPct val="102000"/>
              </a:lnSpc>
            </a:pPr>
            <a:r>
              <a:rPr sz="8000" b="1" i="0">
                <a:solidFill>
                  <a:srgbClr val="F4F1EA"/>
                </a:solidFill>
                <a:latin typeface="Montserrat"/>
              </a:rPr>
              <a:t>Whose manure belongs in your compost?</a:t>
            </a:r>
          </a:p>
        </p:txBody>
      </p:sp>
      <p:sp>
        <p:nvSpPr>
          <p:cNvPr id="5" name="TextBox 4"/>
          <p:cNvSpPr txBox="1"/>
          <p:nvPr/>
        </p:nvSpPr>
        <p:spPr>
          <a:xfrm>
            <a:off x="762000" y="10858500"/>
            <a:ext cx="8763000" cy="476250"/>
          </a:xfrm>
          <a:prstGeom prst="rect">
            <a:avLst/>
          </a:prstGeom>
          <a:noFill/>
        </p:spPr>
        <p:txBody>
          <a:bodyPr wrap="square" lIns="0" rIns="0" tIns="0" bIns="0" anchor="t">
            <a:spAutoFit/>
          </a:bodyPr>
          <a:lstStyle/>
          <a:p>
            <a:pPr algn="l">
              <a:lnSpc>
                <a:spcPct val="120000"/>
              </a:lnSpc>
            </a:pPr>
            <a:r>
              <a:rPr sz="3000" b="0" i="0">
                <a:solidFill>
                  <a:srgbClr val="F4F1EA"/>
                </a:solidFill>
                <a:latin typeface="Source Sans 3"/>
              </a:rPr>
              <a:t>Happy World Animal Day, October 4.</a:t>
            </a:r>
          </a:p>
        </p:txBody>
      </p:sp>
      <p:sp>
        <p:nvSpPr>
          <p:cNvPr id="6" name="TextBox 5"/>
          <p:cNvSpPr txBox="1"/>
          <p:nvPr/>
        </p:nvSpPr>
        <p:spPr>
          <a:xfrm>
            <a:off x="762000" y="12458700"/>
            <a:ext cx="8763000" cy="228600"/>
          </a:xfrm>
          <a:prstGeom prst="rect">
            <a:avLst/>
          </a:prstGeom>
          <a:noFill/>
        </p:spPr>
        <p:txBody>
          <a:bodyPr wrap="square" lIns="0" rIns="0" tIns="0" bIns="0" anchor="t">
            <a:spAutoFit/>
          </a:bodyPr>
          <a:lstStyle/>
          <a:p>
            <a:pPr algn="l">
              <a:lnSpc>
                <a:spcPct val="120000"/>
              </a:lnSpc>
            </a:pPr>
            <a:r>
              <a:rPr sz="1400" b="0" i="0">
                <a:solidFill>
                  <a:srgbClr val="F4F1EA">
                    <a:alpha val="75000"/>
                  </a:srgbClr>
                </a:solidFill>
                <a:latin typeface="Source Sans 3"/>
              </a:rPr>
              <a:t>Photo: Diana Shchurova on Unsplash</a:t>
            </a:r>
          </a:p>
        </p:txBody>
      </p:sp>
      <p:pic>
        <p:nvPicPr>
          <p:cNvPr id="7" name="Picture 6" descr="foundation-logo-white.png"/>
          <p:cNvPicPr>
            <a:picLocks noChangeAspect="1"/>
          </p:cNvPicPr>
          <p:nvPr/>
        </p:nvPicPr>
        <p:blipFill>
          <a:blip r:embed="rId4"/>
          <a:stretch>
            <a:fillRect/>
          </a:stretch>
        </p:blipFill>
        <p:spPr>
          <a:xfrm>
            <a:off x="8667750" y="11326032"/>
            <a:ext cx="857250" cy="77071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2371F"/>
        </a:solidFill>
        <a:effectLst/>
      </p:bgPr>
    </p:bg>
    <p:spTree>
      <p:nvGrpSpPr>
        <p:cNvPr id="1" name=""/>
        <p:cNvGrpSpPr/>
        <p:nvPr/>
      </p:nvGrpSpPr>
      <p:grpSpPr/>
      <p:pic>
        <p:nvPicPr>
          <p:cNvPr id="2" name="Picture 1" descr="icon-manure-fork-cream.png"/>
          <p:cNvPicPr>
            <a:picLocks noChangeAspect="1"/>
          </p:cNvPicPr>
          <p:nvPr/>
        </p:nvPicPr>
        <p:blipFill>
          <a:blip r:embed="rId3"/>
          <a:stretch>
            <a:fillRect/>
          </a:stretch>
        </p:blipFill>
        <p:spPr>
          <a:xfrm>
            <a:off x="762000" y="1428750"/>
            <a:ext cx="1426156" cy="1428750"/>
          </a:xfrm>
          <a:prstGeom prst="rect">
            <a:avLst/>
          </a:prstGeom>
        </p:spPr>
      </p:pic>
      <p:sp>
        <p:nvSpPr>
          <p:cNvPr id="3" name="TextBox 2"/>
          <p:cNvSpPr txBox="1"/>
          <p:nvPr/>
        </p:nvSpPr>
        <p:spPr>
          <a:xfrm>
            <a:off x="762000" y="3429000"/>
            <a:ext cx="8763000" cy="2709606"/>
          </a:xfrm>
          <a:prstGeom prst="rect">
            <a:avLst/>
          </a:prstGeom>
          <a:noFill/>
        </p:spPr>
        <p:txBody>
          <a:bodyPr wrap="square" lIns="0" rIns="0" tIns="0" bIns="0" anchor="t">
            <a:spAutoFit/>
          </a:bodyPr>
          <a:lstStyle/>
          <a:p>
            <a:pPr algn="l">
              <a:lnSpc>
                <a:spcPct val="105000"/>
              </a:lnSpc>
            </a:pPr>
            <a:r>
              <a:rPr sz="6400" b="1" i="0">
                <a:solidFill>
                  <a:srgbClr val="F4F1EA"/>
                </a:solidFill>
                <a:latin typeface="Montserrat"/>
              </a:rPr>
              <a:t>Manure: a high-nitrogen feedstock</a:t>
            </a:r>
          </a:p>
        </p:txBody>
      </p:sp>
      <p:sp>
        <p:nvSpPr>
          <p:cNvPr id="4" name="TextBox 3"/>
          <p:cNvSpPr txBox="1"/>
          <p:nvPr/>
        </p:nvSpPr>
        <p:spPr>
          <a:xfrm>
            <a:off x="762000" y="6424356"/>
            <a:ext cx="8763000" cy="4321704"/>
          </a:xfrm>
          <a:prstGeom prst="rect">
            <a:avLst/>
          </a:prstGeom>
          <a:noFill/>
        </p:spPr>
        <p:txBody>
          <a:bodyPr wrap="square" lIns="0" rIns="0" tIns="0" bIns="0" anchor="t">
            <a:spAutoFit/>
          </a:bodyPr>
          <a:lstStyle/>
          <a:p>
            <a:pPr algn="l">
              <a:lnSpc>
                <a:spcPct val="130000"/>
              </a:lnSpc>
            </a:pPr>
            <a:r>
              <a:rPr sz="3200" b="0" i="0">
                <a:solidFill>
                  <a:srgbClr val="F4F1EA"/>
                </a:solidFill>
                <a:latin typeface="Source Sans 3"/>
              </a:rPr>
              <a:t>A Soil Food Web thermophilic compost recipe combines three feedstocks: high-nitrogen material such as manure (about 10% in summer), green plant material (about 30%) and woody material (about 60%). Bedding, such as straw or wood shavings, counts toward the woody share.</a:t>
            </a:r>
          </a:p>
        </p:txBody>
      </p:sp>
      <p:sp>
        <p:nvSpPr>
          <p:cNvPr id="5" name="TextBox 4"/>
          <p:cNvSpPr txBox="1"/>
          <p:nvPr/>
        </p:nvSpPr>
        <p:spPr>
          <a:xfrm>
            <a:off x="762000" y="12192000"/>
            <a:ext cx="7429500" cy="228600"/>
          </a:xfrm>
          <a:prstGeom prst="rect">
            <a:avLst/>
          </a:prstGeom>
          <a:noFill/>
        </p:spPr>
        <p:txBody>
          <a:bodyPr wrap="square" lIns="0" rIns="0" tIns="0" bIns="0" anchor="t">
            <a:spAutoFit/>
          </a:bodyPr>
          <a:lstStyle/>
          <a:p>
            <a:pPr algn="l">
              <a:lnSpc>
                <a:spcPct val="120000"/>
              </a:lnSpc>
            </a:pPr>
            <a:r>
              <a:rPr sz="1400" b="0" i="0">
                <a:solidFill>
                  <a:srgbClr val="F4F1EA">
                    <a:alpha val="70000"/>
                  </a:srgbClr>
                </a:solidFill>
                <a:latin typeface="Source Sans 3"/>
              </a:rPr>
              <a:t>Soil Food Web School, BioComplete Compost, Lecture 4</a:t>
            </a:r>
          </a:p>
        </p:txBody>
      </p:sp>
      <p:pic>
        <p:nvPicPr>
          <p:cNvPr id="6" name="Picture 5" descr="foundation-logo-white.png"/>
          <p:cNvPicPr>
            <a:picLocks noChangeAspect="1"/>
          </p:cNvPicPr>
          <p:nvPr/>
        </p:nvPicPr>
        <p:blipFill>
          <a:blip r:embed="rId4"/>
          <a:stretch>
            <a:fillRect/>
          </a:stretch>
        </p:blipFill>
        <p:spPr>
          <a:xfrm>
            <a:off x="8667750" y="11516532"/>
            <a:ext cx="857250" cy="770717"/>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2371F"/>
        </a:solidFill>
        <a:effectLst/>
      </p:bgPr>
    </p:bg>
    <p:spTree>
      <p:nvGrpSpPr>
        <p:cNvPr id="1" name=""/>
        <p:cNvGrpSpPr/>
        <p:nvPr/>
      </p:nvGrpSpPr>
      <p:grpSpPr/>
      <p:pic>
        <p:nvPicPr>
          <p:cNvPr id="2" name="Picture 1" descr="icon-manure-fork-cream.png"/>
          <p:cNvPicPr>
            <a:picLocks noChangeAspect="1"/>
          </p:cNvPicPr>
          <p:nvPr/>
        </p:nvPicPr>
        <p:blipFill>
          <a:blip r:embed="rId3"/>
          <a:stretch>
            <a:fillRect/>
          </a:stretch>
        </p:blipFill>
        <p:spPr>
          <a:xfrm>
            <a:off x="762000" y="1619250"/>
            <a:ext cx="1045848" cy="1047750"/>
          </a:xfrm>
          <a:prstGeom prst="rect">
            <a:avLst/>
          </a:prstGeom>
        </p:spPr>
      </p:pic>
      <p:sp>
        <p:nvSpPr>
          <p:cNvPr id="3" name="TextBox 2"/>
          <p:cNvSpPr txBox="1"/>
          <p:nvPr/>
        </p:nvSpPr>
        <p:spPr>
          <a:xfrm>
            <a:off x="2667000" y="1809750"/>
            <a:ext cx="6858000" cy="666750"/>
          </a:xfrm>
          <a:prstGeom prst="rect">
            <a:avLst/>
          </a:prstGeom>
          <a:noFill/>
        </p:spPr>
        <p:txBody>
          <a:bodyPr wrap="square" lIns="0" rIns="0" tIns="0" bIns="0" anchor="ctr">
            <a:spAutoFit/>
          </a:bodyPr>
          <a:lstStyle/>
          <a:p>
            <a:pPr algn="l">
              <a:lnSpc>
                <a:spcPct val="120000"/>
              </a:lnSpc>
            </a:pPr>
            <a:r>
              <a:rPr sz="4000" b="1" i="0">
                <a:solidFill>
                  <a:srgbClr val="F4F1EA"/>
                </a:solidFill>
                <a:latin typeface="Montserrat"/>
              </a:rPr>
              <a:t>High nitrogen, 10%</a:t>
            </a:r>
          </a:p>
        </p:txBody>
      </p:sp>
      <p:sp>
        <p:nvSpPr>
          <p:cNvPr id="4" name="Rectangle 3"/>
          <p:cNvSpPr/>
          <p:nvPr/>
        </p:nvSpPr>
        <p:spPr>
          <a:xfrm>
            <a:off x="762000" y="3048000"/>
            <a:ext cx="8763000" cy="323850"/>
          </a:xfrm>
          <a:prstGeom prst="rect">
            <a:avLst/>
          </a:prstGeom>
          <a:solidFill>
            <a:srgbClr val="F4F1EA">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3048000"/>
            <a:ext cx="876300" cy="32385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con-leaf-cream.png"/>
          <p:cNvPicPr>
            <a:picLocks noChangeAspect="1"/>
          </p:cNvPicPr>
          <p:nvPr/>
        </p:nvPicPr>
        <p:blipFill>
          <a:blip r:embed="rId4"/>
          <a:stretch>
            <a:fillRect/>
          </a:stretch>
        </p:blipFill>
        <p:spPr>
          <a:xfrm>
            <a:off x="762000" y="4476750"/>
            <a:ext cx="771260" cy="1047750"/>
          </a:xfrm>
          <a:prstGeom prst="rect">
            <a:avLst/>
          </a:prstGeom>
        </p:spPr>
      </p:pic>
      <p:sp>
        <p:nvSpPr>
          <p:cNvPr id="7" name="TextBox 6"/>
          <p:cNvSpPr txBox="1"/>
          <p:nvPr/>
        </p:nvSpPr>
        <p:spPr>
          <a:xfrm>
            <a:off x="2667000" y="4667250"/>
            <a:ext cx="6858000" cy="666750"/>
          </a:xfrm>
          <a:prstGeom prst="rect">
            <a:avLst/>
          </a:prstGeom>
          <a:noFill/>
        </p:spPr>
        <p:txBody>
          <a:bodyPr wrap="square" lIns="0" rIns="0" tIns="0" bIns="0" anchor="ctr">
            <a:spAutoFit/>
          </a:bodyPr>
          <a:lstStyle/>
          <a:p>
            <a:pPr algn="l">
              <a:lnSpc>
                <a:spcPct val="120000"/>
              </a:lnSpc>
            </a:pPr>
            <a:r>
              <a:rPr sz="4000" b="1" i="0">
                <a:solidFill>
                  <a:srgbClr val="F4F1EA"/>
                </a:solidFill>
                <a:latin typeface="Montserrat"/>
              </a:rPr>
              <a:t>Green, 30%</a:t>
            </a:r>
          </a:p>
        </p:txBody>
      </p:sp>
      <p:sp>
        <p:nvSpPr>
          <p:cNvPr id="8" name="Rectangle 7"/>
          <p:cNvSpPr/>
          <p:nvPr/>
        </p:nvSpPr>
        <p:spPr>
          <a:xfrm>
            <a:off x="762000" y="5905500"/>
            <a:ext cx="8763000" cy="323850"/>
          </a:xfrm>
          <a:prstGeom prst="rect">
            <a:avLst/>
          </a:prstGeom>
          <a:solidFill>
            <a:srgbClr val="F4F1EA">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2000" y="5905500"/>
            <a:ext cx="2628900" cy="323850"/>
          </a:xfrm>
          <a:prstGeom prst="rect">
            <a:avLst/>
          </a:prstGeom>
          <a:solidFill>
            <a:srgbClr val="156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on-wood-log-cream.png"/>
          <p:cNvPicPr>
            <a:picLocks noChangeAspect="1"/>
          </p:cNvPicPr>
          <p:nvPr/>
        </p:nvPicPr>
        <p:blipFill>
          <a:blip r:embed="rId5"/>
          <a:stretch>
            <a:fillRect/>
          </a:stretch>
        </p:blipFill>
        <p:spPr>
          <a:xfrm>
            <a:off x="762000" y="7334250"/>
            <a:ext cx="1682102" cy="1047750"/>
          </a:xfrm>
          <a:prstGeom prst="rect">
            <a:avLst/>
          </a:prstGeom>
        </p:spPr>
      </p:pic>
      <p:sp>
        <p:nvSpPr>
          <p:cNvPr id="11" name="TextBox 10"/>
          <p:cNvSpPr txBox="1"/>
          <p:nvPr/>
        </p:nvSpPr>
        <p:spPr>
          <a:xfrm>
            <a:off x="2667000" y="7524750"/>
            <a:ext cx="6858000" cy="666750"/>
          </a:xfrm>
          <a:prstGeom prst="rect">
            <a:avLst/>
          </a:prstGeom>
          <a:noFill/>
        </p:spPr>
        <p:txBody>
          <a:bodyPr wrap="square" lIns="0" rIns="0" tIns="0" bIns="0" anchor="ctr">
            <a:spAutoFit/>
          </a:bodyPr>
          <a:lstStyle/>
          <a:p>
            <a:pPr algn="l">
              <a:lnSpc>
                <a:spcPct val="120000"/>
              </a:lnSpc>
            </a:pPr>
            <a:r>
              <a:rPr sz="4000" b="1" i="0">
                <a:solidFill>
                  <a:srgbClr val="F4F1EA"/>
                </a:solidFill>
                <a:latin typeface="Montserrat"/>
              </a:rPr>
              <a:t>Woody, 60%</a:t>
            </a:r>
          </a:p>
        </p:txBody>
      </p:sp>
      <p:sp>
        <p:nvSpPr>
          <p:cNvPr id="12" name="Rectangle 11"/>
          <p:cNvSpPr/>
          <p:nvPr/>
        </p:nvSpPr>
        <p:spPr>
          <a:xfrm>
            <a:off x="762000" y="8763000"/>
            <a:ext cx="8763000" cy="323850"/>
          </a:xfrm>
          <a:prstGeom prst="rect">
            <a:avLst/>
          </a:prstGeom>
          <a:solidFill>
            <a:srgbClr val="F4F1EA">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2000" y="8763000"/>
            <a:ext cx="5257800" cy="32385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12192000"/>
            <a:ext cx="7429500" cy="228600"/>
          </a:xfrm>
          <a:prstGeom prst="rect">
            <a:avLst/>
          </a:prstGeom>
          <a:noFill/>
        </p:spPr>
        <p:txBody>
          <a:bodyPr wrap="square" lIns="0" rIns="0" tIns="0" bIns="0" anchor="t">
            <a:spAutoFit/>
          </a:bodyPr>
          <a:lstStyle/>
          <a:p>
            <a:pPr algn="l">
              <a:lnSpc>
                <a:spcPct val="120000"/>
              </a:lnSpc>
            </a:pPr>
            <a:r>
              <a:rPr sz="1400" b="0" i="0">
                <a:solidFill>
                  <a:srgbClr val="F4F1EA">
                    <a:alpha val="70000"/>
                  </a:srgbClr>
                </a:solidFill>
                <a:latin typeface="Source Sans 3"/>
              </a:rPr>
              <a:t>Soil Food Web School, BioComplete Compost, Lecture 4</a:t>
            </a:r>
          </a:p>
        </p:txBody>
      </p:sp>
      <p:pic>
        <p:nvPicPr>
          <p:cNvPr id="15" name="Picture 14" descr="foundation-logo-white.png"/>
          <p:cNvPicPr>
            <a:picLocks noChangeAspect="1"/>
          </p:cNvPicPr>
          <p:nvPr/>
        </p:nvPicPr>
        <p:blipFill>
          <a:blip r:embed="rId6"/>
          <a:stretch>
            <a:fillRect/>
          </a:stretch>
        </p:blipFill>
        <p:spPr>
          <a:xfrm>
            <a:off x="8667750" y="11516532"/>
            <a:ext cx="857250" cy="770717"/>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2371F"/>
        </a:solidFill>
        <a:effectLst/>
      </p:bgPr>
    </p:bg>
    <p:spTree>
      <p:nvGrpSpPr>
        <p:cNvPr id="1" name=""/>
        <p:cNvGrpSpPr/>
        <p:nvPr/>
      </p:nvGrpSpPr>
      <p:grpSpPr/>
      <p:pic>
        <p:nvPicPr>
          <p:cNvPr id="2" name="Picture 1" descr="8684675481822683666.jpg"/>
          <p:cNvPicPr>
            <a:picLocks noChangeAspect="1"/>
          </p:cNvPicPr>
          <p:nvPr/>
        </p:nvPicPr>
        <p:blipFill>
          <a:blip r:embed="rId3"/>
          <a:stretch>
            <a:fillRect/>
          </a:stretch>
        </p:blipFill>
        <p:spPr>
          <a:xfrm>
            <a:off x="0" y="0"/>
            <a:ext cx="2514600" cy="2514600"/>
          </a:xfrm>
          <a:prstGeom prst="rect">
            <a:avLst/>
          </a:prstGeom>
        </p:spPr>
      </p:pic>
      <p:pic>
        <p:nvPicPr>
          <p:cNvPr id="3" name="Picture 2" descr="4818609014556034615.jpg"/>
          <p:cNvPicPr>
            <a:picLocks noChangeAspect="1"/>
          </p:cNvPicPr>
          <p:nvPr/>
        </p:nvPicPr>
        <p:blipFill>
          <a:blip r:embed="rId4"/>
          <a:stretch>
            <a:fillRect/>
          </a:stretch>
        </p:blipFill>
        <p:spPr>
          <a:xfrm>
            <a:off x="2590800" y="0"/>
            <a:ext cx="2514600" cy="2514600"/>
          </a:xfrm>
          <a:prstGeom prst="rect">
            <a:avLst/>
          </a:prstGeom>
        </p:spPr>
      </p:pic>
      <p:pic>
        <p:nvPicPr>
          <p:cNvPr id="4" name="Picture 3" descr="7884999685889186300.jpg"/>
          <p:cNvPicPr>
            <a:picLocks noChangeAspect="1"/>
          </p:cNvPicPr>
          <p:nvPr/>
        </p:nvPicPr>
        <p:blipFill>
          <a:blip r:embed="rId5"/>
          <a:stretch>
            <a:fillRect/>
          </a:stretch>
        </p:blipFill>
        <p:spPr>
          <a:xfrm>
            <a:off x="5181600" y="0"/>
            <a:ext cx="2514600" cy="2514600"/>
          </a:xfrm>
          <a:prstGeom prst="rect">
            <a:avLst/>
          </a:prstGeom>
        </p:spPr>
      </p:pic>
      <p:pic>
        <p:nvPicPr>
          <p:cNvPr id="5" name="Picture 4" descr="7232961000811291792.jpg"/>
          <p:cNvPicPr>
            <a:picLocks noChangeAspect="1"/>
          </p:cNvPicPr>
          <p:nvPr/>
        </p:nvPicPr>
        <p:blipFill>
          <a:blip r:embed="rId6"/>
          <a:stretch>
            <a:fillRect/>
          </a:stretch>
        </p:blipFill>
        <p:spPr>
          <a:xfrm>
            <a:off x="7772400" y="0"/>
            <a:ext cx="2514600" cy="2514600"/>
          </a:xfrm>
          <a:prstGeom prst="rect">
            <a:avLst/>
          </a:prstGeom>
        </p:spPr>
      </p:pic>
      <p:pic>
        <p:nvPicPr>
          <p:cNvPr id="6" name="Picture 5" descr="8313124085066336902.jpg"/>
          <p:cNvPicPr>
            <a:picLocks noChangeAspect="1"/>
          </p:cNvPicPr>
          <p:nvPr/>
        </p:nvPicPr>
        <p:blipFill>
          <a:blip r:embed="rId7"/>
          <a:stretch>
            <a:fillRect/>
          </a:stretch>
        </p:blipFill>
        <p:spPr>
          <a:xfrm>
            <a:off x="0" y="2590800"/>
            <a:ext cx="2514600" cy="2514600"/>
          </a:xfrm>
          <a:prstGeom prst="rect">
            <a:avLst/>
          </a:prstGeom>
        </p:spPr>
      </p:pic>
      <p:pic>
        <p:nvPicPr>
          <p:cNvPr id="7" name="Picture 6" descr="6916300996393180844.jpg"/>
          <p:cNvPicPr>
            <a:picLocks noChangeAspect="1"/>
          </p:cNvPicPr>
          <p:nvPr/>
        </p:nvPicPr>
        <p:blipFill>
          <a:blip r:embed="rId8"/>
          <a:stretch>
            <a:fillRect/>
          </a:stretch>
        </p:blipFill>
        <p:spPr>
          <a:xfrm>
            <a:off x="2590800" y="2590800"/>
            <a:ext cx="2514600" cy="2514600"/>
          </a:xfrm>
          <a:prstGeom prst="rect">
            <a:avLst/>
          </a:prstGeom>
        </p:spPr>
      </p:pic>
      <p:pic>
        <p:nvPicPr>
          <p:cNvPr id="8" name="Picture 7" descr="2809481218529070526.jpg"/>
          <p:cNvPicPr>
            <a:picLocks noChangeAspect="1"/>
          </p:cNvPicPr>
          <p:nvPr/>
        </p:nvPicPr>
        <p:blipFill>
          <a:blip r:embed="rId9"/>
          <a:stretch>
            <a:fillRect/>
          </a:stretch>
        </p:blipFill>
        <p:spPr>
          <a:xfrm>
            <a:off x="5181600" y="2590800"/>
            <a:ext cx="2514600" cy="2514600"/>
          </a:xfrm>
          <a:prstGeom prst="rect">
            <a:avLst/>
          </a:prstGeom>
        </p:spPr>
      </p:pic>
      <p:pic>
        <p:nvPicPr>
          <p:cNvPr id="9" name="Picture 8" descr="356401069179824979.jpg"/>
          <p:cNvPicPr>
            <a:picLocks noChangeAspect="1"/>
          </p:cNvPicPr>
          <p:nvPr/>
        </p:nvPicPr>
        <p:blipFill>
          <a:blip r:embed="rId10"/>
          <a:stretch>
            <a:fillRect/>
          </a:stretch>
        </p:blipFill>
        <p:spPr>
          <a:xfrm>
            <a:off x="7772400" y="2590800"/>
            <a:ext cx="2514600" cy="2514600"/>
          </a:xfrm>
          <a:prstGeom prst="rect">
            <a:avLst/>
          </a:prstGeom>
        </p:spPr>
      </p:pic>
      <p:sp>
        <p:nvSpPr>
          <p:cNvPr id="10" name="TextBox 9"/>
          <p:cNvSpPr txBox="1"/>
          <p:nvPr/>
        </p:nvSpPr>
        <p:spPr>
          <a:xfrm>
            <a:off x="762000" y="5219700"/>
            <a:ext cx="8763000" cy="457200"/>
          </a:xfrm>
          <a:prstGeom prst="rect">
            <a:avLst/>
          </a:prstGeom>
          <a:noFill/>
        </p:spPr>
        <p:txBody>
          <a:bodyPr wrap="square" lIns="0" rIns="0" tIns="0" bIns="0" anchor="t">
            <a:spAutoFit/>
          </a:bodyPr>
          <a:lstStyle/>
          <a:p>
            <a:pPr algn="l">
              <a:lnSpc>
                <a:spcPct val="120000"/>
              </a:lnSpc>
            </a:pPr>
            <a:r>
              <a:rPr sz="1400" b="0" i="0">
                <a:solidFill>
                  <a:srgbClr val="F4F1EA">
                    <a:alpha val="70000"/>
                  </a:srgbClr>
                </a:solidFill>
                <a:latin typeface="Source Sans 3"/>
              </a:rPr>
              <a:t>Photo: Adrian Pereira, Maxime Agnelli, Sam Carter, Maksim Samuilionak, Jack Catalano, Roger Starnes Sr, Diana Shchurova, sippakorn yamkasikorn on Unsplash</a:t>
            </a:r>
          </a:p>
        </p:txBody>
      </p:sp>
      <p:sp>
        <p:nvSpPr>
          <p:cNvPr id="11" name="Rectangle 10"/>
          <p:cNvSpPr/>
          <p:nvPr/>
        </p:nvSpPr>
        <p:spPr>
          <a:xfrm>
            <a:off x="762000" y="5829300"/>
            <a:ext cx="1888968" cy="457200"/>
          </a:xfrm>
          <a:prstGeom prst="rect">
            <a:avLst/>
          </a:prstGeom>
          <a:solidFill>
            <a:srgbClr val="156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con-check-mark-cream.png"/>
          <p:cNvPicPr>
            <a:picLocks noChangeAspect="1"/>
          </p:cNvPicPr>
          <p:nvPr/>
        </p:nvPicPr>
        <p:blipFill>
          <a:blip r:embed="rId11"/>
          <a:stretch>
            <a:fillRect/>
          </a:stretch>
        </p:blipFill>
        <p:spPr>
          <a:xfrm>
            <a:off x="933450" y="5934075"/>
            <a:ext cx="305524" cy="247650"/>
          </a:xfrm>
          <a:prstGeom prst="rect">
            <a:avLst/>
          </a:prstGeom>
        </p:spPr>
      </p:pic>
      <p:sp>
        <p:nvSpPr>
          <p:cNvPr id="13" name="TextBox 12"/>
          <p:cNvSpPr txBox="1"/>
          <p:nvPr/>
        </p:nvSpPr>
        <p:spPr>
          <a:xfrm>
            <a:off x="1295400" y="5829300"/>
            <a:ext cx="1355568" cy="457200"/>
          </a:xfrm>
          <a:prstGeom prst="rect">
            <a:avLst/>
          </a:prstGeom>
          <a:noFill/>
        </p:spPr>
        <p:txBody>
          <a:bodyPr wrap="square" lIns="0" rIns="0" tIns="0" bIns="0" anchor="ctr">
            <a:spAutoFit/>
          </a:bodyPr>
          <a:lstStyle/>
          <a:p>
            <a:pPr algn="l">
              <a:lnSpc>
                <a:spcPct val="120000"/>
              </a:lnSpc>
            </a:pPr>
            <a:r>
              <a:rPr sz="1800" b="1" i="0" spc="200">
                <a:solidFill>
                  <a:srgbClr val="F4F1EA"/>
                </a:solidFill>
                <a:latin typeface="Montserrat"/>
              </a:rPr>
              <a:t>GOES IN</a:t>
            </a:r>
          </a:p>
        </p:txBody>
      </p:sp>
      <p:sp>
        <p:nvSpPr>
          <p:cNvPr id="14" name="TextBox 13"/>
          <p:cNvSpPr txBox="1"/>
          <p:nvPr/>
        </p:nvSpPr>
        <p:spPr>
          <a:xfrm>
            <a:off x="762000" y="6457950"/>
            <a:ext cx="8763000" cy="1722078"/>
          </a:xfrm>
          <a:prstGeom prst="rect">
            <a:avLst/>
          </a:prstGeom>
          <a:noFill/>
        </p:spPr>
        <p:txBody>
          <a:bodyPr wrap="square" lIns="0" rIns="0" tIns="0" bIns="0" anchor="t">
            <a:spAutoFit/>
          </a:bodyPr>
          <a:lstStyle/>
          <a:p>
            <a:pPr algn="l">
              <a:lnSpc>
                <a:spcPct val="105000"/>
              </a:lnSpc>
            </a:pPr>
            <a:r>
              <a:rPr sz="6000" b="1" i="0">
                <a:solidFill>
                  <a:srgbClr val="F4F1EA"/>
                </a:solidFill>
                <a:latin typeface="Montserrat"/>
              </a:rPr>
              <a:t>Plant-eaters and poultry</a:t>
            </a:r>
          </a:p>
        </p:txBody>
      </p:sp>
      <p:sp>
        <p:nvSpPr>
          <p:cNvPr id="15" name="TextBox 14"/>
          <p:cNvSpPr txBox="1"/>
          <p:nvPr/>
        </p:nvSpPr>
        <p:spPr>
          <a:xfrm>
            <a:off x="762000" y="8256228"/>
            <a:ext cx="8763000" cy="2571688"/>
          </a:xfrm>
          <a:prstGeom prst="rect">
            <a:avLst/>
          </a:prstGeom>
          <a:noFill/>
        </p:spPr>
        <p:txBody>
          <a:bodyPr wrap="square" lIns="0" rIns="0" tIns="0" bIns="0" anchor="t">
            <a:spAutoFit/>
          </a:bodyPr>
          <a:lstStyle/>
          <a:p>
            <a:pPr algn="l">
              <a:lnSpc>
                <a:spcPct val="130000"/>
              </a:lnSpc>
            </a:pPr>
            <a:r>
              <a:rPr sz="3000" b="0" i="0">
                <a:solidFill>
                  <a:srgbClr val="F4F1EA"/>
                </a:solidFill>
                <a:latin typeface="Source Sans 3"/>
              </a:rPr>
              <a:t>Rabbit, goat, sheep, alpaca, guinea pig, horse, cow and chicken. Their manure is a great high-nitrogen ingredient. Use it fresh, or dry it and store it until you build the pile.</a:t>
            </a:r>
          </a:p>
        </p:txBody>
      </p:sp>
      <p:sp>
        <p:nvSpPr>
          <p:cNvPr id="16" name="TextBox 15"/>
          <p:cNvSpPr txBox="1"/>
          <p:nvPr/>
        </p:nvSpPr>
        <p:spPr>
          <a:xfrm>
            <a:off x="762000" y="12192000"/>
            <a:ext cx="7429500" cy="228600"/>
          </a:xfrm>
          <a:prstGeom prst="rect">
            <a:avLst/>
          </a:prstGeom>
          <a:noFill/>
        </p:spPr>
        <p:txBody>
          <a:bodyPr wrap="square" lIns="0" rIns="0" tIns="0" bIns="0" anchor="t">
            <a:spAutoFit/>
          </a:bodyPr>
          <a:lstStyle/>
          <a:p>
            <a:pPr algn="l">
              <a:lnSpc>
                <a:spcPct val="120000"/>
              </a:lnSpc>
            </a:pPr>
            <a:r>
              <a:rPr sz="1400" b="0" i="0">
                <a:solidFill>
                  <a:srgbClr val="F4F1EA">
                    <a:alpha val="70000"/>
                  </a:srgbClr>
                </a:solidFill>
                <a:latin typeface="Source Sans 3"/>
              </a:rPr>
              <a:t>Soil Food Web School, Compost Manual</a:t>
            </a:r>
          </a:p>
        </p:txBody>
      </p:sp>
      <p:pic>
        <p:nvPicPr>
          <p:cNvPr id="17" name="Picture 16" descr="foundation-logo-white.png"/>
          <p:cNvPicPr>
            <a:picLocks noChangeAspect="1"/>
          </p:cNvPicPr>
          <p:nvPr/>
        </p:nvPicPr>
        <p:blipFill>
          <a:blip r:embed="rId12"/>
          <a:stretch>
            <a:fillRect/>
          </a:stretch>
        </p:blipFill>
        <p:spPr>
          <a:xfrm>
            <a:off x="8667750" y="11516532"/>
            <a:ext cx="857250" cy="77071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2371F"/>
        </a:solidFill>
        <a:effectLst/>
      </p:bgPr>
    </p:bg>
    <p:spTree>
      <p:nvGrpSpPr>
        <p:cNvPr id="1" name=""/>
        <p:cNvGrpSpPr/>
        <p:nvPr/>
      </p:nvGrpSpPr>
      <p:grpSpPr/>
      <p:pic>
        <p:nvPicPr>
          <p:cNvPr id="2" name="Picture 1" descr="8962753842354720273.jpg"/>
          <p:cNvPicPr>
            <a:picLocks noChangeAspect="1"/>
          </p:cNvPicPr>
          <p:nvPr/>
        </p:nvPicPr>
        <p:blipFill>
          <a:blip r:embed="rId3"/>
          <a:stretch>
            <a:fillRect/>
          </a:stretch>
        </p:blipFill>
        <p:spPr>
          <a:xfrm>
            <a:off x="0" y="0"/>
            <a:ext cx="10287000" cy="6667500"/>
          </a:xfrm>
          <a:prstGeom prst="rect">
            <a:avLst/>
          </a:prstGeom>
        </p:spPr>
      </p:pic>
      <p:sp>
        <p:nvSpPr>
          <p:cNvPr id="3" name="TextBox 2"/>
          <p:cNvSpPr txBox="1"/>
          <p:nvPr/>
        </p:nvSpPr>
        <p:spPr>
          <a:xfrm>
            <a:off x="762000" y="6781800"/>
            <a:ext cx="8763000" cy="228600"/>
          </a:xfrm>
          <a:prstGeom prst="rect">
            <a:avLst/>
          </a:prstGeom>
          <a:noFill/>
        </p:spPr>
        <p:txBody>
          <a:bodyPr wrap="square" lIns="0" rIns="0" tIns="0" bIns="0" anchor="t">
            <a:spAutoFit/>
          </a:bodyPr>
          <a:lstStyle/>
          <a:p>
            <a:pPr algn="r">
              <a:lnSpc>
                <a:spcPct val="120000"/>
              </a:lnSpc>
            </a:pPr>
            <a:r>
              <a:rPr sz="1400" b="0" i="0">
                <a:solidFill>
                  <a:srgbClr val="F4F1EA">
                    <a:alpha val="70000"/>
                  </a:srgbClr>
                </a:solidFill>
                <a:latin typeface="Source Sans 3"/>
              </a:rPr>
              <a:t>Photo: Pauline Bernfeld on Unsplash</a:t>
            </a:r>
          </a:p>
        </p:txBody>
      </p:sp>
      <p:sp>
        <p:nvSpPr>
          <p:cNvPr id="4" name="Rectangle 3"/>
          <p:cNvSpPr/>
          <p:nvPr/>
        </p:nvSpPr>
        <p:spPr>
          <a:xfrm>
            <a:off x="762000" y="7239000"/>
            <a:ext cx="2903927" cy="4572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flame-deep.png"/>
          <p:cNvPicPr>
            <a:picLocks noChangeAspect="1"/>
          </p:cNvPicPr>
          <p:nvPr/>
        </p:nvPicPr>
        <p:blipFill>
          <a:blip r:embed="rId4"/>
          <a:stretch>
            <a:fillRect/>
          </a:stretch>
        </p:blipFill>
        <p:spPr>
          <a:xfrm>
            <a:off x="933450" y="7343775"/>
            <a:ext cx="183655" cy="247650"/>
          </a:xfrm>
          <a:prstGeom prst="rect">
            <a:avLst/>
          </a:prstGeom>
        </p:spPr>
      </p:pic>
      <p:sp>
        <p:nvSpPr>
          <p:cNvPr id="6" name="TextBox 5"/>
          <p:cNvSpPr txBox="1"/>
          <p:nvPr/>
        </p:nvSpPr>
        <p:spPr>
          <a:xfrm>
            <a:off x="1295400" y="7239000"/>
            <a:ext cx="2370527" cy="457200"/>
          </a:xfrm>
          <a:prstGeom prst="rect">
            <a:avLst/>
          </a:prstGeom>
          <a:noFill/>
        </p:spPr>
        <p:txBody>
          <a:bodyPr wrap="square" lIns="0" rIns="0" tIns="0" bIns="0" anchor="ctr">
            <a:spAutoFit/>
          </a:bodyPr>
          <a:lstStyle/>
          <a:p>
            <a:pPr algn="l">
              <a:lnSpc>
                <a:spcPct val="120000"/>
              </a:lnSpc>
            </a:pPr>
            <a:r>
              <a:rPr sz="1800" b="1" i="0" spc="200">
                <a:solidFill>
                  <a:srgbClr val="22371F"/>
                </a:solidFill>
                <a:latin typeface="Montserrat"/>
              </a:rPr>
              <a:t>HOT PILE ONLY</a:t>
            </a:r>
          </a:p>
        </p:txBody>
      </p:sp>
      <p:sp>
        <p:nvSpPr>
          <p:cNvPr id="7" name="TextBox 6"/>
          <p:cNvSpPr txBox="1"/>
          <p:nvPr/>
        </p:nvSpPr>
        <p:spPr>
          <a:xfrm>
            <a:off x="762000" y="7867650"/>
            <a:ext cx="8763000" cy="899139"/>
          </a:xfrm>
          <a:prstGeom prst="rect">
            <a:avLst/>
          </a:prstGeom>
          <a:noFill/>
        </p:spPr>
        <p:txBody>
          <a:bodyPr wrap="square" lIns="0" rIns="0" tIns="0" bIns="0" anchor="t">
            <a:spAutoFit/>
          </a:bodyPr>
          <a:lstStyle/>
          <a:p>
            <a:pPr algn="l">
              <a:lnSpc>
                <a:spcPct val="105000"/>
              </a:lnSpc>
            </a:pPr>
            <a:r>
              <a:rPr sz="6000" b="1" i="0">
                <a:solidFill>
                  <a:srgbClr val="F4F1EA"/>
                </a:solidFill>
                <a:latin typeface="Montserrat"/>
              </a:rPr>
              <a:t>Pig</a:t>
            </a:r>
          </a:p>
        </p:txBody>
      </p:sp>
      <p:sp>
        <p:nvSpPr>
          <p:cNvPr id="8" name="TextBox 7"/>
          <p:cNvSpPr txBox="1"/>
          <p:nvPr/>
        </p:nvSpPr>
        <p:spPr>
          <a:xfrm>
            <a:off x="762000" y="8842989"/>
            <a:ext cx="8763000" cy="2076400"/>
          </a:xfrm>
          <a:prstGeom prst="rect">
            <a:avLst/>
          </a:prstGeom>
          <a:noFill/>
        </p:spPr>
        <p:txBody>
          <a:bodyPr wrap="square" lIns="0" rIns="0" tIns="0" bIns="0" anchor="t">
            <a:spAutoFit/>
          </a:bodyPr>
          <a:lstStyle/>
          <a:p>
            <a:pPr algn="l">
              <a:lnSpc>
                <a:spcPct val="130000"/>
              </a:lnSpc>
            </a:pPr>
            <a:r>
              <a:rPr sz="3000" b="0" i="0">
                <a:solidFill>
                  <a:srgbClr val="F4F1EA"/>
                </a:solidFill>
                <a:latin typeface="Source Sans 3"/>
              </a:rPr>
              <a:t>Pig roundworm can infect people. Pig manure goes into a pile that completes the thermophilic requirements, and raw pig manure stays away from produce.</a:t>
            </a:r>
          </a:p>
        </p:txBody>
      </p:sp>
      <p:sp>
        <p:nvSpPr>
          <p:cNvPr id="9" name="TextBox 8"/>
          <p:cNvSpPr txBox="1"/>
          <p:nvPr/>
        </p:nvSpPr>
        <p:spPr>
          <a:xfrm>
            <a:off x="762000" y="12192000"/>
            <a:ext cx="7429500" cy="228600"/>
          </a:xfrm>
          <a:prstGeom prst="rect">
            <a:avLst/>
          </a:prstGeom>
          <a:noFill/>
        </p:spPr>
        <p:txBody>
          <a:bodyPr wrap="square" lIns="0" rIns="0" tIns="0" bIns="0" anchor="t">
            <a:spAutoFit/>
          </a:bodyPr>
          <a:lstStyle/>
          <a:p>
            <a:pPr algn="l">
              <a:lnSpc>
                <a:spcPct val="120000"/>
              </a:lnSpc>
            </a:pPr>
            <a:r>
              <a:rPr sz="1400" b="0" i="0">
                <a:solidFill>
                  <a:srgbClr val="F4F1EA">
                    <a:alpha val="70000"/>
                  </a:srgbClr>
                </a:solidFill>
                <a:latin typeface="Source Sans 3"/>
              </a:rPr>
              <a:t>Miller et al. 2015, Emerging Infectious Diseases</a:t>
            </a:r>
          </a:p>
        </p:txBody>
      </p:sp>
      <p:pic>
        <p:nvPicPr>
          <p:cNvPr id="10" name="Picture 9" descr="foundation-logo-white.png"/>
          <p:cNvPicPr>
            <a:picLocks noChangeAspect="1"/>
          </p:cNvPicPr>
          <p:nvPr/>
        </p:nvPicPr>
        <p:blipFill>
          <a:blip r:embed="rId5"/>
          <a:stretch>
            <a:fillRect/>
          </a:stretch>
        </p:blipFill>
        <p:spPr>
          <a:xfrm>
            <a:off x="8667750" y="11516532"/>
            <a:ext cx="857250" cy="77071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2371F"/>
        </a:solidFill>
        <a:effectLst/>
      </p:bgPr>
    </p:bg>
    <p:spTree>
      <p:nvGrpSpPr>
        <p:cNvPr id="1" name=""/>
        <p:cNvGrpSpPr/>
        <p:nvPr/>
      </p:nvGrpSpPr>
      <p:grpSpPr/>
      <p:pic>
        <p:nvPicPr>
          <p:cNvPr id="2" name="Picture 1" descr="5434546009825580332.jpg"/>
          <p:cNvPicPr>
            <a:picLocks noChangeAspect="1"/>
          </p:cNvPicPr>
          <p:nvPr/>
        </p:nvPicPr>
        <p:blipFill>
          <a:blip r:embed="rId3"/>
          <a:stretch>
            <a:fillRect/>
          </a:stretch>
        </p:blipFill>
        <p:spPr>
          <a:xfrm>
            <a:off x="0" y="0"/>
            <a:ext cx="10287000" cy="6667500"/>
          </a:xfrm>
          <a:prstGeom prst="rect">
            <a:avLst/>
          </a:prstGeom>
        </p:spPr>
      </p:pic>
      <p:sp>
        <p:nvSpPr>
          <p:cNvPr id="3" name="TextBox 2"/>
          <p:cNvSpPr txBox="1"/>
          <p:nvPr/>
        </p:nvSpPr>
        <p:spPr>
          <a:xfrm>
            <a:off x="762000" y="6781800"/>
            <a:ext cx="8763000" cy="228600"/>
          </a:xfrm>
          <a:prstGeom prst="rect">
            <a:avLst/>
          </a:prstGeom>
          <a:noFill/>
        </p:spPr>
        <p:txBody>
          <a:bodyPr wrap="square" lIns="0" rIns="0" tIns="0" bIns="0" anchor="t">
            <a:spAutoFit/>
          </a:bodyPr>
          <a:lstStyle/>
          <a:p>
            <a:pPr algn="r">
              <a:lnSpc>
                <a:spcPct val="120000"/>
              </a:lnSpc>
            </a:pPr>
            <a:r>
              <a:rPr sz="1400" b="0" i="0">
                <a:solidFill>
                  <a:srgbClr val="F4F1EA">
                    <a:alpha val="70000"/>
                  </a:srgbClr>
                </a:solidFill>
                <a:latin typeface="Source Sans 3"/>
              </a:rPr>
              <a:t>Photo: iridial on Unsplash</a:t>
            </a:r>
          </a:p>
        </p:txBody>
      </p:sp>
      <p:sp>
        <p:nvSpPr>
          <p:cNvPr id="4" name="Rectangle 3"/>
          <p:cNvSpPr/>
          <p:nvPr/>
        </p:nvSpPr>
        <p:spPr>
          <a:xfrm>
            <a:off x="762000" y="7239000"/>
            <a:ext cx="2227287" cy="457200"/>
          </a:xfrm>
          <a:prstGeom prst="rect">
            <a:avLst/>
          </a:prstGeom>
          <a:solidFill>
            <a:srgbClr val="B2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crossed-circle-cream.png"/>
          <p:cNvPicPr>
            <a:picLocks noChangeAspect="1"/>
          </p:cNvPicPr>
          <p:nvPr/>
        </p:nvPicPr>
        <p:blipFill>
          <a:blip r:embed="rId4"/>
          <a:stretch>
            <a:fillRect/>
          </a:stretch>
        </p:blipFill>
        <p:spPr>
          <a:xfrm>
            <a:off x="933450" y="7343775"/>
            <a:ext cx="248107" cy="247650"/>
          </a:xfrm>
          <a:prstGeom prst="rect">
            <a:avLst/>
          </a:prstGeom>
        </p:spPr>
      </p:pic>
      <p:sp>
        <p:nvSpPr>
          <p:cNvPr id="6" name="TextBox 5"/>
          <p:cNvSpPr txBox="1"/>
          <p:nvPr/>
        </p:nvSpPr>
        <p:spPr>
          <a:xfrm>
            <a:off x="1295400" y="7239000"/>
            <a:ext cx="1693887" cy="457200"/>
          </a:xfrm>
          <a:prstGeom prst="rect">
            <a:avLst/>
          </a:prstGeom>
          <a:noFill/>
        </p:spPr>
        <p:txBody>
          <a:bodyPr wrap="square" lIns="0" rIns="0" tIns="0" bIns="0" anchor="ctr">
            <a:spAutoFit/>
          </a:bodyPr>
          <a:lstStyle/>
          <a:p>
            <a:pPr algn="l">
              <a:lnSpc>
                <a:spcPct val="120000"/>
              </a:lnSpc>
            </a:pPr>
            <a:r>
              <a:rPr sz="1800" b="1" i="0" spc="200">
                <a:solidFill>
                  <a:srgbClr val="F4F1EA"/>
                </a:solidFill>
                <a:latin typeface="Montserrat"/>
              </a:rPr>
              <a:t>STAYS OUT</a:t>
            </a:r>
          </a:p>
        </p:txBody>
      </p:sp>
      <p:sp>
        <p:nvSpPr>
          <p:cNvPr id="7" name="TextBox 6"/>
          <p:cNvSpPr txBox="1"/>
          <p:nvPr/>
        </p:nvSpPr>
        <p:spPr>
          <a:xfrm>
            <a:off x="762000" y="7867650"/>
            <a:ext cx="8763000" cy="899139"/>
          </a:xfrm>
          <a:prstGeom prst="rect">
            <a:avLst/>
          </a:prstGeom>
          <a:noFill/>
        </p:spPr>
        <p:txBody>
          <a:bodyPr wrap="square" lIns="0" rIns="0" tIns="0" bIns="0" anchor="t">
            <a:spAutoFit/>
          </a:bodyPr>
          <a:lstStyle/>
          <a:p>
            <a:pPr algn="l">
              <a:lnSpc>
                <a:spcPct val="105000"/>
              </a:lnSpc>
            </a:pPr>
            <a:r>
              <a:rPr sz="6000" b="1" i="0">
                <a:solidFill>
                  <a:srgbClr val="F4F1EA"/>
                </a:solidFill>
                <a:latin typeface="Montserrat"/>
              </a:rPr>
              <a:t>Dog and cat</a:t>
            </a:r>
          </a:p>
        </p:txBody>
      </p:sp>
      <p:sp>
        <p:nvSpPr>
          <p:cNvPr id="8" name="TextBox 7"/>
          <p:cNvSpPr txBox="1"/>
          <p:nvPr/>
        </p:nvSpPr>
        <p:spPr>
          <a:xfrm>
            <a:off x="762000" y="8842989"/>
            <a:ext cx="8763000" cy="1581112"/>
          </a:xfrm>
          <a:prstGeom prst="rect">
            <a:avLst/>
          </a:prstGeom>
          <a:noFill/>
        </p:spPr>
        <p:txBody>
          <a:bodyPr wrap="square" lIns="0" rIns="0" tIns="0" bIns="0" anchor="t">
            <a:spAutoFit/>
          </a:bodyPr>
          <a:lstStyle/>
          <a:p>
            <a:pPr algn="l">
              <a:lnSpc>
                <a:spcPct val="130000"/>
              </a:lnSpc>
            </a:pPr>
            <a:r>
              <a:rPr sz="3000" b="0" i="0">
                <a:solidFill>
                  <a:srgbClr val="F4F1EA"/>
                </a:solidFill>
                <a:latin typeface="Source Sans 3"/>
              </a:rPr>
              <a:t>Dog feces can carry roundworm (Toxocara) eggs. If swallowed, the larvae can migrate to the liver, lungs and eyes.</a:t>
            </a:r>
          </a:p>
        </p:txBody>
      </p:sp>
      <p:sp>
        <p:nvSpPr>
          <p:cNvPr id="9" name="TextBox 8"/>
          <p:cNvSpPr txBox="1"/>
          <p:nvPr/>
        </p:nvSpPr>
        <p:spPr>
          <a:xfrm>
            <a:off x="762000" y="12192000"/>
            <a:ext cx="7429500" cy="228600"/>
          </a:xfrm>
          <a:prstGeom prst="rect">
            <a:avLst/>
          </a:prstGeom>
          <a:noFill/>
        </p:spPr>
        <p:txBody>
          <a:bodyPr wrap="square" lIns="0" rIns="0" tIns="0" bIns="0" anchor="t">
            <a:spAutoFit/>
          </a:bodyPr>
          <a:lstStyle/>
          <a:p>
            <a:pPr algn="l">
              <a:lnSpc>
                <a:spcPct val="120000"/>
              </a:lnSpc>
            </a:pPr>
            <a:r>
              <a:rPr sz="1400" b="0" i="0">
                <a:solidFill>
                  <a:srgbClr val="F4F1EA">
                    <a:alpha val="70000"/>
                  </a:srgbClr>
                </a:solidFill>
                <a:latin typeface="Source Sans 3"/>
              </a:rPr>
              <a:t>USDA NRCS 2005; CDC 2025</a:t>
            </a:r>
          </a:p>
        </p:txBody>
      </p:sp>
      <p:pic>
        <p:nvPicPr>
          <p:cNvPr id="10" name="Picture 9" descr="foundation-logo-white.png"/>
          <p:cNvPicPr>
            <a:picLocks noChangeAspect="1"/>
          </p:cNvPicPr>
          <p:nvPr/>
        </p:nvPicPr>
        <p:blipFill>
          <a:blip r:embed="rId5"/>
          <a:stretch>
            <a:fillRect/>
          </a:stretch>
        </p:blipFill>
        <p:spPr>
          <a:xfrm>
            <a:off x="8667750" y="11516532"/>
            <a:ext cx="857250" cy="77071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2371F"/>
        </a:solidFill>
        <a:effectLst/>
      </p:bgPr>
    </p:bg>
    <p:spTree>
      <p:nvGrpSpPr>
        <p:cNvPr id="1" name=""/>
        <p:cNvGrpSpPr/>
        <p:nvPr/>
      </p:nvGrpSpPr>
      <p:grpSpPr/>
      <p:pic>
        <p:nvPicPr>
          <p:cNvPr id="2" name="Picture 1" descr="3344292299206373740.jpg"/>
          <p:cNvPicPr>
            <a:picLocks noChangeAspect="1"/>
          </p:cNvPicPr>
          <p:nvPr/>
        </p:nvPicPr>
        <p:blipFill>
          <a:blip r:embed="rId3"/>
          <a:stretch>
            <a:fillRect/>
          </a:stretch>
        </p:blipFill>
        <p:spPr>
          <a:xfrm>
            <a:off x="0" y="0"/>
            <a:ext cx="10287000" cy="6667500"/>
          </a:xfrm>
          <a:prstGeom prst="rect">
            <a:avLst/>
          </a:prstGeom>
        </p:spPr>
      </p:pic>
      <p:sp>
        <p:nvSpPr>
          <p:cNvPr id="3" name="TextBox 2"/>
          <p:cNvSpPr txBox="1"/>
          <p:nvPr/>
        </p:nvSpPr>
        <p:spPr>
          <a:xfrm>
            <a:off x="762000" y="6781800"/>
            <a:ext cx="8763000" cy="228600"/>
          </a:xfrm>
          <a:prstGeom prst="rect">
            <a:avLst/>
          </a:prstGeom>
          <a:noFill/>
        </p:spPr>
        <p:txBody>
          <a:bodyPr wrap="square" lIns="0" rIns="0" tIns="0" bIns="0" anchor="t">
            <a:spAutoFit/>
          </a:bodyPr>
          <a:lstStyle/>
          <a:p>
            <a:pPr algn="r">
              <a:lnSpc>
                <a:spcPct val="120000"/>
              </a:lnSpc>
            </a:pPr>
            <a:r>
              <a:rPr sz="1400" b="0" i="0">
                <a:solidFill>
                  <a:srgbClr val="F4F1EA">
                    <a:alpha val="70000"/>
                  </a:srgbClr>
                </a:solidFill>
                <a:latin typeface="Source Sans 3"/>
              </a:rPr>
              <a:t>Photo: Sean Foster on Unsplash</a:t>
            </a:r>
          </a:p>
        </p:txBody>
      </p:sp>
      <p:sp>
        <p:nvSpPr>
          <p:cNvPr id="4" name="Rectangle 3"/>
          <p:cNvSpPr/>
          <p:nvPr/>
        </p:nvSpPr>
        <p:spPr>
          <a:xfrm>
            <a:off x="762000" y="7239000"/>
            <a:ext cx="2227287" cy="457200"/>
          </a:xfrm>
          <a:prstGeom prst="rect">
            <a:avLst/>
          </a:prstGeom>
          <a:solidFill>
            <a:srgbClr val="B2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con-crossed-circle-cream.png"/>
          <p:cNvPicPr>
            <a:picLocks noChangeAspect="1"/>
          </p:cNvPicPr>
          <p:nvPr/>
        </p:nvPicPr>
        <p:blipFill>
          <a:blip r:embed="rId4"/>
          <a:stretch>
            <a:fillRect/>
          </a:stretch>
        </p:blipFill>
        <p:spPr>
          <a:xfrm>
            <a:off x="933450" y="7343775"/>
            <a:ext cx="248107" cy="247650"/>
          </a:xfrm>
          <a:prstGeom prst="rect">
            <a:avLst/>
          </a:prstGeom>
        </p:spPr>
      </p:pic>
      <p:sp>
        <p:nvSpPr>
          <p:cNvPr id="6" name="TextBox 5"/>
          <p:cNvSpPr txBox="1"/>
          <p:nvPr/>
        </p:nvSpPr>
        <p:spPr>
          <a:xfrm>
            <a:off x="1295400" y="7239000"/>
            <a:ext cx="1693887" cy="457200"/>
          </a:xfrm>
          <a:prstGeom prst="rect">
            <a:avLst/>
          </a:prstGeom>
          <a:noFill/>
        </p:spPr>
        <p:txBody>
          <a:bodyPr wrap="square" lIns="0" rIns="0" tIns="0" bIns="0" anchor="ctr">
            <a:spAutoFit/>
          </a:bodyPr>
          <a:lstStyle/>
          <a:p>
            <a:pPr algn="l">
              <a:lnSpc>
                <a:spcPct val="120000"/>
              </a:lnSpc>
            </a:pPr>
            <a:r>
              <a:rPr sz="1800" b="1" i="0" spc="200">
                <a:solidFill>
                  <a:srgbClr val="F4F1EA"/>
                </a:solidFill>
                <a:latin typeface="Montserrat"/>
              </a:rPr>
              <a:t>STAYS OUT</a:t>
            </a:r>
          </a:p>
        </p:txBody>
      </p:sp>
      <p:sp>
        <p:nvSpPr>
          <p:cNvPr id="7" name="TextBox 6"/>
          <p:cNvSpPr txBox="1"/>
          <p:nvPr/>
        </p:nvSpPr>
        <p:spPr>
          <a:xfrm>
            <a:off x="762000" y="7962900"/>
            <a:ext cx="8763000" cy="3066975"/>
          </a:xfrm>
          <a:prstGeom prst="rect">
            <a:avLst/>
          </a:prstGeom>
          <a:noFill/>
        </p:spPr>
        <p:txBody>
          <a:bodyPr wrap="square" lIns="0" rIns="0" tIns="0" bIns="0" anchor="t">
            <a:spAutoFit/>
          </a:bodyPr>
          <a:lstStyle/>
          <a:p>
            <a:pPr algn="l">
              <a:lnSpc>
                <a:spcPct val="130000"/>
              </a:lnSpc>
            </a:pPr>
            <a:r>
              <a:rPr sz="3000" b="0" i="0">
                <a:solidFill>
                  <a:srgbClr val="F4F1EA"/>
                </a:solidFill>
                <a:latin typeface="Source Sans 3"/>
              </a:rPr>
              <a:t>Cat feces can carry Toxoplasma gondii, which people can also pick up from contaminated soil. USDA advises against using dog waste compost on food crops, even after hot composting, and against composting cat waste or litter at all.</a:t>
            </a:r>
          </a:p>
        </p:txBody>
      </p:sp>
      <p:sp>
        <p:nvSpPr>
          <p:cNvPr id="8" name="TextBox 7"/>
          <p:cNvSpPr txBox="1"/>
          <p:nvPr/>
        </p:nvSpPr>
        <p:spPr>
          <a:xfrm>
            <a:off x="762000" y="12192000"/>
            <a:ext cx="7429500" cy="228600"/>
          </a:xfrm>
          <a:prstGeom prst="rect">
            <a:avLst/>
          </a:prstGeom>
          <a:noFill/>
        </p:spPr>
        <p:txBody>
          <a:bodyPr wrap="square" lIns="0" rIns="0" tIns="0" bIns="0" anchor="t">
            <a:spAutoFit/>
          </a:bodyPr>
          <a:lstStyle/>
          <a:p>
            <a:pPr algn="l">
              <a:lnSpc>
                <a:spcPct val="120000"/>
              </a:lnSpc>
            </a:pPr>
            <a:r>
              <a:rPr sz="1400" b="0" i="0">
                <a:solidFill>
                  <a:srgbClr val="F4F1EA">
                    <a:alpha val="70000"/>
                  </a:srgbClr>
                </a:solidFill>
                <a:latin typeface="Source Sans 3"/>
              </a:rPr>
              <a:t>USDA NRCS 2005; CDC 2025</a:t>
            </a:r>
          </a:p>
        </p:txBody>
      </p:sp>
      <p:pic>
        <p:nvPicPr>
          <p:cNvPr id="9" name="Picture 8" descr="foundation-logo-white.png"/>
          <p:cNvPicPr>
            <a:picLocks noChangeAspect="1"/>
          </p:cNvPicPr>
          <p:nvPr/>
        </p:nvPicPr>
        <p:blipFill>
          <a:blip r:embed="rId5"/>
          <a:stretch>
            <a:fillRect/>
          </a:stretch>
        </p:blipFill>
        <p:spPr>
          <a:xfrm>
            <a:off x="8667750" y="11516532"/>
            <a:ext cx="857250" cy="77071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2371F"/>
        </a:solidFill>
        <a:effectLst/>
      </p:bgPr>
    </p:bg>
    <p:spTree>
      <p:nvGrpSpPr>
        <p:cNvPr id="1" name=""/>
        <p:cNvGrpSpPr/>
        <p:nvPr/>
      </p:nvGrpSpPr>
      <p:grpSpPr/>
      <p:pic>
        <p:nvPicPr>
          <p:cNvPr id="2" name="Picture 1" descr="7437048142426058951.jpg"/>
          <p:cNvPicPr>
            <a:picLocks noChangeAspect="1"/>
          </p:cNvPicPr>
          <p:nvPr/>
        </p:nvPicPr>
        <p:blipFill>
          <a:blip r:embed="rId3"/>
          <a:stretch>
            <a:fillRect/>
          </a:stretch>
        </p:blipFill>
        <p:spPr>
          <a:xfrm>
            <a:off x="0" y="0"/>
            <a:ext cx="10287000" cy="6667500"/>
          </a:xfrm>
          <a:prstGeom prst="rect">
            <a:avLst/>
          </a:prstGeom>
        </p:spPr>
      </p:pic>
      <p:sp>
        <p:nvSpPr>
          <p:cNvPr id="3" name="TextBox 2"/>
          <p:cNvSpPr txBox="1"/>
          <p:nvPr/>
        </p:nvSpPr>
        <p:spPr>
          <a:xfrm>
            <a:off x="762000" y="6781800"/>
            <a:ext cx="8763000" cy="228600"/>
          </a:xfrm>
          <a:prstGeom prst="rect">
            <a:avLst/>
          </a:prstGeom>
          <a:noFill/>
        </p:spPr>
        <p:txBody>
          <a:bodyPr wrap="square" lIns="0" rIns="0" tIns="0" bIns="0" anchor="t">
            <a:spAutoFit/>
          </a:bodyPr>
          <a:lstStyle/>
          <a:p>
            <a:pPr algn="r">
              <a:lnSpc>
                <a:spcPct val="120000"/>
              </a:lnSpc>
            </a:pPr>
            <a:r>
              <a:rPr sz="1400" b="0" i="0">
                <a:solidFill>
                  <a:srgbClr val="F4F1EA">
                    <a:alpha val="70000"/>
                  </a:srgbClr>
                </a:solidFill>
                <a:latin typeface="Source Sans 3"/>
              </a:rPr>
              <a:t>Photo: Edward Howell on Unsplash</a:t>
            </a:r>
          </a:p>
        </p:txBody>
      </p:sp>
      <p:sp>
        <p:nvSpPr>
          <p:cNvPr id="4" name="TextBox 3"/>
          <p:cNvSpPr txBox="1"/>
          <p:nvPr/>
        </p:nvSpPr>
        <p:spPr>
          <a:xfrm>
            <a:off x="762000" y="7239000"/>
            <a:ext cx="8763000" cy="1722078"/>
          </a:xfrm>
          <a:prstGeom prst="rect">
            <a:avLst/>
          </a:prstGeom>
          <a:noFill/>
        </p:spPr>
        <p:txBody>
          <a:bodyPr wrap="square" lIns="0" rIns="0" tIns="0" bIns="0" anchor="t">
            <a:spAutoFit/>
          </a:bodyPr>
          <a:lstStyle/>
          <a:p>
            <a:pPr algn="l">
              <a:lnSpc>
                <a:spcPct val="105000"/>
              </a:lnSpc>
            </a:pPr>
            <a:r>
              <a:rPr sz="6000" b="1" i="0">
                <a:solidFill>
                  <a:srgbClr val="F4F1EA"/>
                </a:solidFill>
                <a:latin typeface="Montserrat"/>
              </a:rPr>
              <a:t>Slow or hot, both work.</a:t>
            </a:r>
          </a:p>
        </p:txBody>
      </p:sp>
      <p:sp>
        <p:nvSpPr>
          <p:cNvPr id="5" name="Rectangle 4"/>
          <p:cNvSpPr/>
          <p:nvPr/>
        </p:nvSpPr>
        <p:spPr>
          <a:xfrm>
            <a:off x="762000" y="9189678"/>
            <a:ext cx="57150" cy="1047750"/>
          </a:xfrm>
          <a:prstGeom prst="rect">
            <a:avLst/>
          </a:prstGeom>
          <a:solidFill>
            <a:srgbClr val="156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7750" y="9189678"/>
            <a:ext cx="8477250" cy="1085825"/>
          </a:xfrm>
          <a:prstGeom prst="rect">
            <a:avLst/>
          </a:prstGeom>
          <a:noFill/>
        </p:spPr>
        <p:txBody>
          <a:bodyPr wrap="square" lIns="0" rIns="0" tIns="0" bIns="0">
            <a:spAutoFit/>
          </a:bodyPr>
          <a:lstStyle/>
          <a:p>
            <a:pPr>
              <a:lnSpc>
                <a:spcPct val="130000"/>
              </a:lnSpc>
            </a:pPr>
            <a:r>
              <a:rPr sz="3000" b="1">
                <a:solidFill>
                  <a:srgbClr val="F4F1EA"/>
                </a:solidFill>
                <a:latin typeface="Montserrat"/>
              </a:rPr>
              <a:t>Cold or static pile: </a:t>
            </a:r>
            <a:r>
              <a:rPr sz="3000" b="0">
                <a:solidFill>
                  <a:srgbClr val="F4F1EA"/>
                </a:solidFill>
                <a:latin typeface="Source Sans 3"/>
              </a:rPr>
              <a:t>fine for plant-eater and poultry manure, on a longer timeline.</a:t>
            </a:r>
          </a:p>
        </p:txBody>
      </p:sp>
      <p:sp>
        <p:nvSpPr>
          <p:cNvPr id="7" name="TextBox 6"/>
          <p:cNvSpPr txBox="1"/>
          <p:nvPr/>
        </p:nvSpPr>
        <p:spPr>
          <a:xfrm>
            <a:off x="762000" y="12192000"/>
            <a:ext cx="7429500" cy="228600"/>
          </a:xfrm>
          <a:prstGeom prst="rect">
            <a:avLst/>
          </a:prstGeom>
          <a:noFill/>
        </p:spPr>
        <p:txBody>
          <a:bodyPr wrap="square" lIns="0" rIns="0" tIns="0" bIns="0" anchor="t">
            <a:spAutoFit/>
          </a:bodyPr>
          <a:lstStyle/>
          <a:p>
            <a:pPr algn="l">
              <a:lnSpc>
                <a:spcPct val="120000"/>
              </a:lnSpc>
            </a:pPr>
            <a:r>
              <a:rPr sz="1400" b="0" i="0">
                <a:solidFill>
                  <a:srgbClr val="F4F1EA">
                    <a:alpha val="70000"/>
                  </a:srgbClr>
                </a:solidFill>
                <a:latin typeface="Source Sans 3"/>
              </a:rPr>
              <a:t>Soil Food Web School, Compost Manual</a:t>
            </a:r>
          </a:p>
        </p:txBody>
      </p:sp>
      <p:pic>
        <p:nvPicPr>
          <p:cNvPr id="8" name="Picture 7" descr="foundation-logo-white.png"/>
          <p:cNvPicPr>
            <a:picLocks noChangeAspect="1"/>
          </p:cNvPicPr>
          <p:nvPr/>
        </p:nvPicPr>
        <p:blipFill>
          <a:blip r:embed="rId4"/>
          <a:stretch>
            <a:fillRect/>
          </a:stretch>
        </p:blipFill>
        <p:spPr>
          <a:xfrm>
            <a:off x="8667750" y="11516532"/>
            <a:ext cx="857250" cy="77071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2371F"/>
        </a:solidFill>
        <a:effectLst/>
      </p:bgPr>
    </p:bg>
    <p:spTree>
      <p:nvGrpSpPr>
        <p:cNvPr id="1" name=""/>
        <p:cNvGrpSpPr/>
        <p:nvPr/>
      </p:nvGrpSpPr>
      <p:grpSpPr/>
      <p:pic>
        <p:nvPicPr>
          <p:cNvPr id="2" name="Picture 1" descr="1361381514013476660.jpg"/>
          <p:cNvPicPr>
            <a:picLocks noChangeAspect="1"/>
          </p:cNvPicPr>
          <p:nvPr/>
        </p:nvPicPr>
        <p:blipFill>
          <a:blip r:embed="rId3"/>
          <a:stretch>
            <a:fillRect/>
          </a:stretch>
        </p:blipFill>
        <p:spPr>
          <a:xfrm>
            <a:off x="0" y="0"/>
            <a:ext cx="10287000" cy="6667500"/>
          </a:xfrm>
          <a:prstGeom prst="rect">
            <a:avLst/>
          </a:prstGeom>
        </p:spPr>
      </p:pic>
      <p:sp>
        <p:nvSpPr>
          <p:cNvPr id="3" name="TextBox 2"/>
          <p:cNvSpPr txBox="1"/>
          <p:nvPr/>
        </p:nvSpPr>
        <p:spPr>
          <a:xfrm>
            <a:off x="762000" y="6781800"/>
            <a:ext cx="8763000" cy="228600"/>
          </a:xfrm>
          <a:prstGeom prst="rect">
            <a:avLst/>
          </a:prstGeom>
          <a:noFill/>
        </p:spPr>
        <p:txBody>
          <a:bodyPr wrap="square" lIns="0" rIns="0" tIns="0" bIns="0" anchor="t">
            <a:spAutoFit/>
          </a:bodyPr>
          <a:lstStyle/>
          <a:p>
            <a:pPr algn="r">
              <a:lnSpc>
                <a:spcPct val="120000"/>
              </a:lnSpc>
            </a:pPr>
            <a:r>
              <a:rPr sz="1400" b="0" i="0">
                <a:solidFill>
                  <a:srgbClr val="F4F1EA">
                    <a:alpha val="70000"/>
                  </a:srgbClr>
                </a:solidFill>
                <a:latin typeface="Source Sans 3"/>
              </a:rPr>
              <a:t>Photo: Frank Thiemonge on Unsplash</a:t>
            </a:r>
          </a:p>
        </p:txBody>
      </p:sp>
      <p:pic>
        <p:nvPicPr>
          <p:cNvPr id="4" name="Picture 3" descr="icon-compost-thermometer-cream.png"/>
          <p:cNvPicPr>
            <a:picLocks noChangeAspect="1"/>
          </p:cNvPicPr>
          <p:nvPr/>
        </p:nvPicPr>
        <p:blipFill>
          <a:blip r:embed="rId4"/>
          <a:stretch>
            <a:fillRect/>
          </a:stretch>
        </p:blipFill>
        <p:spPr>
          <a:xfrm>
            <a:off x="8477250" y="7239000"/>
            <a:ext cx="1047610" cy="1143000"/>
          </a:xfrm>
          <a:prstGeom prst="rect">
            <a:avLst/>
          </a:prstGeom>
        </p:spPr>
      </p:pic>
      <p:sp>
        <p:nvSpPr>
          <p:cNvPr id="5" name="TextBox 4"/>
          <p:cNvSpPr txBox="1"/>
          <p:nvPr/>
        </p:nvSpPr>
        <p:spPr>
          <a:xfrm>
            <a:off x="762000" y="7239000"/>
            <a:ext cx="7429500" cy="1722078"/>
          </a:xfrm>
          <a:prstGeom prst="rect">
            <a:avLst/>
          </a:prstGeom>
          <a:noFill/>
        </p:spPr>
        <p:txBody>
          <a:bodyPr wrap="square" lIns="0" rIns="0" tIns="0" bIns="0" anchor="t">
            <a:spAutoFit/>
          </a:bodyPr>
          <a:lstStyle/>
          <a:p>
            <a:pPr algn="l">
              <a:lnSpc>
                <a:spcPct val="105000"/>
              </a:lnSpc>
            </a:pPr>
            <a:r>
              <a:rPr sz="6000" b="1" i="0">
                <a:solidFill>
                  <a:srgbClr val="F4F1EA"/>
                </a:solidFill>
                <a:latin typeface="Montserrat"/>
              </a:rPr>
              <a:t>Slow or hot, both work.</a:t>
            </a:r>
          </a:p>
        </p:txBody>
      </p:sp>
      <p:sp>
        <p:nvSpPr>
          <p:cNvPr id="6" name="Rectangle 5"/>
          <p:cNvSpPr/>
          <p:nvPr/>
        </p:nvSpPr>
        <p:spPr>
          <a:xfrm>
            <a:off x="762000" y="9189678"/>
            <a:ext cx="57150" cy="1524000"/>
          </a:xfrm>
          <a:prstGeom prst="rect">
            <a:avLst/>
          </a:prstGeom>
          <a:solidFill>
            <a:srgbClr val="156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9189678"/>
            <a:ext cx="8477250" cy="1581112"/>
          </a:xfrm>
          <a:prstGeom prst="rect">
            <a:avLst/>
          </a:prstGeom>
          <a:noFill/>
        </p:spPr>
        <p:txBody>
          <a:bodyPr wrap="square" lIns="0" rIns="0" tIns="0" bIns="0">
            <a:spAutoFit/>
          </a:bodyPr>
          <a:lstStyle/>
          <a:p>
            <a:pPr>
              <a:lnSpc>
                <a:spcPct val="130000"/>
              </a:lnSpc>
            </a:pPr>
            <a:r>
              <a:rPr sz="3000" b="1">
                <a:solidFill>
                  <a:srgbClr val="F4F1EA"/>
                </a:solidFill>
                <a:latin typeface="Montserrat"/>
              </a:rPr>
              <a:t>Thermophilic pile: </a:t>
            </a:r>
            <a:r>
              <a:rPr sz="3000" b="0">
                <a:solidFill>
                  <a:srgbClr val="F4F1EA"/>
                </a:solidFill>
                <a:latin typeface="Source Sans 3"/>
              </a:rPr>
              <a:t>above 55°C (131°F) for 3 days at the center. Turn it so every part passes through the hot center.</a:t>
            </a:r>
          </a:p>
        </p:txBody>
      </p:sp>
      <p:sp>
        <p:nvSpPr>
          <p:cNvPr id="8" name="TextBox 7"/>
          <p:cNvSpPr txBox="1"/>
          <p:nvPr/>
        </p:nvSpPr>
        <p:spPr>
          <a:xfrm>
            <a:off x="762000" y="12192000"/>
            <a:ext cx="7429500" cy="228600"/>
          </a:xfrm>
          <a:prstGeom prst="rect">
            <a:avLst/>
          </a:prstGeom>
          <a:noFill/>
        </p:spPr>
        <p:txBody>
          <a:bodyPr wrap="square" lIns="0" rIns="0" tIns="0" bIns="0" anchor="t">
            <a:spAutoFit/>
          </a:bodyPr>
          <a:lstStyle/>
          <a:p>
            <a:pPr algn="l">
              <a:lnSpc>
                <a:spcPct val="120000"/>
              </a:lnSpc>
            </a:pPr>
            <a:r>
              <a:rPr sz="1400" b="0" i="0">
                <a:solidFill>
                  <a:srgbClr val="F4F1EA">
                    <a:alpha val="70000"/>
                  </a:srgbClr>
                </a:solidFill>
                <a:latin typeface="Source Sans 3"/>
              </a:rPr>
              <a:t>Soil Food Web School, Compost Manual</a:t>
            </a:r>
          </a:p>
        </p:txBody>
      </p:sp>
      <p:pic>
        <p:nvPicPr>
          <p:cNvPr id="9" name="Picture 8" descr="foundation-logo-white.png"/>
          <p:cNvPicPr>
            <a:picLocks noChangeAspect="1"/>
          </p:cNvPicPr>
          <p:nvPr/>
        </p:nvPicPr>
        <p:blipFill>
          <a:blip r:embed="rId5"/>
          <a:stretch>
            <a:fillRect/>
          </a:stretch>
        </p:blipFill>
        <p:spPr>
          <a:xfrm>
            <a:off x="8667750" y="11516532"/>
            <a:ext cx="857250" cy="770717"/>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2371F"/>
        </a:solidFill>
        <a:effectLst/>
      </p:bgPr>
    </p:bg>
    <p:spTree>
      <p:nvGrpSpPr>
        <p:cNvPr id="1" name=""/>
        <p:cNvGrpSpPr/>
        <p:nvPr/>
      </p:nvGrpSpPr>
      <p:grpSpPr/>
      <p:sp>
        <p:nvSpPr>
          <p:cNvPr id="2" name="TextBox 1"/>
          <p:cNvSpPr txBox="1"/>
          <p:nvPr/>
        </p:nvSpPr>
        <p:spPr>
          <a:xfrm>
            <a:off x="762000" y="1619250"/>
            <a:ext cx="8763000" cy="3587408"/>
          </a:xfrm>
          <a:prstGeom prst="rect">
            <a:avLst/>
          </a:prstGeom>
          <a:noFill/>
        </p:spPr>
        <p:txBody>
          <a:bodyPr wrap="square" lIns="0" rIns="0" tIns="0" bIns="0" anchor="t">
            <a:spAutoFit/>
          </a:bodyPr>
          <a:lstStyle/>
          <a:p>
            <a:pPr algn="l">
              <a:lnSpc>
                <a:spcPct val="105000"/>
              </a:lnSpc>
            </a:pPr>
            <a:r>
              <a:rPr sz="6400" b="1" i="0">
                <a:solidFill>
                  <a:srgbClr val="F4F1EA"/>
                </a:solidFill>
                <a:latin typeface="Montserrat"/>
              </a:rPr>
              <a:t>Advanced BioComplete Compost Production</a:t>
            </a:r>
          </a:p>
        </p:txBody>
      </p:sp>
      <p:sp>
        <p:nvSpPr>
          <p:cNvPr id="3" name="Rectangle 2"/>
          <p:cNvSpPr/>
          <p:nvPr/>
        </p:nvSpPr>
        <p:spPr>
          <a:xfrm>
            <a:off x="762000" y="6096000"/>
            <a:ext cx="1143000" cy="381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2000" y="6477000"/>
            <a:ext cx="8763000" cy="1680170"/>
          </a:xfrm>
          <a:prstGeom prst="rect">
            <a:avLst/>
          </a:prstGeom>
          <a:noFill/>
        </p:spPr>
        <p:txBody>
          <a:bodyPr wrap="square" lIns="0" rIns="0" tIns="0" bIns="0" anchor="t">
            <a:spAutoFit/>
          </a:bodyPr>
          <a:lstStyle/>
          <a:p>
            <a:pPr algn="l">
              <a:lnSpc>
                <a:spcPct val="130000"/>
              </a:lnSpc>
            </a:pPr>
            <a:r>
              <a:rPr sz="3200" b="0" i="0">
                <a:solidFill>
                  <a:srgbClr val="F4F1EA"/>
                </a:solidFill>
                <a:latin typeface="Source Sans 3"/>
              </a:rPr>
              <a:t>Building and assessing three compost piles that meet biological minimums. At the Soil Food Web School. Link in bio.</a:t>
            </a:r>
          </a:p>
        </p:txBody>
      </p:sp>
      <p:pic>
        <p:nvPicPr>
          <p:cNvPr id="5" name="Picture 4" descr="foundation-logo-white.png"/>
          <p:cNvPicPr>
            <a:picLocks noChangeAspect="1"/>
          </p:cNvPicPr>
          <p:nvPr/>
        </p:nvPicPr>
        <p:blipFill>
          <a:blip r:embed="rId3"/>
          <a:stretch>
            <a:fillRect/>
          </a:stretch>
        </p:blipFill>
        <p:spPr>
          <a:xfrm>
            <a:off x="4000500" y="9688001"/>
            <a:ext cx="2286000" cy="205524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