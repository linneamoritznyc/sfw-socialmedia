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Trifold-style v2. Sources: Soil Food Web School, Compost Manual: [LINK FROM CARLA]. Miller et al. (2015). Ascariasis in humans and pigs on small-scale farms, Maine, USA, 2010 to 2013. Emerging Infectious Diseases, 21(2): https://doi.org/10.3201/eid2102.140048. USDA NRCS and Fairbanks Soil and Water Conservation District (2005). Composting Dog Waste: https://www.epa.gov/system/files/documents/2022-11/Composting-Dog-Waste-Booklet-Alaska.pdf. CDC (2025). About Toxoplasmosis: https://www.cdc.gov/toxoplasmosis/about/index.html. Course: https://school.soilfoodweb.com/bundles/advanced-biocomplete-compost-production Photo barnyard.jpg: Stephen Mease on Unsplash, https://unsplash.com/photos/a-group-of-chickens-and-sheep-in-a-barn-l4Pkxre1GiE.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ingredient tiles. Photo manure.jpg: Wolfgang Weiser on Unsplash, https://unsplash.com/photos/large-manure-piles-in-a-golden-harvested-field-6iG19RE7Nic. Photo grass-clippings.jpg: Roger Starnes Sr on Unsplash, https://unsplash.com/photos/freshly-cut-grass-lies-on-the-lawn-8T7ebXcPYHg. Photo wood-chips.jpg: John Kinnander on Unsplash, https://unsplash.com/photos/brown-wood-logs-in-close-up-photography-6H-Bt7kMYHA.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Plant-eaters and poultry. Photo rabbit.jpg: Adrian Pereira on Unsplash, https://unsplash.com/photos/brown-hare-on-grass-field-cIH81koe-ao. Photo goat.jpg: Maxime Agnelli on Unsplash, https://unsplash.com/photos/selective-focus-photography-of-brown-goat-during-daytime-bhD6TGRjnWc. Photo sheep.jpg: Sam Carter on Unsplash, https://unsplash.com/photos/white-sheep-on-green-grass-during-daytime-GHOiyov2TSQ. Photo alpaca.jpg: Maksim Samuilionak on Unsplash, https://unsplash.com/photos/a-close-up-of-a-fluffy-alpacas-head-DyABRVYb4b8. Photo guinea-pig.jpg: Jack Catalano on Unsplash, https://unsplash.com/photos/brown-and-white-guinea-pig-eating-carrot-q1pw1dOW0_0. Photo horse.jpg: Roger Starnes Sr on Unsplash, https://unsplash.com/photos/a-brown-horse-grazes-peacefully-in-a-sunny-green-field-3w1VfQHm_Lc. Photo cow.jpg: Diana Shchurova on Unsplash, https://unsplash.com/photos/a-brown-and-white-cow-standing-on-top-of-a-grass-covered-field-tDRZNFrz9yA. Photo chicken.jpg: sippakorn yamkasikorn on Unsplash, https://unsplash.com/photos/white-and-brown-chicken-on-green-grass-field-during-daytime-wWIK8hnESnY.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Pig. Photo pig.jpg: Pauline Bernfeld on Unsplash, https://unsplash.com/photos/black-pig-in-blue-wooden-cage-S99OqS453go.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Dog and cat. Photo dog.jpg: iridial on Unsplash, https://unsplash.com/photos/border-collie-lying-in-green-grass-GmgYWfGTWPA. Photo cat.jpg: Sean Foster on Unsplash, https://unsplash.com/photos/an-orange-cat-laying-on-top-of-a-wooden-floor-19eq09rpv-M.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panels with a Food Web Green rule on the left edge, then a compost pile photo. No steaming pile or compost thermometer was found on Unsplash; a garden fork in a compost pile is used instead. Photo compost-fork.jpg: Roberto Catarinicchia on Unsplash, https://unsplash.com/photos/a-garden-fork-stuck-in-a-pile-of-dirt-eNMvmX0c_vQ.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 Course: https://school.soilfoodweb.com/bundles/advanced-biocomplete-compost-production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jp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jp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0972527664542170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29375"/>
            <a:ext cx="10287000" cy="6429375"/>
          </a:xfrm>
          <a:prstGeom prst="rect">
            <a:avLst/>
          </a:prstGeom>
          <a:solidFill>
            <a:srgbClr val="22371F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7096125"/>
            <a:ext cx="8763000" cy="3333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0" b="1" i="0">
                <a:solidFill>
                  <a:srgbClr val="F4F1EA"/>
                </a:solidFill>
                <a:latin typeface="Montserrat"/>
              </a:rPr>
              <a:t>Whose manure belongs in your compost?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620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4F1EA"/>
                </a:solidFill>
                <a:latin typeface="Source Sans 3"/>
              </a:rPr>
              <a:t>Happy World Animal Day, October 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245870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F4F1EA">
                    <a:alpha val="75000"/>
                  </a:srgbClr>
                </a:solidFill>
                <a:latin typeface="Source Sans 3"/>
              </a:rPr>
              <a:t>Photo: Stephen Mease on Unsplash</a:t>
            </a:r>
          </a:p>
        </p:txBody>
      </p:sp>
      <p:pic>
        <p:nvPicPr>
          <p:cNvPr id="7" name="Picture 6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7750" y="113260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952500"/>
            <a:ext cx="8763000" cy="1831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Manure is one</a:t>
            </a:r>
          </a:p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ingredient.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936704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>In a Soil Food Web compost pile, manure is the high-nitrogen part. It goes in with green plant material and woody material. Bedding counts as woody material.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829300"/>
            <a:ext cx="8763000" cy="19050"/>
          </a:xfrm>
          <a:prstGeom prst="rect">
            <a:avLst/>
          </a:prstGeom>
          <a:solidFill>
            <a:srgbClr val="4F343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72595166779684316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10300"/>
            <a:ext cx="2768600" cy="276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9131300"/>
            <a:ext cx="2768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22371F"/>
                </a:solidFill>
                <a:latin typeface="Montserrat"/>
              </a:rPr>
              <a:t>High nitrogen</a:t>
            </a:r>
          </a:p>
        </p:txBody>
      </p:sp>
      <p:pic>
        <p:nvPicPr>
          <p:cNvPr id="7" name="Picture 6" descr="60968814708254089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9200" y="6210300"/>
            <a:ext cx="2768600" cy="276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759200" y="9131300"/>
            <a:ext cx="2768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22371F"/>
                </a:solidFill>
                <a:latin typeface="Montserrat"/>
              </a:rPr>
              <a:t>Green</a:t>
            </a:r>
          </a:p>
        </p:txBody>
      </p:sp>
      <p:pic>
        <p:nvPicPr>
          <p:cNvPr id="9" name="Picture 8" descr="210258372732429275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400" y="6210300"/>
            <a:ext cx="2768600" cy="276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56400" y="9131300"/>
            <a:ext cx="2768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22371F"/>
                </a:solidFill>
                <a:latin typeface="Montserrat"/>
              </a:rPr>
              <a:t>Woody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955040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A665C"/>
                </a:solidFill>
                <a:latin typeface="Source Sans 3"/>
              </a:rPr>
              <a:t>Photo: Wolfgang Weiser, Roger Starnes Sr, John Kinnander on Unsplash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2001500"/>
            <a:ext cx="7524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130">
                    <a:alpha val="70000"/>
                  </a:srgbClr>
                </a:solidFill>
                <a:latin typeface="Source Sans 3"/>
              </a:rPr>
              <a:t>Soil Food Web School, Compost Manual</a:t>
            </a:r>
          </a:p>
        </p:txBody>
      </p:sp>
      <p:pic>
        <p:nvPicPr>
          <p:cNvPr id="13" name="Picture 12" descr="foundation-logo-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0" y="113260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80500796886642199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2133600" cy="2133600"/>
          </a:xfrm>
          <a:prstGeom prst="rect">
            <a:avLst/>
          </a:prstGeom>
        </p:spPr>
      </p:pic>
      <p:pic>
        <p:nvPicPr>
          <p:cNvPr id="3" name="Picture 2" descr="29852350591261106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762000"/>
            <a:ext cx="2133600" cy="2133600"/>
          </a:xfrm>
          <a:prstGeom prst="rect">
            <a:avLst/>
          </a:prstGeom>
        </p:spPr>
      </p:pic>
      <p:pic>
        <p:nvPicPr>
          <p:cNvPr id="4" name="Picture 3" descr="906683027351355736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762000"/>
            <a:ext cx="2133600" cy="2133600"/>
          </a:xfrm>
          <a:prstGeom prst="rect">
            <a:avLst/>
          </a:prstGeom>
        </p:spPr>
      </p:pic>
      <p:pic>
        <p:nvPicPr>
          <p:cNvPr id="5" name="Picture 4" descr="55012310997812588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1400" y="762000"/>
            <a:ext cx="2133600" cy="2133600"/>
          </a:xfrm>
          <a:prstGeom prst="rect">
            <a:avLst/>
          </a:prstGeom>
        </p:spPr>
      </p:pic>
      <p:pic>
        <p:nvPicPr>
          <p:cNvPr id="6" name="Picture 5" descr="256616475092312937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2971800"/>
            <a:ext cx="2133600" cy="2133600"/>
          </a:xfrm>
          <a:prstGeom prst="rect">
            <a:avLst/>
          </a:prstGeom>
        </p:spPr>
      </p:pic>
      <p:pic>
        <p:nvPicPr>
          <p:cNvPr id="7" name="Picture 6" descr="27159865860493477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71800" y="2971800"/>
            <a:ext cx="2133600" cy="2133600"/>
          </a:xfrm>
          <a:prstGeom prst="rect">
            <a:avLst/>
          </a:prstGeom>
        </p:spPr>
      </p:pic>
      <p:pic>
        <p:nvPicPr>
          <p:cNvPr id="8" name="Picture 7" descr="194393897989580250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1600" y="2971800"/>
            <a:ext cx="2133600" cy="2133600"/>
          </a:xfrm>
          <a:prstGeom prst="rect">
            <a:avLst/>
          </a:prstGeom>
        </p:spPr>
      </p:pic>
      <p:pic>
        <p:nvPicPr>
          <p:cNvPr id="9" name="Picture 8" descr="303888458297532291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91400" y="2971800"/>
            <a:ext cx="2133600" cy="2133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5219700"/>
            <a:ext cx="8763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A665C"/>
                </a:solidFill>
                <a:latin typeface="Source Sans 3"/>
              </a:rPr>
              <a:t>Photo: Adrian Pereira, Maxime Agnelli, Sam Carter, Maksim Samuilionak, Jack Catalano, Roger Starnes Sr, Diana Shchurova, sippakorn yamkasikorn on Unsplash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5905500"/>
            <a:ext cx="3556935" cy="3810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905500"/>
            <a:ext cx="355693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00">
                <a:solidFill>
                  <a:srgbClr val="F4F1EA"/>
                </a:solidFill>
                <a:latin typeface="Montserrat"/>
              </a:rPr>
              <a:t>WELCOME IN THE PILE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457950"/>
            <a:ext cx="8763000" cy="17220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22371F"/>
                </a:solidFill>
                <a:latin typeface="Montserrat"/>
              </a:rPr>
              <a:t>Plant-eaters and poultry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294328"/>
            <a:ext cx="8763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Rabbit, goat, sheep, alpaca, guinea pig, horse, cow and chicken. Their manure is a great high-nitrogen ingredient. Use it fresh, or dry it and store it until you build the pile.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12001500"/>
            <a:ext cx="7524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130">
                    <a:alpha val="70000"/>
                  </a:srgbClr>
                </a:solidFill>
                <a:latin typeface="Source Sans 3"/>
              </a:rPr>
              <a:t>Soil Food Web School, Compost Manual</a:t>
            </a:r>
          </a:p>
        </p:txBody>
      </p:sp>
      <p:pic>
        <p:nvPicPr>
          <p:cNvPr id="16" name="Picture 15" descr="foundation-logo-colo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67750" y="113260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96613423424242938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8763000" cy="6667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54380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A665C"/>
                </a:solidFill>
                <a:latin typeface="Source Sans 3"/>
              </a:rPr>
              <a:t>Photo: Pauline Bernfeld on Unsplash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7962900"/>
            <a:ext cx="2880296" cy="381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962900"/>
            <a:ext cx="2880296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00">
                <a:solidFill>
                  <a:srgbClr val="22371F"/>
                </a:solidFill>
                <a:latin typeface="Montserrat"/>
              </a:rPr>
              <a:t>TAKE EXTRA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515350"/>
            <a:ext cx="8763000" cy="899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22371F"/>
                </a:solidFill>
                <a:latin typeface="Montserrat"/>
              </a:rPr>
              <a:t>Pig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410700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Pig roundworm can infect people. Pig manure goes into a pile that completes the thermophilic requirements, and raw pig manure stays away from produce.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2001500"/>
            <a:ext cx="7524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130">
                    <a:alpha val="70000"/>
                  </a:srgbClr>
                </a:solidFill>
                <a:latin typeface="Source Sans 3"/>
              </a:rPr>
              <a:t>Miller et al. 2015, Emerging Infectious Diseases</a:t>
            </a:r>
          </a:p>
        </p:txBody>
      </p:sp>
      <p:pic>
        <p:nvPicPr>
          <p:cNvPr id="9" name="Picture 8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7750" y="113260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127641207117990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4305300" cy="6667500"/>
          </a:xfrm>
          <a:prstGeom prst="rect">
            <a:avLst/>
          </a:prstGeom>
        </p:spPr>
      </p:pic>
      <p:pic>
        <p:nvPicPr>
          <p:cNvPr id="3" name="Picture 2" descr="70596653835545969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762000"/>
            <a:ext cx="4305300" cy="6667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754380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A665C"/>
                </a:solidFill>
                <a:latin typeface="Source Sans 3"/>
              </a:rPr>
              <a:t>Photo: iridial, Sean Foster on Unsplash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7962900"/>
            <a:ext cx="4910213" cy="38100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962900"/>
            <a:ext cx="4910213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00">
                <a:solidFill>
                  <a:srgbClr val="F4F1EA"/>
                </a:solidFill>
                <a:latin typeface="Montserrat"/>
              </a:rPr>
              <a:t>KEEP OUT OF FOOD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515350"/>
            <a:ext cx="8763000" cy="899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22371F"/>
                </a:solidFill>
                <a:latin typeface="Montserrat"/>
              </a:rPr>
              <a:t>Dog and cat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410700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Dog poop can carry roundworm, and cat poop can carry Toxoplasma. Keep both out of compost for food production.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2001500"/>
            <a:ext cx="7524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130">
                    <a:alpha val="70000"/>
                  </a:srgbClr>
                </a:solidFill>
                <a:latin typeface="Source Sans 3"/>
              </a:rPr>
              <a:t>USDA NRCS 2005; CDC 2025</a:t>
            </a:r>
          </a:p>
        </p:txBody>
      </p:sp>
      <p:pic>
        <p:nvPicPr>
          <p:cNvPr id="10" name="Picture 9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0" y="113260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952500"/>
            <a:ext cx="8763000" cy="17220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22371F"/>
                </a:solidFill>
                <a:latin typeface="Montserrat"/>
              </a:rPr>
              <a:t>Slow or hot, both work.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903178"/>
            <a:ext cx="38100" cy="1562062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" y="2903178"/>
            <a:ext cx="8496300" cy="15620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3000" b="1">
                <a:solidFill>
                  <a:srgbClr val="333130"/>
                </a:solidFill>
                <a:latin typeface="Montserrat"/>
              </a:rPr>
              <a:t>Cold or static pile: </a:t>
            </a:r>
            <a:r>
              <a:rPr sz="3000" b="0">
                <a:solidFill>
                  <a:srgbClr val="333130"/>
                </a:solidFill>
                <a:latin typeface="Source Sans 3"/>
              </a:rPr>
              <a:t>fine for plant-eater and poultry manure, on a longer timeline.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4731941"/>
            <a:ext cx="38100" cy="1562062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8700" y="4731941"/>
            <a:ext cx="8496300" cy="15620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3000" b="1">
                <a:solidFill>
                  <a:srgbClr val="333130"/>
                </a:solidFill>
                <a:latin typeface="Montserrat"/>
              </a:rPr>
              <a:t>Thermophilic pile: </a:t>
            </a:r>
            <a:r>
              <a:rPr sz="3000" b="0">
                <a:solidFill>
                  <a:srgbClr val="333130"/>
                </a:solidFill>
                <a:latin typeface="Source Sans 3"/>
              </a:rPr>
              <a:t>above 55°C (131°F) for 3 days at the center. Turn it so every part passes through the hot center.</a:t>
            </a:r>
          </a:p>
        </p:txBody>
      </p:sp>
      <p:pic>
        <p:nvPicPr>
          <p:cNvPr id="7" name="Picture 6" descr="44726474548752677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751204"/>
            <a:ext cx="8763000" cy="44882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1135380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A665C"/>
                </a:solidFill>
                <a:latin typeface="Source Sans 3"/>
              </a:rPr>
              <a:t>Photo: Roberto Catarinicchia on Unsplash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2001500"/>
            <a:ext cx="7524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130">
                    <a:alpha val="70000"/>
                  </a:srgbClr>
                </a:solidFill>
                <a:latin typeface="Source Sans 3"/>
              </a:rPr>
              <a:t>Soil Food Web School, Compost Manual</a:t>
            </a:r>
          </a:p>
        </p:txBody>
      </p:sp>
      <p:pic>
        <p:nvPicPr>
          <p:cNvPr id="10" name="Picture 9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7750" y="113260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905000"/>
            <a:ext cx="8763000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Learn to build the pile with us.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5143500"/>
            <a:ext cx="114300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5524500"/>
            <a:ext cx="8763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0" i="0">
                <a:solidFill>
                  <a:srgbClr val="F4F1EA"/>
                </a:solidFill>
                <a:latin typeface="Source Sans 3"/>
              </a:rPr>
              <a:t>Advanced BioComplete Compost Production, at the Soil Food Web School. Link in bio.</a:t>
            </a:r>
          </a:p>
        </p:txBody>
      </p:sp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9688001"/>
            <a:ext cx="2286000" cy="20552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