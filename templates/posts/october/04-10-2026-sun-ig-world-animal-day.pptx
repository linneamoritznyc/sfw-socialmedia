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Sunday, October 4. World Animal Day: Whose poop goes in the compost? CTA: none. Link: none. Idea: Stina (SLU). 12 slides. Source: Rynk et al., On-Farm Composting Handbook (NRAES-54), 1992; US EPA 40 CFR Part 503; CDC, Toxocariasis and Toxoplasmosis fact sheets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rule. Plant-eaters vs meat-eaters. Legend for the traffic-light dots. Source: Rynk et al., On-Farm Composting Handbook (NRAES-54), 1992; US EPA 40 CFR Part 503; CDC, Toxocariasis and Toxoplasmosis fact sheets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Rabbit. Photo (rabbit): Adrian Pereira on Unsplash, https://unsplash.com/@adrianluisp10?utm_source=sfw_social&amp;utm_medium=referral.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Goat and sheep. Photo (goat): Maxime Agnelli on Unsplash, https://unsplash.com/@maxa?utm_source=sfw_social&amp;utm_medium=referral. Photo (sheep): Sam Carter on Unsplash, https://unsplash.com/@samdc?utm_source=sfw_social&amp;utm_medium=referral.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Alpaca, llama and guinea pig. Photo (alpaca): Maksim Samuilionak on Unsplash, https://unsplash.com/@maksim_taawy?utm_source=sfw_social&amp;utm_medium=referral. Photo (guinea-pig): Jack Catalano on Unsplash, https://unsplash.com/@jrcatalano?utm_source=sfw_social&amp;utm_medium=referral. No llama photo; the alpaca stands in for alpaca and llama.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Chicken. Photo (chicken): sippakorn yamkasikorn on Unsplash, https://unsplash.com/@sippakorn?utm_source=sfw_social&amp;utm_medium=referral.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Cow. Photo (cow): Diana Shchurova on Unsplash, https://unsplash.com/@ladydi1180?utm_source=sfw_social&amp;utm_medium=referral.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Horse. Photo (horse): Roger Starnes Sr on Unsplash, https://unsplash.com/@rstar50?utm_source=sfw_social&amp;utm_medium=referral.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Pig. Photo (pig): Pauline Bernfeld on Unsplash, https://unsplash.com/@pizbern?utm_source=sfw_social&amp;utm_medium=referral.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Dog and cat. Photo (dog): iridial on Unsplash, https://unsplash.com/@iridial_?utm_source=sfw_social&amp;utm_medium=referral. Photo (cat): Sean Foster on Unsplash, https://unsplash.com/@fosterious?utm_source=sfw_social&amp;utm_medium=referral. Source: Rynk et al., On-Farm Composting Handbook (NRAES-54), 1992; US EPA 40 CFR Part 503; CDC, Toxocariasis and Toxoplasmosis fact sheets [VERIFY with Wes]. Temperature line: 55 to 68°C from the takeaway; Fahrenheit converted (55°C = 131°F, 68°C = 154°F). 'Cold pile is fine' for green manures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Temperatures in Celsius and Fahrenheit. 55 to 68°C from the post; EPA line from 40 CFR Part 503, Appendix B (process to further reduce pathogens) [VERIFY with Wes]. Source: Rynk et al., On-Farm Composting Handbook (NRAES-54), 1992; US EPA 40 CFR Part 503; CDC, Toxocariasis and Toxoplasmosis fact sheets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Takeaway. Photo (compost-4): Frank Thiemonge on Unsplash, https://unsplash.com/@fthiemonge?utm_source=sfw_social&amp;utm_medium=referral. Source: Rynk et al., On-Farm Composting Handbook (NRAES-54), 1992; US EPA 40 CFR Part 503; CDC, Toxocariasis and Toxoplasmosis fact sheets [VERIFY with Wes].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9.jp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4.jpg"/><Relationship Id="rId5" Type="http://schemas.openxmlformats.org/officeDocument/2006/relationships/image" Target="../media/image7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15.jpg"/><Relationship Id="rId5" Type="http://schemas.openxmlformats.org/officeDocument/2006/relationships/image" Target="../media/image7.pn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16.jpg"/><Relationship Id="rId5" Type="http://schemas.openxmlformats.org/officeDocument/2006/relationships/image" Target="../media/image7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17.jpg"/><Relationship Id="rId5" Type="http://schemas.openxmlformats.org/officeDocument/2006/relationships/image" Target="../media/image7.png"/><Relationship Id="rId6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8.png"/><Relationship Id="rId7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20.jp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dried-flowers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520000">
            <a:off x="0" y="9206325"/>
            <a:ext cx="2857500" cy="3685349"/>
          </a:xfrm>
          <a:prstGeom prst="rect">
            <a:avLst/>
          </a:prstGeom>
        </p:spPr>
      </p:pic>
      <p:pic>
        <p:nvPicPr>
          <p:cNvPr id="4" name="Picture 3" descr="dried-flowers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320000">
            <a:off x="8572500" y="2209538"/>
            <a:ext cx="1619250" cy="2438923"/>
          </a:xfrm>
          <a:prstGeom prst="rect">
            <a:avLst/>
          </a:prstGeom>
        </p:spPr>
      </p:pic>
      <p:pic>
        <p:nvPicPr>
          <p:cNvPr id="5" name="Picture 4" descr="sfw-foundation-wordmark-2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762000"/>
            <a:ext cx="2000250" cy="1733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76225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>
                <a:solidFill>
                  <a:srgbClr val="156826"/>
                </a:solidFill>
                <a:latin typeface="Montserrat"/>
              </a:rPr>
              <a:t>World Animal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62375"/>
            <a:ext cx="8001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0" b="1" i="0">
                <a:solidFill>
                  <a:srgbClr val="22371F"/>
                </a:solidFill>
                <a:latin typeface="Montserrat"/>
              </a:rPr>
              <a:t>Whose poop goes in your compost?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62875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Happy World Animal Day, aka Animal Poop Day. 💩</a:t>
            </a:r>
          </a:p>
        </p:txBody>
      </p:sp>
      <p:pic>
        <p:nvPicPr>
          <p:cNvPr id="9" name="Picture 8" descr="poop-stick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240000">
            <a:off x="3524250" y="9021091"/>
            <a:ext cx="3619500" cy="3103317"/>
          </a:xfrm>
          <a:prstGeom prst="rect">
            <a:avLst/>
          </a:prstGeom>
        </p:spPr>
      </p:pic>
      <p:pic>
        <p:nvPicPr>
          <p:cNvPr id="10" name="Picture 9" descr="dot-green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0" y="8097252"/>
            <a:ext cx="952500" cy="950494"/>
          </a:xfrm>
          <a:prstGeom prst="rect">
            <a:avLst/>
          </a:prstGeom>
        </p:spPr>
      </p:pic>
      <p:sp>
        <p:nvSpPr>
          <p:cNvPr id="11" name="Freeform 10"/>
          <p:cNvSpPr/>
          <p:nvPr/>
        </p:nvSpPr>
        <p:spPr>
          <a:xfrm>
            <a:off x="8313964" y="8341178"/>
            <a:ext cx="557892" cy="449035"/>
          </a:xfrm>
          <a:custGeom>
            <a:avLst/>
            <a:gdLst/>
            <a:ahLst/>
            <a:cxnLst/>
            <a:rect l="l" t="t" r="r" b="b"/>
            <a:pathLst>
              <a:path w="557893" h="449036">
                <a:moveTo>
                  <a:pt x="0" y="244929"/>
                </a:moveTo>
                <a:lnTo>
                  <a:pt x="95250" y="149679"/>
                </a:lnTo>
                <a:lnTo>
                  <a:pt x="204107" y="258536"/>
                </a:lnTo>
                <a:lnTo>
                  <a:pt x="462643" y="0"/>
                </a:lnTo>
                <a:lnTo>
                  <a:pt x="557893" y="95250"/>
                </a:lnTo>
                <a:lnTo>
                  <a:pt x="204107" y="449036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ot-yellow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80000">
            <a:off x="8096250" y="9213613"/>
            <a:ext cx="952500" cy="908523"/>
          </a:xfrm>
          <a:prstGeom prst="rect">
            <a:avLst/>
          </a:prstGeom>
        </p:spPr>
      </p:pic>
      <p:pic>
        <p:nvPicPr>
          <p:cNvPr id="13" name="Picture 12" descr="dot-red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960000">
            <a:off x="8096250" y="10303463"/>
            <a:ext cx="952500" cy="9195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96250" y="10287000"/>
            <a:ext cx="9525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71" b="1" i="0">
                <a:solidFill>
                  <a:srgbClr val="F4F1EA"/>
                </a:solidFill>
                <a:latin typeface="Montserrat"/>
              </a:rPr>
              <a:t>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00000">
            <a:off x="238125" y="399788"/>
            <a:ext cx="1619250" cy="24389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2381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The rule: plant-eaters' manure is compost gold.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715000"/>
            <a:ext cx="8382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 i="0">
                <a:solidFill>
                  <a:srgbClr val="333130"/>
                </a:solidFill>
                <a:latin typeface="Source Sans 3"/>
              </a:rPr>
              <a:t>Meat-eaters' poop carries parasites that can infect people.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7810500"/>
            <a:ext cx="1143000" cy="47625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t-green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785812" y="8216265"/>
            <a:ext cx="904875" cy="902970"/>
          </a:xfrm>
          <a:prstGeom prst="rect">
            <a:avLst/>
          </a:prstGeom>
        </p:spPr>
      </p:pic>
      <p:sp>
        <p:nvSpPr>
          <p:cNvPr id="8" name="Freeform 7"/>
          <p:cNvSpPr/>
          <p:nvPr/>
        </p:nvSpPr>
        <p:spPr>
          <a:xfrm>
            <a:off x="992641" y="8447994"/>
            <a:ext cx="529998" cy="426583"/>
          </a:xfrm>
          <a:custGeom>
            <a:avLst/>
            <a:gdLst/>
            <a:ahLst/>
            <a:cxnLst/>
            <a:rect l="l" t="t" r="r" b="b"/>
            <a:pathLst>
              <a:path w="529998" h="426584">
                <a:moveTo>
                  <a:pt x="0" y="232682"/>
                </a:moveTo>
                <a:lnTo>
                  <a:pt x="90487" y="142195"/>
                </a:lnTo>
                <a:lnTo>
                  <a:pt x="193901" y="245609"/>
                </a:lnTo>
                <a:lnTo>
                  <a:pt x="439510" y="0"/>
                </a:lnTo>
                <a:lnTo>
                  <a:pt x="529998" y="90488"/>
                </a:lnTo>
                <a:lnTo>
                  <a:pt x="193901" y="426584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0250" y="8239125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371F"/>
                </a:solidFill>
                <a:latin typeface="Montserrat"/>
              </a:rPr>
              <a:t>Easy and low risk</a:t>
            </a:r>
          </a:p>
        </p:txBody>
      </p:sp>
      <p:pic>
        <p:nvPicPr>
          <p:cNvPr id="10" name="Picture 9" descr="dot-yellow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785812" y="9426826"/>
            <a:ext cx="904875" cy="863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00250" y="9429750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371F"/>
                </a:solidFill>
                <a:latin typeface="Montserrat"/>
              </a:rPr>
              <a:t>Hot compost it first</a:t>
            </a:r>
          </a:p>
        </p:txBody>
      </p:sp>
      <p:pic>
        <p:nvPicPr>
          <p:cNvPr id="12" name="Picture 11" descr="dot-red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0">
            <a:off x="785812" y="10612203"/>
            <a:ext cx="904875" cy="8735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5812" y="10596562"/>
            <a:ext cx="904875" cy="904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92" b="1" i="0">
                <a:solidFill>
                  <a:srgbClr val="F4F1EA"/>
                </a:solidFill>
                <a:latin typeface="Montserrat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10620375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371F"/>
                </a:solidFill>
                <a:latin typeface="Montserrat"/>
              </a:rPr>
              <a:t>Keep it out of food compost</a:t>
            </a:r>
          </a:p>
        </p:txBody>
      </p:sp>
      <p:pic>
        <p:nvPicPr>
          <p:cNvPr id="15" name="Picture 14" descr="poop-sticker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600000">
            <a:off x="8096250" y="10980753"/>
            <a:ext cx="1714500" cy="14699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2095499" y="904875"/>
            <a:ext cx="5911215" cy="627030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82117862691967532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282591" y="1098341"/>
            <a:ext cx="5524500" cy="5524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80000">
            <a:off x="2388632" y="6620990"/>
            <a:ext cx="55245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A665C"/>
                </a:solidFill>
                <a:latin typeface="Source Sans 3"/>
              </a:rPr>
              <a:t>Photo: Adrian Pereira on Unsplash</a:t>
            </a:r>
          </a:p>
        </p:txBody>
      </p:sp>
      <p:sp>
        <p:nvSpPr>
          <p:cNvPr id="6" name="Rectangle 5"/>
          <p:cNvSpPr/>
          <p:nvPr/>
        </p:nvSpPr>
        <p:spPr>
          <a:xfrm rot="19500000">
            <a:off x="1762125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00000">
            <a:off x="6911340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t-green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7101840" y="954003"/>
            <a:ext cx="1428750" cy="1425742"/>
          </a:xfrm>
          <a:prstGeom prst="rect">
            <a:avLst/>
          </a:prstGeom>
        </p:spPr>
      </p:pic>
      <p:sp>
        <p:nvSpPr>
          <p:cNvPr id="9" name="Freeform 8"/>
          <p:cNvSpPr/>
          <p:nvPr/>
        </p:nvSpPr>
        <p:spPr>
          <a:xfrm>
            <a:off x="7428411" y="1319892"/>
            <a:ext cx="836839" cy="673553"/>
          </a:xfrm>
          <a:custGeom>
            <a:avLst/>
            <a:gdLst/>
            <a:ahLst/>
            <a:cxnLst/>
            <a:rect l="l" t="t" r="r" b="b"/>
            <a:pathLst>
              <a:path w="836839" h="673554">
                <a:moveTo>
                  <a:pt x="0" y="367393"/>
                </a:moveTo>
                <a:lnTo>
                  <a:pt x="142875" y="224518"/>
                </a:lnTo>
                <a:lnTo>
                  <a:pt x="306161" y="387804"/>
                </a:lnTo>
                <a:lnTo>
                  <a:pt x="693964" y="0"/>
                </a:lnTo>
                <a:lnTo>
                  <a:pt x="836839" y="142875"/>
                </a:lnTo>
                <a:lnTo>
                  <a:pt x="306161" y="673554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ied-flowers-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920000">
            <a:off x="1095375" y="5436655"/>
            <a:ext cx="1809750" cy="23340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7250" y="7477125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Rabbit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8547710"/>
            <a:ext cx="4291488" cy="571500"/>
          </a:xfrm>
          <a:prstGeom prst="roundRect">
            <a:avLst>
              <a:gd name="adj" fmla="val 41666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250" y="8547710"/>
            <a:ext cx="42914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F4F1EA"/>
                </a:solidFill>
                <a:latin typeface="Montserrat"/>
              </a:rPr>
              <a:t>EASY AND LOW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9328760"/>
            <a:ext cx="8572500" cy="210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Small dry pellets, rich in nitrogen, low odor. The easiest manure there is.</a:t>
            </a:r>
          </a:p>
        </p:txBody>
      </p:sp>
      <p:sp>
        <p:nvSpPr>
          <p:cNvPr id="15" name="Rectangle 14"/>
          <p:cNvSpPr/>
          <p:nvPr/>
        </p:nvSpPr>
        <p:spPr>
          <a:xfrm rot="21540000">
            <a:off x="762000" y="11544300"/>
            <a:ext cx="8763000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1540000">
            <a:off x="1047735" y="11542637"/>
            <a:ext cx="838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Cold pile is fine. Hot pile: 55 to 68°C (131 to 154°F)</a:t>
            </a:r>
          </a:p>
        </p:txBody>
      </p:sp>
      <p:sp>
        <p:nvSpPr>
          <p:cNvPr id="17" name="Rectangle 16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360000">
            <a:off x="666750" y="161925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5803556292909147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811625" y="1776348"/>
            <a:ext cx="4476750" cy="4476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360000">
            <a:off x="985042" y="6247042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Maxime Agnelli on Unsplash</a:t>
            </a:r>
          </a:p>
        </p:txBody>
      </p:sp>
      <p:sp>
        <p:nvSpPr>
          <p:cNvPr id="6" name="Rectangle 5"/>
          <p:cNvSpPr/>
          <p:nvPr/>
        </p:nvSpPr>
        <p:spPr>
          <a:xfrm rot="180000">
            <a:off x="5048250" y="114300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7283949403068996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5213797" y="1299918"/>
            <a:ext cx="4476750" cy="4476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 rot="180000">
            <a:off x="5083688" y="5773261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Sam Carter on Unsplash</a:t>
            </a:r>
          </a:p>
        </p:txBody>
      </p:sp>
      <p:sp>
        <p:nvSpPr>
          <p:cNvPr id="9" name="Rectangle 8"/>
          <p:cNvSpPr/>
          <p:nvPr/>
        </p:nvSpPr>
        <p:spPr>
          <a:xfrm rot="19800000">
            <a:off x="523875" y="149542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552497" y="101917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-green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885872" y="5511139"/>
            <a:ext cx="1333500" cy="1330692"/>
          </a:xfrm>
          <a:prstGeom prst="rect">
            <a:avLst/>
          </a:prstGeom>
        </p:spPr>
      </p:pic>
      <p:sp>
        <p:nvSpPr>
          <p:cNvPr id="12" name="Freeform 11"/>
          <p:cNvSpPr/>
          <p:nvPr/>
        </p:nvSpPr>
        <p:spPr>
          <a:xfrm>
            <a:off x="9190672" y="5852636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800000">
            <a:off x="95250" y="5684740"/>
            <a:ext cx="1524000" cy="19655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250" y="7429500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Goat and sheep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8500085"/>
            <a:ext cx="4291488" cy="571500"/>
          </a:xfrm>
          <a:prstGeom prst="roundRect">
            <a:avLst>
              <a:gd name="adj" fmla="val 41666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8500085"/>
            <a:ext cx="42914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F4F1EA"/>
                </a:solidFill>
                <a:latin typeface="Montserrat"/>
              </a:rPr>
              <a:t>EASY AND LOW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9281135"/>
            <a:ext cx="8572500" cy="214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Dry pellets, carbon-to-nitrogen ratio (C:N) around 16:1. Mix with bedding and compost.</a:t>
            </a:r>
          </a:p>
        </p:txBody>
      </p:sp>
      <p:sp>
        <p:nvSpPr>
          <p:cNvPr id="18" name="Rectangle 17"/>
          <p:cNvSpPr/>
          <p:nvPr/>
        </p:nvSpPr>
        <p:spPr>
          <a:xfrm rot="21540000">
            <a:off x="762000" y="11544300"/>
            <a:ext cx="8763000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 rot="21540000">
            <a:off x="1047735" y="11542637"/>
            <a:ext cx="838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Cold pile is fine. Hot pile: 55 to 68°C (131 to 154°F)</a:t>
            </a:r>
          </a:p>
        </p:txBody>
      </p:sp>
      <p:sp>
        <p:nvSpPr>
          <p:cNvPr id="20" name="Rectangle 19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360000">
            <a:off x="666750" y="161925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570632097375362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811625" y="1776348"/>
            <a:ext cx="4476750" cy="4476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360000">
            <a:off x="985042" y="6247042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Maksim Samuilionak on Unsplash</a:t>
            </a:r>
          </a:p>
        </p:txBody>
      </p:sp>
      <p:sp>
        <p:nvSpPr>
          <p:cNvPr id="6" name="Rectangle 5"/>
          <p:cNvSpPr/>
          <p:nvPr/>
        </p:nvSpPr>
        <p:spPr>
          <a:xfrm rot="180000">
            <a:off x="5048250" y="114300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423525194682798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5213797" y="1299918"/>
            <a:ext cx="4476750" cy="4476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 rot="180000">
            <a:off x="5083688" y="5773261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Jack Catalano on Unsplash</a:t>
            </a:r>
          </a:p>
        </p:txBody>
      </p:sp>
      <p:sp>
        <p:nvSpPr>
          <p:cNvPr id="9" name="Rectangle 8"/>
          <p:cNvSpPr/>
          <p:nvPr/>
        </p:nvSpPr>
        <p:spPr>
          <a:xfrm rot="19800000">
            <a:off x="523875" y="149542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552497" y="101917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-green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885872" y="5511139"/>
            <a:ext cx="1333500" cy="1330692"/>
          </a:xfrm>
          <a:prstGeom prst="rect">
            <a:avLst/>
          </a:prstGeom>
        </p:spPr>
      </p:pic>
      <p:sp>
        <p:nvSpPr>
          <p:cNvPr id="12" name="Freeform 11"/>
          <p:cNvSpPr/>
          <p:nvPr/>
        </p:nvSpPr>
        <p:spPr>
          <a:xfrm>
            <a:off x="9190672" y="5852636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800000">
            <a:off x="95250" y="5684740"/>
            <a:ext cx="1524000" cy="19655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250" y="7429500"/>
            <a:ext cx="8572500" cy="1777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Alpaca, llama and guinea pig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9231587"/>
            <a:ext cx="4291488" cy="571500"/>
          </a:xfrm>
          <a:prstGeom prst="roundRect">
            <a:avLst>
              <a:gd name="adj" fmla="val 41666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9231587"/>
            <a:ext cx="42914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F4F1EA"/>
                </a:solidFill>
                <a:latin typeface="Montserrat"/>
              </a:rPr>
              <a:t>EASY AND LOW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0012637"/>
            <a:ext cx="8572500" cy="1417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Low-odor pellets. Guinea pig bedding composts right along with them.</a:t>
            </a:r>
          </a:p>
        </p:txBody>
      </p:sp>
      <p:sp>
        <p:nvSpPr>
          <p:cNvPr id="18" name="Rectangle 17"/>
          <p:cNvSpPr/>
          <p:nvPr/>
        </p:nvSpPr>
        <p:spPr>
          <a:xfrm rot="21540000">
            <a:off x="762000" y="11544300"/>
            <a:ext cx="8763000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 rot="21540000">
            <a:off x="1047735" y="11542637"/>
            <a:ext cx="838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Cold pile is fine. Hot pile: 55 to 68°C (131 to 154°F)</a:t>
            </a:r>
          </a:p>
        </p:txBody>
      </p:sp>
      <p:sp>
        <p:nvSpPr>
          <p:cNvPr id="20" name="Rectangle 19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2095499" y="904875"/>
            <a:ext cx="5911215" cy="627030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5488317037132527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282591" y="1098341"/>
            <a:ext cx="5524500" cy="5524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80000">
            <a:off x="2388632" y="6620990"/>
            <a:ext cx="55245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A665C"/>
                </a:solidFill>
                <a:latin typeface="Source Sans 3"/>
              </a:rPr>
              <a:t>Photo: sippakorn yamkasikorn on Unsplash</a:t>
            </a:r>
          </a:p>
        </p:txBody>
      </p:sp>
      <p:sp>
        <p:nvSpPr>
          <p:cNvPr id="6" name="Rectangle 5"/>
          <p:cNvSpPr/>
          <p:nvPr/>
        </p:nvSpPr>
        <p:spPr>
          <a:xfrm rot="19500000">
            <a:off x="1762125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00000">
            <a:off x="6911340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t-yellow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7101840" y="985482"/>
            <a:ext cx="1428750" cy="1362784"/>
          </a:xfrm>
          <a:prstGeom prst="rect">
            <a:avLst/>
          </a:prstGeom>
        </p:spPr>
      </p:pic>
      <p:pic>
        <p:nvPicPr>
          <p:cNvPr id="9" name="Picture 8" descr="dried-flowers-2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400000">
            <a:off x="1190625" y="5026737"/>
            <a:ext cx="1714500" cy="25823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250" y="7477125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Chicken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8547710"/>
            <a:ext cx="4968127" cy="571500"/>
          </a:xfrm>
          <a:prstGeom prst="roundRect">
            <a:avLst>
              <a:gd name="adj" fmla="val 41666"/>
            </a:avLst>
          </a:prstGeom>
          <a:solidFill>
            <a:srgbClr val="D9A5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8547710"/>
            <a:ext cx="49681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22371F"/>
                </a:solidFill>
                <a:latin typeface="Montserrat"/>
              </a:rPr>
              <a:t>HOT COMPOST 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9328760"/>
            <a:ext cx="8572500" cy="210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The hottest manure: carbon-to-nitrogen ratio (C:N) around 7:1, very high in nitrogen. Add lots of woody carbon or ammonia escapes.</a:t>
            </a:r>
          </a:p>
        </p:txBody>
      </p:sp>
      <p:sp>
        <p:nvSpPr>
          <p:cNvPr id="14" name="Rectangle 13"/>
          <p:cNvSpPr/>
          <p:nvPr/>
        </p:nvSpPr>
        <p:spPr>
          <a:xfrm rot="21540000">
            <a:off x="762000" y="11544300"/>
            <a:ext cx="6533751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21540000">
            <a:off x="1047735" y="11542637"/>
            <a:ext cx="615275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Hot pile: 55 to 68°C (131 to 154°F)</a:t>
            </a:r>
          </a:p>
        </p:txBody>
      </p:sp>
      <p:sp>
        <p:nvSpPr>
          <p:cNvPr id="16" name="Rectangle 15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2095499" y="904875"/>
            <a:ext cx="5911215" cy="627030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321303220740278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282591" y="1098341"/>
            <a:ext cx="5524500" cy="5524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80000">
            <a:off x="2388632" y="6620990"/>
            <a:ext cx="55245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A665C"/>
                </a:solidFill>
                <a:latin typeface="Source Sans 3"/>
              </a:rPr>
              <a:t>Photo: Diana Shchurova on Unsplash</a:t>
            </a:r>
          </a:p>
        </p:txBody>
      </p:sp>
      <p:sp>
        <p:nvSpPr>
          <p:cNvPr id="6" name="Rectangle 5"/>
          <p:cNvSpPr/>
          <p:nvPr/>
        </p:nvSpPr>
        <p:spPr>
          <a:xfrm rot="19500000">
            <a:off x="1762125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00000">
            <a:off x="6911340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t-yellow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7101840" y="985482"/>
            <a:ext cx="1428750" cy="1362784"/>
          </a:xfrm>
          <a:prstGeom prst="rect">
            <a:avLst/>
          </a:prstGeom>
        </p:spPr>
      </p:pic>
      <p:pic>
        <p:nvPicPr>
          <p:cNvPr id="9" name="Picture 8" descr="dried-flowers-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440000">
            <a:off x="6958965" y="5089482"/>
            <a:ext cx="1905000" cy="2456899"/>
          </a:xfrm>
          <a:prstGeom prst="rect">
            <a:avLst/>
          </a:prstGeom>
        </p:spPr>
      </p:pic>
      <p:pic>
        <p:nvPicPr>
          <p:cNvPr id="10" name="Picture 9" descr="dried-flowers-2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280000">
            <a:off x="1285875" y="5265453"/>
            <a:ext cx="1524000" cy="22954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7250" y="7477125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Cow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8547710"/>
            <a:ext cx="4968127" cy="571500"/>
          </a:xfrm>
          <a:prstGeom prst="roundRect">
            <a:avLst>
              <a:gd name="adj" fmla="val 41666"/>
            </a:avLst>
          </a:prstGeom>
          <a:solidFill>
            <a:srgbClr val="D9A5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250" y="8547710"/>
            <a:ext cx="49681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22371F"/>
                </a:solidFill>
                <a:latin typeface="Montserrat"/>
              </a:rPr>
              <a:t>HOT COMPOST IT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9328760"/>
            <a:ext cx="8572500" cy="210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Carbon-to-nitrogen ratio (C:N) around 19:1, very wet. Add woody material and let it breathe.</a:t>
            </a:r>
          </a:p>
        </p:txBody>
      </p:sp>
      <p:sp>
        <p:nvSpPr>
          <p:cNvPr id="15" name="Rectangle 14"/>
          <p:cNvSpPr/>
          <p:nvPr/>
        </p:nvSpPr>
        <p:spPr>
          <a:xfrm rot="21540000">
            <a:off x="762000" y="11544300"/>
            <a:ext cx="6533751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1540000">
            <a:off x="1047735" y="11542637"/>
            <a:ext cx="615275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Hot pile: 55 to 68°C (131 to 154°F)</a:t>
            </a:r>
          </a:p>
        </p:txBody>
      </p:sp>
      <p:sp>
        <p:nvSpPr>
          <p:cNvPr id="17" name="Rectangle 16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2095499" y="904875"/>
            <a:ext cx="5911215" cy="627030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9126084212062550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282591" y="1098341"/>
            <a:ext cx="5524500" cy="5524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80000">
            <a:off x="2388632" y="6620990"/>
            <a:ext cx="55245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A665C"/>
                </a:solidFill>
                <a:latin typeface="Source Sans 3"/>
              </a:rPr>
              <a:t>Photo: Roger Starnes Sr on Unsplash</a:t>
            </a:r>
          </a:p>
        </p:txBody>
      </p:sp>
      <p:sp>
        <p:nvSpPr>
          <p:cNvPr id="6" name="Rectangle 5"/>
          <p:cNvSpPr/>
          <p:nvPr/>
        </p:nvSpPr>
        <p:spPr>
          <a:xfrm rot="19500000">
            <a:off x="1762125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00000">
            <a:off x="6911340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t-yellow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7101840" y="985482"/>
            <a:ext cx="1428750" cy="1362784"/>
          </a:xfrm>
          <a:prstGeom prst="rect">
            <a:avLst/>
          </a:prstGeom>
        </p:spPr>
      </p:pic>
      <p:pic>
        <p:nvPicPr>
          <p:cNvPr id="9" name="Picture 8" descr="dried-flowers-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920000">
            <a:off x="1095375" y="5436655"/>
            <a:ext cx="1809750" cy="23340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250" y="7477125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Horse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8547710"/>
            <a:ext cx="4968127" cy="571500"/>
          </a:xfrm>
          <a:prstGeom prst="roundRect">
            <a:avLst>
              <a:gd name="adj" fmla="val 41666"/>
            </a:avLst>
          </a:prstGeom>
          <a:solidFill>
            <a:srgbClr val="D9A5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8547710"/>
            <a:ext cx="49681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22371F"/>
                </a:solidFill>
                <a:latin typeface="Montserrat"/>
              </a:rPr>
              <a:t>HOT COMPOST 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9328760"/>
            <a:ext cx="8572500" cy="210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Carbon-to-nitrogen ratio (C:N) around 25:1 with bedding, drier. Weed seeds survive unless the pile gets hot.</a:t>
            </a:r>
          </a:p>
        </p:txBody>
      </p:sp>
      <p:sp>
        <p:nvSpPr>
          <p:cNvPr id="14" name="Rectangle 13"/>
          <p:cNvSpPr/>
          <p:nvPr/>
        </p:nvSpPr>
        <p:spPr>
          <a:xfrm rot="21540000">
            <a:off x="762000" y="11544300"/>
            <a:ext cx="6533751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21540000">
            <a:off x="1047735" y="11542637"/>
            <a:ext cx="615275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Hot pile: 55 to 68°C (131 to 154°F)</a:t>
            </a:r>
          </a:p>
        </p:txBody>
      </p:sp>
      <p:sp>
        <p:nvSpPr>
          <p:cNvPr id="16" name="Rectangle 15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2095499" y="904875"/>
            <a:ext cx="5911215" cy="627030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1662168135759187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282591" y="1098341"/>
            <a:ext cx="5524500" cy="5524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80000">
            <a:off x="2388632" y="6620990"/>
            <a:ext cx="55245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A665C"/>
                </a:solidFill>
                <a:latin typeface="Source Sans 3"/>
              </a:rPr>
              <a:t>Photo: Pauline Bernfeld on Unsplash</a:t>
            </a:r>
          </a:p>
        </p:txBody>
      </p:sp>
      <p:sp>
        <p:nvSpPr>
          <p:cNvPr id="6" name="Rectangle 5"/>
          <p:cNvSpPr/>
          <p:nvPr/>
        </p:nvSpPr>
        <p:spPr>
          <a:xfrm rot="19500000">
            <a:off x="1762125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00000">
            <a:off x="6911340" y="781050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t-yellow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7101840" y="985482"/>
            <a:ext cx="1428750" cy="1362784"/>
          </a:xfrm>
          <a:prstGeom prst="rect">
            <a:avLst/>
          </a:prstGeom>
        </p:spPr>
      </p:pic>
      <p:pic>
        <p:nvPicPr>
          <p:cNvPr id="9" name="Picture 8" descr="dried-flowers-2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400000">
            <a:off x="1190625" y="5026737"/>
            <a:ext cx="1714500" cy="25823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250" y="7477125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Pig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8547710"/>
            <a:ext cx="4968127" cy="571500"/>
          </a:xfrm>
          <a:prstGeom prst="roundRect">
            <a:avLst>
              <a:gd name="adj" fmla="val 41666"/>
            </a:avLst>
          </a:prstGeom>
          <a:solidFill>
            <a:srgbClr val="D9A5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8547710"/>
            <a:ext cx="49681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22371F"/>
                </a:solidFill>
                <a:latin typeface="Montserrat"/>
              </a:rPr>
              <a:t>HOT COMPOST 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9328760"/>
            <a:ext cx="8572500" cy="2101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Carbon-to-nitrogen ratio (C:N) around 14:1. Pigs share parasites and bacteria with people, so the pile must reach 55°C.</a:t>
            </a:r>
          </a:p>
        </p:txBody>
      </p:sp>
      <p:sp>
        <p:nvSpPr>
          <p:cNvPr id="14" name="Rectangle 13"/>
          <p:cNvSpPr/>
          <p:nvPr/>
        </p:nvSpPr>
        <p:spPr>
          <a:xfrm rot="21540000">
            <a:off x="762000" y="11544300"/>
            <a:ext cx="7445080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21540000">
            <a:off x="1047735" y="11542637"/>
            <a:ext cx="7064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At least 55°C (131°F), up to 68°C (154°F)</a:t>
            </a:r>
          </a:p>
        </p:txBody>
      </p:sp>
      <p:sp>
        <p:nvSpPr>
          <p:cNvPr id="16" name="Rectangle 15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360000">
            <a:off x="666750" y="161925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9504484016889094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811625" y="1776348"/>
            <a:ext cx="4476750" cy="4476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360000">
            <a:off x="985042" y="6247042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iridial on Unsplash</a:t>
            </a:r>
          </a:p>
        </p:txBody>
      </p:sp>
      <p:sp>
        <p:nvSpPr>
          <p:cNvPr id="6" name="Rectangle 5"/>
          <p:cNvSpPr/>
          <p:nvPr/>
        </p:nvSpPr>
        <p:spPr>
          <a:xfrm rot="180000">
            <a:off x="5048250" y="1143000"/>
            <a:ext cx="4790122" cy="5128736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90587441405758108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5213797" y="1299918"/>
            <a:ext cx="4476750" cy="4476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 rot="180000">
            <a:off x="5083688" y="5773261"/>
            <a:ext cx="4476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Sean Foster on Unsplash</a:t>
            </a:r>
          </a:p>
        </p:txBody>
      </p:sp>
      <p:sp>
        <p:nvSpPr>
          <p:cNvPr id="9" name="Rectangle 8"/>
          <p:cNvSpPr/>
          <p:nvPr/>
        </p:nvSpPr>
        <p:spPr>
          <a:xfrm rot="19800000">
            <a:off x="523875" y="149542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552497" y="1019175"/>
            <a:ext cx="14287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-red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885872" y="5532785"/>
            <a:ext cx="1333500" cy="1287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85872" y="5509736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0" b="1" i="0">
                <a:solidFill>
                  <a:srgbClr val="F4F1EA"/>
                </a:solidFill>
                <a:latin typeface="Montserrat"/>
              </a:rPr>
              <a:t>!</a:t>
            </a:r>
          </a:p>
        </p:txBody>
      </p:sp>
      <p:pic>
        <p:nvPicPr>
          <p:cNvPr id="13" name="Picture 12" descr="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800000">
            <a:off x="95250" y="5684740"/>
            <a:ext cx="1524000" cy="19655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250" y="7429500"/>
            <a:ext cx="8572500" cy="1015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Dog and cat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8500085"/>
            <a:ext cx="6546951" cy="571500"/>
          </a:xfrm>
          <a:prstGeom prst="roundRect">
            <a:avLst>
              <a:gd name="adj" fmla="val 41666"/>
            </a:avLst>
          </a:prstGeom>
          <a:solidFill>
            <a:srgbClr val="B53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8500085"/>
            <a:ext cx="654695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200">
                <a:solidFill>
                  <a:srgbClr val="F4F1EA"/>
                </a:solidFill>
                <a:latin typeface="Montserrat"/>
              </a:rPr>
              <a:t>KEEP IT OUT OF FOOD COMPOST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9281135"/>
            <a:ext cx="8572500" cy="214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Dog poop can carry roundworm and cat poop can carry Toxoplasma. Keep both out of any compost for food.</a:t>
            </a:r>
          </a:p>
        </p:txBody>
      </p:sp>
      <p:sp>
        <p:nvSpPr>
          <p:cNvPr id="18" name="Rectangle 17"/>
          <p:cNvSpPr/>
          <p:nvPr/>
        </p:nvSpPr>
        <p:spPr>
          <a:xfrm rot="21540000">
            <a:off x="762000" y="11544300"/>
            <a:ext cx="7141304" cy="6477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 rot="21540000">
            <a:off x="1047735" y="11542637"/>
            <a:ext cx="676030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Source Sans 3"/>
              </a:rPr>
              <a:t>🌡️ Not for food compost at any temperature</a:t>
            </a:r>
          </a:p>
        </p:txBody>
      </p:sp>
      <p:sp>
        <p:nvSpPr>
          <p:cNvPr id="20" name="Rectangle 19"/>
          <p:cNvSpPr/>
          <p:nvPr/>
        </p:nvSpPr>
        <p:spPr>
          <a:xfrm rot="19200000">
            <a:off x="428625" y="11468100"/>
            <a:ext cx="857250" cy="3048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238250"/>
            <a:ext cx="9144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>
                <a:solidFill>
                  <a:srgbClr val="22371F"/>
                </a:solidFill>
                <a:latin typeface="Montserrat"/>
              </a:rPr>
              <a:t>How hot is hot?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8750" y="2971800"/>
            <a:ext cx="857250" cy="769620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28575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66875" y="4259580"/>
            <a:ext cx="381000" cy="6313170"/>
          </a:xfrm>
          <a:prstGeom prst="rect">
            <a:avLst/>
          </a:prstGeom>
          <a:solidFill>
            <a:srgbClr val="D9A5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10287000"/>
            <a:ext cx="1428750" cy="1428750"/>
          </a:xfrm>
          <a:prstGeom prst="ellipse">
            <a:avLst/>
          </a:prstGeom>
          <a:solidFill>
            <a:srgbClr val="D9A521"/>
          </a:solidFill>
          <a:ln w="28575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4259580"/>
            <a:ext cx="1619250" cy="1188719"/>
          </a:xfrm>
          <a:prstGeom prst="rect">
            <a:avLst/>
          </a:prstGeom>
          <a:solidFill>
            <a:srgbClr val="D9A521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4240530"/>
            <a:ext cx="476250" cy="381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5125" y="3954780"/>
            <a:ext cx="3810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22371F"/>
                </a:solidFill>
                <a:latin typeface="Montserrat"/>
              </a:rPr>
              <a:t>68°C  (154°F)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5429250"/>
            <a:ext cx="476250" cy="381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5125" y="5143500"/>
            <a:ext cx="3810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22371F"/>
                </a:solidFill>
                <a:latin typeface="Montserrat"/>
              </a:rPr>
              <a:t>55°C  (131°F)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5125" y="5876925"/>
            <a:ext cx="7000875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Every 🟡 manure goes into this window before it goes near food crops.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5125" y="7400925"/>
            <a:ext cx="7000875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US EPA rule: at least 55°C (131°F) for 3 days in a covered or aerated pile, or for 15 days with 5 turns in a windrow.</a:t>
            </a:r>
          </a:p>
        </p:txBody>
      </p:sp>
      <p:pic>
        <p:nvPicPr>
          <p:cNvPr id="14" name="Picture 13" descr="dot-green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375" y="10001951"/>
            <a:ext cx="666750" cy="665346"/>
          </a:xfrm>
          <a:prstGeom prst="rect">
            <a:avLst/>
          </a:prstGeom>
        </p:spPr>
      </p:pic>
      <p:sp>
        <p:nvSpPr>
          <p:cNvPr id="15" name="Freeform 14"/>
          <p:cNvSpPr/>
          <p:nvPr/>
        </p:nvSpPr>
        <p:spPr>
          <a:xfrm>
            <a:off x="3152775" y="10172700"/>
            <a:ext cx="390525" cy="314325"/>
          </a:xfrm>
          <a:custGeom>
            <a:avLst/>
            <a:gdLst/>
            <a:ahLst/>
            <a:cxnLst/>
            <a:rect l="l" t="t" r="r" b="b"/>
            <a:pathLst>
              <a:path w="390525" h="314325">
                <a:moveTo>
                  <a:pt x="0" y="171450"/>
                </a:moveTo>
                <a:lnTo>
                  <a:pt x="66675" y="104775"/>
                </a:lnTo>
                <a:lnTo>
                  <a:pt x="142875" y="180975"/>
                </a:lnTo>
                <a:lnTo>
                  <a:pt x="323850" y="0"/>
                </a:lnTo>
                <a:lnTo>
                  <a:pt x="390525" y="66675"/>
                </a:lnTo>
                <a:lnTo>
                  <a:pt x="142875" y="314325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0" y="10001250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Source Sans 3"/>
              </a:rPr>
              <a:t>Cold pile is fine.</a:t>
            </a:r>
          </a:p>
        </p:txBody>
      </p:sp>
      <p:pic>
        <p:nvPicPr>
          <p:cNvPr id="17" name="Picture 16" descr="dot-red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375" y="10822399"/>
            <a:ext cx="666750" cy="643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00375" y="108108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900" b="1" i="0">
                <a:solidFill>
                  <a:srgbClr val="F4F1EA"/>
                </a:solidFill>
                <a:latin typeface="Montserrat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0" y="10810875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Source Sans 3"/>
              </a:rPr>
              <a:t>Not for food compost at any temperature.</a:t>
            </a:r>
          </a:p>
        </p:txBody>
      </p:sp>
      <p:pic>
        <p:nvPicPr>
          <p:cNvPr id="20" name="Picture 19" descr="dried-flowers-2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8763000" y="3163220"/>
            <a:ext cx="1238250" cy="18650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2000" y="12049125"/>
            <a:ext cx="7239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Sources: US EPA 40 CFR Part 503; Rynk et al., On-Farm Composting Handbook (NRAES-54), 1992.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238250"/>
            <a:ext cx="8763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600" b="1" i="0">
                <a:solidFill>
                  <a:srgbClr val="22371F"/>
                </a:solidFill>
                <a:latin typeface="Montserrat"/>
              </a:rPr>
              <a:t>The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71750"/>
            <a:ext cx="8763000" cy="447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 i="0">
                <a:solidFill>
                  <a:srgbClr val="333130"/>
                </a:solidFill>
                <a:latin typeface="Source Sans 3"/>
              </a:rPr>
              <a:t>Any 🟡 manure needs a thermal pile balanced to roughly 25 to 30:1 carbon to nitrogen and held at 55 to 68°C (131 to 154°F) before it goes near food crops.</a:t>
            </a:r>
          </a:p>
        </p:txBody>
      </p:sp>
      <p:sp>
        <p:nvSpPr>
          <p:cNvPr id="5" name="Rectangle 4"/>
          <p:cNvSpPr/>
          <p:nvPr/>
        </p:nvSpPr>
        <p:spPr>
          <a:xfrm rot="21300000">
            <a:off x="1047750" y="7524750"/>
            <a:ext cx="3363277" cy="3748563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0858256803273064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1140973" y="7635496"/>
            <a:ext cx="314325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21300000">
            <a:off x="1299534" y="10771823"/>
            <a:ext cx="31432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6A665C"/>
                </a:solidFill>
                <a:latin typeface="Source Sans 3"/>
              </a:rPr>
              <a:t>Photo: Frank Thiemonge on Unsplash</a:t>
            </a:r>
          </a:p>
        </p:txBody>
      </p:sp>
      <p:sp>
        <p:nvSpPr>
          <p:cNvPr id="8" name="Rectangle 7"/>
          <p:cNvSpPr/>
          <p:nvPr/>
        </p:nvSpPr>
        <p:spPr>
          <a:xfrm rot="21120000">
            <a:off x="2110263" y="7372350"/>
            <a:ext cx="1238250" cy="3810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ied-flowers-1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4333875" y="7663627"/>
            <a:ext cx="2000250" cy="2579744"/>
          </a:xfrm>
          <a:prstGeom prst="rect">
            <a:avLst/>
          </a:prstGeom>
        </p:spPr>
      </p:pic>
      <p:pic>
        <p:nvPicPr>
          <p:cNvPr id="10" name="Picture 9" descr="poop-stick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5905500" y="10382086"/>
            <a:ext cx="1333500" cy="1143327"/>
          </a:xfrm>
          <a:prstGeom prst="rect">
            <a:avLst/>
          </a:prstGeom>
        </p:spPr>
      </p:pic>
      <p:pic>
        <p:nvPicPr>
          <p:cNvPr id="11" name="Picture 10" descr="sfw-foundation-wordmark-2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0" y="9906000"/>
            <a:ext cx="1809750" cy="1568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11906250"/>
            <a:ext cx="723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Sources: Rynk et al., On-Farm Composting Handbook (NRAES-54), 1992; US EPA 40 CFR Part 503; CDC fact sheets on toxocariasis and toxoplasmosis.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