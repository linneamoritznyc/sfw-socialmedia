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Cover. Sunday, October 4. World Animal Day: Whose poop goes in the compost? CTA: none. Link: none. Idea: Stina (SLU). Source: Rynk et al., On-Farm Composting Handbook (NRAES-54), 1992; US EPA 40 CFR Part 503; CDC, Toxocariasis and Toxoplasmosis fact sheets [VERIFY with Wes].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rule. Plant-eaters vs meat-eaters. Legend for the traffic-light dots. Source: Rynk et al., On-Farm Composting Handbook (NRAES-54), 1992; US EPA 40 CFR Part 503; CDC, Toxocariasis and Toxoplasmosis fact sheets [VERIFY with Wes].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Rabbit. Photo (rabbit): Adrian Pereira on Unsplash, https://unsplash.com/@adrianluisp10?utm_source=sfw_social&amp;utm_medium=referral. Source: Rynk et al., On-Farm Composting Handbook (NRAES-54), 1992; US EPA 40 CFR Part 503; CDC, Toxocariasis and Toxoplasmosis fact sheets [VERIFY with Wes].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Goat and sheep. Photo (goat): Maxime Agnelli on Unsplash, https://unsplash.com/@maxa?utm_source=sfw_social&amp;utm_medium=referral. Photo (sheep): Sam Carter on Unsplash, https://unsplash.com/@samdc?utm_source=sfw_social&amp;utm_medium=referral. Source: Rynk et al., On-Farm Composting Handbook (NRAES-54), 1992; US EPA 40 CFR Part 503; CDC, Toxocariasis and Toxoplasmosis fact sheets [VERIFY with Wes].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Alpaca, llama and guinea pig. Photo (alpaca): Maksim Samuilionak on Unsplash, https://unsplash.com/@maksim_taawy?utm_source=sfw_social&amp;utm_medium=referral. Photo (guinea-pig): Jack Catalano on Unsplash, https://unsplash.com/@jrcatalano?utm_source=sfw_social&amp;utm_medium=referral. No llama photo; the alpaca stands in for alpaca and llama. Source: Rynk et al., On-Farm Composting Handbook (NRAES-54), 1992; US EPA 40 CFR Part 503; CDC, Toxocariasis and Toxoplasmosis fact sheets [VERIFY with Wes].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Chicken. Photo (chicken): sippakorn yamkasikorn on Unsplash, https://unsplash.com/@sippakorn?utm_source=sfw_social&amp;utm_medium=referral. Source: Rynk et al., On-Farm Composting Handbook (NRAES-54), 1992; US EPA 40 CFR Part 503; CDC, Toxocariasis and Toxoplasmosis fact sheets [VERIFY with Wes].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Cow. Photo (cow): Diana Shchurova on Unsplash, https://unsplash.com/@ladydi1180?utm_source=sfw_social&amp;utm_medium=referral. Source: Rynk et al., On-Farm Composting Handbook (NRAES-54), 1992; US EPA 40 CFR Part 503; CDC, Toxocariasis and Toxoplasmosis fact sheets [VERIFY with Wes].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Horse. Photo (horse): Roger Starnes Sr on Unsplash, https://unsplash.com/@rstar50?utm_source=sfw_social&amp;utm_medium=referral. Source: Rynk et al., On-Farm Composting Handbook (NRAES-54), 1992; US EPA 40 CFR Part 503; CDC, Toxocariasis and Toxoplasmosis fact sheets [VERIFY with Wes].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Pig, then dog and cat. Photo (pig): Pauline Bernfeld on Unsplash, https://unsplash.com/@pizbern?utm_source=sfw_social&amp;utm_medium=referral. Photo (dog): iridial on Unsplash, https://unsplash.com/@iridial_?utm_source=sfw_social&amp;utm_medium=referral. Photo (cat): Sean Foster on Unsplash, https://unsplash.com/@fosterious?utm_source=sfw_social&amp;utm_medium=referral. Source: Rynk et al., On-Farm Composting Handbook (NRAES-54), 1992; US EPA 40 CFR Part 503; CDC, Toxocariasis and Toxoplasmosis fact sheets [VERIFY with Wes].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Takeaway. Photo (compost-4): Frank Thiemonge on Unsplash, https://unsplash.com/@fthiemonge?utm_source=sfw_social&amp;utm_medium=referral. Source: Rynk et al., On-Farm Composting Handbook (NRAES-54), 1992; US EPA 40 CFR Part 503; CDC, Toxocariasis and Toxoplasmosis fact sheets [VERIFY with Wes].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Relationship Id="rId4" Type="http://schemas.openxmlformats.org/officeDocument/2006/relationships/image" Target="../media/image8.jpg"/><Relationship Id="rId5" Type="http://schemas.openxmlformats.org/officeDocument/2006/relationships/image" Target="../media/image5.png"/><Relationship Id="rId6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image" Target="../media/image9.jpg"/><Relationship Id="rId5" Type="http://schemas.openxmlformats.org/officeDocument/2006/relationships/image" Target="../media/image10.jpg"/><Relationship Id="rId6" Type="http://schemas.openxmlformats.org/officeDocument/2006/relationships/image" Target="../media/image5.png"/><Relationship Id="rId7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Relationship Id="rId4" Type="http://schemas.openxmlformats.org/officeDocument/2006/relationships/image" Target="../media/image11.jpg"/><Relationship Id="rId5" Type="http://schemas.openxmlformats.org/officeDocument/2006/relationships/image" Target="../media/image12.jpg"/><Relationship Id="rId6" Type="http://schemas.openxmlformats.org/officeDocument/2006/relationships/image" Target="../media/image5.png"/><Relationship Id="rId7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Relationship Id="rId4" Type="http://schemas.openxmlformats.org/officeDocument/2006/relationships/image" Target="../media/image13.jpg"/><Relationship Id="rId5" Type="http://schemas.openxmlformats.org/officeDocument/2006/relationships/image" Target="../media/image6.png"/><Relationship Id="rId6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Relationship Id="rId4" Type="http://schemas.openxmlformats.org/officeDocument/2006/relationships/image" Target="../media/image14.jpg"/><Relationship Id="rId5" Type="http://schemas.openxmlformats.org/officeDocument/2006/relationships/image" Target="../media/image6.png"/><Relationship Id="rId6" Type="http://schemas.openxmlformats.org/officeDocument/2006/relationships/image" Target="../media/image1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Relationship Id="rId4" Type="http://schemas.openxmlformats.org/officeDocument/2006/relationships/image" Target="../media/image16.jpg"/><Relationship Id="rId5" Type="http://schemas.openxmlformats.org/officeDocument/2006/relationships/image" Target="../media/image6.png"/><Relationship Id="rId6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Relationship Id="rId4" Type="http://schemas.openxmlformats.org/officeDocument/2006/relationships/image" Target="../media/image17.jpg"/><Relationship Id="rId5" Type="http://schemas.openxmlformats.org/officeDocument/2006/relationships/image" Target="../media/image6.png"/><Relationship Id="rId6" Type="http://schemas.openxmlformats.org/officeDocument/2006/relationships/image" Target="../media/image18.jpg"/><Relationship Id="rId7" Type="http://schemas.openxmlformats.org/officeDocument/2006/relationships/image" Target="../media/image19.jpg"/><Relationship Id="rId8" Type="http://schemas.openxmlformats.org/officeDocument/2006/relationships/image" Target="../media/image7.png"/><Relationship Id="rId9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Relationship Id="rId4" Type="http://schemas.openxmlformats.org/officeDocument/2006/relationships/image" Target="../media/image20.jpg"/><Relationship Id="rId5" Type="http://schemas.openxmlformats.org/officeDocument/2006/relationships/image" Target="../media/image2.png"/><Relationship Id="rId6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per-grain-crea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pic>
        <p:nvPicPr>
          <p:cNvPr id="3" name="Picture 2" descr="dried-flowers-1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0520000">
            <a:off x="0" y="9111075"/>
            <a:ext cx="2857500" cy="3685349"/>
          </a:xfrm>
          <a:prstGeom prst="rect">
            <a:avLst/>
          </a:prstGeom>
        </p:spPr>
      </p:pic>
      <p:pic>
        <p:nvPicPr>
          <p:cNvPr id="4" name="Picture 3" descr="dried-flowers-2-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320000">
            <a:off x="8524875" y="1852055"/>
            <a:ext cx="1714500" cy="258238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62000" y="1333500"/>
            <a:ext cx="7620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200">
                <a:solidFill>
                  <a:srgbClr val="156826"/>
                </a:solidFill>
                <a:latin typeface="Montserrat"/>
              </a:rPr>
              <a:t>WORLD ANIMAL 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1905000"/>
            <a:ext cx="8001000" cy="419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400" b="1" i="0">
                <a:solidFill>
                  <a:srgbClr val="22371F"/>
                </a:solidFill>
                <a:latin typeface="Montserrat"/>
              </a:rPr>
              <a:t>Whose poop goes in your compost?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6477000"/>
            <a:ext cx="6667500" cy="1047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400" b="0" i="0">
                <a:solidFill>
                  <a:srgbClr val="333130"/>
                </a:solidFill>
                <a:latin typeface="Source Sans 3"/>
              </a:rPr>
              <a:t>Happy World Animal Day, aka Animal Poop Day. 💩</a:t>
            </a:r>
          </a:p>
        </p:txBody>
      </p:sp>
      <p:pic>
        <p:nvPicPr>
          <p:cNvPr id="8" name="Picture 7" descr="poop-sticker-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240000">
            <a:off x="3095625" y="7701093"/>
            <a:ext cx="4476750" cy="3838313"/>
          </a:xfrm>
          <a:prstGeom prst="rect">
            <a:avLst/>
          </a:prstGeom>
        </p:spPr>
      </p:pic>
      <p:pic>
        <p:nvPicPr>
          <p:cNvPr id="9" name="Picture 8" descr="dot-green-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01000" y="7144752"/>
            <a:ext cx="952500" cy="950494"/>
          </a:xfrm>
          <a:prstGeom prst="rect">
            <a:avLst/>
          </a:prstGeom>
        </p:spPr>
      </p:pic>
      <p:pic>
        <p:nvPicPr>
          <p:cNvPr id="10" name="Picture 9" descr="dot-yellow-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480000">
            <a:off x="8001000" y="8308738"/>
            <a:ext cx="952500" cy="908523"/>
          </a:xfrm>
          <a:prstGeom prst="rect">
            <a:avLst/>
          </a:prstGeom>
        </p:spPr>
      </p:pic>
      <p:pic>
        <p:nvPicPr>
          <p:cNvPr id="11" name="Picture 10" descr="dot-red-1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960000">
            <a:off x="8001000" y="9446213"/>
            <a:ext cx="952500" cy="919572"/>
          </a:xfrm>
          <a:prstGeom prst="rect">
            <a:avLst/>
          </a:prstGeom>
        </p:spPr>
      </p:pic>
      <p:sp>
        <p:nvSpPr>
          <p:cNvPr id="12" name="Oval 11"/>
          <p:cNvSpPr/>
          <p:nvPr/>
        </p:nvSpPr>
        <p:spPr>
          <a:xfrm>
            <a:off x="8667750" y="11239500"/>
            <a:ext cx="857250" cy="857250"/>
          </a:xfrm>
          <a:prstGeom prst="ellipse">
            <a:avLst/>
          </a:prstGeom>
          <a:noFill/>
          <a:ln w="19050">
            <a:solidFill>
              <a:srgbClr val="223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67750" y="11239500"/>
            <a:ext cx="857250" cy="857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>
                <a:solidFill>
                  <a:srgbClr val="22371F"/>
                </a:solidFill>
                <a:latin typeface="Montserrat"/>
              </a:rPr>
              <a:t>LOGO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1500" y="76200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i="0">
                <a:solidFill>
                  <a:srgbClr val="333130">
                    <a:alpha val="60000"/>
                  </a:srgbClr>
                </a:solidFill>
                <a:latin typeface="Source Sans 3"/>
              </a:rPr>
              <a:t>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per-grain-crea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pic>
        <p:nvPicPr>
          <p:cNvPr id="3" name="Picture 2" descr="dried-flowers-2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0100000">
            <a:off x="238125" y="399788"/>
            <a:ext cx="1619250" cy="243892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2381250"/>
            <a:ext cx="8763000" cy="3143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6000" b="1" i="0">
                <a:solidFill>
                  <a:srgbClr val="22371F"/>
                </a:solidFill>
                <a:latin typeface="Montserrat"/>
              </a:rPr>
              <a:t>The rule: plant-eaters' manure is compost gold.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5715000"/>
            <a:ext cx="8382000" cy="1619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400" b="0" i="0">
                <a:solidFill>
                  <a:srgbClr val="333130"/>
                </a:solidFill>
                <a:latin typeface="Source Sans 3"/>
              </a:rPr>
              <a:t>Meat-eaters' poop carries parasites that can infect people.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62000" y="7810500"/>
            <a:ext cx="1143000" cy="47625"/>
          </a:xfrm>
          <a:prstGeom prst="rect">
            <a:avLst/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ot-green-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120000">
            <a:off x="785812" y="8216265"/>
            <a:ext cx="904875" cy="90297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000250" y="8239125"/>
            <a:ext cx="6096000" cy="857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22371F"/>
                </a:solidFill>
                <a:latin typeface="Montserrat"/>
              </a:rPr>
              <a:t>Easy and low risk</a:t>
            </a:r>
          </a:p>
        </p:txBody>
      </p:sp>
      <p:pic>
        <p:nvPicPr>
          <p:cNvPr id="9" name="Picture 8" descr="dot-yellow-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20000">
            <a:off x="785812" y="9426826"/>
            <a:ext cx="904875" cy="86309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000250" y="9429750"/>
            <a:ext cx="6096000" cy="857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22371F"/>
                </a:solidFill>
                <a:latin typeface="Montserrat"/>
              </a:rPr>
              <a:t>Hot compost it first</a:t>
            </a:r>
          </a:p>
        </p:txBody>
      </p:sp>
      <p:pic>
        <p:nvPicPr>
          <p:cNvPr id="11" name="Picture 10" descr="dot-red-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720000">
            <a:off x="785812" y="10612203"/>
            <a:ext cx="904875" cy="87359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000250" y="10620375"/>
            <a:ext cx="6096000" cy="857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22371F"/>
                </a:solidFill>
                <a:latin typeface="Montserrat"/>
              </a:rPr>
              <a:t>Keep it out of food compost</a:t>
            </a:r>
          </a:p>
        </p:txBody>
      </p:sp>
      <p:pic>
        <p:nvPicPr>
          <p:cNvPr id="13" name="Picture 12" descr="poop-sticker-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600000">
            <a:off x="8096250" y="10980753"/>
            <a:ext cx="1714500" cy="146999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191500" y="76200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i="0">
                <a:solidFill>
                  <a:srgbClr val="333130">
                    <a:alpha val="60000"/>
                  </a:srgbClr>
                </a:solidFill>
                <a:latin typeface="Source Sans 3"/>
              </a:rPr>
              <a:t>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per-grain-crea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 rot="21480000">
            <a:off x="1619249" y="1047750"/>
            <a:ext cx="6930390" cy="7351395"/>
          </a:xfrm>
          <a:prstGeom prst="rect">
            <a:avLst/>
          </a:prstGeom>
          <a:solidFill>
            <a:srgbClr val="FFFDF7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248147478864374509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480000">
            <a:off x="1838598" y="1274573"/>
            <a:ext cx="6477000" cy="6477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 rot="21480000">
            <a:off x="1962922" y="7749403"/>
            <a:ext cx="6477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0" i="0">
                <a:solidFill>
                  <a:srgbClr val="6A665C"/>
                </a:solidFill>
                <a:latin typeface="Source Sans 3"/>
              </a:rPr>
              <a:t>Photo: Adrian Pereira on Unsplash</a:t>
            </a:r>
          </a:p>
        </p:txBody>
      </p:sp>
      <p:sp>
        <p:nvSpPr>
          <p:cNvPr id="6" name="Rectangle 5"/>
          <p:cNvSpPr/>
          <p:nvPr/>
        </p:nvSpPr>
        <p:spPr>
          <a:xfrm rot="19500000">
            <a:off x="1285875" y="923925"/>
            <a:ext cx="1428750" cy="438150"/>
          </a:xfrm>
          <a:prstGeom prst="rect">
            <a:avLst/>
          </a:prstGeom>
          <a:solidFill>
            <a:srgbClr val="DBE6A7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100000">
            <a:off x="7454265" y="923925"/>
            <a:ext cx="1428750" cy="438150"/>
          </a:xfrm>
          <a:prstGeom prst="rect">
            <a:avLst/>
          </a:prstGeom>
          <a:solidFill>
            <a:srgbClr val="DBE6A7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ot-green-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720000">
            <a:off x="7597140" y="1049354"/>
            <a:ext cx="1524000" cy="1520791"/>
          </a:xfrm>
          <a:prstGeom prst="rect">
            <a:avLst/>
          </a:prstGeom>
        </p:spPr>
      </p:pic>
      <p:pic>
        <p:nvPicPr>
          <p:cNvPr id="9" name="Picture 8" descr="dried-flowers-1-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9920000">
            <a:off x="619125" y="6660617"/>
            <a:ext cx="1809750" cy="233405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57250" y="8810625"/>
            <a:ext cx="8572500" cy="8889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b="1" i="0">
                <a:solidFill>
                  <a:srgbClr val="22371F"/>
                </a:solidFill>
                <a:latin typeface="Montserrat"/>
              </a:rPr>
              <a:t>Rabbit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7250" y="9759293"/>
            <a:ext cx="3576240" cy="476250"/>
          </a:xfrm>
          <a:prstGeom prst="roundRect">
            <a:avLst>
              <a:gd name="adj" fmla="val 50000"/>
            </a:avLst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7250" y="9759293"/>
            <a:ext cx="357624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 spc="200">
                <a:solidFill>
                  <a:srgbClr val="F4F1EA"/>
                </a:solidFill>
                <a:latin typeface="Montserrat"/>
              </a:rPr>
              <a:t>EASY AND LOW RISK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7250" y="10445093"/>
            <a:ext cx="8572500" cy="19374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b="0" i="0">
                <a:solidFill>
                  <a:srgbClr val="333130"/>
                </a:solidFill>
                <a:latin typeface="Source Sans 3"/>
              </a:rPr>
              <a:t>Small dry pellets, rich in nitrogen, low odor. The easiest manure there is.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1500" y="76200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i="0">
                <a:solidFill>
                  <a:srgbClr val="333130">
                    <a:alpha val="60000"/>
                  </a:srgbClr>
                </a:solidFill>
                <a:latin typeface="Source Sans 3"/>
              </a:rPr>
              <a:t>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per-grain-crea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 rot="21360000">
            <a:off x="666750" y="1619250"/>
            <a:ext cx="4790122" cy="5128736"/>
          </a:xfrm>
          <a:prstGeom prst="rect">
            <a:avLst/>
          </a:prstGeom>
          <a:solidFill>
            <a:srgbClr val="FFFDF7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293783443569666103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360000">
            <a:off x="811625" y="1776348"/>
            <a:ext cx="4476750" cy="44767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 rot="21360000">
            <a:off x="985042" y="6247042"/>
            <a:ext cx="4476750" cy="495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0" i="0">
                <a:solidFill>
                  <a:srgbClr val="6A665C"/>
                </a:solidFill>
                <a:latin typeface="Source Sans 3"/>
              </a:rPr>
              <a:t>Photo: Maxime Agnelli on Unsplash</a:t>
            </a:r>
          </a:p>
        </p:txBody>
      </p:sp>
      <p:sp>
        <p:nvSpPr>
          <p:cNvPr id="6" name="Rectangle 5"/>
          <p:cNvSpPr/>
          <p:nvPr/>
        </p:nvSpPr>
        <p:spPr>
          <a:xfrm rot="180000">
            <a:off x="5048250" y="1143000"/>
            <a:ext cx="4790122" cy="5128736"/>
          </a:xfrm>
          <a:prstGeom prst="rect">
            <a:avLst/>
          </a:prstGeom>
          <a:solidFill>
            <a:srgbClr val="FFFDF7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650211500759590561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80000">
            <a:off x="5213797" y="1299918"/>
            <a:ext cx="4476750" cy="44767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 rot="180000">
            <a:off x="5083688" y="5773261"/>
            <a:ext cx="4476750" cy="495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0" i="0">
                <a:solidFill>
                  <a:srgbClr val="6A665C"/>
                </a:solidFill>
                <a:latin typeface="Source Sans 3"/>
              </a:rPr>
              <a:t>Photo: Sam Carter on Unsplash</a:t>
            </a:r>
          </a:p>
        </p:txBody>
      </p:sp>
      <p:sp>
        <p:nvSpPr>
          <p:cNvPr id="9" name="Rectangle 8"/>
          <p:cNvSpPr/>
          <p:nvPr/>
        </p:nvSpPr>
        <p:spPr>
          <a:xfrm rot="19800000">
            <a:off x="523875" y="1495425"/>
            <a:ext cx="1428750" cy="438150"/>
          </a:xfrm>
          <a:prstGeom prst="rect">
            <a:avLst/>
          </a:prstGeom>
          <a:solidFill>
            <a:srgbClr val="DBE6A7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1800000">
            <a:off x="8552497" y="1019175"/>
            <a:ext cx="1428750" cy="438150"/>
          </a:xfrm>
          <a:prstGeom prst="rect">
            <a:avLst/>
          </a:prstGeom>
          <a:solidFill>
            <a:srgbClr val="DBE6A7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ot-green-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720000">
            <a:off x="8838247" y="5463615"/>
            <a:ext cx="1428750" cy="1425742"/>
          </a:xfrm>
          <a:prstGeom prst="rect">
            <a:avLst/>
          </a:prstGeom>
        </p:spPr>
      </p:pic>
      <p:pic>
        <p:nvPicPr>
          <p:cNvPr id="12" name="Picture 11" descr="dried-flowers-1-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9800000">
            <a:off x="95250" y="5684740"/>
            <a:ext cx="1524000" cy="196551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57250" y="7620000"/>
            <a:ext cx="8572500" cy="8889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b="1" i="0">
                <a:solidFill>
                  <a:srgbClr val="22371F"/>
                </a:solidFill>
                <a:latin typeface="Montserrat"/>
              </a:rPr>
              <a:t>Goat and sheep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7250" y="8568668"/>
            <a:ext cx="3576240" cy="476250"/>
          </a:xfrm>
          <a:prstGeom prst="roundRect">
            <a:avLst>
              <a:gd name="adj" fmla="val 50000"/>
            </a:avLst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7250" y="8568668"/>
            <a:ext cx="357624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 spc="200">
                <a:solidFill>
                  <a:srgbClr val="F4F1EA"/>
                </a:solidFill>
                <a:latin typeface="Montserrat"/>
              </a:rPr>
              <a:t>EASY AND LOW RISK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250" y="9254468"/>
            <a:ext cx="8572500" cy="31280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b="0" i="0">
                <a:solidFill>
                  <a:srgbClr val="333130"/>
                </a:solidFill>
                <a:latin typeface="Source Sans 3"/>
              </a:rPr>
              <a:t>Dry pellets, C:N around 16:1. Mix with bedding and compost.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1500" y="76200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i="0">
                <a:solidFill>
                  <a:srgbClr val="333130">
                    <a:alpha val="60000"/>
                  </a:srgbClr>
                </a:solidFill>
                <a:latin typeface="Source Sans 3"/>
              </a:rPr>
              <a:t>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per-grain-crea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 rot="21360000">
            <a:off x="666750" y="1619250"/>
            <a:ext cx="4790122" cy="5128736"/>
          </a:xfrm>
          <a:prstGeom prst="rect">
            <a:avLst/>
          </a:prstGeom>
          <a:solidFill>
            <a:srgbClr val="FFFDF7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790918583089481832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360000">
            <a:off x="811625" y="1776348"/>
            <a:ext cx="4476750" cy="447675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 rot="21360000">
            <a:off x="985042" y="6247042"/>
            <a:ext cx="4476750" cy="495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0" i="0">
                <a:solidFill>
                  <a:srgbClr val="6A665C"/>
                </a:solidFill>
                <a:latin typeface="Source Sans 3"/>
              </a:rPr>
              <a:t>Photo: Maksim Samuilionak on Unsplash</a:t>
            </a:r>
          </a:p>
        </p:txBody>
      </p:sp>
      <p:sp>
        <p:nvSpPr>
          <p:cNvPr id="6" name="Rectangle 5"/>
          <p:cNvSpPr/>
          <p:nvPr/>
        </p:nvSpPr>
        <p:spPr>
          <a:xfrm rot="180000">
            <a:off x="5048250" y="1143000"/>
            <a:ext cx="4790122" cy="5128736"/>
          </a:xfrm>
          <a:prstGeom prst="rect">
            <a:avLst/>
          </a:prstGeom>
          <a:solidFill>
            <a:srgbClr val="FFFDF7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792976331802923053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180000">
            <a:off x="5213797" y="1299918"/>
            <a:ext cx="4476750" cy="44767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 rot="180000">
            <a:off x="5083688" y="5773261"/>
            <a:ext cx="4476750" cy="495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0" i="0">
                <a:solidFill>
                  <a:srgbClr val="6A665C"/>
                </a:solidFill>
                <a:latin typeface="Source Sans 3"/>
              </a:rPr>
              <a:t>Photo: Jack Catalano on Unsplash</a:t>
            </a:r>
          </a:p>
        </p:txBody>
      </p:sp>
      <p:sp>
        <p:nvSpPr>
          <p:cNvPr id="9" name="Rectangle 8"/>
          <p:cNvSpPr/>
          <p:nvPr/>
        </p:nvSpPr>
        <p:spPr>
          <a:xfrm rot="19800000">
            <a:off x="523875" y="1495425"/>
            <a:ext cx="1428750" cy="438150"/>
          </a:xfrm>
          <a:prstGeom prst="rect">
            <a:avLst/>
          </a:prstGeom>
          <a:solidFill>
            <a:srgbClr val="DBE6A7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1800000">
            <a:off x="8552497" y="1019175"/>
            <a:ext cx="1428750" cy="438150"/>
          </a:xfrm>
          <a:prstGeom prst="rect">
            <a:avLst/>
          </a:prstGeom>
          <a:solidFill>
            <a:srgbClr val="DBE6A7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dot-green-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720000">
            <a:off x="8838247" y="5463615"/>
            <a:ext cx="1428750" cy="1425742"/>
          </a:xfrm>
          <a:prstGeom prst="rect">
            <a:avLst/>
          </a:prstGeom>
        </p:spPr>
      </p:pic>
      <p:pic>
        <p:nvPicPr>
          <p:cNvPr id="12" name="Picture 11" descr="dried-flowers-1-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19800000">
            <a:off x="95250" y="5684740"/>
            <a:ext cx="1524000" cy="196551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57250" y="7620000"/>
            <a:ext cx="8572500" cy="165095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200" b="1" i="0">
                <a:solidFill>
                  <a:srgbClr val="22371F"/>
                </a:solidFill>
                <a:latin typeface="Montserrat"/>
              </a:rPr>
              <a:t>Alpaca, llama and guinea pig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7250" y="9300170"/>
            <a:ext cx="3576240" cy="476250"/>
          </a:xfrm>
          <a:prstGeom prst="roundRect">
            <a:avLst>
              <a:gd name="adj" fmla="val 50000"/>
            </a:avLst>
          </a:prstGeom>
          <a:solidFill>
            <a:srgbClr val="1568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7250" y="9300170"/>
            <a:ext cx="3576240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 spc="200">
                <a:solidFill>
                  <a:srgbClr val="F4F1EA"/>
                </a:solidFill>
                <a:latin typeface="Montserrat"/>
              </a:rPr>
              <a:t>EASY AND LOW RISK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250" y="9985970"/>
            <a:ext cx="8572500" cy="239652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b="0" i="0">
                <a:solidFill>
                  <a:srgbClr val="333130"/>
                </a:solidFill>
                <a:latin typeface="Source Sans 3"/>
              </a:rPr>
              <a:t>Low-odor pellets. Guinea pig bedding composts right along with them.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91500" y="76200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i="0">
                <a:solidFill>
                  <a:srgbClr val="333130">
                    <a:alpha val="60000"/>
                  </a:srgbClr>
                </a:solidFill>
                <a:latin typeface="Source Sans 3"/>
              </a:rPr>
              <a:t>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per-grain-crea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 rot="21480000">
            <a:off x="1619249" y="1047750"/>
            <a:ext cx="6930390" cy="7351395"/>
          </a:xfrm>
          <a:prstGeom prst="rect">
            <a:avLst/>
          </a:prstGeom>
          <a:solidFill>
            <a:srgbClr val="FFFDF7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198630465077540257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480000">
            <a:off x="1838598" y="1274573"/>
            <a:ext cx="6477000" cy="6477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 rot="21480000">
            <a:off x="1962922" y="7749403"/>
            <a:ext cx="6477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0" i="0">
                <a:solidFill>
                  <a:srgbClr val="6A665C"/>
                </a:solidFill>
                <a:latin typeface="Source Sans 3"/>
              </a:rPr>
              <a:t>Photo: sippakorn yamkasikorn on Unsplash</a:t>
            </a:r>
          </a:p>
        </p:txBody>
      </p:sp>
      <p:sp>
        <p:nvSpPr>
          <p:cNvPr id="6" name="Rectangle 5"/>
          <p:cNvSpPr/>
          <p:nvPr/>
        </p:nvSpPr>
        <p:spPr>
          <a:xfrm rot="19500000">
            <a:off x="1285875" y="923925"/>
            <a:ext cx="1428750" cy="438150"/>
          </a:xfrm>
          <a:prstGeom prst="rect">
            <a:avLst/>
          </a:prstGeom>
          <a:solidFill>
            <a:srgbClr val="DBE6A7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100000">
            <a:off x="7454265" y="923925"/>
            <a:ext cx="1428750" cy="438150"/>
          </a:xfrm>
          <a:prstGeom prst="rect">
            <a:avLst/>
          </a:prstGeom>
          <a:solidFill>
            <a:srgbClr val="DBE6A7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ot-yellow-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720000">
            <a:off x="7597140" y="1082931"/>
            <a:ext cx="1524000" cy="1453636"/>
          </a:xfrm>
          <a:prstGeom prst="rect">
            <a:avLst/>
          </a:prstGeom>
        </p:spPr>
      </p:pic>
      <p:pic>
        <p:nvPicPr>
          <p:cNvPr id="9" name="Picture 8" descr="dried-flowers-2-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0400000">
            <a:off x="714375" y="6250700"/>
            <a:ext cx="1714500" cy="258238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57250" y="8810625"/>
            <a:ext cx="8572500" cy="8889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b="1" i="0">
                <a:solidFill>
                  <a:srgbClr val="22371F"/>
                </a:solidFill>
                <a:latin typeface="Montserrat"/>
              </a:rPr>
              <a:t>Chicken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7250" y="9759293"/>
            <a:ext cx="4140106" cy="476250"/>
          </a:xfrm>
          <a:prstGeom prst="roundRect">
            <a:avLst>
              <a:gd name="adj" fmla="val 50000"/>
            </a:avLst>
          </a:prstGeom>
          <a:solidFill>
            <a:srgbClr val="D9A5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7250" y="9759293"/>
            <a:ext cx="4140106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 spc="200">
                <a:solidFill>
                  <a:srgbClr val="22371F"/>
                </a:solidFill>
                <a:latin typeface="Montserrat"/>
              </a:rPr>
              <a:t>HOT COMPOST IT FIRST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7250" y="10445093"/>
            <a:ext cx="8572500" cy="19374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b="0" i="0">
                <a:solidFill>
                  <a:srgbClr val="333130"/>
                </a:solidFill>
                <a:latin typeface="Source Sans 3"/>
              </a:rPr>
              <a:t>The hottest manure: C:N around 7:1, very high in nitrogen. Add lots of woody carbon or ammonia escapes.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1500" y="76200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i="0">
                <a:solidFill>
                  <a:srgbClr val="333130">
                    <a:alpha val="60000"/>
                  </a:srgbClr>
                </a:solidFill>
                <a:latin typeface="Source Sans 3"/>
              </a:rPr>
              <a:t>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per-grain-crea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 rot="21480000">
            <a:off x="1619249" y="1047750"/>
            <a:ext cx="6930390" cy="7351395"/>
          </a:xfrm>
          <a:prstGeom prst="rect">
            <a:avLst/>
          </a:prstGeom>
          <a:solidFill>
            <a:srgbClr val="FFFDF7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8570631582657019251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480000">
            <a:off x="1838598" y="1274573"/>
            <a:ext cx="6477000" cy="6477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 rot="21480000">
            <a:off x="1962922" y="7749403"/>
            <a:ext cx="6477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0" i="0">
                <a:solidFill>
                  <a:srgbClr val="6A665C"/>
                </a:solidFill>
                <a:latin typeface="Source Sans 3"/>
              </a:rPr>
              <a:t>Photo: Diana Shchurova on Unsplash</a:t>
            </a:r>
          </a:p>
        </p:txBody>
      </p:sp>
      <p:sp>
        <p:nvSpPr>
          <p:cNvPr id="6" name="Rectangle 5"/>
          <p:cNvSpPr/>
          <p:nvPr/>
        </p:nvSpPr>
        <p:spPr>
          <a:xfrm rot="19500000">
            <a:off x="1285875" y="923925"/>
            <a:ext cx="1428750" cy="438150"/>
          </a:xfrm>
          <a:prstGeom prst="rect">
            <a:avLst/>
          </a:prstGeom>
          <a:solidFill>
            <a:srgbClr val="DBE6A7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100000">
            <a:off x="7454265" y="923925"/>
            <a:ext cx="1428750" cy="438150"/>
          </a:xfrm>
          <a:prstGeom prst="rect">
            <a:avLst/>
          </a:prstGeom>
          <a:solidFill>
            <a:srgbClr val="DBE6A7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ot-yellow-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720000">
            <a:off x="7597140" y="1082931"/>
            <a:ext cx="1524000" cy="1453636"/>
          </a:xfrm>
          <a:prstGeom prst="rect">
            <a:avLst/>
          </a:prstGeom>
        </p:spPr>
      </p:pic>
      <p:pic>
        <p:nvPicPr>
          <p:cNvPr id="9" name="Picture 8" descr="cow-poop-sticker-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120000">
            <a:off x="7168515" y="6546838"/>
            <a:ext cx="2000250" cy="199011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57250" y="8810625"/>
            <a:ext cx="8572500" cy="8889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b="1" i="0">
                <a:solidFill>
                  <a:srgbClr val="22371F"/>
                </a:solidFill>
                <a:latin typeface="Montserrat"/>
              </a:rPr>
              <a:t>Cow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7250" y="9759293"/>
            <a:ext cx="4140106" cy="476250"/>
          </a:xfrm>
          <a:prstGeom prst="roundRect">
            <a:avLst>
              <a:gd name="adj" fmla="val 50000"/>
            </a:avLst>
          </a:prstGeom>
          <a:solidFill>
            <a:srgbClr val="D9A5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7250" y="9759293"/>
            <a:ext cx="4140106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 spc="200">
                <a:solidFill>
                  <a:srgbClr val="22371F"/>
                </a:solidFill>
                <a:latin typeface="Montserrat"/>
              </a:rPr>
              <a:t>HOT COMPOST IT FIRST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7250" y="10445093"/>
            <a:ext cx="8572500" cy="19374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b="0" i="0">
                <a:solidFill>
                  <a:srgbClr val="333130"/>
                </a:solidFill>
                <a:latin typeface="Source Sans 3"/>
              </a:rPr>
              <a:t>C:N around 19:1, very wet. Add woody material and let it breathe.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1500" y="76200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i="0">
                <a:solidFill>
                  <a:srgbClr val="333130">
                    <a:alpha val="60000"/>
                  </a:srgbClr>
                </a:solidFill>
                <a:latin typeface="Source Sans 3"/>
              </a:rPr>
              <a:t>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per-grain-crea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 rot="21480000">
            <a:off x="1619249" y="1047750"/>
            <a:ext cx="6930390" cy="7351395"/>
          </a:xfrm>
          <a:prstGeom prst="rect">
            <a:avLst/>
          </a:prstGeom>
          <a:solidFill>
            <a:srgbClr val="FFFDF7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528166965309708741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480000">
            <a:off x="1838598" y="1274573"/>
            <a:ext cx="6477000" cy="6477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 rot="21480000">
            <a:off x="1962922" y="7749403"/>
            <a:ext cx="64770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700" b="0" i="0">
                <a:solidFill>
                  <a:srgbClr val="6A665C"/>
                </a:solidFill>
                <a:latin typeface="Source Sans 3"/>
              </a:rPr>
              <a:t>Photo: Roger Starnes Sr on Unsplash</a:t>
            </a:r>
          </a:p>
        </p:txBody>
      </p:sp>
      <p:sp>
        <p:nvSpPr>
          <p:cNvPr id="6" name="Rectangle 5"/>
          <p:cNvSpPr/>
          <p:nvPr/>
        </p:nvSpPr>
        <p:spPr>
          <a:xfrm rot="19500000">
            <a:off x="1285875" y="923925"/>
            <a:ext cx="1428750" cy="438150"/>
          </a:xfrm>
          <a:prstGeom prst="rect">
            <a:avLst/>
          </a:prstGeom>
          <a:solidFill>
            <a:srgbClr val="DBE6A7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100000">
            <a:off x="7454265" y="923925"/>
            <a:ext cx="1428750" cy="438150"/>
          </a:xfrm>
          <a:prstGeom prst="rect">
            <a:avLst/>
          </a:prstGeom>
          <a:solidFill>
            <a:srgbClr val="DBE6A7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ot-yellow-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720000">
            <a:off x="7597140" y="1082931"/>
            <a:ext cx="1524000" cy="1453636"/>
          </a:xfrm>
          <a:prstGeom prst="rect">
            <a:avLst/>
          </a:prstGeom>
        </p:spPr>
      </p:pic>
      <p:pic>
        <p:nvPicPr>
          <p:cNvPr id="9" name="Picture 8" descr="dried-flowers-1-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9920000">
            <a:off x="619125" y="6660617"/>
            <a:ext cx="1809750" cy="233405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57250" y="8810625"/>
            <a:ext cx="8572500" cy="88897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b="1" i="0">
                <a:solidFill>
                  <a:srgbClr val="22371F"/>
                </a:solidFill>
                <a:latin typeface="Montserrat"/>
              </a:rPr>
              <a:t>Horse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7250" y="9759293"/>
            <a:ext cx="4140106" cy="476250"/>
          </a:xfrm>
          <a:prstGeom prst="roundRect">
            <a:avLst>
              <a:gd name="adj" fmla="val 50000"/>
            </a:avLst>
          </a:prstGeom>
          <a:solidFill>
            <a:srgbClr val="D9A5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7250" y="9759293"/>
            <a:ext cx="4140106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 spc="200">
                <a:solidFill>
                  <a:srgbClr val="22371F"/>
                </a:solidFill>
                <a:latin typeface="Montserrat"/>
              </a:rPr>
              <a:t>HOT COMPOST IT FIRST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7250" y="10445093"/>
            <a:ext cx="8572500" cy="193740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3200" b="0" i="0">
                <a:solidFill>
                  <a:srgbClr val="333130"/>
                </a:solidFill>
                <a:latin typeface="Source Sans 3"/>
              </a:rPr>
              <a:t>C:N around 25:1 with bedding, drier. Weed seeds survive unless the pile gets hot.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1500" y="76200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i="0">
                <a:solidFill>
                  <a:srgbClr val="333130">
                    <a:alpha val="60000"/>
                  </a:srgbClr>
                </a:solidFill>
                <a:latin typeface="Source Sans 3"/>
              </a:rPr>
              <a:t>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per-grain-crea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 rot="21420000">
            <a:off x="666750" y="857250"/>
            <a:ext cx="4076700" cy="4438650"/>
          </a:xfrm>
          <a:prstGeom prst="rect">
            <a:avLst/>
          </a:prstGeom>
          <a:solidFill>
            <a:srgbClr val="FFFDF7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3062666528331181228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420000">
            <a:off x="790628" y="990848"/>
            <a:ext cx="3810000" cy="3810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 rot="21420000">
            <a:off x="903289" y="4797897"/>
            <a:ext cx="3810000" cy="495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0" i="0">
                <a:solidFill>
                  <a:srgbClr val="6A665C"/>
                </a:solidFill>
                <a:latin typeface="Source Sans 3"/>
              </a:rPr>
              <a:t>Photo: Pauline Bernfeld on Unsplash</a:t>
            </a:r>
          </a:p>
        </p:txBody>
      </p:sp>
      <p:sp>
        <p:nvSpPr>
          <p:cNvPr id="6" name="Rectangle 5"/>
          <p:cNvSpPr/>
          <p:nvPr/>
        </p:nvSpPr>
        <p:spPr>
          <a:xfrm rot="19800000">
            <a:off x="428625" y="714375"/>
            <a:ext cx="1428750" cy="438150"/>
          </a:xfrm>
          <a:prstGeom prst="rect">
            <a:avLst/>
          </a:prstGeom>
          <a:solidFill>
            <a:srgbClr val="DBE6A7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ot-yellow-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600000">
            <a:off x="4076700" y="788386"/>
            <a:ext cx="1143000" cy="109022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143500" y="1238250"/>
            <a:ext cx="4476750" cy="825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200" b="1" i="0">
                <a:solidFill>
                  <a:srgbClr val="22371F"/>
                </a:solidFill>
                <a:latin typeface="Montserrat"/>
              </a:rPr>
              <a:t>Pig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143500" y="2125960"/>
            <a:ext cx="4140106" cy="476250"/>
          </a:xfrm>
          <a:prstGeom prst="roundRect">
            <a:avLst>
              <a:gd name="adj" fmla="val 50000"/>
            </a:avLst>
          </a:prstGeom>
          <a:solidFill>
            <a:srgbClr val="D9A5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43500" y="2125960"/>
            <a:ext cx="4140106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2000" b="1" i="0" spc="200">
                <a:solidFill>
                  <a:srgbClr val="22371F"/>
                </a:solidFill>
                <a:latin typeface="Montserrat"/>
              </a:rPr>
              <a:t>HOT COMPOST IT FIRST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43500" y="2811760"/>
            <a:ext cx="4476750" cy="95707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0" i="0">
                <a:solidFill>
                  <a:srgbClr val="333130"/>
                </a:solidFill>
                <a:latin typeface="Source Sans 3"/>
              </a:rPr>
              <a:t>C:N around 14:1. Pigs share parasites and bacteria with people, so the pile must reach 55°C.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62000" y="6429375"/>
            <a:ext cx="8763000" cy="28575"/>
          </a:xfrm>
          <a:prstGeom prst="rect">
            <a:avLst/>
          </a:prstGeom>
          <a:solidFill>
            <a:srgbClr val="22371F">
              <a:alpha val="2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1360000">
            <a:off x="5334000" y="6858000"/>
            <a:ext cx="2293143" cy="2713434"/>
          </a:xfrm>
          <a:prstGeom prst="rect">
            <a:avLst/>
          </a:prstGeom>
          <a:solidFill>
            <a:srgbClr val="FFFDF7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1814621903169920730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360000">
            <a:off x="5394350" y="6933521"/>
            <a:ext cx="2143125" cy="214312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 rot="21360000">
            <a:off x="5486373" y="9073432"/>
            <a:ext cx="2143125" cy="495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6A665C"/>
                </a:solidFill>
                <a:latin typeface="Source Sans 3"/>
              </a:rPr>
              <a:t>Photo: iridial on Unsplash</a:t>
            </a:r>
          </a:p>
        </p:txBody>
      </p:sp>
      <p:sp>
        <p:nvSpPr>
          <p:cNvPr id="16" name="Rectangle 15"/>
          <p:cNvSpPr/>
          <p:nvPr/>
        </p:nvSpPr>
        <p:spPr>
          <a:xfrm rot="240000">
            <a:off x="7524750" y="7096125"/>
            <a:ext cx="2293143" cy="2713434"/>
          </a:xfrm>
          <a:prstGeom prst="rect">
            <a:avLst/>
          </a:prstGeom>
          <a:solidFill>
            <a:srgbClr val="FFFDF7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4486628345748780527.jp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 rot="240000">
            <a:off x="7614418" y="7171646"/>
            <a:ext cx="2143125" cy="214312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 rot="240000">
            <a:off x="7522394" y="9311557"/>
            <a:ext cx="2143125" cy="495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6A665C"/>
                </a:solidFill>
                <a:latin typeface="Source Sans 3"/>
              </a:rPr>
              <a:t>Photo: Sean Foster on Unsplash</a:t>
            </a:r>
          </a:p>
        </p:txBody>
      </p:sp>
      <p:sp>
        <p:nvSpPr>
          <p:cNvPr id="19" name="Rectangle 18"/>
          <p:cNvSpPr/>
          <p:nvPr/>
        </p:nvSpPr>
        <p:spPr>
          <a:xfrm rot="19800000">
            <a:off x="5095875" y="6743700"/>
            <a:ext cx="1047750" cy="342900"/>
          </a:xfrm>
          <a:prstGeom prst="rect">
            <a:avLst/>
          </a:prstGeom>
          <a:solidFill>
            <a:srgbClr val="DBE6A7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dot-red-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21000000">
            <a:off x="8960643" y="6541088"/>
            <a:ext cx="952500" cy="919572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762000" y="6953250"/>
            <a:ext cx="4286250" cy="825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200" b="1" i="0">
                <a:solidFill>
                  <a:srgbClr val="22371F"/>
                </a:solidFill>
                <a:latin typeface="Montserrat"/>
              </a:rPr>
              <a:t>Dog and cat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62000" y="7840960"/>
            <a:ext cx="4440834" cy="476250"/>
          </a:xfrm>
          <a:prstGeom prst="roundRect">
            <a:avLst>
              <a:gd name="adj" fmla="val 50000"/>
            </a:avLst>
          </a:prstGeom>
          <a:solidFill>
            <a:srgbClr val="B538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2000" y="7840960"/>
            <a:ext cx="4440834" cy="476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1" i="0" spc="200">
                <a:solidFill>
                  <a:srgbClr val="F4F1EA"/>
                </a:solidFill>
                <a:latin typeface="Montserrat"/>
              </a:rPr>
              <a:t>KEEP IT OUT OF FOOD COMPOST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2000" y="8526760"/>
            <a:ext cx="4286250" cy="38557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800" b="0" i="0">
                <a:solidFill>
                  <a:srgbClr val="333130"/>
                </a:solidFill>
                <a:latin typeface="Source Sans 3"/>
              </a:rPr>
              <a:t>Dog poop can carry roundworm and cat poop can carry Toxoplasma. Keep both out of any compost for food.</a:t>
            </a:r>
          </a:p>
        </p:txBody>
      </p:sp>
      <p:pic>
        <p:nvPicPr>
          <p:cNvPr id="25" name="Picture 24" descr="dried-flowers-2-1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1080000">
            <a:off x="8429625" y="10354004"/>
            <a:ext cx="1428750" cy="2151991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8191500" y="76200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i="0">
                <a:solidFill>
                  <a:srgbClr val="333130">
                    <a:alpha val="60000"/>
                  </a:srgbClr>
                </a:solidFill>
                <a:latin typeface="Source Sans 3"/>
              </a:rPr>
              <a:t>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1E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per-grain-cream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1428750"/>
            <a:ext cx="76200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 spc="200">
                <a:solidFill>
                  <a:srgbClr val="156826"/>
                </a:solidFill>
                <a:latin typeface="Montserrat"/>
              </a:rPr>
              <a:t>THE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2000250"/>
            <a:ext cx="8763000" cy="4476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800" b="1" i="0">
                <a:solidFill>
                  <a:srgbClr val="22371F"/>
                </a:solidFill>
                <a:latin typeface="Montserrat"/>
              </a:rPr>
              <a:t>Any 🟡 manure needs a thermal pile balanced to roughly 25 to 30:1 and held at 55 to 68°C before it goes near food crops.</a:t>
            </a:r>
          </a:p>
        </p:txBody>
      </p:sp>
      <p:sp>
        <p:nvSpPr>
          <p:cNvPr id="5" name="Rectangle 4"/>
          <p:cNvSpPr/>
          <p:nvPr/>
        </p:nvSpPr>
        <p:spPr>
          <a:xfrm rot="21300000">
            <a:off x="1047749" y="7048500"/>
            <a:ext cx="3465195" cy="3847147"/>
          </a:xfrm>
          <a:prstGeom prst="rect">
            <a:avLst/>
          </a:prstGeom>
          <a:solidFill>
            <a:srgbClr val="FFFDF7"/>
          </a:solidFill>
          <a:ln>
            <a:noFill/>
          </a:ln>
          <a:effectLst>
            <a:outerShdw blurRad="228600" dist="76200" dir="5400000" algn="t" rotWithShape="0">
              <a:srgbClr val="000000">
                <a:alpha val="3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2709467534013741715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300000">
            <a:off x="1144452" y="7162574"/>
            <a:ext cx="3238500" cy="3238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 rot="21300000">
            <a:off x="1307163" y="10393970"/>
            <a:ext cx="3238500" cy="4953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00" b="0" i="0">
                <a:solidFill>
                  <a:srgbClr val="6A665C"/>
                </a:solidFill>
                <a:latin typeface="Source Sans 3"/>
              </a:rPr>
              <a:t>Photo: Frank Thiemonge on Unsplash</a:t>
            </a:r>
          </a:p>
        </p:txBody>
      </p:sp>
      <p:sp>
        <p:nvSpPr>
          <p:cNvPr id="8" name="Rectangle 7"/>
          <p:cNvSpPr/>
          <p:nvPr/>
        </p:nvSpPr>
        <p:spPr>
          <a:xfrm rot="21120000">
            <a:off x="2161222" y="6896100"/>
            <a:ext cx="1238250" cy="381000"/>
          </a:xfrm>
          <a:prstGeom prst="rect">
            <a:avLst/>
          </a:prstGeom>
          <a:solidFill>
            <a:srgbClr val="DBE6A7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ried-flowers-1-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840000">
            <a:off x="4238625" y="7445532"/>
            <a:ext cx="2190750" cy="2825434"/>
          </a:xfrm>
          <a:prstGeom prst="rect">
            <a:avLst/>
          </a:prstGeom>
        </p:spPr>
      </p:pic>
      <p:pic>
        <p:nvPicPr>
          <p:cNvPr id="10" name="Picture 9" descr="poop-sticker-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120000">
            <a:off x="6381750" y="8790003"/>
            <a:ext cx="1714500" cy="146999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2000" y="11906250"/>
            <a:ext cx="7239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 i="0">
                <a:solidFill>
                  <a:srgbClr val="6A665C"/>
                </a:solidFill>
                <a:latin typeface="Source Sans 3"/>
              </a:rPr>
              <a:t>Sources: Rynk et al., On-Farm Composting Handbook (NRAES-54), 1992; US EPA 40 CFR Part 503; CDC fact sheets on toxocariasis and toxoplasmosis.</a:t>
            </a:r>
          </a:p>
        </p:txBody>
      </p:sp>
      <p:sp>
        <p:nvSpPr>
          <p:cNvPr id="12" name="Oval 11"/>
          <p:cNvSpPr/>
          <p:nvPr/>
        </p:nvSpPr>
        <p:spPr>
          <a:xfrm>
            <a:off x="8667750" y="11239500"/>
            <a:ext cx="857250" cy="857250"/>
          </a:xfrm>
          <a:prstGeom prst="ellipse">
            <a:avLst/>
          </a:prstGeom>
          <a:noFill/>
          <a:ln w="19050">
            <a:solidFill>
              <a:srgbClr val="22371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67750" y="11239500"/>
            <a:ext cx="857250" cy="857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>
                <a:solidFill>
                  <a:srgbClr val="22371F"/>
                </a:solidFill>
                <a:latin typeface="Montserrat"/>
              </a:rPr>
              <a:t>LOGO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91500" y="762000"/>
            <a:ext cx="1333500" cy="2857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000" b="0" i="0">
                <a:solidFill>
                  <a:srgbClr val="333130">
                    <a:alpha val="60000"/>
                  </a:srgbClr>
                </a:solidFill>
                <a:latin typeface="Source Sans 3"/>
              </a:rPr>
              <a:t>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