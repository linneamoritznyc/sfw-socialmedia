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Grid and continuous hyphae panorama after Stephanie's feedback. Background: assets/collage/boubacar-panorama/ (tools/make_hyphae_panorama.py, drawn by code). His quotes from his email to Allison, 30 Sep 2026.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 Photo: boubacar-portrait-bananas-closer.jpg. Graduation line from Linnea (1 Oct 2026): confirm the exact course or program and the date [VERIFY].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Gnaly. Grid and continuous hyphae panorama after Stephanie's feedback. Background: assets/collage/boubacar-panorama/ (tools/make_hyphae_panorama.py, drawn by code). His quotes from his email to Allison, 30 Sep 2026. Photos: farm-overview-with-tanks.jpeg, young-tree-with-pineapples.jpg, man-by-water-tanks.jpeg. NEW COPY for approval (narrative hook): based on his email and the approved caption draft. From the caption: 'When he started, the soil had been degraded and poorly managed for years.'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question. Grid and continuous hyphae panorama after Stephanie's feedback. Background: assets/collage/boubacar-panorama/ (tools/make_hyphae_panorama.py, drawn by code). His quotes from his email to Allison, 30 Sep 2026. Photo: vegetable-beds-by-building.jpeg. NEW COPY for approval (narrative hook): based on his email and the approved caption draft. Lead-in 'So he changed the question' is new; the quote is 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Feeding the soil. Grid and continuous hyphae panorama after Stephanie's feedback. Background: assets/collage/boubacar-panorama/ (tools/make_hyphae_panorama.py, drawn by code). His quotes from his email to Allison, 30 Sep 2026. Photos: boubacar-compost-pile.jpeg; still-biochar-kiln-smoke-73s.png (making-biochar-in-barrel-kiln.mp4 at 1:13).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practice. Grid and continuous hyphae panorama after Stephanie's feedback. Background: assets/collage/boubacar-panorama/ (tools/make_hyphae_panorama.py, drawn by code). His quotes from his email to Allison, 30 Sep 2026. Photos: carrying-mulch.jpg, still-biochar-charcoal-16s.png, barrel-brew-under-shelter.jpeg.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grows. Grid and continuous hyphae panorama after Stephanie's feedback. Background: assets/collage/boubacar-panorama/ (tools/make_hyphae_panorama.py, drawn by code). His quotes from his email to Allison, 30 Sep 2026. Photos: planting-seedling-in-agroforest.jpeg, banana-bunch.jpg.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compost. Grid and continuous hyphae panorama after Stephanie's feedback. Background: assets/collage/boubacar-panorama/ (tools/make_hyphae_panorama.py, drawn by code). His quotes from his email to Allison, 30 Sep 2026. Photos: buckets-of-tubers.jpg, young-tree-yellow-new-leaves.jpg, man-with-harvested-tubers.jpeg [VERIFY who].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changing. Grid and continuous hyphae panorama after Stephanie's feedback. Background: assets/collage/boubacar-panorama/ (tools/make_hyphae_panorama.py, drawn by code). His quotes from his email to Allison, 30 Sep 2026. Photos: millipede-leaf-litter.jpg, boubacar-hand-compost-worm.jpg.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 returns. Grid and continuous hyphae panorama after Stephanie's feedback. Background: assets/collage/boubacar-panorama/ (tools/make_hyphae_panorama.py, drawn by code). His quotes from his email to Allison, 30 Sep 2026. Photos: yellow-caterpillar-on-stem.jpg, caterpillar-on-leaf.jpg, still-young-plants-buckets-29s.png.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Passing it on. Grid and continuous hyphae panorama after Stephanie's feedback. Background: assets/collage/boubacar-panorama/ (tools/make_hyphae_panorama.py, drawn by code). His quotes from his email to Allison, 30 Sep 2026. Photos: group-of-five-farmers.jpeg, two-men-at-shade-house.jpeg [VERIFY who, where, when].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dream and the call to action (YouTube). Grid and continuous hyphae panorama after Stephanie's feedback. Background: assets/collage/boubacar-panorama/ (tools/make_hyphae_panorama.py, drawn by code). His quotes from his email to Allison, 30 Sep 2026. Photo: young-coffee-plant.jpg.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42347900122839665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pic>
        <p:nvPicPr>
          <p:cNvPr id="5" name="Picture 4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857250"/>
            <a:ext cx="2286000" cy="20552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3619500"/>
            <a:ext cx="2667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1EA"/>
                </a:solidFill>
                <a:latin typeface="Montserrat"/>
              </a:rPr>
              <a:t>Happy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1EA"/>
                </a:solidFill>
                <a:latin typeface="Montserrat"/>
              </a:rPr>
              <a:t>International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1EA"/>
                </a:solidFill>
                <a:latin typeface="Montserrat"/>
              </a:rPr>
              <a:t>Coffee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E4E6CF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623434"/>
            <a:ext cx="8191500" cy="8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11111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431099"/>
            <a:ext cx="8191500" cy="2043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111111"/>
                </a:solidFill>
                <a:latin typeface="Source Sans 3"/>
              </a:rPr>
              <a:t>Guinea-Conakry</a:t>
            </a:r>
          </a:p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111111"/>
                </a:solidFill>
                <a:latin typeface="Source Sans 3"/>
              </a:rPr>
              <a:t>Graduated from the Soil Food Web School in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910507460832859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34290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54215177249672687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23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2750" y="4286250"/>
            <a:ext cx="2857500" cy="34290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23264579670076062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81500"/>
            <a:ext cx="2667000" cy="3238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1E4D6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8625662"/>
            <a:ext cx="8191500" cy="1213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1111"/>
                </a:solidFill>
                <a:latin typeface="Montserrat"/>
              </a:rPr>
              <a:t>When he started, the land was worn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9838969"/>
            <a:ext cx="8191500" cy="1633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11111"/>
                </a:solidFill>
                <a:latin typeface="Source Sans 3"/>
              </a:rPr>
              <a:t>The soil at Gnaly Coffee &amp; AgroÉcole Bio, in the Fouta Djallon highlands of Guinea-Conakry, had been degraded and poorly managed for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5418397434597738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0" y="476250"/>
            <a:ext cx="2667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0" i="0">
                <a:solidFill>
                  <a:srgbClr val="4C3634"/>
                </a:solidFill>
                <a:latin typeface="EB Garamond"/>
              </a:rPr>
              <a:t>“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4857750"/>
            <a:ext cx="2286000" cy="20552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3F1EA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948095"/>
            <a:ext cx="8191500" cy="8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11111"/>
                </a:solidFill>
                <a:latin typeface="Montserrat"/>
              </a:rPr>
              <a:t>So he changed the 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755760"/>
            <a:ext cx="8191500" cy="1393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1">
                <a:solidFill>
                  <a:srgbClr val="111111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2274796592421831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83507027550599258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E4E6CF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824025"/>
            <a:ext cx="8191500" cy="71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1111"/>
                </a:solidFill>
                <a:latin typeface="Montserrat"/>
              </a:rPr>
              <a:t>How he feeds his soil: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538081"/>
            <a:ext cx="8191500" cy="1735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11111"/>
                </a:solidFill>
                <a:latin typeface="Source Sans 3"/>
              </a:rPr>
              <a:t>living groundcover, mulch from his farm and the forest, and compost with biochar activated with fish hydrolysate and compost tea.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13630337406566599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34290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8273101039707701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23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2750" y="4286250"/>
            <a:ext cx="2857500" cy="34290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85402838765971616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81500"/>
            <a:ext cx="2667000" cy="3238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1E4D6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8719693"/>
            <a:ext cx="8191500" cy="2658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0" i="1">
                <a:solidFill>
                  <a:srgbClr val="111111"/>
                </a:solidFill>
                <a:latin typeface="EB Garamond"/>
              </a:rPr>
              <a:t>“I apply compost regularly around young trees and whenever I add new mulch.”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0922356449905567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704850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03681489740287387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3F1EA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848542"/>
            <a:ext cx="8191500" cy="870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11111"/>
                </a:solidFill>
                <a:latin typeface="Montserrat"/>
              </a:rPr>
              <a:t>What he grows together: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718614"/>
            <a:ext cx="8191500" cy="1530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11111"/>
                </a:solidFill>
                <a:latin typeface="Source Sans 3"/>
              </a:rPr>
              <a:t>coffee, cacao, bananas, citrus, and pineapple.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32007511926644414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34290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29442987838771036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23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2750" y="4286250"/>
            <a:ext cx="2857500" cy="34290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73827147449040586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81500"/>
            <a:ext cx="2667000" cy="3238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E4E6CF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8634256"/>
            <a:ext cx="8191500" cy="28292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111111"/>
                </a:solidFill>
                <a:latin typeface="EB Garamond"/>
              </a:rPr>
              <a:t>“My compost includes plant residues, animal manure when available, biochar activated with fish hydrolysate and compost tea, and local organic materials.”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83674793271368456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704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98268784776446848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1E4D6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623434"/>
            <a:ext cx="8191500" cy="8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11111"/>
                </a:solidFill>
                <a:latin typeface="Montserrat"/>
              </a:rPr>
              <a:t>What he's seeing: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9431099"/>
            <a:ext cx="8191500" cy="2043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111111"/>
                </a:solidFill>
                <a:latin typeface="Source Sans 3"/>
              </a:rPr>
              <a:t>more earthworms, more mushrooms, active decomposition, and better soil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81690939156260949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342900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64097766327203362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23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2750" y="4286250"/>
            <a:ext cx="2857500" cy="3429000"/>
          </a:xfrm>
          <a:prstGeom prst="rect">
            <a:avLst/>
          </a:prstGeom>
          <a:solidFill>
            <a:srgbClr val="F3F1EA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66683461626713362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381500"/>
            <a:ext cx="2667000" cy="3238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3F1EA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8924742"/>
            <a:ext cx="81915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111111"/>
                </a:solidFill>
                <a:latin typeface="EB Garamond"/>
              </a:rPr>
              <a:t>“I can already see signs of healthier soil in the field, including more earthworms, mushrooms, and active decomposition.”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06798748761101086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62750" y="666750"/>
            <a:ext cx="2857500" cy="704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8989705099456442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E4E6CF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976004"/>
            <a:ext cx="8191500" cy="214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111111"/>
                </a:solidFill>
                <a:latin typeface="EB Garamond"/>
              </a:rPr>
              <a:t>“Your training changed the way I see agriculture. I now believe that agriculture is biology, not chemical fertilizer.”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666750"/>
            <a:ext cx="5715000" cy="704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8211001637571509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0" y="476250"/>
            <a:ext cx="2667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0" i="0">
                <a:solidFill>
                  <a:srgbClr val="F6E3C2"/>
                </a:solidFill>
                <a:latin typeface="EB Garamond"/>
              </a:rPr>
              <a:t>“</a:t>
            </a:r>
          </a:p>
        </p:txBody>
      </p:sp>
      <p:pic>
        <p:nvPicPr>
          <p:cNvPr id="6" name="Picture 5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5562600"/>
            <a:ext cx="2286000" cy="20552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191500"/>
            <a:ext cx="9144000" cy="3619500"/>
          </a:xfrm>
          <a:prstGeom prst="rect">
            <a:avLst/>
          </a:prstGeom>
          <a:solidFill>
            <a:srgbClr val="F1E4D6">
              <a:alpha val="94000"/>
            </a:srgbClr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8924742"/>
            <a:ext cx="81915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111111"/>
                </a:solidFill>
                <a:latin typeface="EB Garamond"/>
              </a:rPr>
              <a:t>“My dream is to restore degraded land in the Fouta Djallon and help my community learn living-soil practices.”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4F1EA"/>
                </a:solidFill>
                <a:latin typeface="Montserrat"/>
              </a:rPr>
              <a:t>Subscribe on YouTube: @boubacartidianediallo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