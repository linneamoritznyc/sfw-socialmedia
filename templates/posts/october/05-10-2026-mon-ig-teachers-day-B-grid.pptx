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</p:sldIdLst>
  <p:sldSz cx="10287000" cy="1285875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Cover. World Teachers' Day, 5 October.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Team grid 1: Tommy, Loida, Carla, Wesley, Casey, Brian, Isadora.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Team grid 2: Aysen, Dora, Gerald, Elena, Ib, Nick, Delvin.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Advice: Carla Portugal. From the mentor bios, 30 Sep 2026: confirm with Carla.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Advice: Wesley Sanders. From the mentor bios, 30 Sep 2026: confirm with Wesley.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Advice: Gerald Ramirez. From the mentor bios, 30 Sep 2026: confirm with Gerald.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Advice: Nick Padwick. From the mentor bios, 30 Sep 2026: confirm with Nick.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Closing: every mentor on the roster thanked by name.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3.png"/><Relationship Id="rId6" Type="http://schemas.openxmlformats.org/officeDocument/2006/relationships/image" Target="../media/image4.png"/><Relationship Id="rId7" Type="http://schemas.openxmlformats.org/officeDocument/2006/relationships/image" Target="../media/image5.png"/><Relationship Id="rId8" Type="http://schemas.openxmlformats.org/officeDocument/2006/relationships/image" Target="../media/image6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7.jpg"/><Relationship Id="rId4" Type="http://schemas.openxmlformats.org/officeDocument/2006/relationships/image" Target="../media/image8.jpg"/><Relationship Id="rId5" Type="http://schemas.openxmlformats.org/officeDocument/2006/relationships/image" Target="../media/image9.jpg"/><Relationship Id="rId6" Type="http://schemas.openxmlformats.org/officeDocument/2006/relationships/image" Target="../media/image10.jpg"/><Relationship Id="rId7" Type="http://schemas.openxmlformats.org/officeDocument/2006/relationships/image" Target="../media/image11.jpg"/><Relationship Id="rId8" Type="http://schemas.openxmlformats.org/officeDocument/2006/relationships/image" Target="../media/image12.jpg"/><Relationship Id="rId9" Type="http://schemas.openxmlformats.org/officeDocument/2006/relationships/image" Target="../media/image13.jpg"/><Relationship Id="rId10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4.jpg"/><Relationship Id="rId4" Type="http://schemas.openxmlformats.org/officeDocument/2006/relationships/image" Target="../media/image15.jpg"/><Relationship Id="rId5" Type="http://schemas.openxmlformats.org/officeDocument/2006/relationships/image" Target="../media/image16.jpg"/><Relationship Id="rId6" Type="http://schemas.openxmlformats.org/officeDocument/2006/relationships/image" Target="../media/image17.jpg"/><Relationship Id="rId7" Type="http://schemas.openxmlformats.org/officeDocument/2006/relationships/image" Target="../media/image18.jpg"/><Relationship Id="rId8" Type="http://schemas.openxmlformats.org/officeDocument/2006/relationships/image" Target="../media/image19.jpg"/><Relationship Id="rId9" Type="http://schemas.openxmlformats.org/officeDocument/2006/relationships/image" Target="../media/image20.jpg"/><Relationship Id="rId10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1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2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3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4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4.png"/><Relationship Id="rId4" Type="http://schemas.openxmlformats.org/officeDocument/2006/relationships/image" Target="../media/image3.png"/><Relationship Id="rId5" Type="http://schemas.openxmlformats.org/officeDocument/2006/relationships/image" Target="../media/image1.png"/><Relationship Id="rId6" Type="http://schemas.openxmlformats.org/officeDocument/2006/relationships/image" Target="../media/image2.png"/><Relationship Id="rId7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3166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2000" y="1143000"/>
            <a:ext cx="87630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1" i="0" spc="300">
                <a:solidFill>
                  <a:srgbClr val="B1BCB1"/>
                </a:solidFill>
                <a:latin typeface="Montserrat"/>
              </a:rPr>
              <a:t>WORLD TEACHERS' DAY · 5 OCTOBER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2000" y="1714500"/>
            <a:ext cx="8763000" cy="3429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600" b="1" i="0">
                <a:solidFill>
                  <a:srgbClr val="F3F1EA"/>
                </a:solidFill>
                <a:latin typeface="Montserrat"/>
              </a:rPr>
              <a:t>Happy World Teachers' Day.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2000" y="5143500"/>
            <a:ext cx="8763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600" b="0" i="1">
                <a:solidFill>
                  <a:srgbClr val="F3F1EA"/>
                </a:solidFill>
                <a:latin typeface="EB Garamond"/>
              </a:rPr>
              <a:t>Meet the mentors who teach our students to see soil.</a:t>
            </a:r>
          </a:p>
        </p:txBody>
      </p:sp>
      <p:pic>
        <p:nvPicPr>
          <p:cNvPr id="5" name="Picture 4" descr="td-tithonia-flower-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0" y="7689728"/>
            <a:ext cx="1619250" cy="3099043"/>
          </a:xfrm>
          <a:prstGeom prst="rect">
            <a:avLst/>
          </a:prstGeom>
        </p:spPr>
      </p:pic>
      <p:pic>
        <p:nvPicPr>
          <p:cNvPr id="6" name="Picture 5" descr="td-dried-flowers-1-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14600" y="8194572"/>
            <a:ext cx="1619250" cy="2089354"/>
          </a:xfrm>
          <a:prstGeom prst="rect">
            <a:avLst/>
          </a:prstGeom>
        </p:spPr>
      </p:pic>
      <p:pic>
        <p:nvPicPr>
          <p:cNvPr id="7" name="Picture 6" descr="td-dried-flowers-2-1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67200" y="8019475"/>
            <a:ext cx="1619250" cy="2439548"/>
          </a:xfrm>
          <a:prstGeom prst="rect">
            <a:avLst/>
          </a:prstGeom>
        </p:spPr>
      </p:pic>
      <p:pic>
        <p:nvPicPr>
          <p:cNvPr id="8" name="Picture 7" descr="td-leaf-sprig-paper-1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19800" y="7943850"/>
            <a:ext cx="1619250" cy="2590800"/>
          </a:xfrm>
          <a:prstGeom prst="rect">
            <a:avLst/>
          </a:prstGeom>
        </p:spPr>
      </p:pic>
      <p:pic>
        <p:nvPicPr>
          <p:cNvPr id="9" name="Picture 8" descr="td-happy-seedling-1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772400" y="8328279"/>
            <a:ext cx="1619250" cy="1821940"/>
          </a:xfrm>
          <a:prstGeom prst="rect">
            <a:avLst/>
          </a:prstGeom>
        </p:spPr>
      </p:pic>
      <p:pic>
        <p:nvPicPr>
          <p:cNvPr id="10" name="Picture 9" descr="foundation-logo-whit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477250" y="11250012"/>
            <a:ext cx="1047750" cy="94198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1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2000" y="666750"/>
            <a:ext cx="87630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1" i="0" spc="300">
                <a:solidFill>
                  <a:srgbClr val="31662F"/>
                </a:solidFill>
                <a:latin typeface="Montserrat"/>
              </a:rPr>
              <a:t>OUR MENTORS</a:t>
            </a:r>
          </a:p>
        </p:txBody>
      </p:sp>
      <p:pic>
        <p:nvPicPr>
          <p:cNvPr id="3" name="Picture 2" descr="1328408080374303434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0" y="1333500"/>
            <a:ext cx="1905000" cy="2286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28650" y="3714750"/>
            <a:ext cx="217170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700" b="1" i="0">
                <a:solidFill>
                  <a:srgbClr val="31662F"/>
                </a:solidFill>
                <a:latin typeface="Montserrat"/>
              </a:rPr>
              <a:t>Tommy Tepper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8650" y="4000500"/>
            <a:ext cx="217170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500" b="0" i="0">
                <a:solidFill>
                  <a:srgbClr val="1A1A1A"/>
                </a:solidFill>
                <a:latin typeface="Source Sans 3"/>
              </a:rPr>
              <a:t>Director of Education</a:t>
            </a:r>
          </a:p>
        </p:txBody>
      </p:sp>
      <p:pic>
        <p:nvPicPr>
          <p:cNvPr id="6" name="Picture 5" descr="9052261996872460374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48000" y="1333500"/>
            <a:ext cx="1905000" cy="2286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2914650" y="3714750"/>
            <a:ext cx="217170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700" b="1" i="0">
                <a:solidFill>
                  <a:srgbClr val="31662F"/>
                </a:solidFill>
                <a:latin typeface="Montserrat"/>
              </a:rPr>
              <a:t>Loida Vasquez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14650" y="4000500"/>
            <a:ext cx="217170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500" b="0" i="0">
                <a:solidFill>
                  <a:srgbClr val="1A1A1A"/>
                </a:solidFill>
                <a:latin typeface="Source Sans 3"/>
              </a:rPr>
              <a:t>Advanced Programs Lead</a:t>
            </a:r>
          </a:p>
        </p:txBody>
      </p:sp>
      <p:pic>
        <p:nvPicPr>
          <p:cNvPr id="9" name="Picture 8" descr="2165731666110251881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34000" y="1333500"/>
            <a:ext cx="1905000" cy="22860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200650" y="3714750"/>
            <a:ext cx="217170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700" b="1" i="0">
                <a:solidFill>
                  <a:srgbClr val="31662F"/>
                </a:solidFill>
                <a:latin typeface="Montserrat"/>
              </a:rPr>
              <a:t>Carla Portugal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200650" y="4000500"/>
            <a:ext cx="217170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500" b="0" i="0">
                <a:solidFill>
                  <a:srgbClr val="1A1A1A"/>
                </a:solidFill>
                <a:latin typeface="Source Sans 3"/>
              </a:rPr>
              <a:t>Science Lead</a:t>
            </a:r>
          </a:p>
        </p:txBody>
      </p:sp>
      <p:pic>
        <p:nvPicPr>
          <p:cNvPr id="12" name="Picture 11" descr="303500584823497298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620000" y="1333500"/>
            <a:ext cx="1905000" cy="228600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7486650" y="3714750"/>
            <a:ext cx="217170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700" b="1" i="0">
                <a:solidFill>
                  <a:srgbClr val="31662F"/>
                </a:solidFill>
                <a:latin typeface="Montserrat"/>
              </a:rPr>
              <a:t>Wesley Sanders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86650" y="4000500"/>
            <a:ext cx="217170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500" b="0" i="0">
                <a:solidFill>
                  <a:srgbClr val="1A1A1A"/>
                </a:solidFill>
                <a:latin typeface="Source Sans 3"/>
              </a:rPr>
              <a:t>Farmer, journalist, first lab tech</a:t>
            </a:r>
          </a:p>
        </p:txBody>
      </p:sp>
      <p:pic>
        <p:nvPicPr>
          <p:cNvPr id="15" name="Picture 14" descr="5302559108963007442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62000" y="5048250"/>
            <a:ext cx="1905000" cy="22860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628650" y="7429500"/>
            <a:ext cx="217170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700" b="1" i="0">
                <a:solidFill>
                  <a:srgbClr val="31662F"/>
                </a:solidFill>
                <a:latin typeface="Montserrat"/>
              </a:rPr>
              <a:t>Casey Williams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8650" y="7715250"/>
            <a:ext cx="217170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500" b="0" i="0">
                <a:solidFill>
                  <a:srgbClr val="1A1A1A"/>
                </a:solidFill>
                <a:latin typeface="Source Sans 3"/>
              </a:rPr>
              <a:t>Ten years farming and gardening</a:t>
            </a:r>
          </a:p>
        </p:txBody>
      </p:sp>
      <p:pic>
        <p:nvPicPr>
          <p:cNvPr id="18" name="Picture 17" descr="2810494839865808123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048000" y="5048250"/>
            <a:ext cx="1905000" cy="228600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2914650" y="7429500"/>
            <a:ext cx="217170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700" b="1" i="0">
                <a:solidFill>
                  <a:srgbClr val="31662F"/>
                </a:solidFill>
                <a:latin typeface="Montserrat"/>
              </a:rPr>
              <a:t>Brian Daubenspeck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14650" y="7715250"/>
            <a:ext cx="217170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500" b="0" i="0">
                <a:solidFill>
                  <a:srgbClr val="1A1A1A"/>
                </a:solidFill>
                <a:latin typeface="Source Sans 3"/>
              </a:rPr>
              <a:t>Orchards in California</a:t>
            </a:r>
          </a:p>
        </p:txBody>
      </p:sp>
      <p:pic>
        <p:nvPicPr>
          <p:cNvPr id="21" name="Picture 20" descr="915600290526325188.jp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334000" y="5048250"/>
            <a:ext cx="1905000" cy="2286000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5200650" y="7429500"/>
            <a:ext cx="217170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700" b="1" i="0">
                <a:solidFill>
                  <a:srgbClr val="31662F"/>
                </a:solidFill>
                <a:latin typeface="Montserrat"/>
              </a:rPr>
              <a:t>Isadora Schmidt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200650" y="7715250"/>
            <a:ext cx="217170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500" b="0" i="0">
                <a:solidFill>
                  <a:srgbClr val="1A1A1A"/>
                </a:solidFill>
                <a:latin typeface="Source Sans 3"/>
              </a:rPr>
              <a:t>From Florianópolis, now in Spain</a:t>
            </a:r>
          </a:p>
        </p:txBody>
      </p:sp>
      <p:pic>
        <p:nvPicPr>
          <p:cNvPr id="24" name="Picture 23" descr="td-tithonia-flower-1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925514" y="9715500"/>
            <a:ext cx="1293971" cy="2476500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762000" y="12287250"/>
            <a:ext cx="381000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1" i="0">
                <a:solidFill>
                  <a:srgbClr val="31662F"/>
                </a:solidFill>
                <a:latin typeface="Montserrat"/>
              </a:rPr>
              <a:t>soilfoodweb.com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1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2000" y="666750"/>
            <a:ext cx="87630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1" i="0" spc="300">
                <a:solidFill>
                  <a:srgbClr val="31662F"/>
                </a:solidFill>
                <a:latin typeface="Montserrat"/>
              </a:rPr>
              <a:t>OUR MENTORS</a:t>
            </a:r>
          </a:p>
        </p:txBody>
      </p:sp>
      <p:pic>
        <p:nvPicPr>
          <p:cNvPr id="3" name="Picture 2" descr="7353811879653441962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0" y="1333500"/>
            <a:ext cx="1905000" cy="2286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28650" y="3714750"/>
            <a:ext cx="217170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700" b="1" i="0">
                <a:solidFill>
                  <a:srgbClr val="31662F"/>
                </a:solidFill>
                <a:latin typeface="Montserrat"/>
              </a:rPr>
              <a:t>Aysen Ustunay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8650" y="4000500"/>
            <a:ext cx="217170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500" b="0" i="0">
                <a:solidFill>
                  <a:srgbClr val="1A1A1A"/>
                </a:solidFill>
                <a:latin typeface="Source Sans 3"/>
              </a:rPr>
              <a:t>Loves flagellates</a:t>
            </a:r>
          </a:p>
        </p:txBody>
      </p:sp>
      <p:pic>
        <p:nvPicPr>
          <p:cNvPr id="6" name="Picture 5" descr="1428676906409161277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48000" y="1333500"/>
            <a:ext cx="1905000" cy="2286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2914650" y="3714750"/>
            <a:ext cx="217170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700" b="1" i="0">
                <a:solidFill>
                  <a:srgbClr val="31662F"/>
                </a:solidFill>
                <a:latin typeface="Montserrat"/>
              </a:rPr>
              <a:t>Dora Tkalec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14650" y="4000500"/>
            <a:ext cx="217170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500" b="0" i="0">
                <a:solidFill>
                  <a:srgbClr val="1A1A1A"/>
                </a:solidFill>
                <a:latin typeface="Source Sans 3"/>
              </a:rPr>
              <a:t>Advanced Programs Mentor</a:t>
            </a:r>
          </a:p>
        </p:txBody>
      </p:sp>
      <p:pic>
        <p:nvPicPr>
          <p:cNvPr id="9" name="Picture 8" descr="3190227099351381364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34000" y="1333500"/>
            <a:ext cx="1905000" cy="22860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200650" y="3714750"/>
            <a:ext cx="217170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700" b="1" i="0">
                <a:solidFill>
                  <a:srgbClr val="31662F"/>
                </a:solidFill>
                <a:latin typeface="Montserrat"/>
              </a:rPr>
              <a:t>Gerald Ramirez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200650" y="4000500"/>
            <a:ext cx="217170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500" b="0" i="0">
                <a:solidFill>
                  <a:srgbClr val="1A1A1A"/>
                </a:solidFill>
                <a:latin typeface="Source Sans 3"/>
              </a:rPr>
              <a:t>Agronomist, Costa Rica</a:t>
            </a:r>
          </a:p>
        </p:txBody>
      </p:sp>
      <p:pic>
        <p:nvPicPr>
          <p:cNvPr id="12" name="Picture 11" descr="5194599977860437030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620000" y="1333500"/>
            <a:ext cx="1905000" cy="228600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7486650" y="3714750"/>
            <a:ext cx="217170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700" b="1" i="0">
                <a:solidFill>
                  <a:srgbClr val="31662F"/>
                </a:solidFill>
                <a:latin typeface="Montserrat"/>
              </a:rPr>
              <a:t>Elena Kalli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86650" y="4000500"/>
            <a:ext cx="217170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500" b="0" i="0">
                <a:solidFill>
                  <a:srgbClr val="1A1A1A"/>
                </a:solidFill>
                <a:latin typeface="Source Sans 3"/>
              </a:rPr>
              <a:t>Advanced Programs Admin</a:t>
            </a:r>
          </a:p>
        </p:txBody>
      </p:sp>
      <p:pic>
        <p:nvPicPr>
          <p:cNvPr id="15" name="Picture 14" descr="5691933003122787003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62000" y="5048250"/>
            <a:ext cx="1905000" cy="22860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628650" y="7429500"/>
            <a:ext cx="217170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700" b="1" i="0">
                <a:solidFill>
                  <a:srgbClr val="31662F"/>
                </a:solidFill>
                <a:latin typeface="Montserrat"/>
              </a:rPr>
              <a:t>Ib Borup Pederson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8650" y="7715250"/>
            <a:ext cx="217170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500" b="0" i="0">
                <a:solidFill>
                  <a:srgbClr val="1A1A1A"/>
                </a:solidFill>
                <a:latin typeface="Source Sans 3"/>
              </a:rPr>
              <a:t>Advanced Programs Mentor</a:t>
            </a:r>
          </a:p>
        </p:txBody>
      </p:sp>
      <p:pic>
        <p:nvPicPr>
          <p:cNvPr id="18" name="Picture 17" descr="1704183582210567970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048000" y="5048250"/>
            <a:ext cx="1905000" cy="228600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2914650" y="7429500"/>
            <a:ext cx="217170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700" b="1" i="0">
                <a:solidFill>
                  <a:srgbClr val="31662F"/>
                </a:solidFill>
                <a:latin typeface="Montserrat"/>
              </a:rPr>
              <a:t>Nick Padwick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14650" y="7715250"/>
            <a:ext cx="217170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500" b="0" i="0">
                <a:solidFill>
                  <a:srgbClr val="1A1A1A"/>
                </a:solidFill>
                <a:latin typeface="Source Sans 3"/>
              </a:rPr>
              <a:t>Ken Hill Estate, Norfolk</a:t>
            </a:r>
          </a:p>
        </p:txBody>
      </p:sp>
      <p:pic>
        <p:nvPicPr>
          <p:cNvPr id="21" name="Picture 20" descr="8032503520017667331.jp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334000" y="5048250"/>
            <a:ext cx="1905000" cy="2286000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5200650" y="7429500"/>
            <a:ext cx="217170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700" b="1" i="0">
                <a:solidFill>
                  <a:srgbClr val="31662F"/>
                </a:solidFill>
                <a:latin typeface="Montserrat"/>
              </a:rPr>
              <a:t>Delvin Solkinson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200650" y="7715250"/>
            <a:ext cx="217170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500" b="0" i="0">
                <a:solidFill>
                  <a:srgbClr val="1A1A1A"/>
                </a:solidFill>
                <a:latin typeface="Source Sans 3"/>
              </a:rPr>
              <a:t>Permaculture Lead Teacher</a:t>
            </a:r>
          </a:p>
        </p:txBody>
      </p:sp>
      <p:pic>
        <p:nvPicPr>
          <p:cNvPr id="24" name="Picture 23" descr="td-dried-flowers-2-1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750611" y="9715500"/>
            <a:ext cx="1643776" cy="2476500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762000" y="12287250"/>
            <a:ext cx="381000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1" i="0">
                <a:solidFill>
                  <a:srgbClr val="31662F"/>
                </a:solidFill>
                <a:latin typeface="Montserrat"/>
              </a:rPr>
              <a:t>soilfoodweb.com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1E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7532397443964718678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0" y="762000"/>
            <a:ext cx="8763000" cy="59055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62000" y="7048500"/>
            <a:ext cx="876300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4400" b="1" i="0">
                <a:solidFill>
                  <a:srgbClr val="31662F"/>
                </a:solidFill>
                <a:latin typeface="Montserrat"/>
              </a:rPr>
              <a:t>Dr. Carla Portugal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2000" y="7677150"/>
            <a:ext cx="8763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200" b="0" i="0">
                <a:solidFill>
                  <a:srgbClr val="1A1A1A"/>
                </a:solidFill>
                <a:latin typeface="Source Sans 3"/>
              </a:rPr>
              <a:t>Science Lead &amp; Mentor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8286750"/>
            <a:ext cx="8763000" cy="146224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0" i="1">
                <a:solidFill>
                  <a:srgbClr val="1A1A1A"/>
                </a:solidFill>
                <a:latin typeface="EB Garamond"/>
              </a:rPr>
              <a:t>“Bare soil erodes. Living roots and cover hold the aggregates together.”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667500" y="12287250"/>
            <a:ext cx="285750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800" b="1" i="0">
                <a:solidFill>
                  <a:srgbClr val="31662F"/>
                </a:solidFill>
                <a:latin typeface="Montserrat"/>
              </a:rPr>
              <a:t>soilfoodweb.com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1E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3654144588183956161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0" y="762000"/>
            <a:ext cx="8763000" cy="59055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62000" y="7048500"/>
            <a:ext cx="876300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4400" b="1" i="0">
                <a:solidFill>
                  <a:srgbClr val="31662F"/>
                </a:solidFill>
                <a:latin typeface="Montserrat"/>
              </a:rPr>
              <a:t>Wesley Sanders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2000" y="7677150"/>
            <a:ext cx="8763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200" b="0" i="0">
                <a:solidFill>
                  <a:srgbClr val="1A1A1A"/>
                </a:solidFill>
                <a:latin typeface="Source Sans 3"/>
              </a:rPr>
              <a:t>Advanced Programs Mentor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8286750"/>
            <a:ext cx="8763000" cy="21457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0" i="1">
                <a:solidFill>
                  <a:srgbClr val="1A1A1A"/>
                </a:solidFill>
                <a:latin typeface="EB Garamond"/>
              </a:rPr>
              <a:t>“Compost can look finished and still lack the biology you need. Check it under the microscope before you apply it.”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667500" y="12287250"/>
            <a:ext cx="285750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800" b="1" i="0">
                <a:solidFill>
                  <a:srgbClr val="31662F"/>
                </a:solidFill>
                <a:latin typeface="Montserrat"/>
              </a:rPr>
              <a:t>soilfoodweb.com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1E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2848803052909785835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0" y="762000"/>
            <a:ext cx="8763000" cy="59055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62000" y="7048500"/>
            <a:ext cx="876300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4400" b="1" i="0">
                <a:solidFill>
                  <a:srgbClr val="31662F"/>
                </a:solidFill>
                <a:latin typeface="Montserrat"/>
              </a:rPr>
              <a:t>Gerald Ramirez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2000" y="7677150"/>
            <a:ext cx="8763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200" b="0" i="0">
                <a:solidFill>
                  <a:srgbClr val="1A1A1A"/>
                </a:solidFill>
                <a:latin typeface="Source Sans 3"/>
              </a:rPr>
              <a:t>Advanced Programs Mentor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8286750"/>
            <a:ext cx="8763000" cy="21457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0" i="1">
                <a:solidFill>
                  <a:srgbClr val="1A1A1A"/>
                </a:solidFill>
                <a:latin typeface="EB Garamond"/>
              </a:rPr>
              <a:t>“Extracts pull organisms off the compost into solution, so you can apply biology across a whole field.”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667500" y="12287250"/>
            <a:ext cx="285750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800" b="1" i="0">
                <a:solidFill>
                  <a:srgbClr val="31662F"/>
                </a:solidFill>
                <a:latin typeface="Montserrat"/>
              </a:rPr>
              <a:t>soilfoodweb.com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1E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7252163318080105494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0" y="762000"/>
            <a:ext cx="8763000" cy="59055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62000" y="7048500"/>
            <a:ext cx="876300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4400" b="1" i="0">
                <a:solidFill>
                  <a:srgbClr val="31662F"/>
                </a:solidFill>
                <a:latin typeface="Montserrat"/>
              </a:rPr>
              <a:t>Nick Padwick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2000" y="7677150"/>
            <a:ext cx="8763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200" b="0" i="0">
                <a:solidFill>
                  <a:srgbClr val="1A1A1A"/>
                </a:solidFill>
                <a:latin typeface="Source Sans 3"/>
              </a:rPr>
              <a:t>Advanced Programs Mentor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8286750"/>
            <a:ext cx="8763000" cy="146224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0" i="1">
                <a:solidFill>
                  <a:srgbClr val="1A1A1A"/>
                </a:solidFill>
                <a:latin typeface="EB Garamond"/>
              </a:rPr>
              <a:t>“I make 750 tons of compost a year. Biology works at any scale.”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667500" y="12287250"/>
            <a:ext cx="285750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800" b="1" i="0">
                <a:solidFill>
                  <a:srgbClr val="31662F"/>
                </a:solidFill>
                <a:latin typeface="Montserrat"/>
              </a:rPr>
              <a:t>soilfoodweb.com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3166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2000" y="1333500"/>
            <a:ext cx="8763000" cy="2476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5200" b="1" i="0">
                <a:solidFill>
                  <a:srgbClr val="F3F1EA"/>
                </a:solidFill>
                <a:latin typeface="Montserrat"/>
              </a:rPr>
              <a:t>Thank you to every mentor who teaches our students to see soil.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2000" y="4476750"/>
            <a:ext cx="8763000" cy="3619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3000" b="0" i="1">
                <a:solidFill>
                  <a:srgbClr val="F3F1EA"/>
                </a:solidFill>
                <a:latin typeface="EB Garamond"/>
              </a:rPr>
              <a:t>Tommy Tepper · Loida Vasquez · Carla Portugal · Wesley Sanders · Casey Williams · Brian Daubenspeck · Isadora Schmidt · Aysen Ustunay · Dora Tkalec · Gerald Ramirez · Elena Kalli · Ib Borup Pederson · Nick Padwick · Delvin Solkinson</a:t>
            </a:r>
          </a:p>
        </p:txBody>
      </p:sp>
      <p:pic>
        <p:nvPicPr>
          <p:cNvPr id="4" name="Picture 3" descr="td-leaf-sprig-paper-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0" y="8991600"/>
            <a:ext cx="1619250" cy="2590800"/>
          </a:xfrm>
          <a:prstGeom prst="rect">
            <a:avLst/>
          </a:prstGeom>
        </p:spPr>
      </p:pic>
      <p:pic>
        <p:nvPicPr>
          <p:cNvPr id="5" name="Picture 4" descr="td-dried-flowers-2-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71750" y="9067225"/>
            <a:ext cx="1619250" cy="2439548"/>
          </a:xfrm>
          <a:prstGeom prst="rect">
            <a:avLst/>
          </a:prstGeom>
        </p:spPr>
      </p:pic>
      <p:pic>
        <p:nvPicPr>
          <p:cNvPr id="6" name="Picture 5" descr="td-tithonia-flower-1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44603" y="8858250"/>
            <a:ext cx="1493043" cy="2857500"/>
          </a:xfrm>
          <a:prstGeom prst="rect">
            <a:avLst/>
          </a:prstGeom>
        </p:spPr>
      </p:pic>
      <p:pic>
        <p:nvPicPr>
          <p:cNvPr id="7" name="Picture 6" descr="td-dried-flowers-1-1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91250" y="9242322"/>
            <a:ext cx="1619250" cy="2089354"/>
          </a:xfrm>
          <a:prstGeom prst="rect">
            <a:avLst/>
          </a:prstGeom>
        </p:spPr>
      </p:pic>
      <p:pic>
        <p:nvPicPr>
          <p:cNvPr id="8" name="Picture 7" descr="foundation-logo-whit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477250" y="11250012"/>
            <a:ext cx="1047750" cy="941987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