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cover. Photos: Unsplash, credits in assets/unsplash-earthworm/CREDITS.md. Words: October 2026 Social Media Planning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2: earthworm cut out on white. Photos: Unsplash, credits in assets/unsplash-earthworm/CREDITS.md. Words: October 2026 Social Media Planning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Photos: Unsplash, credits in assets/unsplash-earthworm/CREDITS.md. Words: October 2026 Social Media Planning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Photos: Unsplash, credits in assets/unsplash-earthworm/CREDITS.md. Words: October 2026 Social Media Planning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5: question tile. Photos: Unsplash, credits in assets/unsplash-earthworm/CREDITS.md. Words: October 2026 Social Media Planning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6. Photos: Unsplash, credits in assets/unsplash-earthworm/CREDITS.md. Words: October 2026 Social Media Planning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7. Photos: Unsplash, credits in assets/unsplash-earthworm/CREDITS.md. Words: October 2026 Social Media Planning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jp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849211736237136661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2000" y="7810500"/>
            <a:ext cx="8763000" cy="381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8239125"/>
            <a:ext cx="8001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600">
                <a:solidFill>
                  <a:srgbClr val="31662F"/>
                </a:solidFill>
                <a:latin typeface="Montserrat"/>
              </a:rPr>
              <a:t>SOIL FOOD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763000"/>
            <a:ext cx="800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300">
                <a:solidFill>
                  <a:srgbClr val="6B6B6B"/>
                </a:solidFill>
                <a:latin typeface="Montserrat"/>
              </a:rPr>
              <a:t>WORLD EARTHWORM DAY · OCTOBER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9286875"/>
            <a:ext cx="8001000" cy="209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1" i="0">
                <a:solidFill>
                  <a:srgbClr val="1F1F1F"/>
                </a:solidFill>
                <a:latin typeface="Montserrat"/>
              </a:rPr>
              <a:t>How do worms work their magic?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2439650"/>
            <a:ext cx="876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FFFFFF"/>
                </a:solidFill>
                <a:latin typeface="Source Sans 3"/>
              </a:rPr>
              <a:t>Photo: Julian Zwengel on Unsplash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715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600">
                <a:solidFill>
                  <a:srgbClr val="31662F"/>
                </a:solidFill>
                <a:latin typeface="Montserrat"/>
              </a:rPr>
              <a:t>SOIL FOOD WEB</a:t>
            </a:r>
          </a:p>
        </p:txBody>
      </p:sp>
      <p:pic>
        <p:nvPicPr>
          <p:cNvPr id="3" name="Picture 2" descr="worm-cut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905000"/>
            <a:ext cx="9144000" cy="38611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0960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6B6B6B"/>
                </a:solidFill>
                <a:latin typeface="EB Garamond"/>
              </a:rPr>
              <a:t>Anecic earthworm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6572250"/>
            <a:ext cx="762000" cy="28575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6953250"/>
            <a:ext cx="8763000" cy="400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1F1F1F"/>
                </a:solidFill>
                <a:latin typeface="Montserrat"/>
              </a:rPr>
              <a:t>Anecic earthworms dig vertical burrows that can reach 1 to 2 meters deep to break up compaction.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2439650"/>
            <a:ext cx="876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6B6B"/>
                </a:solidFill>
                <a:latin typeface="Source Sans 3"/>
              </a:rPr>
              <a:t>Photo: Julian Zwengel on Unsplash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49395850779662107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74295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600">
                <a:solidFill>
                  <a:srgbClr val="31662F"/>
                </a:solidFill>
                <a:latin typeface="Montserrat"/>
              </a:rPr>
              <a:t>SOIL FOOD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905750"/>
            <a:ext cx="8763000" cy="409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F1F1F"/>
                </a:solidFill>
                <a:latin typeface="Montserrat"/>
              </a:rPr>
              <a:t>They spread microbes around as they move by lining the walls with mucus and casts, rich in nutrients and microbes.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2439650"/>
            <a:ext cx="876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6B6B"/>
                </a:solidFill>
                <a:latin typeface="Source Sans 3"/>
              </a:rPr>
              <a:t>Photo: sippakorn yamkasikorn on Unsplash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668295844090790047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23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78105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600">
                <a:solidFill>
                  <a:srgbClr val="31662F"/>
                </a:solidFill>
                <a:latin typeface="Montserrat"/>
              </a:rPr>
              <a:t>SOIL FOOD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286750"/>
            <a:ext cx="8763000" cy="3714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F1F1F"/>
                </a:solidFill>
                <a:latin typeface="Montserrat"/>
              </a:rPr>
              <a:t>Their channels let rain soak in fast without causing the ground to go anaerobic.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2439650"/>
            <a:ext cx="876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6B6B"/>
                </a:solidFill>
                <a:latin typeface="Source Sans 3"/>
              </a:rPr>
              <a:t>Photo: Roman Synkevych on Unsplash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715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600">
                <a:solidFill>
                  <a:srgbClr val="31662F"/>
                </a:solidFill>
                <a:latin typeface="Montserrat"/>
              </a:rPr>
              <a:t>SOIL FOOD WEB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476750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 i="0">
                <a:solidFill>
                  <a:srgbClr val="31662F"/>
                </a:solidFill>
                <a:latin typeface="Montserrat"/>
              </a:rPr>
              <a:t>How to care for them?</a:t>
            </a:r>
          </a:p>
        </p:txBody>
      </p:sp>
      <p:pic>
        <p:nvPicPr>
          <p:cNvPr id="4" name="Picture 3" descr="worm-cut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0" y="8191500"/>
            <a:ext cx="6667500" cy="28154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12439650"/>
            <a:ext cx="876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6B6B"/>
                </a:solidFill>
                <a:latin typeface="Source Sans 3"/>
              </a:rPr>
              <a:t>Photo: Julian Zwengel on Unsplash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55121260259873233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23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78105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600">
                <a:solidFill>
                  <a:srgbClr val="31662F"/>
                </a:solidFill>
                <a:latin typeface="Montserrat"/>
              </a:rPr>
              <a:t>SOIL FOOD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286750"/>
            <a:ext cx="8763000" cy="3714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F1F1F"/>
                </a:solidFill>
                <a:latin typeface="Montserrat"/>
              </a:rPr>
              <a:t>Digging cuts the burrows. No‑dig keeps the plumbing intact.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2439650"/>
            <a:ext cx="876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6B6B"/>
                </a:solidFill>
                <a:latin typeface="Source Sans 3"/>
              </a:rPr>
              <a:t>Photo: SFW library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8478357206549283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23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78105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600">
                <a:solidFill>
                  <a:srgbClr val="31662F"/>
                </a:solidFill>
                <a:latin typeface="Montserrat"/>
              </a:rPr>
              <a:t>SOIL FOOD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286750"/>
            <a:ext cx="8763000" cy="3714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F1F1F"/>
                </a:solidFill>
                <a:latin typeface="Montserrat"/>
              </a:rPr>
              <a:t>Add organic matter (Or simply don’t remove it)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2439650"/>
            <a:ext cx="876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6B6B"/>
                </a:solidFill>
                <a:latin typeface="Source Sans 3"/>
              </a:rPr>
              <a:t>Photo: Annie Spratt on Unsplash</a:t>
            </a:r>
          </a:p>
        </p:txBody>
      </p:sp>
      <p:pic>
        <p:nvPicPr>
          <p:cNvPr id="6" name="Picture 5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0" y="10953750"/>
            <a:ext cx="1428750" cy="12845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