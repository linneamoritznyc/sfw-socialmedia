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cover. Photos: Unsplash, credits in assets/unsplash-earthworm/CREDITS.md. Words: October 2026 Social Media Planning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earthworm cut out on white. Photos: Unsplash, credits in assets/unsplash-earthworm/CREDITS.md. Words: October 2026 Social Media Planning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Photos: Unsplash, credits in assets/unsplash-earthworm/CREDITS.md. Words: October 2026 Social Media Planning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Photos: Unsplash, credits in assets/unsplash-earthworm/CREDITS.md. Words: October 2026 Social Media Planning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question tile. Photos: Unsplash, credits in assets/unsplash-earthworm/CREDITS.md. Words: October 2026 Social Media Planning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Photos: Unsplash, credits in assets/unsplash-earthworm/CREDITS.md. Words: October 2026 Social Media Planning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Photos: Unsplash, credits in assets/unsplash-earthworm/CREDITS.md. Words: October 2026 Social Media Planning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9614710266910599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7810500"/>
            <a:ext cx="8763000" cy="38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8239125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600">
                <a:solidFill>
                  <a:srgbClr val="31662F"/>
                </a:solidFill>
                <a:latin typeface="Montserrat"/>
              </a:rPr>
              <a:t>SOIL FOOD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7630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6B6B6B"/>
                </a:solidFill>
                <a:latin typeface="Montserrat"/>
              </a:rPr>
              <a:t>WORLD EARTHWORM DAY · OCTOBER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286875"/>
            <a:ext cx="80010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1F1F1F"/>
                </a:solidFill>
                <a:latin typeface="Montserrat"/>
              </a:rPr>
              <a:t>How do worms work their magic?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2439650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Source Sans 3"/>
              </a:rPr>
              <a:t>Photo: Julian Zwengel on Unsplash</a:t>
            </a:r>
          </a:p>
        </p:txBody>
      </p:sp>
      <p:pic>
        <p:nvPicPr>
          <p:cNvPr id="8" name="Picture 7" descr="earthworm-paper-1-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0" y="6477000"/>
            <a:ext cx="2190750" cy="21650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600">
                <a:solidFill>
                  <a:srgbClr val="31662F"/>
                </a:solidFill>
                <a:latin typeface="Montserrat"/>
              </a:rPr>
              <a:t>SOIL FOOD WEB</a:t>
            </a:r>
          </a:p>
        </p:txBody>
      </p:sp>
      <p:pic>
        <p:nvPicPr>
          <p:cNvPr id="3" name="Picture 2" descr="earthworm-paper-1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1428750"/>
            <a:ext cx="4000500" cy="39535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810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6B6B6B"/>
                </a:solidFill>
                <a:latin typeface="EB Garamond"/>
              </a:rPr>
              <a:t>Anecic earthworm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6572250"/>
            <a:ext cx="762000" cy="28575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953250"/>
            <a:ext cx="87630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F1F1F"/>
                </a:solidFill>
                <a:latin typeface="Montserrat"/>
              </a:rPr>
              <a:t>Anecic earthworms dig vertical burrows that can reach 1 to 2 meters deep to break up compaction.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4121840963257491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4295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600">
                <a:solidFill>
                  <a:srgbClr val="31662F"/>
                </a:solidFill>
                <a:latin typeface="Montserrat"/>
              </a:rPr>
              <a:t>SOIL FOOD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905750"/>
            <a:ext cx="8763000" cy="409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F1F1F"/>
                </a:solidFill>
                <a:latin typeface="Montserrat"/>
              </a:rPr>
              <a:t>They spread microbes around as they move by lining the walls with mucus and casts, rich in nutrients and microbes.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2439650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6B6B"/>
                </a:solidFill>
                <a:latin typeface="Source Sans 3"/>
              </a:rPr>
              <a:t>Photo: sippakorn yamkasikorn on Unsplash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863031133578195198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23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8105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600">
                <a:solidFill>
                  <a:srgbClr val="31662F"/>
                </a:solidFill>
                <a:latin typeface="Montserrat"/>
              </a:rPr>
              <a:t>SOIL FOOD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286750"/>
            <a:ext cx="8763000" cy="3714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F1F1F"/>
                </a:solidFill>
                <a:latin typeface="Montserrat"/>
              </a:rPr>
              <a:t>Their channels let rain soak in fast without causing the ground to go anaerobic.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2439650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6B6B"/>
                </a:solidFill>
                <a:latin typeface="Source Sans 3"/>
              </a:rPr>
              <a:t>Photo: Roman Synkevych on Unsplash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600">
                <a:solidFill>
                  <a:srgbClr val="31662F"/>
                </a:solidFill>
                <a:latin typeface="Montserrat"/>
              </a:rPr>
              <a:t>SOIL FOOD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476750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31662F"/>
                </a:solidFill>
                <a:latin typeface="Montserrat"/>
              </a:rPr>
              <a:t>How to care for them?</a:t>
            </a:r>
          </a:p>
        </p:txBody>
      </p:sp>
      <p:pic>
        <p:nvPicPr>
          <p:cNvPr id="4" name="Picture 3" descr="earthworm-paper-1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7524750"/>
            <a:ext cx="4191000" cy="4141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3575624809566838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23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8105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600">
                <a:solidFill>
                  <a:srgbClr val="31662F"/>
                </a:solidFill>
                <a:latin typeface="Montserrat"/>
              </a:rPr>
              <a:t>SOIL FOOD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286750"/>
            <a:ext cx="8763000" cy="3714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F1F1F"/>
                </a:solidFill>
                <a:latin typeface="Montserrat"/>
              </a:rPr>
              <a:t>Digging cuts the burrows. No‑dig keeps the plumbing intact.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2439650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6B6B"/>
                </a:solidFill>
                <a:latin typeface="Source Sans 3"/>
              </a:rPr>
              <a:t>Photo: SFW library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996592712139198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23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8105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600">
                <a:solidFill>
                  <a:srgbClr val="31662F"/>
                </a:solidFill>
                <a:latin typeface="Montserrat"/>
              </a:rPr>
              <a:t>SOIL FOOD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286750"/>
            <a:ext cx="8763000" cy="3714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F1F1F"/>
                </a:solidFill>
                <a:latin typeface="Montserrat"/>
              </a:rPr>
              <a:t>Add organic matter (Or simply don’t remove 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2439650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6B6B"/>
                </a:solidFill>
                <a:latin typeface="Source Sans 3"/>
              </a:rPr>
              <a:t>Photo: Annie Spratt on Unsplash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0953750"/>
            <a:ext cx="1428750" cy="1284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