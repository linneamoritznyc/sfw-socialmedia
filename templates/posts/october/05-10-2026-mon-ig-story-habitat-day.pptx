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Story, scrapbook. Source: Anthony, Bender and van der Heijden, PNAS, 2023, https://doi.org/10.1073/pnas.2304663120. Microscopy print: assets/microscopy/testate-amoeba-encysting-40x-joy-kaluf.jpg (Joy Kaluf, per the file name). Leave y 1100 to 1450 empty for the poll sticker. Stickers are drawn shapes plus the nematode and fungal-hyphae cutouts.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20000">
            <a:off x="2381250" y="1428750"/>
            <a:ext cx="5760720" cy="61341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883632022308707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2584839" y="1642365"/>
            <a:ext cx="5334000" cy="533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rot="21420000">
            <a:off x="2739773" y="6972308"/>
            <a:ext cx="5334000" cy="586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6A665C"/>
                </a:solidFill>
                <a:latin typeface="Source Sans 3"/>
              </a:rPr>
              <a:t>Photo: Joy Kaluf</a:t>
            </a:r>
          </a:p>
        </p:txBody>
      </p:sp>
      <p:sp>
        <p:nvSpPr>
          <p:cNvPr id="6" name="Rectangle 5"/>
          <p:cNvSpPr/>
          <p:nvPr/>
        </p:nvSpPr>
        <p:spPr>
          <a:xfrm rot="240000">
            <a:off x="4451985" y="1266825"/>
            <a:ext cx="1619250" cy="4381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m-nematode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9800000">
            <a:off x="285750" y="-800475"/>
            <a:ext cx="1905000" cy="788745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 rot="20700000">
            <a:off x="0" y="0"/>
            <a:ext cx="9858375" cy="3197541"/>
            <a:chOff x="0" y="0"/>
            <a:chExt cx="9858375" cy="3197541"/>
          </a:xfrm>
        </p:grpSpPr>
        <p:sp>
          <p:nvSpPr>
            <p:cNvPr id="9" name="Arc 8"/>
            <p:cNvSpPr/>
            <p:nvPr/>
          </p:nvSpPr>
          <p:spPr>
            <a:xfrm>
              <a:off x="7980045" y="2762288"/>
              <a:ext cx="275272" cy="176822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Arc 9"/>
            <p:cNvSpPr/>
            <p:nvPr/>
          </p:nvSpPr>
          <p:spPr>
            <a:xfrm rot="10800000">
              <a:off x="7720965" y="2775889"/>
              <a:ext cx="275272" cy="176822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Arc 10"/>
            <p:cNvSpPr/>
            <p:nvPr/>
          </p:nvSpPr>
          <p:spPr>
            <a:xfrm>
              <a:off x="7461885" y="2762288"/>
              <a:ext cx="275272" cy="176822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39125" y="2517457"/>
              <a:ext cx="1619250" cy="680084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099535" y="2797734"/>
              <a:ext cx="51521" cy="51521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9335062" y="2797734"/>
              <a:ext cx="51521" cy="51521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Block Arc 14"/>
            <p:cNvSpPr/>
            <p:nvPr/>
          </p:nvSpPr>
          <p:spPr>
            <a:xfrm rot="10800000">
              <a:off x="9162097" y="2838216"/>
              <a:ext cx="161925" cy="117763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" name="Group 15"/>
          <p:cNvGrpSpPr/>
          <p:nvPr/>
        </p:nvGrpSpPr>
        <p:grpSpPr>
          <a:xfrm rot="1200000">
            <a:off x="0" y="0"/>
            <a:ext cx="9625965" cy="5753099"/>
            <a:chOff x="0" y="0"/>
            <a:chExt cx="9625965" cy="5753099"/>
          </a:xfrm>
        </p:grpSpPr>
        <p:sp>
          <p:nvSpPr>
            <p:cNvPr id="17" name="Rectangle 16"/>
            <p:cNvSpPr/>
            <p:nvPr/>
          </p:nvSpPr>
          <p:spPr>
            <a:xfrm rot="1500000">
              <a:off x="8668906" y="5095359"/>
              <a:ext cx="18859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662035" y="5314950"/>
              <a:ext cx="18859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 rot="20100000">
              <a:off x="8668906" y="5534540"/>
              <a:ext cx="18859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 rot="20100000">
              <a:off x="9430498" y="5095359"/>
              <a:ext cx="18859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437370" y="5314950"/>
              <a:ext cx="18859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 rot="1500000">
              <a:off x="9430498" y="5534540"/>
              <a:ext cx="18859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8997315" y="4684395"/>
              <a:ext cx="293370" cy="251460"/>
            </a:xfrm>
            <a:prstGeom prst="ellipse">
              <a:avLst/>
            </a:prstGeom>
            <a:solidFill>
              <a:srgbClr val="22371F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8829675" y="4862512"/>
              <a:ext cx="628650" cy="890587"/>
            </a:xfrm>
            <a:prstGeom prst="ellipse">
              <a:avLst/>
            </a:prstGeom>
            <a:solidFill>
              <a:srgbClr val="2F4A3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124950" y="4893945"/>
              <a:ext cx="38100" cy="838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8955405" y="5134927"/>
              <a:ext cx="83820" cy="8382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248775" y="5239702"/>
              <a:ext cx="83820" cy="8382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976360" y="5449252"/>
              <a:ext cx="83820" cy="8382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227820" y="5522595"/>
              <a:ext cx="83820" cy="8382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52500" y="7429500"/>
            <a:ext cx="8382000" cy="4703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0" b="1" i="0">
                <a:solidFill>
                  <a:srgbClr val="22371F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" y="12323710"/>
            <a:ext cx="8382000" cy="170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 i="0">
                <a:solidFill>
                  <a:srgbClr val="333130"/>
                </a:solidFill>
                <a:latin typeface="Source Sans 3"/>
              </a:rPr>
              <a:t>More than half of all species live in soil.</a:t>
            </a:r>
          </a:p>
        </p:txBody>
      </p:sp>
      <p:pic>
        <p:nvPicPr>
          <p:cNvPr id="32" name="Picture 31" descr="trim-fungal-hyphae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00000">
            <a:off x="285750" y="14857892"/>
            <a:ext cx="2857500" cy="3050215"/>
          </a:xfrm>
          <a:prstGeom prst="rect">
            <a:avLst/>
          </a:prstGeom>
        </p:spPr>
      </p:pic>
      <p:grpSp>
        <p:nvGrpSpPr>
          <p:cNvPr id="33" name="Group 32"/>
          <p:cNvGrpSpPr/>
          <p:nvPr/>
        </p:nvGrpSpPr>
        <p:grpSpPr>
          <a:xfrm>
            <a:off x="0" y="0"/>
            <a:ext cx="9048750" cy="17335500"/>
            <a:chOff x="0" y="0"/>
            <a:chExt cx="9048750" cy="17335500"/>
          </a:xfrm>
        </p:grpSpPr>
        <p:sp>
          <p:nvSpPr>
            <p:cNvPr id="34" name="Rectangle 33"/>
            <p:cNvSpPr/>
            <p:nvPr/>
          </p:nvSpPr>
          <p:spPr>
            <a:xfrm>
              <a:off x="8058150" y="15773400"/>
              <a:ext cx="76200" cy="1181100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 rot="8700000">
              <a:off x="7334250" y="15506700"/>
              <a:ext cx="762000" cy="3810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 rot="2100000">
              <a:off x="8096250" y="15506700"/>
              <a:ext cx="762000" cy="3810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7143750" y="16764000"/>
              <a:ext cx="1905000" cy="571500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7953375" y="16986005"/>
              <a:ext cx="51288" cy="51288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187836" y="16986005"/>
              <a:ext cx="51288" cy="51288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Block Arc 39"/>
            <p:cNvSpPr/>
            <p:nvPr/>
          </p:nvSpPr>
          <p:spPr>
            <a:xfrm rot="10800000">
              <a:off x="8015653" y="17026303"/>
              <a:ext cx="161192" cy="117230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" name="Group 40"/>
          <p:cNvGrpSpPr/>
          <p:nvPr/>
        </p:nvGrpSpPr>
        <p:grpSpPr>
          <a:xfrm rot="21360000">
            <a:off x="0" y="0"/>
            <a:ext cx="6062662" cy="17049749"/>
            <a:chOff x="0" y="0"/>
            <a:chExt cx="6062662" cy="17049749"/>
          </a:xfrm>
        </p:grpSpPr>
        <p:sp>
          <p:nvSpPr>
            <p:cNvPr id="42" name="Rounded Rectangle 41"/>
            <p:cNvSpPr/>
            <p:nvPr/>
          </p:nvSpPr>
          <p:spPr>
            <a:xfrm>
              <a:off x="5107305" y="16159162"/>
              <a:ext cx="453390" cy="890587"/>
            </a:xfrm>
            <a:prstGeom prst="roundRec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Chord 42"/>
            <p:cNvSpPr/>
            <p:nvPr/>
          </p:nvSpPr>
          <p:spPr>
            <a:xfrm>
              <a:off x="4605337" y="15511462"/>
              <a:ext cx="1457325" cy="1295400"/>
            </a:xfrm>
            <a:prstGeom prst="chord">
              <a:avLst/>
            </a:prstGeom>
            <a:solidFill>
              <a:srgbClr val="B98A5E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4929187" y="15721965"/>
              <a:ext cx="161925" cy="12954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5447347" y="15624810"/>
              <a:ext cx="161925" cy="12954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5657850" y="15851505"/>
              <a:ext cx="161925" cy="12954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5228748" y="16545083"/>
              <a:ext cx="37782" cy="37782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5401468" y="16545083"/>
              <a:ext cx="37782" cy="37782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Block Arc 48"/>
            <p:cNvSpPr/>
            <p:nvPr/>
          </p:nvSpPr>
          <p:spPr>
            <a:xfrm rot="10800000">
              <a:off x="5274627" y="16574770"/>
              <a:ext cx="118745" cy="86360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Group 49"/>
          <p:cNvGrpSpPr/>
          <p:nvPr/>
        </p:nvGrpSpPr>
        <p:grpSpPr>
          <a:xfrm rot="480000">
            <a:off x="0" y="0"/>
            <a:ext cx="3589020" cy="16830675"/>
            <a:chOff x="0" y="0"/>
            <a:chExt cx="3589020" cy="16830675"/>
          </a:xfrm>
        </p:grpSpPr>
        <p:sp>
          <p:nvSpPr>
            <p:cNvPr id="51" name="Rectangle 50"/>
            <p:cNvSpPr/>
            <p:nvPr/>
          </p:nvSpPr>
          <p:spPr>
            <a:xfrm>
              <a:off x="3114675" y="157162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 rot="19800000">
              <a:off x="3162300" y="162734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3228975" y="155962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 rot="3600000">
              <a:off x="3096101" y="158263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 rot="7200000">
              <a:off x="2830353" y="158263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 rot="10800000">
              <a:off x="2697480" y="155962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 rot="14400000">
              <a:off x="2830353" y="153660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 rot="18000000">
              <a:off x="3096101" y="153660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2980372" y="155533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60" name="Picture 59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0" y="14287500"/>
            <a:ext cx="1714500" cy="15414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