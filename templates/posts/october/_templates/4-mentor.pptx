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ern-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520000">
            <a:off x="-1619250" y="8858250"/>
            <a:ext cx="4953000" cy="2569892"/>
          </a:xfrm>
          <a:prstGeom prst="rect">
            <a:avLst/>
          </a:prstGeom>
        </p:spPr>
      </p:pic>
      <p:pic>
        <p:nvPicPr>
          <p:cNvPr id="3" name="Picture 2" descr="leaf-sprig-t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840000">
            <a:off x="8858250" y="190500"/>
            <a:ext cx="2103247" cy="4953000"/>
          </a:xfrm>
          <a:prstGeom prst="rect">
            <a:avLst/>
          </a:prstGeom>
        </p:spPr>
      </p:pic>
      <p:pic>
        <p:nvPicPr>
          <p:cNvPr id="4" name="Picture 3" descr="cut-blue-lin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80000">
            <a:off x="8620125" y="9620250"/>
            <a:ext cx="2190750" cy="2658858"/>
          </a:xfrm>
          <a:prstGeom prst="rect">
            <a:avLst/>
          </a:prstGeom>
        </p:spPr>
      </p:pic>
      <p:pic>
        <p:nvPicPr>
          <p:cNvPr id="5" name="Picture 4" descr="cut-green-scribb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000000">
            <a:off x="-666750" y="381000"/>
            <a:ext cx="1714500" cy="236393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50" y="381000"/>
            <a:ext cx="8953500" cy="12096750"/>
          </a:xfrm>
          <a:prstGeom prst="roundRect">
            <a:avLst>
              <a:gd name="adj" fmla="val 2978"/>
            </a:avLst>
          </a:prstGeom>
          <a:solidFill>
            <a:srgbClr val="F3F1EA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66750" y="381000"/>
            <a:ext cx="8953500" cy="5715000"/>
          </a:xfrm>
          <a:prstGeom prst="round2Same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9150" y="381000"/>
            <a:ext cx="8648700" cy="571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Mentor 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6286500"/>
            <a:ext cx="8191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1E3F1D"/>
                </a:solidFill>
                <a:latin typeface="Montserrat"/>
              </a:rPr>
              <a:t>Mentor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7077075"/>
            <a:ext cx="8191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31662F"/>
                </a:solidFill>
                <a:latin typeface="Source Sans 3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7620000"/>
            <a:ext cx="8191500" cy="1050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E3F1D"/>
                </a:solidFill>
                <a:latin typeface="Montserrat"/>
              </a:rPr>
              <a:t>“Their advice, in their words.”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" y="8860765"/>
            <a:ext cx="323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50">
                <a:solidFill>
                  <a:srgbClr val="31662F"/>
                </a:solidFill>
                <a:latin typeface="Montserrat"/>
              </a:rPr>
              <a:t>BASED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9136990"/>
            <a:ext cx="3238500" cy="5975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333130"/>
                </a:solidFill>
                <a:latin typeface="Source Sans 3"/>
              </a:rPr>
              <a:t>Place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8860765"/>
            <a:ext cx="323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50">
                <a:solidFill>
                  <a:srgbClr val="31662F"/>
                </a:solidFill>
                <a:latin typeface="Montserrat"/>
              </a:rPr>
              <a:t>TEACHING SINCE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9136990"/>
            <a:ext cx="3238500" cy="5975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333130"/>
                </a:solidFill>
                <a:latin typeface="Source Sans 3"/>
              </a:rPr>
              <a:t>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" y="9629742"/>
            <a:ext cx="323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50">
                <a:solidFill>
                  <a:srgbClr val="31662F"/>
                </a:solidFill>
                <a:latin typeface="Montserrat"/>
              </a:rPr>
              <a:t>BACKGROUND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9905967"/>
            <a:ext cx="3238500" cy="918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333130"/>
                </a:solidFill>
                <a:latin typeface="Source Sans 3"/>
              </a:rPr>
              <a:t>Background in one or two 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9629742"/>
            <a:ext cx="323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50">
                <a:solidFill>
                  <a:srgbClr val="31662F"/>
                </a:solidFill>
                <a:latin typeface="Montserrat"/>
              </a:rPr>
              <a:t>KNOWN FOR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9905967"/>
            <a:ext cx="3238500" cy="5975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333130"/>
                </a:solidFill>
                <a:latin typeface="Source Sans 3"/>
              </a:rPr>
              <a:t>What they are known for</a:t>
            </a:r>
          </a:p>
        </p:txBody>
      </p:sp>
      <p:pic>
        <p:nvPicPr>
          <p:cNvPr id="20" name="Picture 19" descr="foundation-logo-col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0" y="11421282"/>
            <a:ext cx="857250" cy="7707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ones-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0" y="1428750"/>
            <a:ext cx="3691701" cy="10668000"/>
          </a:xfrm>
          <a:prstGeom prst="rect">
            <a:avLst/>
          </a:prstGeom>
        </p:spPr>
      </p:pic>
      <p:pic>
        <p:nvPicPr>
          <p:cNvPr id="3" name="Picture 2" descr="fern-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20000">
            <a:off x="-1143000" y="9525000"/>
            <a:ext cx="7239000" cy="37319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2381250"/>
            <a:ext cx="4953000" cy="27774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 i="0">
                <a:solidFill>
                  <a:srgbClr val="F3F1EA"/>
                </a:solidFill>
                <a:latin typeface="Montserrat"/>
              </a:rPr>
              <a:t>[COPY: Allison] Headline.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3F1EA">
                    <a:alpha val="60000"/>
                  </a:srgbClr>
                </a:solidFill>
                <a:latin typeface="Source Sans 3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128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Mentor photo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762000"/>
            <a:ext cx="3612813" cy="666750"/>
          </a:xfrm>
          <a:prstGeom prst="roundRect">
            <a:avLst>
              <a:gd name="adj" fmla="val 50000"/>
            </a:avLst>
          </a:prstGeom>
          <a:solidFill>
            <a:srgbClr val="1E3F1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762000"/>
            <a:ext cx="3612813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 spc="200">
                <a:solidFill>
                  <a:srgbClr val="B1BCB1"/>
                </a:solidFill>
                <a:latin typeface="Montserrat"/>
              </a:rPr>
              <a:t>MEET OUR MENTORS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429750"/>
            <a:ext cx="10287000" cy="3429000"/>
          </a:xfrm>
          <a:prstGeom prst="rect">
            <a:avLst/>
          </a:prstGeom>
          <a:solidFill>
            <a:srgbClr val="1E3F1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9810750"/>
            <a:ext cx="7620000" cy="905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800" b="1" i="0">
                <a:solidFill>
                  <a:srgbClr val="F3F1EA"/>
                </a:solidFill>
                <a:latin typeface="Montserrat"/>
              </a:rPr>
              <a:t>Mentor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0811489"/>
            <a:ext cx="7620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B1BCB1"/>
                </a:solidFill>
                <a:latin typeface="Source Sans 3"/>
              </a:rPr>
              <a:t>Role</a:t>
            </a:r>
          </a:p>
        </p:txBody>
      </p:sp>
      <p:pic>
        <p:nvPicPr>
          <p:cNvPr id="9" name="Picture 8" descr="foundation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501" y="11239500"/>
            <a:ext cx="953498" cy="857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3F1EA">
                    <a:alpha val="60000"/>
                  </a:srgbClr>
                </a:solidFill>
                <a:latin typeface="Source Sans 3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14925" cy="1285875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4810125" cy="128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Mentor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172075" y="0"/>
            <a:ext cx="5114925" cy="1285875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24475" y="0"/>
            <a:ext cx="4810125" cy="128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Mentor two</a:t>
            </a:r>
          </a:p>
        </p:txBody>
      </p:sp>
      <p:sp>
        <p:nvSpPr>
          <p:cNvPr id="6" name="Rectangle 5"/>
          <p:cNvSpPr/>
          <p:nvPr/>
        </p:nvSpPr>
        <p:spPr>
          <a:xfrm>
            <a:off x="5114925" y="0"/>
            <a:ext cx="57150" cy="1285875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762000"/>
            <a:ext cx="3612813" cy="666750"/>
          </a:xfrm>
          <a:prstGeom prst="roundRect">
            <a:avLst>
              <a:gd name="adj" fmla="val 50000"/>
            </a:avLst>
          </a:prstGeom>
          <a:solidFill>
            <a:srgbClr val="1E3F1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762000"/>
            <a:ext cx="3612813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 spc="200">
                <a:solidFill>
                  <a:srgbClr val="B1BCB1"/>
                </a:solidFill>
                <a:latin typeface="Montserrat"/>
              </a:rPr>
              <a:t>MEET OUR MENTORS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429750"/>
            <a:ext cx="10287000" cy="3429000"/>
          </a:xfrm>
          <a:prstGeom prst="rect">
            <a:avLst/>
          </a:prstGeom>
          <a:solidFill>
            <a:srgbClr val="1E3F1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9906000"/>
            <a:ext cx="40005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3F1EA"/>
                </a:solidFill>
                <a:latin typeface="Montserrat"/>
              </a:rPr>
              <a:t>Mentor 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1334750"/>
            <a:ext cx="4000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B1BCB1"/>
                </a:solidFill>
                <a:latin typeface="Source Sans 3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0" y="9906000"/>
            <a:ext cx="40005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3F1EA"/>
                </a:solidFill>
                <a:latin typeface="Montserrat"/>
              </a:rPr>
              <a:t>Mentor Two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4500" y="11334750"/>
            <a:ext cx="4000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B1BCB1"/>
                </a:solidFill>
                <a:latin typeface="Source Sans 3"/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3F1EA">
                    <a:alpha val="60000"/>
                  </a:srgbClr>
                </a:solidFill>
                <a:latin typeface="Source Sans 3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128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Mentor photo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762000"/>
            <a:ext cx="3612813" cy="666750"/>
          </a:xfrm>
          <a:prstGeom prst="roundRect">
            <a:avLst>
              <a:gd name="adj" fmla="val 50000"/>
            </a:avLst>
          </a:prstGeom>
          <a:solidFill>
            <a:srgbClr val="1E3F1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762000"/>
            <a:ext cx="3612813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 spc="200">
                <a:solidFill>
                  <a:srgbClr val="B1BCB1"/>
                </a:solidFill>
                <a:latin typeface="Montserrat"/>
              </a:rPr>
              <a:t>MEET OUR MENTORS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10287000" cy="3333750"/>
          </a:xfrm>
          <a:prstGeom prst="rect">
            <a:avLst/>
          </a:prstGeom>
          <a:gradFill rotWithShape="1">
            <a:gsLst>
              <a:gs pos="0">
                <a:srgbClr val="1E3F1D">
                  <a:alpha val="0"/>
                </a:srgbClr>
              </a:gs>
              <a:gs pos="100000">
                <a:srgbClr val="1E3F1D">
                  <a:alpha val="7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6286500"/>
            <a:ext cx="2857500" cy="1523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B1BCB1">
                    <a:alpha val="100000"/>
                  </a:srgbClr>
                </a:solidFill>
                <a:latin typeface="Montserrat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429500"/>
            <a:ext cx="8763000" cy="190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F3F1EA"/>
                </a:solidFill>
                <a:latin typeface="Montserrat"/>
              </a:rPr>
              <a:t>[COPY: Allison] Quote.”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429750"/>
            <a:ext cx="10287000" cy="3429000"/>
          </a:xfrm>
          <a:prstGeom prst="rect">
            <a:avLst/>
          </a:prstGeom>
          <a:solidFill>
            <a:srgbClr val="1E3F1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9810750"/>
            <a:ext cx="7620000" cy="905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800" b="1" i="0">
                <a:solidFill>
                  <a:srgbClr val="F3F1EA"/>
                </a:solidFill>
                <a:latin typeface="Montserrat"/>
              </a:rPr>
              <a:t>Mentor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0811489"/>
            <a:ext cx="7620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B1BCB1"/>
                </a:solidFill>
                <a:latin typeface="Source Sans 3"/>
              </a:rPr>
              <a:t>Role</a:t>
            </a:r>
          </a:p>
        </p:txBody>
      </p:sp>
      <p:pic>
        <p:nvPicPr>
          <p:cNvPr id="12" name="Picture 11" descr="foundation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501" y="11239500"/>
            <a:ext cx="953498" cy="857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3F1EA">
                    <a:alpha val="60000"/>
                  </a:srgbClr>
                </a:solidFill>
                <a:latin typeface="Source Sans 3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