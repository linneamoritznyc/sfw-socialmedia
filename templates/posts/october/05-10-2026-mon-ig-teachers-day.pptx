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slide. Source: mentor roster from Linnea, September 2026, and mentor bios on https://soilfoodweb.com. Leaf frame built from existing cutouts (ferns, leaf sprigs, dried flowers).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Tommy Tepper. Facts from the mentor bios collected on 30 Sep 2026 (soilfoodweb.com was blocked from this session); confirm every fact and the advice line with the mentor before posting. [PHOTO NEEDED: Tommy Tepper, headshot]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Loida Vasquez. Facts from the mentor bios collected on 30 Sep 2026 (soilfoodweb.com was blocked from this session); confirm every fact and the advice line with the mentor before posting.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Dr. Carla Portugal. Facts from the mentor bios collected on 30 Sep 2026 (soilfoodweb.com was blocked from this session); confirm every fact and the advice line with the mentor before posting. Carla's headshot is only 499 px; ask for a larger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Wesley Sanders. Facts from the mentor bios collected on 30 Sep 2026 (soilfoodweb.com was blocked from this session); confirm every fact and the advice line with the mentor before posting.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Casey Williams. Facts from the mentor bios collected on 30 Sep 2026 (soilfoodweb.com was blocked from this session); confirm every fact and the advice line with the mentor before posting. [PHOTO NEEDED: Casey Williams, headshot]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Brian Daubenspeck. Facts from the mentor bios collected on 30 Sep 2026 (soilfoodweb.com was blocked from this session); confirm every fact and the advice line with the mentor before posting. [PHOTO NEEDED: Brian Daubenspeck, headshot]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Isadora Schmidt. Facts from the mentor bios collected on 30 Sep 2026 (soilfoodweb.com was blocked from this session); confirm every fact and the advice line with the mentor before posting. [PHOTO NEEDED: Isadora Schmidt, headshot]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Aysen Ustunay. Facts from the mentor bios collected on 30 Sep 2026 (soilfoodweb.com was blocked from this session); confirm every fact and the advice line with the mentor before posting. [PHOTO NEEDED: Aysen Ustunay, headshot]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Dora Tkalec. Facts from the mentor bios collected on 30 Sep 2026 (soilfoodweb.com was blocked from this session); confirm every fact and the advice line with the mentor before posting. [PHOTO NEEDED: Dora Tkalec, headshot]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Gerald Ramirez. Facts from the mentor bios collected on 30 Sep 2026 (soilfoodweb.com was blocked from this session); confirm every fact and the advice line with the mentor before posting. Bio also says 'Teaching the CLP and CTP courses' (left off: no acronyms in public text).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Elena Kalli. Facts from the mentor bios collected on 30 Sep 2026 (soilfoodweb.com was blocked from this session); confirm every fact and the advice line with the mentor before posting. [PHOTO NEEDED: Elena Kalli, headshot]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Ib Borup Pederson. Facts from the mentor bios collected on 30 Sep 2026 (soilfoodweb.com was blocked from this session); confirm every fact and the advice line with the mentor before posting. [PHOTO NEEDED: Ib Borup Pederson, headshot]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Nick Padwick. Facts from the mentor bios collected on 30 Sep 2026 (soilfoodweb.com was blocked from this session); confirm every fact and the advice line with the mentor before posting.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card: Delvin Solkinson. Facts from the mentor bios collected on 30 Sep 2026 (soilfoodweb.com was blocked from this session); confirm every fact and the advice line with the mentor before posting. [PHOTO NEEDED: Delvin Solkinson, headshot]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Leaf frame built from existing cutouts.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m-fern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00000">
            <a:off x="381000" y="645326"/>
            <a:ext cx="4953000" cy="2519346"/>
          </a:xfrm>
          <a:prstGeom prst="rect">
            <a:avLst/>
          </a:prstGeom>
        </p:spPr>
      </p:pic>
      <p:pic>
        <p:nvPicPr>
          <p:cNvPr id="3" name="Picture 2" descr="trim-fern-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00">
            <a:off x="5429250" y="690096"/>
            <a:ext cx="4381500" cy="2239306"/>
          </a:xfrm>
          <a:prstGeom prst="rect">
            <a:avLst/>
          </a:prstGeom>
        </p:spPr>
      </p:pic>
      <p:pic>
        <p:nvPicPr>
          <p:cNvPr id="4" name="Picture 3" descr="trim-leaf-sprig-t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40000">
            <a:off x="238125" y="4179195"/>
            <a:ext cx="1619250" cy="3833608"/>
          </a:xfrm>
          <a:prstGeom prst="rect">
            <a:avLst/>
          </a:prstGeom>
        </p:spPr>
      </p:pic>
      <p:pic>
        <p:nvPicPr>
          <p:cNvPr id="5" name="Picture 4" descr="trim-leaf-sprig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40000">
            <a:off x="8524875" y="4863448"/>
            <a:ext cx="1524000" cy="3608102"/>
          </a:xfrm>
          <a:prstGeom prst="rect">
            <a:avLst/>
          </a:prstGeom>
        </p:spPr>
      </p:pic>
      <p:pic>
        <p:nvPicPr>
          <p:cNvPr id="6" name="Picture 5" descr="trim-dried-flowers-1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500000">
            <a:off x="619125" y="8545807"/>
            <a:ext cx="3143250" cy="4053884"/>
          </a:xfrm>
          <a:prstGeom prst="rect">
            <a:avLst/>
          </a:prstGeom>
        </p:spPr>
      </p:pic>
      <p:pic>
        <p:nvPicPr>
          <p:cNvPr id="7" name="Picture 6" descr="trim-dried-flowers-2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00000">
            <a:off x="6858000" y="8659474"/>
            <a:ext cx="2667000" cy="4017050"/>
          </a:xfrm>
          <a:prstGeom prst="rect">
            <a:avLst/>
          </a:prstGeom>
        </p:spPr>
      </p:pic>
      <p:pic>
        <p:nvPicPr>
          <p:cNvPr id="8" name="Picture 7" descr="trim-fern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500000">
            <a:off x="3333750" y="10555446"/>
            <a:ext cx="4000500" cy="20348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90750" y="4476750"/>
            <a:ext cx="5905500" cy="4362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5000" b="1" i="0">
                <a:solidFill>
                  <a:srgbClr val="F4F1EA"/>
                </a:solidFill>
                <a:latin typeface="Montserrat"/>
              </a:rPr>
              <a:t>Happy World Teachers' Day. Our mentors' best advice, in one line each.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8250" y="11516532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  <a:pattFill prst="ltUpDiag">
              <a:fgClr>
                <a:srgbClr val="E8E2D4"/>
              </a:fgClr>
              <a:bgClr>
                <a:srgbClr val="F4F1EA"/>
              </a:bgClr>
            </a:patt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" name="Picture 4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1425" y="2118690"/>
              <a:ext cx="2724150" cy="244916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600" b="1" i="0">
                  <a:solidFill>
                    <a:srgbClr val="22371F"/>
                  </a:solidFill>
                  <a:latin typeface="Montserrat"/>
                </a:rPr>
                <a:t>Tommy Tepper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Director of Education &amp; Mentor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B23A2E"/>
                  </a:solidFill>
                  <a:latin typeface="Montserrat"/>
                </a:rPr>
                <a:t>[ADVICE LINE NEEDED]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pic>
          <p:nvPicPr>
            <p:cNvPr id="17" name="Picture 16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" name="Picture 3" descr="3922740342659304466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600" b="1" i="0">
                  <a:solidFill>
                    <a:srgbClr val="22371F"/>
                  </a:solidFill>
                  <a:latin typeface="Montserrat"/>
                </a:rPr>
                <a:t>Loida Vasquez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Advanced Programs Lead &amp; Mentor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B23A2E"/>
                  </a:solidFill>
                  <a:latin typeface="Montserrat"/>
                </a:rPr>
                <a:t>[ADVICE LINE NEEDED]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pic>
          <p:nvPicPr>
            <p:cNvPr id="16" name="Picture 15" descr="foundation-logo-color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" name="Picture 3" descr="56020930108462009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200" b="1" i="0">
                  <a:solidFill>
                    <a:srgbClr val="22371F"/>
                  </a:solidFill>
                  <a:latin typeface="Montserrat"/>
                </a:rPr>
                <a:t>Dr. Carla Portugal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Science Lead &amp; Mentor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22371F"/>
                  </a:solidFill>
                  <a:latin typeface="Montserrat"/>
                </a:rPr>
                <a:t>“Bare soil erodes. Living roots and cover hold the aggregates together.”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Brazil [VERIFY]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2019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PhD in Environmental Sciences, 20 years of environmental and farm consulting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pic>
          <p:nvPicPr>
            <p:cNvPr id="16" name="Picture 15" descr="foundation-logo-color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" name="Picture 3" descr="588480253606403439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600" b="1" i="0">
                  <a:solidFill>
                    <a:srgbClr val="22371F"/>
                  </a:solidFill>
                  <a:latin typeface="Montserrat"/>
                </a:rPr>
                <a:t>Wesley Sanders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AP Mentor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22371F"/>
                  </a:solidFill>
                  <a:latin typeface="Montserrat"/>
                </a:rPr>
                <a:t>“Compost can look finished and still lack the biology you need. Check it under the microscope before you apply it.”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Sierra Nevada foothills, California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2020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10 years as an agricultural journalist, then 10 years managing a farm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Foothill Biological Soil Health Services</a:t>
              </a:r>
            </a:p>
          </p:txBody>
        </p:sp>
        <p:pic>
          <p:nvPicPr>
            <p:cNvPr id="16" name="Picture 15" descr="foundation-logo-color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  <a:pattFill prst="ltUpDiag">
              <a:fgClr>
                <a:srgbClr val="E8E2D4"/>
              </a:fgClr>
              <a:bgClr>
                <a:srgbClr val="F4F1EA"/>
              </a:bgClr>
            </a:patt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" name="Picture 4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1425" y="2118690"/>
              <a:ext cx="2724150" cy="244916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600" b="1" i="0">
                  <a:solidFill>
                    <a:srgbClr val="22371F"/>
                  </a:solidFill>
                  <a:latin typeface="Montserrat"/>
                </a:rPr>
                <a:t>Casey Williams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AP Mentor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B23A2E"/>
                  </a:solidFill>
                  <a:latin typeface="Montserrat"/>
                </a:rPr>
                <a:t>[ADVICE LINE NEEDED]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pic>
          <p:nvPicPr>
            <p:cNvPr id="17" name="Picture 16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  <a:pattFill prst="ltUpDiag">
              <a:fgClr>
                <a:srgbClr val="E8E2D4"/>
              </a:fgClr>
              <a:bgClr>
                <a:srgbClr val="F4F1EA"/>
              </a:bgClr>
            </a:patt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" name="Picture 4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1425" y="2118690"/>
              <a:ext cx="2724150" cy="244916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600" b="1" i="0">
                  <a:solidFill>
                    <a:srgbClr val="22371F"/>
                  </a:solidFill>
                  <a:latin typeface="Montserrat"/>
                </a:rPr>
                <a:t>Brian Daubenspeck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AP Mentor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B23A2E"/>
                  </a:solidFill>
                  <a:latin typeface="Montserrat"/>
                </a:rPr>
                <a:t>[ADVICE LINE NEEDED]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pic>
          <p:nvPicPr>
            <p:cNvPr id="17" name="Picture 16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  <a:pattFill prst="ltUpDiag">
              <a:fgClr>
                <a:srgbClr val="E8E2D4"/>
              </a:fgClr>
              <a:bgClr>
                <a:srgbClr val="F4F1EA"/>
              </a:bgClr>
            </a:patt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" name="Picture 4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1425" y="2118690"/>
              <a:ext cx="2724150" cy="244916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600" b="1" i="0">
                  <a:solidFill>
                    <a:srgbClr val="22371F"/>
                  </a:solidFill>
                  <a:latin typeface="Montserrat"/>
                </a:rPr>
                <a:t>Isadora Schmidt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AP Mentor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B23A2E"/>
                  </a:solidFill>
                  <a:latin typeface="Montserrat"/>
                </a:rPr>
                <a:t>[ADVICE LINE NEEDED]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pic>
          <p:nvPicPr>
            <p:cNvPr id="17" name="Picture 16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  <a:pattFill prst="ltUpDiag">
              <a:fgClr>
                <a:srgbClr val="E8E2D4"/>
              </a:fgClr>
              <a:bgClr>
                <a:srgbClr val="F4F1EA"/>
              </a:bgClr>
            </a:patt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" name="Picture 4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1425" y="2118690"/>
              <a:ext cx="2724150" cy="244916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600" b="1" i="0">
                  <a:solidFill>
                    <a:srgbClr val="22371F"/>
                  </a:solidFill>
                  <a:latin typeface="Montserrat"/>
                </a:rPr>
                <a:t>Aysen Ustunay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AP Mentor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B23A2E"/>
                  </a:solidFill>
                  <a:latin typeface="Montserrat"/>
                </a:rPr>
                <a:t>[ADVICE LINE NEEDED]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pic>
          <p:nvPicPr>
            <p:cNvPr id="17" name="Picture 16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  <a:pattFill prst="ltUpDiag">
              <a:fgClr>
                <a:srgbClr val="E8E2D4"/>
              </a:fgClr>
              <a:bgClr>
                <a:srgbClr val="F4F1EA"/>
              </a:bgClr>
            </a:patt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" name="Picture 4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1425" y="2118690"/>
              <a:ext cx="2724150" cy="244916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600" b="1" i="0">
                  <a:solidFill>
                    <a:srgbClr val="22371F"/>
                  </a:solidFill>
                  <a:latin typeface="Montserrat"/>
                </a:rPr>
                <a:t>Dora Tkalec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AP Mentor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B23A2E"/>
                  </a:solidFill>
                  <a:latin typeface="Montserrat"/>
                </a:rPr>
                <a:t>[ADVICE LINE NEEDED]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pic>
          <p:nvPicPr>
            <p:cNvPr id="17" name="Picture 16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" name="Picture 3" descr="276219616280406109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600" b="1" i="0">
                  <a:solidFill>
                    <a:srgbClr val="22371F"/>
                  </a:solidFill>
                  <a:latin typeface="Montserrat"/>
                </a:rPr>
                <a:t>Gerald Ramirez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AP Mentor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22371F"/>
                  </a:solidFill>
                  <a:latin typeface="Montserrat"/>
                </a:rPr>
                <a:t>“Extracts pull organisms off the compost into solution, so you can apply biology across a whole field.”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Costa Rica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Agronomist, University of Costa Rica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pic>
          <p:nvPicPr>
            <p:cNvPr id="16" name="Picture 15" descr="foundation-logo-color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  <a:pattFill prst="ltUpDiag">
              <a:fgClr>
                <a:srgbClr val="E8E2D4"/>
              </a:fgClr>
              <a:bgClr>
                <a:srgbClr val="F4F1EA"/>
              </a:bgClr>
            </a:patt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" name="Picture 4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1425" y="2118690"/>
              <a:ext cx="2724150" cy="244916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600" b="1" i="0">
                  <a:solidFill>
                    <a:srgbClr val="22371F"/>
                  </a:solidFill>
                  <a:latin typeface="Montserrat"/>
                </a:rPr>
                <a:t>Elena Kalli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AP Admin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B23A2E"/>
                  </a:solidFill>
                  <a:latin typeface="Montserrat"/>
                </a:rPr>
                <a:t>[ADVICE LINE NEEDED]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pic>
          <p:nvPicPr>
            <p:cNvPr id="17" name="Picture 16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  <a:pattFill prst="ltUpDiag">
              <a:fgClr>
                <a:srgbClr val="E8E2D4"/>
              </a:fgClr>
              <a:bgClr>
                <a:srgbClr val="F4F1EA"/>
              </a:bgClr>
            </a:patt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" name="Picture 4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1425" y="2118690"/>
              <a:ext cx="2724150" cy="244916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600" b="1" i="0">
                  <a:solidFill>
                    <a:srgbClr val="22371F"/>
                  </a:solidFill>
                  <a:latin typeface="Montserrat"/>
                </a:rPr>
                <a:t>Ib Borup Pederson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AP Mentor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B23A2E"/>
                  </a:solidFill>
                  <a:latin typeface="Montserrat"/>
                </a:rPr>
                <a:t>[ADVICE LINE NEEDED]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pic>
          <p:nvPicPr>
            <p:cNvPr id="17" name="Picture 16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" name="Picture 3" descr="5684526537729628308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600" b="1" i="0">
                  <a:solidFill>
                    <a:srgbClr val="22371F"/>
                  </a:solidFill>
                  <a:latin typeface="Montserrat"/>
                </a:rPr>
                <a:t>Nick Padwick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AP Mentor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22371F"/>
                  </a:solidFill>
                  <a:latin typeface="Montserrat"/>
                </a:rPr>
                <a:t>“I make 750 tons of compost a year. Biology works at any scale.”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West Norfolk, England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Farmers Weekly Farm Manager and Farmer of the Year, 2009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Managing Ken Hill Estate, home of Wild Ken Hill</a:t>
              </a:r>
            </a:p>
          </p:txBody>
        </p:sp>
        <p:pic>
          <p:nvPicPr>
            <p:cNvPr id="16" name="Picture 15" descr="foundation-logo-color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180000">
            <a:off x="0" y="0"/>
            <a:ext cx="9429750" cy="12334875"/>
            <a:chOff x="0" y="0"/>
            <a:chExt cx="9429750" cy="12334875"/>
          </a:xfrm>
        </p:grpSpPr>
        <p:sp>
          <p:nvSpPr>
            <p:cNvPr id="3" name="Rounded Rectangle 2"/>
            <p:cNvSpPr/>
            <p:nvPr/>
          </p:nvSpPr>
          <p:spPr>
            <a:xfrm>
              <a:off x="857250" y="523875"/>
              <a:ext cx="8572500" cy="11811000"/>
            </a:xfrm>
            <a:prstGeom prst="roundRect">
              <a:avLst>
                <a:gd name="adj" fmla="val 3111"/>
              </a:avLst>
            </a:prstGeom>
            <a:solidFill>
              <a:srgbClr val="F4F1EA"/>
            </a:solidFill>
            <a:ln>
              <a:noFill/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200150" y="866775"/>
              <a:ext cx="7886700" cy="4953000"/>
            </a:xfrm>
            <a:prstGeom prst="roundRect">
              <a:avLst>
                <a:gd name="adj" fmla="val 4615"/>
              </a:avLst>
            </a:prstGeom>
            <a:pattFill prst="ltUpDiag">
              <a:fgClr>
                <a:srgbClr val="E8E2D4"/>
              </a:fgClr>
              <a:bgClr>
                <a:srgbClr val="F4F1EA"/>
              </a:bgClr>
            </a:patt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" name="Picture 4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1425" y="2118690"/>
              <a:ext cx="2724150" cy="244916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200150" y="5953125"/>
              <a:ext cx="78867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5600" b="1" i="0">
                  <a:solidFill>
                    <a:srgbClr val="22371F"/>
                  </a:solidFill>
                  <a:latin typeface="Montserrat"/>
                </a:rPr>
                <a:t>Delvin Solkinson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00150" y="6734175"/>
              <a:ext cx="7886700" cy="381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2600" b="1" i="0">
                  <a:solidFill>
                    <a:srgbClr val="156826"/>
                  </a:solidFill>
                  <a:latin typeface="Source Sans 3"/>
                </a:rPr>
                <a:t>Permaculture Lead Teacher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00150" y="7239000"/>
              <a:ext cx="7886700" cy="2476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3400" b="1" i="0">
                  <a:solidFill>
                    <a:srgbClr val="B23A2E"/>
                  </a:solidFill>
                  <a:latin typeface="Montserrat"/>
                </a:rPr>
                <a:t>[ADVICE LINE NEEDED]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001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BASED IN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001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19650" y="990600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TEACHING SINCE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19650" y="1015365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001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BACKGROUND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001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9650" y="11029950"/>
              <a:ext cx="3333750" cy="2476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1" i="0" spc="200">
                  <a:solidFill>
                    <a:srgbClr val="156826"/>
                  </a:solidFill>
                  <a:latin typeface="Montserrat"/>
                </a:rPr>
                <a:t>KNOWN FOR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19650" y="11277600"/>
              <a:ext cx="3333750" cy="857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900" b="0" i="0">
                  <a:solidFill>
                    <a:srgbClr val="333130"/>
                  </a:solidFill>
                  <a:latin typeface="Source Sans 3"/>
                </a:rPr>
                <a:t>[VERIFY]</a:t>
              </a:r>
            </a:p>
          </p:txBody>
        </p:sp>
        <p:pic>
          <p:nvPicPr>
            <p:cNvPr id="17" name="Picture 16" descr="foundation-logo-col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0" y="11220450"/>
              <a:ext cx="857250" cy="770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m-fern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381000" y="9694076"/>
            <a:ext cx="4953000" cy="2519346"/>
          </a:xfrm>
          <a:prstGeom prst="rect">
            <a:avLst/>
          </a:prstGeom>
        </p:spPr>
      </p:pic>
      <p:pic>
        <p:nvPicPr>
          <p:cNvPr id="3" name="Picture 2" descr="trim-fern-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00000">
            <a:off x="5429250" y="9929346"/>
            <a:ext cx="4381500" cy="2239306"/>
          </a:xfrm>
          <a:prstGeom prst="rect">
            <a:avLst/>
          </a:prstGeom>
        </p:spPr>
      </p:pic>
      <p:pic>
        <p:nvPicPr>
          <p:cNvPr id="4" name="Picture 3" descr="trim-leaf-sprig-t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60000">
            <a:off x="238125" y="4845945"/>
            <a:ext cx="1619250" cy="3833608"/>
          </a:xfrm>
          <a:prstGeom prst="rect">
            <a:avLst/>
          </a:prstGeom>
        </p:spPr>
      </p:pic>
      <p:pic>
        <p:nvPicPr>
          <p:cNvPr id="5" name="Picture 4" descr="trim-leaf-sprig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0000">
            <a:off x="8524875" y="4387198"/>
            <a:ext cx="1524000" cy="3608102"/>
          </a:xfrm>
          <a:prstGeom prst="rect">
            <a:avLst/>
          </a:prstGeom>
        </p:spPr>
      </p:pic>
      <p:pic>
        <p:nvPicPr>
          <p:cNvPr id="6" name="Picture 5" descr="trim-dried-flowers-1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00000">
            <a:off x="619125" y="259057"/>
            <a:ext cx="3143250" cy="4053884"/>
          </a:xfrm>
          <a:prstGeom prst="rect">
            <a:avLst/>
          </a:prstGeom>
        </p:spPr>
      </p:pic>
      <p:pic>
        <p:nvPicPr>
          <p:cNvPr id="7" name="Picture 6" descr="trim-dried-flowers-2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800000">
            <a:off x="6858000" y="182224"/>
            <a:ext cx="2667000" cy="4017050"/>
          </a:xfrm>
          <a:prstGeom prst="rect">
            <a:avLst/>
          </a:prstGeom>
        </p:spPr>
      </p:pic>
      <p:pic>
        <p:nvPicPr>
          <p:cNvPr id="8" name="Picture 7" descr="trim-fern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100000">
            <a:off x="3333750" y="268446"/>
            <a:ext cx="4000500" cy="20348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90750" y="4953000"/>
            <a:ext cx="5905500" cy="4362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5000" b="1" i="0">
                <a:solidFill>
                  <a:srgbClr val="F4F1EA"/>
                </a:solidFill>
                <a:latin typeface="Montserrat"/>
              </a:rPr>
              <a:t>Thank you to every mentor who teaches our students to see soil.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8250" y="11516532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