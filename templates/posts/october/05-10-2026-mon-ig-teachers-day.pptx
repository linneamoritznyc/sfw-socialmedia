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slide. Source: mentor roster from Linnea, September 2026, and mentor bios on https://soilfoodweb.com. Leaf frame built from existing cutouts; stickers are drawn shapes.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Tommy Tepper. Facts from the mentor bios collected on 30 Sep 2026 (soilfoodweb.com was blocked from this session); confirm every fact and the advice line with the mentor before posting. [PHOTO NEEDED: Tommy Tepper, headshot]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Loida Vasquez. Facts from the mentor bios collected on 30 Sep 2026 (soilfoodweb.com was blocked from this session); confirm every fact and the advice line with the mentor before posting.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Dr. Carla Portugal. Facts from the mentor bios collected on 30 Sep 2026 (soilfoodweb.com was blocked from this session); confirm every fact and the advice line with the mentor before posting. Carla's headshot is only 499 px; ask for a larger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Wesley Sanders. Facts from the mentor bios collected on 30 Sep 2026 (soilfoodweb.com was blocked from this session); confirm every fact and the advice line with the mentor before posting.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Casey Williams. Facts from the mentor bios collected on 30 Sep 2026 (soilfoodweb.com was blocked from this session); confirm every fact and the advice line with the mentor before posting. [PHOTO NEEDED: Casey Williams, headshot]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Brian Daubenspeck. Facts from the mentor bios collected on 30 Sep 2026 (soilfoodweb.com was blocked from this session); confirm every fact and the advice line with the mentor before posting. [PHOTO NEEDED: Brian Daubenspeck, headshot]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Isadora Schmidt. Facts from the mentor bios collected on 30 Sep 2026 (soilfoodweb.com was blocked from this session); confirm every fact and the advice line with the mentor before posting. [PHOTO NEEDED: Isadora Schmidt, headshot]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Aysen Ustunay. Facts from the mentor bios collected on 30 Sep 2026 (soilfoodweb.com was blocked from this session); confirm every fact and the advice line with the mentor before posting. [PHOTO NEEDED: Aysen Ustunay, headshot]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Dora Tkalec. Facts from the mentor bios collected on 30 Sep 2026 (soilfoodweb.com was blocked from this session); confirm every fact and the advice line with the mentor before posting. [PHOTO NEEDED: Dora Tkalec, headshot]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Gerald Ramirez. Facts from the mentor bios collected on 30 Sep 2026 (soilfoodweb.com was blocked from this session); confirm every fact and the advice line with the mentor before posting. Bio also says 'Teaching the CLP and CTP courses' (left off: no acronyms in public text).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Elena Kalli. Facts from the mentor bios collected on 30 Sep 2026 (soilfoodweb.com was blocked from this session); confirm every fact and the advice line with the mentor before posting. [PHOTO NEEDED: Elena Kalli, headshot]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Ib Borup Pederson. Facts from the mentor bios collected on 30 Sep 2026 (soilfoodweb.com was blocked from this session); confirm every fact and the advice line with the mentor before posting. [PHOTO NEEDED: Ib Borup Pederson, headshot]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Nick Padwick. Facts from the mentor bios collected on 30 Sep 2026 (soilfoodweb.com was blocked from this session); confirm every fact and the advice line with the mentor before posting.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Delvin Solkinson. Facts from the mentor bios collected on 30 Sep 2026 (soilfoodweb.com was blocked from this session); confirm every fact and the advice line with the mentor before posting. [PHOTO NEEDED: Delvin Solkinson, headshot]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slide. Leaf frame built from existing cutouts; stickers are drawn shapes.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jpg"/><Relationship Id="rId4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jp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jpg"/><Relationship Id="rId4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jpg"/><Relationship Id="rId4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m-fern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400000">
            <a:off x="381000" y="645326"/>
            <a:ext cx="4953000" cy="2519346"/>
          </a:xfrm>
          <a:prstGeom prst="rect">
            <a:avLst/>
          </a:prstGeom>
        </p:spPr>
      </p:pic>
      <p:pic>
        <p:nvPicPr>
          <p:cNvPr id="3" name="Picture 2" descr="trim-fern-s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000000">
            <a:off x="5429250" y="690096"/>
            <a:ext cx="4381500" cy="2239306"/>
          </a:xfrm>
          <a:prstGeom prst="rect">
            <a:avLst/>
          </a:prstGeom>
        </p:spPr>
      </p:pic>
      <p:pic>
        <p:nvPicPr>
          <p:cNvPr id="4" name="Picture 3" descr="trim-leaf-sprig-t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40000">
            <a:off x="238125" y="4179195"/>
            <a:ext cx="1619250" cy="3833608"/>
          </a:xfrm>
          <a:prstGeom prst="rect">
            <a:avLst/>
          </a:prstGeom>
        </p:spPr>
      </p:pic>
      <p:pic>
        <p:nvPicPr>
          <p:cNvPr id="5" name="Picture 4" descr="trim-leaf-sprig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240000">
            <a:off x="8524875" y="4863448"/>
            <a:ext cx="1524000" cy="3608102"/>
          </a:xfrm>
          <a:prstGeom prst="rect">
            <a:avLst/>
          </a:prstGeom>
        </p:spPr>
      </p:pic>
      <p:pic>
        <p:nvPicPr>
          <p:cNvPr id="6" name="Picture 5" descr="trim-dried-flowers-1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9500000">
            <a:off x="619125" y="8545807"/>
            <a:ext cx="3143250" cy="4053884"/>
          </a:xfrm>
          <a:prstGeom prst="rect">
            <a:avLst/>
          </a:prstGeom>
        </p:spPr>
      </p:pic>
      <p:pic>
        <p:nvPicPr>
          <p:cNvPr id="7" name="Picture 6" descr="trim-dried-flowers-2-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800000">
            <a:off x="6858000" y="8659474"/>
            <a:ext cx="2667000" cy="4017050"/>
          </a:xfrm>
          <a:prstGeom prst="rect">
            <a:avLst/>
          </a:prstGeom>
        </p:spPr>
      </p:pic>
      <p:pic>
        <p:nvPicPr>
          <p:cNvPr id="8" name="Picture 7" descr="trim-fern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500000">
            <a:off x="3333750" y="10555446"/>
            <a:ext cx="4000500" cy="20348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 rot="21480000">
            <a:off x="2000250" y="3810000"/>
            <a:ext cx="6286500" cy="447675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19920000">
            <a:off x="1857375" y="3657600"/>
            <a:ext cx="1428750" cy="4191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1680000">
            <a:off x="7000875" y="3657600"/>
            <a:ext cx="1428750" cy="4191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0" y="4476750"/>
            <a:ext cx="5715000" cy="41916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4800" b="1" i="0">
                <a:solidFill>
                  <a:srgbClr val="22371F"/>
                </a:solidFill>
                <a:latin typeface="Montserrat"/>
              </a:rPr>
              <a:t>Happy World Teachers' Day. Our mentors' best advice, in one line each.</a:t>
            </a:r>
          </a:p>
        </p:txBody>
      </p:sp>
      <p:grpSp>
        <p:nvGrpSpPr>
          <p:cNvPr id="13" name="Group 12"/>
          <p:cNvGrpSpPr/>
          <p:nvPr/>
        </p:nvGrpSpPr>
        <p:grpSpPr>
          <a:xfrm rot="360000">
            <a:off x="0" y="0"/>
            <a:ext cx="7739062" cy="8858250"/>
            <a:chOff x="0" y="0"/>
            <a:chExt cx="7739062" cy="8858250"/>
          </a:xfrm>
        </p:grpSpPr>
        <p:sp>
          <p:nvSpPr>
            <p:cNvPr id="14" name="Rounded Rectangle 13"/>
            <p:cNvSpPr/>
            <p:nvPr/>
          </p:nvSpPr>
          <p:spPr>
            <a:xfrm>
              <a:off x="6738937" y="8715375"/>
              <a:ext cx="1000125" cy="142875"/>
            </a:xfrm>
            <a:prstGeom prst="roundRect">
              <a:avLst/>
            </a:prstGeom>
            <a:solidFill>
              <a:srgbClr val="3E6B5A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310437" y="7829550"/>
              <a:ext cx="200025" cy="914400"/>
            </a:xfrm>
            <a:prstGeom prst="roundRect">
              <a:avLst/>
            </a:prstGeom>
            <a:solidFill>
              <a:srgbClr val="3E6B5A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838950" y="8315325"/>
              <a:ext cx="714375" cy="71437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 rot="20520000">
              <a:off x="6953250" y="7500937"/>
              <a:ext cx="228600" cy="714375"/>
            </a:xfrm>
            <a:prstGeom prst="roundRect">
              <a:avLst/>
            </a:prstGeom>
            <a:solidFill>
              <a:srgbClr val="D9D2C3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 rot="20520000">
              <a:off x="6853237" y="7372350"/>
              <a:ext cx="285750" cy="142875"/>
            </a:xfrm>
            <a:prstGeom prst="roundRect">
              <a:avLst/>
            </a:prstGeom>
            <a:solidFill>
              <a:srgbClr val="3E6B5A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7267575" y="7972425"/>
              <a:ext cx="200025" cy="200025"/>
            </a:xfrm>
            <a:prstGeom prst="ellipse">
              <a:avLst/>
            </a:prstGeom>
            <a:solidFill>
              <a:srgbClr val="E0A83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" name="Group 19"/>
          <p:cNvGrpSpPr/>
          <p:nvPr/>
        </p:nvGrpSpPr>
        <p:grpSpPr>
          <a:xfrm rot="21240000">
            <a:off x="0" y="0"/>
            <a:ext cx="3810000" cy="9124950"/>
            <a:chOff x="0" y="0"/>
            <a:chExt cx="3810000" cy="9124950"/>
          </a:xfrm>
        </p:grpSpPr>
        <p:sp>
          <p:nvSpPr>
            <p:cNvPr id="21" name="Rectangle 20"/>
            <p:cNvSpPr/>
            <p:nvPr/>
          </p:nvSpPr>
          <p:spPr>
            <a:xfrm>
              <a:off x="3105150" y="8031480"/>
              <a:ext cx="76200" cy="826770"/>
            </a:xfrm>
            <a:prstGeom prst="rect">
              <a:avLst/>
            </a:prstGeom>
            <a:solidFill>
              <a:srgbClr val="7FA0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 rot="8700000">
              <a:off x="2609850" y="7844790"/>
              <a:ext cx="533400" cy="266700"/>
            </a:xfrm>
            <a:prstGeom prst="ellipse">
              <a:avLst/>
            </a:prstGeom>
            <a:solidFill>
              <a:srgbClr val="59A66C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 rot="2100000">
              <a:off x="3143250" y="7844790"/>
              <a:ext cx="533400" cy="266700"/>
            </a:xfrm>
            <a:prstGeom prst="ellipse">
              <a:avLst/>
            </a:prstGeom>
            <a:solidFill>
              <a:srgbClr val="59A66C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2476500" y="8724900"/>
              <a:ext cx="1333500" cy="400050"/>
            </a:xfrm>
            <a:prstGeom prst="ellipse">
              <a:avLst/>
            </a:prstGeom>
            <a:solidFill>
              <a:srgbClr val="4F3433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3043237" y="8880304"/>
              <a:ext cx="35901" cy="35901"/>
            </a:xfrm>
            <a:prstGeom prst="ellipse">
              <a:avLst/>
            </a:prstGeom>
            <a:solidFill>
              <a:srgbClr val="F4F1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3207360" y="8880304"/>
              <a:ext cx="35901" cy="35901"/>
            </a:xfrm>
            <a:prstGeom prst="ellipse">
              <a:avLst/>
            </a:prstGeom>
            <a:solidFill>
              <a:srgbClr val="F4F1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Block Arc 26"/>
            <p:cNvSpPr/>
            <p:nvPr/>
          </p:nvSpPr>
          <p:spPr>
            <a:xfrm rot="10800000">
              <a:off x="3086832" y="8908512"/>
              <a:ext cx="112834" cy="82061"/>
            </a:xfrm>
            <a:prstGeom prst="blockArc">
              <a:avLst>
                <a:gd name="adj1" fmla="val 10800000"/>
                <a:gd name="adj2" fmla="val 0"/>
                <a:gd name="adj3" fmla="val 18000"/>
              </a:avLst>
            </a:prstGeom>
            <a:solidFill>
              <a:srgbClr val="F4F1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pic>
        <p:nvPicPr>
          <p:cNvPr id="28" name="Picture 27" descr="foundation-logo-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8250" y="11516532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 rot="180000"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  <a:pattFill prst="ltUpDiag">
              <a:fgClr>
                <a:srgbClr val="E8E2D4"/>
              </a:fgClr>
              <a:bgClr>
                <a:srgbClr val="F4F1EA"/>
              </a:bgClr>
            </a:patt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5" name="Picture 4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81425" y="2118690"/>
              <a:ext cx="2724150" cy="2449168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Tommy Tepper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Director of Education &amp; Mentor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B23A2E"/>
                  </a:solidFill>
                  <a:latin typeface="Montserrat"/>
                </a:rPr>
                <a:t>[ADVICE LINE NEEDED]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7" name="Picture 16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8" name="Rectangle 17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160000">
            <a:off x="8239125" y="952500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20" name="Group 19"/>
          <p:cNvGrpSpPr/>
          <p:nvPr/>
        </p:nvGrpSpPr>
        <p:grpSpPr>
          <a:xfrm rot="20400000">
            <a:off x="0" y="0"/>
            <a:ext cx="10001250" cy="12396787"/>
            <a:chOff x="0" y="0"/>
            <a:chExt cx="10001250" cy="12396787"/>
          </a:xfrm>
        </p:grpSpPr>
        <p:sp>
          <p:nvSpPr>
            <p:cNvPr id="21" name="Arc 20"/>
            <p:cNvSpPr/>
            <p:nvPr/>
          </p:nvSpPr>
          <p:spPr>
            <a:xfrm>
              <a:off x="8343900" y="12012739"/>
              <a:ext cx="242887" cy="156019"/>
            </a:xfrm>
            <a:prstGeom prst="arc">
              <a:avLst/>
            </a:prstGeom>
            <a:noFill/>
            <a:ln w="38100">
              <a:solidFill>
                <a:srgbClr val="1568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Arc 21"/>
            <p:cNvSpPr/>
            <p:nvPr/>
          </p:nvSpPr>
          <p:spPr>
            <a:xfrm rot="10800000">
              <a:off x="8115300" y="12024741"/>
              <a:ext cx="242887" cy="156019"/>
            </a:xfrm>
            <a:prstGeom prst="arc">
              <a:avLst/>
            </a:prstGeom>
            <a:noFill/>
            <a:ln w="38100">
              <a:solidFill>
                <a:srgbClr val="1568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Arc 22"/>
            <p:cNvSpPr/>
            <p:nvPr/>
          </p:nvSpPr>
          <p:spPr>
            <a:xfrm>
              <a:off x="7886700" y="12012739"/>
              <a:ext cx="242887" cy="156019"/>
            </a:xfrm>
            <a:prstGeom prst="arc">
              <a:avLst/>
            </a:prstGeom>
            <a:noFill/>
            <a:ln w="38100">
              <a:solidFill>
                <a:srgbClr val="1568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8572500" y="11796712"/>
              <a:ext cx="1428750" cy="600075"/>
            </a:xfrm>
            <a:prstGeom prst="roundRect">
              <a:avLst>
                <a:gd name="adj" fmla="val 50000"/>
              </a:avLst>
            </a:prstGeom>
            <a:solidFill>
              <a:srgbClr val="BFD8A6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9331685" y="12044016"/>
              <a:ext cx="45460" cy="45460"/>
            </a:xfrm>
            <a:prstGeom prst="ellipse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9539503" y="12044016"/>
              <a:ext cx="45460" cy="45460"/>
            </a:xfrm>
            <a:prstGeom prst="ellipse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Block Arc 26"/>
            <p:cNvSpPr/>
            <p:nvPr/>
          </p:nvSpPr>
          <p:spPr>
            <a:xfrm rot="10800000">
              <a:off x="9386887" y="12079734"/>
              <a:ext cx="142874" cy="103909"/>
            </a:xfrm>
            <a:prstGeom prst="blockArc">
              <a:avLst>
                <a:gd name="adj1" fmla="val 10800000"/>
                <a:gd name="adj2" fmla="val 0"/>
                <a:gd name="adj3" fmla="val 18000"/>
              </a:avLst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 rot="180000"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4" name="Picture 3" descr="6711507890228017999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Loida Vasquez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Advanced Programs Lead &amp; Mentor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B23A2E"/>
                  </a:solidFill>
                  <a:latin typeface="Montserrat"/>
                </a:rPr>
                <a:t>[ADVICE LINE NEEDED]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6" name="Picture 15" descr="foundation-logo-color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7" name="Rectangle 16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160000">
            <a:off x="8239125" y="952500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9" name="Group 18"/>
          <p:cNvGrpSpPr/>
          <p:nvPr/>
        </p:nvGrpSpPr>
        <p:grpSpPr>
          <a:xfrm rot="600000">
            <a:off x="0" y="0"/>
            <a:ext cx="9875520" cy="12830175"/>
            <a:chOff x="0" y="0"/>
            <a:chExt cx="9875520" cy="12830175"/>
          </a:xfrm>
        </p:grpSpPr>
        <p:sp>
          <p:nvSpPr>
            <p:cNvPr id="20" name="Rectangle 19"/>
            <p:cNvSpPr/>
            <p:nvPr/>
          </p:nvSpPr>
          <p:spPr>
            <a:xfrm>
              <a:off x="9401175" y="11715750"/>
              <a:ext cx="57150" cy="1114425"/>
            </a:xfrm>
            <a:prstGeom prst="rect">
              <a:avLst/>
            </a:prstGeom>
            <a:solidFill>
              <a:srgbClr val="7FA0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 rot="19800000">
              <a:off x="9448800" y="12272962"/>
              <a:ext cx="385762" cy="171450"/>
            </a:xfrm>
            <a:prstGeom prst="ellipse">
              <a:avLst/>
            </a:prstGeom>
            <a:solidFill>
              <a:srgbClr val="59A66C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>
              <a:off x="9515475" y="11595735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 rot="3600000">
              <a:off x="9382601" y="11825879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 rot="7200000">
              <a:off x="9116853" y="11825879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 rot="10800000">
              <a:off x="8983980" y="11595735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 rot="14400000">
              <a:off x="9116853" y="11365590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 rot="18000000">
              <a:off x="9382601" y="11365590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9266872" y="11552872"/>
              <a:ext cx="325755" cy="325755"/>
            </a:xfrm>
            <a:prstGeom prst="ellipse">
              <a:avLst/>
            </a:prstGeom>
            <a:solidFill>
              <a:srgbClr val="8C6A4E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 rot="180000"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4" name="Picture 3" descr="6242569719062395373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200" b="1" i="0">
                  <a:solidFill>
                    <a:srgbClr val="22371F"/>
                  </a:solidFill>
                  <a:latin typeface="Montserrat"/>
                </a:rPr>
                <a:t>Dr. Carla Portugal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Science Lead &amp; Mentor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22371F"/>
                  </a:solidFill>
                  <a:latin typeface="Montserrat"/>
                </a:rPr>
                <a:t>“Bare soil erodes. Living roots and cover hold the aggregates together.”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Brazil [VERIFY]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2019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PhD in Environmental Sciences, 20 years of environmental and farm consulting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6" name="Picture 15" descr="foundation-logo-color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7" name="Rectangle 16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160000">
            <a:off x="8239125" y="952500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9" name="Group 18"/>
          <p:cNvGrpSpPr/>
          <p:nvPr/>
        </p:nvGrpSpPr>
        <p:grpSpPr>
          <a:xfrm rot="480000">
            <a:off x="0" y="0"/>
            <a:ext cx="10096500" cy="12592050"/>
            <a:chOff x="0" y="0"/>
            <a:chExt cx="10096500" cy="12592050"/>
          </a:xfrm>
        </p:grpSpPr>
        <p:sp>
          <p:nvSpPr>
            <p:cNvPr id="20" name="Rectangle 19"/>
            <p:cNvSpPr/>
            <p:nvPr/>
          </p:nvSpPr>
          <p:spPr>
            <a:xfrm>
              <a:off x="9296400" y="11342370"/>
              <a:ext cx="76200" cy="944880"/>
            </a:xfrm>
            <a:prstGeom prst="rect">
              <a:avLst/>
            </a:prstGeom>
            <a:solidFill>
              <a:srgbClr val="7FA0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 rot="8700000">
              <a:off x="8724900" y="11129010"/>
              <a:ext cx="609600" cy="304800"/>
            </a:xfrm>
            <a:prstGeom prst="ellipse">
              <a:avLst/>
            </a:prstGeom>
            <a:solidFill>
              <a:srgbClr val="59A66C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 rot="2100000">
              <a:off x="9334500" y="11129010"/>
              <a:ext cx="609600" cy="304800"/>
            </a:xfrm>
            <a:prstGeom prst="ellipse">
              <a:avLst/>
            </a:prstGeom>
            <a:solidFill>
              <a:srgbClr val="59A66C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8572500" y="12134850"/>
              <a:ext cx="1524000" cy="457200"/>
            </a:xfrm>
            <a:prstGeom prst="ellipse">
              <a:avLst/>
            </a:prstGeom>
            <a:solidFill>
              <a:srgbClr val="4F3433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9220200" y="12312454"/>
              <a:ext cx="41030" cy="41030"/>
            </a:xfrm>
            <a:prstGeom prst="ellipse">
              <a:avLst/>
            </a:prstGeom>
            <a:solidFill>
              <a:srgbClr val="F4F1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9407769" y="12312454"/>
              <a:ext cx="41030" cy="41030"/>
            </a:xfrm>
            <a:prstGeom prst="ellipse">
              <a:avLst/>
            </a:prstGeom>
            <a:solidFill>
              <a:srgbClr val="F4F1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Block Arc 25"/>
            <p:cNvSpPr/>
            <p:nvPr/>
          </p:nvSpPr>
          <p:spPr>
            <a:xfrm rot="10800000">
              <a:off x="9270023" y="12344693"/>
              <a:ext cx="128953" cy="93784"/>
            </a:xfrm>
            <a:prstGeom prst="blockArc">
              <a:avLst>
                <a:gd name="adj1" fmla="val 10800000"/>
                <a:gd name="adj2" fmla="val 0"/>
                <a:gd name="adj3" fmla="val 18000"/>
              </a:avLst>
            </a:prstGeom>
            <a:solidFill>
              <a:srgbClr val="F4F1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 rot="180000"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4" name="Picture 3" descr="7580433875254582571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Wesley Sanders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AP Mentor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22371F"/>
                  </a:solidFill>
                  <a:latin typeface="Montserrat"/>
                </a:rPr>
                <a:t>“Compost can look finished and still lack the biology you need. Check it under the microscope before you apply it.”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Sierra Nevada foothills, California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2020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10 years as an agricultural journalist, then 10 years managing a farm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Foothill Biological Soil Health Services</a:t>
              </a:r>
            </a:p>
          </p:txBody>
        </p:sp>
        <p:pic>
          <p:nvPicPr>
            <p:cNvPr id="16" name="Picture 15" descr="foundation-logo-color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7" name="Rectangle 16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160000">
            <a:off x="8239125" y="952500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9" name="Group 18"/>
          <p:cNvGrpSpPr/>
          <p:nvPr/>
        </p:nvGrpSpPr>
        <p:grpSpPr>
          <a:xfrm rot="360000">
            <a:off x="0" y="0"/>
            <a:ext cx="9948861" cy="12430125"/>
            <a:chOff x="0" y="0"/>
            <a:chExt cx="9948861" cy="12430125"/>
          </a:xfrm>
        </p:grpSpPr>
        <p:sp>
          <p:nvSpPr>
            <p:cNvPr id="20" name="Rounded Rectangle 19"/>
            <p:cNvSpPr/>
            <p:nvPr/>
          </p:nvSpPr>
          <p:spPr>
            <a:xfrm>
              <a:off x="8815387" y="12268200"/>
              <a:ext cx="1133474" cy="161925"/>
            </a:xfrm>
            <a:prstGeom prst="roundRect">
              <a:avLst/>
            </a:prstGeom>
            <a:solidFill>
              <a:srgbClr val="3E6B5A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463087" y="11264265"/>
              <a:ext cx="226695" cy="1036320"/>
            </a:xfrm>
            <a:prstGeom prst="roundRect">
              <a:avLst/>
            </a:prstGeom>
            <a:solidFill>
              <a:srgbClr val="3E6B5A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8928735" y="11814810"/>
              <a:ext cx="809625" cy="80962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 rot="20520000">
              <a:off x="9058275" y="10891837"/>
              <a:ext cx="259080" cy="809625"/>
            </a:xfrm>
            <a:prstGeom prst="roundRect">
              <a:avLst/>
            </a:prstGeom>
            <a:solidFill>
              <a:srgbClr val="D9D2C3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 rot="20520000">
              <a:off x="8944927" y="10746105"/>
              <a:ext cx="323850" cy="161925"/>
            </a:xfrm>
            <a:prstGeom prst="roundRect">
              <a:avLst/>
            </a:prstGeom>
            <a:solidFill>
              <a:srgbClr val="3E6B5A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9414510" y="11426190"/>
              <a:ext cx="226695" cy="226695"/>
            </a:xfrm>
            <a:prstGeom prst="ellipse">
              <a:avLst/>
            </a:prstGeom>
            <a:solidFill>
              <a:srgbClr val="E0A83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 rot="180000"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  <a:pattFill prst="ltUpDiag">
              <a:fgClr>
                <a:srgbClr val="E8E2D4"/>
              </a:fgClr>
              <a:bgClr>
                <a:srgbClr val="F4F1EA"/>
              </a:bgClr>
            </a:patt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5" name="Picture 4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81425" y="2118690"/>
              <a:ext cx="2724150" cy="2449168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Casey Williams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AP Mentor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B23A2E"/>
                  </a:solidFill>
                  <a:latin typeface="Montserrat"/>
                </a:rPr>
                <a:t>[ADVICE LINE NEEDED]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7" name="Picture 16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8" name="Rectangle 17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160000">
            <a:off x="8239125" y="952500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20" name="Group 19"/>
          <p:cNvGrpSpPr/>
          <p:nvPr/>
        </p:nvGrpSpPr>
        <p:grpSpPr>
          <a:xfrm rot="20400000">
            <a:off x="0" y="0"/>
            <a:ext cx="10001250" cy="12396787"/>
            <a:chOff x="0" y="0"/>
            <a:chExt cx="10001250" cy="12396787"/>
          </a:xfrm>
        </p:grpSpPr>
        <p:sp>
          <p:nvSpPr>
            <p:cNvPr id="21" name="Arc 20"/>
            <p:cNvSpPr/>
            <p:nvPr/>
          </p:nvSpPr>
          <p:spPr>
            <a:xfrm>
              <a:off x="8343900" y="12012739"/>
              <a:ext cx="242887" cy="156019"/>
            </a:xfrm>
            <a:prstGeom prst="arc">
              <a:avLst/>
            </a:prstGeom>
            <a:noFill/>
            <a:ln w="38100">
              <a:solidFill>
                <a:srgbClr val="1568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Arc 21"/>
            <p:cNvSpPr/>
            <p:nvPr/>
          </p:nvSpPr>
          <p:spPr>
            <a:xfrm rot="10800000">
              <a:off x="8115300" y="12024741"/>
              <a:ext cx="242887" cy="156019"/>
            </a:xfrm>
            <a:prstGeom prst="arc">
              <a:avLst/>
            </a:prstGeom>
            <a:noFill/>
            <a:ln w="38100">
              <a:solidFill>
                <a:srgbClr val="1568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Arc 22"/>
            <p:cNvSpPr/>
            <p:nvPr/>
          </p:nvSpPr>
          <p:spPr>
            <a:xfrm>
              <a:off x="7886700" y="12012739"/>
              <a:ext cx="242887" cy="156019"/>
            </a:xfrm>
            <a:prstGeom prst="arc">
              <a:avLst/>
            </a:prstGeom>
            <a:noFill/>
            <a:ln w="38100">
              <a:solidFill>
                <a:srgbClr val="1568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8572500" y="11796712"/>
              <a:ext cx="1428750" cy="600075"/>
            </a:xfrm>
            <a:prstGeom prst="roundRect">
              <a:avLst>
                <a:gd name="adj" fmla="val 50000"/>
              </a:avLst>
            </a:prstGeom>
            <a:solidFill>
              <a:srgbClr val="BFD8A6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9331685" y="12044016"/>
              <a:ext cx="45460" cy="45460"/>
            </a:xfrm>
            <a:prstGeom prst="ellipse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9539503" y="12044016"/>
              <a:ext cx="45460" cy="45460"/>
            </a:xfrm>
            <a:prstGeom prst="ellipse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Block Arc 26"/>
            <p:cNvSpPr/>
            <p:nvPr/>
          </p:nvSpPr>
          <p:spPr>
            <a:xfrm rot="10800000">
              <a:off x="9386887" y="12079734"/>
              <a:ext cx="142874" cy="103909"/>
            </a:xfrm>
            <a:prstGeom prst="blockArc">
              <a:avLst>
                <a:gd name="adj1" fmla="val 10800000"/>
                <a:gd name="adj2" fmla="val 0"/>
                <a:gd name="adj3" fmla="val 18000"/>
              </a:avLst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 rot="180000"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  <a:pattFill prst="ltUpDiag">
              <a:fgClr>
                <a:srgbClr val="E8E2D4"/>
              </a:fgClr>
              <a:bgClr>
                <a:srgbClr val="F4F1EA"/>
              </a:bgClr>
            </a:patt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5" name="Picture 4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81425" y="2118690"/>
              <a:ext cx="2724150" cy="2449168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Brian Daubenspeck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AP Mentor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B23A2E"/>
                  </a:solidFill>
                  <a:latin typeface="Montserrat"/>
                </a:rPr>
                <a:t>[ADVICE LINE NEEDED]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7" name="Picture 16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8" name="Rectangle 17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160000">
            <a:off x="8239125" y="952500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20" name="Group 19"/>
          <p:cNvGrpSpPr/>
          <p:nvPr/>
        </p:nvGrpSpPr>
        <p:grpSpPr>
          <a:xfrm rot="600000">
            <a:off x="0" y="0"/>
            <a:ext cx="9875520" cy="12830175"/>
            <a:chOff x="0" y="0"/>
            <a:chExt cx="9875520" cy="12830175"/>
          </a:xfrm>
        </p:grpSpPr>
        <p:sp>
          <p:nvSpPr>
            <p:cNvPr id="21" name="Rectangle 20"/>
            <p:cNvSpPr/>
            <p:nvPr/>
          </p:nvSpPr>
          <p:spPr>
            <a:xfrm>
              <a:off x="9401175" y="11715750"/>
              <a:ext cx="57150" cy="1114425"/>
            </a:xfrm>
            <a:prstGeom prst="rect">
              <a:avLst/>
            </a:prstGeom>
            <a:solidFill>
              <a:srgbClr val="7FA0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 rot="19800000">
              <a:off x="9448800" y="12272962"/>
              <a:ext cx="385762" cy="171450"/>
            </a:xfrm>
            <a:prstGeom prst="ellipse">
              <a:avLst/>
            </a:prstGeom>
            <a:solidFill>
              <a:srgbClr val="59A66C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9515475" y="11595735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 rot="3600000">
              <a:off x="9382601" y="11825879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 rot="7200000">
              <a:off x="9116853" y="11825879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 rot="10800000">
              <a:off x="8983980" y="11595735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 rot="14400000">
              <a:off x="9116853" y="11365590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 rot="18000000">
              <a:off x="9382601" y="11365590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9266872" y="11552872"/>
              <a:ext cx="325755" cy="325755"/>
            </a:xfrm>
            <a:prstGeom prst="ellipse">
              <a:avLst/>
            </a:prstGeom>
            <a:solidFill>
              <a:srgbClr val="8C6A4E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 rot="180000"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  <a:pattFill prst="ltUpDiag">
              <a:fgClr>
                <a:srgbClr val="E8E2D4"/>
              </a:fgClr>
              <a:bgClr>
                <a:srgbClr val="F4F1EA"/>
              </a:bgClr>
            </a:patt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5" name="Picture 4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81425" y="2118690"/>
              <a:ext cx="2724150" cy="2449168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Isadora Schmidt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AP Mentor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B23A2E"/>
                  </a:solidFill>
                  <a:latin typeface="Montserrat"/>
                </a:rPr>
                <a:t>[ADVICE LINE NEEDED]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7" name="Picture 16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8" name="Rectangle 17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160000">
            <a:off x="8239125" y="952500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20" name="Group 19"/>
          <p:cNvGrpSpPr/>
          <p:nvPr/>
        </p:nvGrpSpPr>
        <p:grpSpPr>
          <a:xfrm rot="1800000">
            <a:off x="0" y="0"/>
            <a:ext cx="9867900" cy="12477750"/>
            <a:chOff x="0" y="0"/>
            <a:chExt cx="9867900" cy="12477750"/>
          </a:xfrm>
        </p:grpSpPr>
        <p:sp>
          <p:nvSpPr>
            <p:cNvPr id="21" name="Rectangle 20"/>
            <p:cNvSpPr/>
            <p:nvPr/>
          </p:nvSpPr>
          <p:spPr>
            <a:xfrm rot="1500000">
              <a:off x="8997846" y="11878071"/>
              <a:ext cx="171450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8991600" y="12077700"/>
              <a:ext cx="171450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 rot="20100000">
              <a:off x="8997846" y="12277328"/>
              <a:ext cx="171450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 rot="20100000">
              <a:off x="9690203" y="11878071"/>
              <a:ext cx="171450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9696450" y="12077700"/>
              <a:ext cx="171450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 rot="1500000">
              <a:off x="9690203" y="12277328"/>
              <a:ext cx="171450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9296400" y="11506200"/>
              <a:ext cx="266700" cy="228600"/>
            </a:xfrm>
            <a:prstGeom prst="ellipse">
              <a:avLst/>
            </a:prstGeom>
            <a:solidFill>
              <a:srgbClr val="22371F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9144000" y="11668125"/>
              <a:ext cx="571500" cy="809625"/>
            </a:xfrm>
            <a:prstGeom prst="ellipse">
              <a:avLst/>
            </a:prstGeom>
            <a:solidFill>
              <a:srgbClr val="2F4A3A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410700" y="11696700"/>
              <a:ext cx="38100" cy="762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9258300" y="11915775"/>
              <a:ext cx="76200" cy="76200"/>
            </a:xfrm>
            <a:prstGeom prst="ellipse">
              <a:avLst/>
            </a:prstGeom>
            <a:solidFill>
              <a:srgbClr val="DBE6A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9525000" y="12011025"/>
              <a:ext cx="76200" cy="76200"/>
            </a:xfrm>
            <a:prstGeom prst="ellipse">
              <a:avLst/>
            </a:prstGeom>
            <a:solidFill>
              <a:srgbClr val="DBE6A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9277350" y="12201525"/>
              <a:ext cx="76200" cy="76200"/>
            </a:xfrm>
            <a:prstGeom prst="ellipse">
              <a:avLst/>
            </a:prstGeom>
            <a:solidFill>
              <a:srgbClr val="DBE6A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9505950" y="12268200"/>
              <a:ext cx="76200" cy="76200"/>
            </a:xfrm>
            <a:prstGeom prst="ellipse">
              <a:avLst/>
            </a:prstGeom>
            <a:solidFill>
              <a:srgbClr val="DBE6A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 rot="180000"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  <a:pattFill prst="ltUpDiag">
              <a:fgClr>
                <a:srgbClr val="E8E2D4"/>
              </a:fgClr>
              <a:bgClr>
                <a:srgbClr val="F4F1EA"/>
              </a:bgClr>
            </a:patt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5" name="Picture 4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81425" y="2118690"/>
              <a:ext cx="2724150" cy="2449168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Aysen Ustunay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AP Mentor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B23A2E"/>
                  </a:solidFill>
                  <a:latin typeface="Montserrat"/>
                </a:rPr>
                <a:t>[ADVICE LINE NEEDED]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7" name="Picture 16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8" name="Rectangle 17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160000">
            <a:off x="8239125" y="952500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rim-dried-flowers-2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440000">
            <a:off x="8810625" y="10830254"/>
            <a:ext cx="1428750" cy="215199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 rot="180000"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  <a:pattFill prst="ltUpDiag">
              <a:fgClr>
                <a:srgbClr val="E8E2D4"/>
              </a:fgClr>
              <a:bgClr>
                <a:srgbClr val="F4F1EA"/>
              </a:bgClr>
            </a:patt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5" name="Picture 4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81425" y="2118690"/>
              <a:ext cx="2724150" cy="2449168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Dora Tkalec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AP Mentor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B23A2E"/>
                  </a:solidFill>
                  <a:latin typeface="Montserrat"/>
                </a:rPr>
                <a:t>[ADVICE LINE NEEDED]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7" name="Picture 16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8" name="Rectangle 17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160000">
            <a:off x="8239125" y="952500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20" name="Group 19"/>
          <p:cNvGrpSpPr/>
          <p:nvPr/>
        </p:nvGrpSpPr>
        <p:grpSpPr>
          <a:xfrm rot="20400000">
            <a:off x="0" y="0"/>
            <a:ext cx="10001250" cy="12396787"/>
            <a:chOff x="0" y="0"/>
            <a:chExt cx="10001250" cy="12396787"/>
          </a:xfrm>
        </p:grpSpPr>
        <p:sp>
          <p:nvSpPr>
            <p:cNvPr id="21" name="Arc 20"/>
            <p:cNvSpPr/>
            <p:nvPr/>
          </p:nvSpPr>
          <p:spPr>
            <a:xfrm>
              <a:off x="8343900" y="12012739"/>
              <a:ext cx="242887" cy="156019"/>
            </a:xfrm>
            <a:prstGeom prst="arc">
              <a:avLst/>
            </a:prstGeom>
            <a:noFill/>
            <a:ln w="38100">
              <a:solidFill>
                <a:srgbClr val="1568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Arc 21"/>
            <p:cNvSpPr/>
            <p:nvPr/>
          </p:nvSpPr>
          <p:spPr>
            <a:xfrm rot="10800000">
              <a:off x="8115300" y="12024741"/>
              <a:ext cx="242887" cy="156019"/>
            </a:xfrm>
            <a:prstGeom prst="arc">
              <a:avLst/>
            </a:prstGeom>
            <a:noFill/>
            <a:ln w="38100">
              <a:solidFill>
                <a:srgbClr val="1568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Arc 22"/>
            <p:cNvSpPr/>
            <p:nvPr/>
          </p:nvSpPr>
          <p:spPr>
            <a:xfrm>
              <a:off x="7886700" y="12012739"/>
              <a:ext cx="242887" cy="156019"/>
            </a:xfrm>
            <a:prstGeom prst="arc">
              <a:avLst/>
            </a:prstGeom>
            <a:noFill/>
            <a:ln w="38100">
              <a:solidFill>
                <a:srgbClr val="1568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8572500" y="11796712"/>
              <a:ext cx="1428750" cy="600075"/>
            </a:xfrm>
            <a:prstGeom prst="roundRect">
              <a:avLst>
                <a:gd name="adj" fmla="val 50000"/>
              </a:avLst>
            </a:prstGeom>
            <a:solidFill>
              <a:srgbClr val="BFD8A6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9331685" y="12044016"/>
              <a:ext cx="45460" cy="45460"/>
            </a:xfrm>
            <a:prstGeom prst="ellipse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9539503" y="12044016"/>
              <a:ext cx="45460" cy="45460"/>
            </a:xfrm>
            <a:prstGeom prst="ellipse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Block Arc 26"/>
            <p:cNvSpPr/>
            <p:nvPr/>
          </p:nvSpPr>
          <p:spPr>
            <a:xfrm rot="10800000">
              <a:off x="9386887" y="12079734"/>
              <a:ext cx="142874" cy="103909"/>
            </a:xfrm>
            <a:prstGeom prst="blockArc">
              <a:avLst>
                <a:gd name="adj1" fmla="val 10800000"/>
                <a:gd name="adj2" fmla="val 0"/>
                <a:gd name="adj3" fmla="val 18000"/>
              </a:avLst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 rot="180000"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4" name="Picture 3" descr="9001695925251202517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Gerald Ramirez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AP Mentor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22371F"/>
                  </a:solidFill>
                  <a:latin typeface="Montserrat"/>
                </a:rPr>
                <a:t>“Extracts pull organisms off the compost into solution, so you can apply biology across a whole field.”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Costa Rica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Agronomist, University of Costa Rica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6" name="Picture 15" descr="foundation-logo-color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7" name="Rectangle 16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160000">
            <a:off x="8239125" y="952500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9" name="Group 18"/>
          <p:cNvGrpSpPr/>
          <p:nvPr/>
        </p:nvGrpSpPr>
        <p:grpSpPr>
          <a:xfrm rot="480000">
            <a:off x="0" y="0"/>
            <a:ext cx="10182225" cy="12773025"/>
            <a:chOff x="0" y="0"/>
            <a:chExt cx="10182225" cy="12773025"/>
          </a:xfrm>
        </p:grpSpPr>
        <p:sp>
          <p:nvSpPr>
            <p:cNvPr id="20" name="Oval 19"/>
            <p:cNvSpPr/>
            <p:nvPr/>
          </p:nvSpPr>
          <p:spPr>
            <a:xfrm>
              <a:off x="8596312" y="12401550"/>
              <a:ext cx="1571625" cy="371475"/>
            </a:xfrm>
            <a:prstGeom prst="ellipse">
              <a:avLst/>
            </a:prstGeom>
            <a:solidFill>
              <a:srgbClr val="FFFDF7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onut 20"/>
            <p:cNvSpPr/>
            <p:nvPr/>
          </p:nvSpPr>
          <p:spPr>
            <a:xfrm>
              <a:off x="9753600" y="11830050"/>
              <a:ext cx="428625" cy="428625"/>
            </a:xfrm>
            <a:prstGeom prst="donut">
              <a:avLst/>
            </a:prstGeom>
            <a:solidFill>
              <a:srgbClr val="FFFDF7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8839200" y="11644312"/>
              <a:ext cx="1085850" cy="885825"/>
            </a:xfrm>
            <a:prstGeom prst="roundRect">
              <a:avLst/>
            </a:prstGeom>
            <a:solidFill>
              <a:srgbClr val="FFFDF7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867775" y="12172950"/>
              <a:ext cx="1028700" cy="114300"/>
            </a:xfrm>
            <a:prstGeom prst="rect">
              <a:avLst/>
            </a:prstGeom>
            <a:solidFill>
              <a:srgbClr val="15682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8867775" y="11544300"/>
              <a:ext cx="1028700" cy="228600"/>
            </a:xfrm>
            <a:prstGeom prst="ellipse">
              <a:avLst/>
            </a:prstGeom>
            <a:solidFill>
              <a:srgbClr val="4F3433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9227343" y="11945143"/>
              <a:ext cx="55562" cy="55562"/>
            </a:xfrm>
            <a:prstGeom prst="ellipse">
              <a:avLst/>
            </a:prstGeom>
            <a:solidFill>
              <a:srgbClr val="4F343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9481343" y="11945143"/>
              <a:ext cx="55562" cy="55562"/>
            </a:xfrm>
            <a:prstGeom prst="ellipse">
              <a:avLst/>
            </a:prstGeom>
            <a:solidFill>
              <a:srgbClr val="4F343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Block Arc 26"/>
            <p:cNvSpPr/>
            <p:nvPr/>
          </p:nvSpPr>
          <p:spPr>
            <a:xfrm rot="10800000">
              <a:off x="9294812" y="11988800"/>
              <a:ext cx="174625" cy="127000"/>
            </a:xfrm>
            <a:prstGeom prst="blockArc">
              <a:avLst>
                <a:gd name="adj1" fmla="val 10800000"/>
                <a:gd name="adj2" fmla="val 0"/>
                <a:gd name="adj3" fmla="val 18000"/>
              </a:avLst>
            </a:prstGeom>
            <a:solidFill>
              <a:srgbClr val="4F343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Wave 27"/>
            <p:cNvSpPr/>
            <p:nvPr/>
          </p:nvSpPr>
          <p:spPr>
            <a:xfrm rot="5400000">
              <a:off x="9110662" y="11115675"/>
              <a:ext cx="85725" cy="342900"/>
            </a:xfrm>
            <a:prstGeom prst="wave">
              <a:avLst/>
            </a:prstGeom>
            <a:solidFill>
              <a:srgbClr val="D8D2C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Wave 28"/>
            <p:cNvSpPr/>
            <p:nvPr/>
          </p:nvSpPr>
          <p:spPr>
            <a:xfrm rot="5400000">
              <a:off x="9339262" y="11115675"/>
              <a:ext cx="85725" cy="342900"/>
            </a:xfrm>
            <a:prstGeom prst="wave">
              <a:avLst/>
            </a:prstGeom>
            <a:solidFill>
              <a:srgbClr val="D8D2C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Wave 29"/>
            <p:cNvSpPr/>
            <p:nvPr/>
          </p:nvSpPr>
          <p:spPr>
            <a:xfrm rot="5400000">
              <a:off x="9567862" y="11115675"/>
              <a:ext cx="85725" cy="342900"/>
            </a:xfrm>
            <a:prstGeom prst="wave">
              <a:avLst/>
            </a:prstGeom>
            <a:solidFill>
              <a:srgbClr val="D8D2C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 rot="180000"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  <a:pattFill prst="ltUpDiag">
              <a:fgClr>
                <a:srgbClr val="E8E2D4"/>
              </a:fgClr>
              <a:bgClr>
                <a:srgbClr val="F4F1EA"/>
              </a:bgClr>
            </a:patt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5" name="Picture 4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81425" y="2118690"/>
              <a:ext cx="2724150" cy="2449168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Elena Kalli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AP Admin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B23A2E"/>
                  </a:solidFill>
                  <a:latin typeface="Montserrat"/>
                </a:rPr>
                <a:t>[ADVICE LINE NEEDED]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7" name="Picture 16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8" name="Rectangle 17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160000">
            <a:off x="8239125" y="952500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20" name="Group 19"/>
          <p:cNvGrpSpPr/>
          <p:nvPr/>
        </p:nvGrpSpPr>
        <p:grpSpPr>
          <a:xfrm rot="1800000">
            <a:off x="0" y="0"/>
            <a:ext cx="9867900" cy="12477750"/>
            <a:chOff x="0" y="0"/>
            <a:chExt cx="9867900" cy="12477750"/>
          </a:xfrm>
        </p:grpSpPr>
        <p:sp>
          <p:nvSpPr>
            <p:cNvPr id="21" name="Rectangle 20"/>
            <p:cNvSpPr/>
            <p:nvPr/>
          </p:nvSpPr>
          <p:spPr>
            <a:xfrm rot="1500000">
              <a:off x="8997846" y="11878071"/>
              <a:ext cx="171450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8991600" y="12077700"/>
              <a:ext cx="171450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 rot="20100000">
              <a:off x="8997846" y="12277328"/>
              <a:ext cx="171450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 rot="20100000">
              <a:off x="9690203" y="11878071"/>
              <a:ext cx="171450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9696450" y="12077700"/>
              <a:ext cx="171450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 rot="1500000">
              <a:off x="9690203" y="12277328"/>
              <a:ext cx="171450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9296400" y="11506200"/>
              <a:ext cx="266700" cy="228600"/>
            </a:xfrm>
            <a:prstGeom prst="ellipse">
              <a:avLst/>
            </a:prstGeom>
            <a:solidFill>
              <a:srgbClr val="22371F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9144000" y="11668125"/>
              <a:ext cx="571500" cy="809625"/>
            </a:xfrm>
            <a:prstGeom prst="ellipse">
              <a:avLst/>
            </a:prstGeom>
            <a:solidFill>
              <a:srgbClr val="2F4A3A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410700" y="11696700"/>
              <a:ext cx="38100" cy="762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9258300" y="11915775"/>
              <a:ext cx="76200" cy="76200"/>
            </a:xfrm>
            <a:prstGeom prst="ellipse">
              <a:avLst/>
            </a:prstGeom>
            <a:solidFill>
              <a:srgbClr val="DBE6A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9525000" y="12011025"/>
              <a:ext cx="76200" cy="76200"/>
            </a:xfrm>
            <a:prstGeom prst="ellipse">
              <a:avLst/>
            </a:prstGeom>
            <a:solidFill>
              <a:srgbClr val="DBE6A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9277350" y="12201525"/>
              <a:ext cx="76200" cy="76200"/>
            </a:xfrm>
            <a:prstGeom prst="ellipse">
              <a:avLst/>
            </a:prstGeom>
            <a:solidFill>
              <a:srgbClr val="DBE6A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9505950" y="12268200"/>
              <a:ext cx="76200" cy="76200"/>
            </a:xfrm>
            <a:prstGeom prst="ellipse">
              <a:avLst/>
            </a:prstGeom>
            <a:solidFill>
              <a:srgbClr val="DBE6A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 rot="180000"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  <a:pattFill prst="ltUpDiag">
              <a:fgClr>
                <a:srgbClr val="E8E2D4"/>
              </a:fgClr>
              <a:bgClr>
                <a:srgbClr val="F4F1EA"/>
              </a:bgClr>
            </a:patt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5" name="Picture 4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81425" y="2118690"/>
              <a:ext cx="2724150" cy="2449168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Ib Borup Pederson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AP Mentor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B23A2E"/>
                  </a:solidFill>
                  <a:latin typeface="Montserrat"/>
                </a:rPr>
                <a:t>[ADVICE LINE NEEDED]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7" name="Picture 16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8" name="Rectangle 17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160000">
            <a:off x="8239125" y="952500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rim-dried-flowers-2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440000">
            <a:off x="8810625" y="10830254"/>
            <a:ext cx="1428750" cy="215199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 rot="180000"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4" name="Picture 3" descr="4466978079890479619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Nick Padwick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AP Mentor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22371F"/>
                  </a:solidFill>
                  <a:latin typeface="Montserrat"/>
                </a:rPr>
                <a:t>“I make 750 tons of compost a year. Biology works at any scale.”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West Norfolk, England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Farmers Weekly Farm Manager and Farmer of the Year, 2009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Managing Ken Hill Estate, home of Wild Ken Hill</a:t>
              </a:r>
            </a:p>
          </p:txBody>
        </p:sp>
        <p:pic>
          <p:nvPicPr>
            <p:cNvPr id="16" name="Picture 15" descr="foundation-logo-color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7" name="Rectangle 16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160000">
            <a:off x="8239125" y="952500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9" name="Group 18"/>
          <p:cNvGrpSpPr/>
          <p:nvPr/>
        </p:nvGrpSpPr>
        <p:grpSpPr>
          <a:xfrm rot="360000">
            <a:off x="0" y="0"/>
            <a:ext cx="10072687" cy="12382499"/>
            <a:chOff x="0" y="0"/>
            <a:chExt cx="10072687" cy="12382499"/>
          </a:xfrm>
        </p:grpSpPr>
        <p:sp>
          <p:nvSpPr>
            <p:cNvPr id="20" name="Rounded Rectangle 19"/>
            <p:cNvSpPr/>
            <p:nvPr/>
          </p:nvSpPr>
          <p:spPr>
            <a:xfrm>
              <a:off x="9229725" y="11596687"/>
              <a:ext cx="400050" cy="785812"/>
            </a:xfrm>
            <a:prstGeom prst="roundRect">
              <a:avLst/>
            </a:prstGeom>
            <a:solidFill>
              <a:srgbClr val="FFFDF7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Chord 20"/>
            <p:cNvSpPr/>
            <p:nvPr/>
          </p:nvSpPr>
          <p:spPr>
            <a:xfrm>
              <a:off x="8786812" y="11025187"/>
              <a:ext cx="1285875" cy="1143000"/>
            </a:xfrm>
            <a:prstGeom prst="chord">
              <a:avLst/>
            </a:prstGeom>
            <a:solidFill>
              <a:srgbClr val="B98A5E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>
              <a:off x="9072562" y="11210925"/>
              <a:ext cx="142875" cy="114300"/>
            </a:xfrm>
            <a:prstGeom prst="ellipse">
              <a:avLst/>
            </a:prstGeom>
            <a:solidFill>
              <a:srgbClr val="FFFDF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9529762" y="11125200"/>
              <a:ext cx="142875" cy="114300"/>
            </a:xfrm>
            <a:prstGeom prst="ellipse">
              <a:avLst/>
            </a:prstGeom>
            <a:solidFill>
              <a:srgbClr val="FFFDF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9715500" y="11325225"/>
              <a:ext cx="142875" cy="114300"/>
            </a:xfrm>
            <a:prstGeom prst="ellipse">
              <a:avLst/>
            </a:prstGeom>
            <a:solidFill>
              <a:srgbClr val="FFFDF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9336881" y="11937206"/>
              <a:ext cx="33337" cy="33337"/>
            </a:xfrm>
            <a:prstGeom prst="ellipse">
              <a:avLst/>
            </a:prstGeom>
            <a:solidFill>
              <a:srgbClr val="4F343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9489281" y="11937206"/>
              <a:ext cx="33337" cy="33337"/>
            </a:xfrm>
            <a:prstGeom prst="ellipse">
              <a:avLst/>
            </a:prstGeom>
            <a:solidFill>
              <a:srgbClr val="4F343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Block Arc 26"/>
            <p:cNvSpPr/>
            <p:nvPr/>
          </p:nvSpPr>
          <p:spPr>
            <a:xfrm rot="10800000">
              <a:off x="9377362" y="11963400"/>
              <a:ext cx="104775" cy="76200"/>
            </a:xfrm>
            <a:prstGeom prst="blockArc">
              <a:avLst>
                <a:gd name="adj1" fmla="val 10800000"/>
                <a:gd name="adj2" fmla="val 0"/>
                <a:gd name="adj3" fmla="val 18000"/>
              </a:avLst>
            </a:prstGeom>
            <a:solidFill>
              <a:srgbClr val="4F343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 rot="180000"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  <a:pattFill prst="ltUpDiag">
              <a:fgClr>
                <a:srgbClr val="E8E2D4"/>
              </a:fgClr>
              <a:bgClr>
                <a:srgbClr val="F4F1EA"/>
              </a:bgClr>
            </a:patt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5" name="Picture 4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81425" y="2118690"/>
              <a:ext cx="2724150" cy="2449168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Delvin Solkinson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Permaculture Lead Teacher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B23A2E"/>
                  </a:solidFill>
                  <a:latin typeface="Montserrat"/>
                </a:rPr>
                <a:t>[ADVICE LINE NEEDED]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7" name="Picture 16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8" name="Rectangle 17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160000">
            <a:off x="8239125" y="952500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20" name="Group 19"/>
          <p:cNvGrpSpPr/>
          <p:nvPr/>
        </p:nvGrpSpPr>
        <p:grpSpPr>
          <a:xfrm rot="600000">
            <a:off x="0" y="0"/>
            <a:ext cx="9875520" cy="12830175"/>
            <a:chOff x="0" y="0"/>
            <a:chExt cx="9875520" cy="12830175"/>
          </a:xfrm>
        </p:grpSpPr>
        <p:sp>
          <p:nvSpPr>
            <p:cNvPr id="21" name="Rectangle 20"/>
            <p:cNvSpPr/>
            <p:nvPr/>
          </p:nvSpPr>
          <p:spPr>
            <a:xfrm>
              <a:off x="9401175" y="11715750"/>
              <a:ext cx="57150" cy="1114425"/>
            </a:xfrm>
            <a:prstGeom prst="rect">
              <a:avLst/>
            </a:prstGeom>
            <a:solidFill>
              <a:srgbClr val="7FA0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 rot="19800000">
              <a:off x="9448800" y="12272962"/>
              <a:ext cx="385762" cy="171450"/>
            </a:xfrm>
            <a:prstGeom prst="ellipse">
              <a:avLst/>
            </a:prstGeom>
            <a:solidFill>
              <a:srgbClr val="59A66C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9515475" y="11595735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 rot="3600000">
              <a:off x="9382601" y="11825879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 rot="7200000">
              <a:off x="9116853" y="11825879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 rot="10800000">
              <a:off x="8983980" y="11595735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 rot="14400000">
              <a:off x="9116853" y="11365590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 rot="18000000">
              <a:off x="9382601" y="11365590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9266872" y="11552872"/>
              <a:ext cx="325755" cy="325755"/>
            </a:xfrm>
            <a:prstGeom prst="ellipse">
              <a:avLst/>
            </a:prstGeom>
            <a:solidFill>
              <a:srgbClr val="8C6A4E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m-fern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00000">
            <a:off x="381000" y="9694076"/>
            <a:ext cx="4953000" cy="2519346"/>
          </a:xfrm>
          <a:prstGeom prst="rect">
            <a:avLst/>
          </a:prstGeom>
        </p:spPr>
      </p:pic>
      <p:pic>
        <p:nvPicPr>
          <p:cNvPr id="3" name="Picture 2" descr="trim-fern-s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600000">
            <a:off x="5429250" y="9929346"/>
            <a:ext cx="4381500" cy="2239306"/>
          </a:xfrm>
          <a:prstGeom prst="rect">
            <a:avLst/>
          </a:prstGeom>
        </p:spPr>
      </p:pic>
      <p:pic>
        <p:nvPicPr>
          <p:cNvPr id="4" name="Picture 3" descr="trim-leaf-sprig-t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360000">
            <a:off x="238125" y="4845945"/>
            <a:ext cx="1619250" cy="3833608"/>
          </a:xfrm>
          <a:prstGeom prst="rect">
            <a:avLst/>
          </a:prstGeom>
        </p:spPr>
      </p:pic>
      <p:pic>
        <p:nvPicPr>
          <p:cNvPr id="5" name="Picture 4" descr="trim-leaf-sprig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360000">
            <a:off x="8524875" y="4387198"/>
            <a:ext cx="1524000" cy="3608102"/>
          </a:xfrm>
          <a:prstGeom prst="rect">
            <a:avLst/>
          </a:prstGeom>
        </p:spPr>
      </p:pic>
      <p:pic>
        <p:nvPicPr>
          <p:cNvPr id="6" name="Picture 5" descr="trim-dried-flowers-1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100000">
            <a:off x="619125" y="259057"/>
            <a:ext cx="3143250" cy="4053884"/>
          </a:xfrm>
          <a:prstGeom prst="rect">
            <a:avLst/>
          </a:prstGeom>
        </p:spPr>
      </p:pic>
      <p:pic>
        <p:nvPicPr>
          <p:cNvPr id="7" name="Picture 6" descr="trim-dried-flowers-2-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9800000">
            <a:off x="6858000" y="182224"/>
            <a:ext cx="2667000" cy="4017050"/>
          </a:xfrm>
          <a:prstGeom prst="rect">
            <a:avLst/>
          </a:prstGeom>
        </p:spPr>
      </p:pic>
      <p:pic>
        <p:nvPicPr>
          <p:cNvPr id="8" name="Picture 7" descr="trim-fern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1100000">
            <a:off x="3333750" y="268446"/>
            <a:ext cx="4000500" cy="20348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 rot="120000">
            <a:off x="2000250" y="4286250"/>
            <a:ext cx="6286500" cy="428625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19920000">
            <a:off x="1857375" y="4133850"/>
            <a:ext cx="1428750" cy="4191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1680000">
            <a:off x="7000875" y="4133850"/>
            <a:ext cx="1428750" cy="4191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0" y="5048250"/>
            <a:ext cx="5715000" cy="41916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4800" b="1" i="0">
                <a:solidFill>
                  <a:srgbClr val="22371F"/>
                </a:solidFill>
                <a:latin typeface="Montserrat"/>
              </a:rPr>
              <a:t>Thank you to every mentor who teaches our students to see soil.</a:t>
            </a:r>
          </a:p>
        </p:txBody>
      </p:sp>
      <p:grpSp>
        <p:nvGrpSpPr>
          <p:cNvPr id="13" name="Group 12"/>
          <p:cNvGrpSpPr/>
          <p:nvPr/>
        </p:nvGrpSpPr>
        <p:grpSpPr>
          <a:xfrm rot="21120000">
            <a:off x="0" y="0"/>
            <a:ext cx="3589020" cy="9972675"/>
            <a:chOff x="0" y="0"/>
            <a:chExt cx="3589020" cy="9972675"/>
          </a:xfrm>
        </p:grpSpPr>
        <p:sp>
          <p:nvSpPr>
            <p:cNvPr id="14" name="Rectangle 13"/>
            <p:cNvSpPr/>
            <p:nvPr/>
          </p:nvSpPr>
          <p:spPr>
            <a:xfrm>
              <a:off x="3114675" y="8858250"/>
              <a:ext cx="57150" cy="1114425"/>
            </a:xfrm>
            <a:prstGeom prst="rect">
              <a:avLst/>
            </a:prstGeom>
            <a:solidFill>
              <a:srgbClr val="7FA0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 rot="19800000">
              <a:off x="3162300" y="9415462"/>
              <a:ext cx="385762" cy="171450"/>
            </a:xfrm>
            <a:prstGeom prst="ellipse">
              <a:avLst/>
            </a:prstGeom>
            <a:solidFill>
              <a:srgbClr val="59A66C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3228975" y="8738235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 rot="3600000">
              <a:off x="3096101" y="8968379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 rot="7200000">
              <a:off x="2830353" y="8968379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 rot="10800000">
              <a:off x="2697480" y="8738235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 rot="14400000">
              <a:off x="2830353" y="8508090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 rot="18000000">
              <a:off x="3096101" y="8508090"/>
              <a:ext cx="360045" cy="240030"/>
            </a:xfrm>
            <a:prstGeom prst="ellipse">
              <a:avLst/>
            </a:prstGeom>
            <a:solidFill>
              <a:srgbClr val="F2CF5B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>
              <a:off x="2980372" y="8695372"/>
              <a:ext cx="325755" cy="325755"/>
            </a:xfrm>
            <a:prstGeom prst="ellipse">
              <a:avLst/>
            </a:prstGeom>
            <a:solidFill>
              <a:srgbClr val="8C6A4E"/>
            </a:solidFill>
            <a:ln w="381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 rot="20880000">
            <a:off x="0" y="0"/>
            <a:ext cx="7905750" cy="9328785"/>
            <a:chOff x="0" y="0"/>
            <a:chExt cx="7905750" cy="9328785"/>
          </a:xfrm>
        </p:grpSpPr>
        <p:sp>
          <p:nvSpPr>
            <p:cNvPr id="24" name="Arc 23"/>
            <p:cNvSpPr/>
            <p:nvPr/>
          </p:nvSpPr>
          <p:spPr>
            <a:xfrm>
              <a:off x="6358890" y="8970340"/>
              <a:ext cx="226695" cy="145618"/>
            </a:xfrm>
            <a:prstGeom prst="arc">
              <a:avLst/>
            </a:prstGeom>
            <a:noFill/>
            <a:ln w="38100">
              <a:solidFill>
                <a:srgbClr val="1568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Arc 24"/>
            <p:cNvSpPr/>
            <p:nvPr/>
          </p:nvSpPr>
          <p:spPr>
            <a:xfrm rot="10800000">
              <a:off x="6145530" y="8981541"/>
              <a:ext cx="226695" cy="145618"/>
            </a:xfrm>
            <a:prstGeom prst="arc">
              <a:avLst/>
            </a:prstGeom>
            <a:noFill/>
            <a:ln w="38100">
              <a:solidFill>
                <a:srgbClr val="1568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Arc 25"/>
            <p:cNvSpPr/>
            <p:nvPr/>
          </p:nvSpPr>
          <p:spPr>
            <a:xfrm>
              <a:off x="5932170" y="8970340"/>
              <a:ext cx="226695" cy="145618"/>
            </a:xfrm>
            <a:prstGeom prst="arc">
              <a:avLst/>
            </a:prstGeom>
            <a:noFill/>
            <a:ln w="38100">
              <a:solidFill>
                <a:srgbClr val="1568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6572250" y="8768715"/>
              <a:ext cx="1333500" cy="560070"/>
            </a:xfrm>
            <a:prstGeom prst="roundRect">
              <a:avLst>
                <a:gd name="adj" fmla="val 50000"/>
              </a:avLst>
            </a:prstGeom>
            <a:solidFill>
              <a:srgbClr val="BFD8A6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7280823" y="8999531"/>
              <a:ext cx="42429" cy="42429"/>
            </a:xfrm>
            <a:prstGeom prst="ellipse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7474787" y="8999531"/>
              <a:ext cx="42429" cy="42429"/>
            </a:xfrm>
            <a:prstGeom prst="ellipse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Block Arc 29"/>
            <p:cNvSpPr/>
            <p:nvPr/>
          </p:nvSpPr>
          <p:spPr>
            <a:xfrm rot="10800000">
              <a:off x="7332345" y="9032869"/>
              <a:ext cx="133350" cy="96981"/>
            </a:xfrm>
            <a:prstGeom prst="blockArc">
              <a:avLst>
                <a:gd name="adj1" fmla="val 10800000"/>
                <a:gd name="adj2" fmla="val 0"/>
                <a:gd name="adj3" fmla="val 18000"/>
              </a:avLst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pic>
        <p:nvPicPr>
          <p:cNvPr id="31" name="Picture 30" descr="foundation-logo-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8250" y="11516532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