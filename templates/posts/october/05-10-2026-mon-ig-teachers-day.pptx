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Source: mentor roster from Linnea, September 2026, and mentor bios on https://soilfoodweb.com. Cut-paper pieces from tools/collage_generate.py (flux-2-pro).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Tommy Tepper. Facts from the mentor bios collected on 30 Sep 2026 (soilfoodweb.com was blocked from this session); confirm every fact and the advice line with the mentor before posting. [PHOTO NEEDED: Tommy Tepper,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Loida Vasquez.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Dr. Carla Portugal. Facts from the mentor bios collected on 30 Sep 2026 (soilfoodweb.com was blocked from this session); confirm every fact and the advice line with the mentor before posting. Carla's headshot is only 499 px; ask for a larger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Wesley Sanders.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Casey Williams. Facts from the mentor bios collected on 30 Sep 2026 (soilfoodweb.com was blocked from this session); confirm every fact and the advice line with the mentor before posting. [PHOTO NEEDED: Casey Williams,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Brian Daubenspeck. Facts from the mentor bios collected on 30 Sep 2026 (soilfoodweb.com was blocked from this session); confirm every fact and the advice line with the mentor before posting. [PHOTO NEEDED: Brian Daubenspeck,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Isadora Schmidt. Facts from the mentor bios collected on 30 Sep 2026 (soilfoodweb.com was blocked from this session); confirm every fact and the advice line with the mentor before posting. [PHOTO NEEDED: Isadora Schmidt,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Aysen Ustunay. Facts from the mentor bios collected on 30 Sep 2026 (soilfoodweb.com was blocked from this session); confirm every fact and the advice line with the mentor before posting. [PHOTO NEEDED: Aysen Ustunay,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Dora Tkalec. Facts from the mentor bios collected on 30 Sep 2026 (soilfoodweb.com was blocked from this session); confirm every fact and the advice line with the mentor before posting. [PHOTO NEEDED: Dora Tkalec,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Gerald Ramirez. Facts from the mentor bios collected on 30 Sep 2026 (soilfoodweb.com was blocked from this session); confirm every fact and the advice line with the mentor before posting. Bio also says 'Teaching the CLP and CTP courses' (left off: no acronyms in public 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Elena Kalli. Facts from the mentor bios collected on 30 Sep 2026 (soilfoodweb.com was blocked from this session); confirm every fact and the advice line with the mentor before posting. [PHOTO NEEDED: Elena Kalli,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Ib Borup Pederson. Facts from the mentor bios collected on 30 Sep 2026 (soilfoodweb.com was blocked from this session); confirm every fact and the advice line with the mentor before posting. [PHOTO NEEDED: Ib Borup Pederson,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Nick Padwick. Facts from the mentor bios collected on 30 Sep 2026 (soilfoodweb.com was blocked from this session); confirm every fact and the advice line with the mentor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card: Delvin Solkinson. Facts from the mentor bios collected on 30 Sep 2026 (soilfoodweb.com was blocked from this session); confirm every fact and the advice line with the mentor before posting. [PHOTO NEEDED: Delvin Solkinson, headshot]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Cut-paper pieces from tools/collage_generate.py (flux-2-pro).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jp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m-leaf-fram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" y="1524000"/>
            <a:ext cx="10096500" cy="10096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19250" y="3238500"/>
            <a:ext cx="7048500" cy="60960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920000">
            <a:off x="1476375" y="30861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680000">
            <a:off x="7381875" y="30861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95500" y="3905250"/>
            <a:ext cx="5905500" cy="4362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Happy World Teachers' Day. Our mentors' best advice, in one line each.</a:t>
            </a:r>
          </a:p>
        </p:txBody>
      </p:sp>
      <p:pic>
        <p:nvPicPr>
          <p:cNvPr id="7" name="Picture 6" descr="trim-microscope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6858000" y="9089863"/>
            <a:ext cx="2095500" cy="2394272"/>
          </a:xfrm>
          <a:prstGeom prst="rect">
            <a:avLst/>
          </a:prstGeom>
        </p:spPr>
      </p:pic>
      <p:pic>
        <p:nvPicPr>
          <p:cNvPr id="8" name="Picture 7" descr="trim-earthwor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20000">
            <a:off x="1571625" y="9392749"/>
            <a:ext cx="1809750" cy="1788500"/>
          </a:xfrm>
          <a:prstGeom prst="rect">
            <a:avLst/>
          </a:prstGeom>
        </p:spPr>
      </p:pic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Tommy Tepper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Director of Education &amp;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cute-bacterium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8090296"/>
            <a:ext cx="1619250" cy="1821656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1933250635411636185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Loida Vasquez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Advanced Programs Lead &amp;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im-earthwor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572500" y="8201006"/>
            <a:ext cx="1619250" cy="16002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5139759034124215629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200" b="1" i="0">
                  <a:solidFill>
                    <a:srgbClr val="22371F"/>
                  </a:solidFill>
                  <a:latin typeface="Montserrat"/>
                </a:rPr>
                <a:t>Dr. Carla Portugal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Science Lead &amp;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“Bare soil erodes. Living roots and cover hold the aggregates together.”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Brazil [VERIFY]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2019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PhD in Environmental Sciences, 20 years of environmental and farm consulting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im-happy-seedling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572500" y="8089589"/>
            <a:ext cx="1619250" cy="18230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359985961362883110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Wesley Sanders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“Compost can look finished and still lack the biology you need. Check it under the microscope before you apply it.”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Sierra Nevada foothills, California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2020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10 years as an agricultural journalist, then 10 years managing a farm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Foothill Biological Soil Health Services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im-microscope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572500" y="8076065"/>
            <a:ext cx="1619250" cy="18501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Casey Williams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happy-seedling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8089589"/>
            <a:ext cx="1619250" cy="1823071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Brian Daubenspeck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cute-bacterium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8090296"/>
            <a:ext cx="1619250" cy="1821656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Isadora Schmidt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7705725"/>
            <a:ext cx="1619250" cy="2590800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Aysen Ustunay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earthworm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8201006"/>
            <a:ext cx="1619250" cy="1600237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Dora Tkalec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mushroom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8133053"/>
            <a:ext cx="1619250" cy="1736142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9154040713760503787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Gerald Ramirez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“Extracts pull organisms off the compost into solution, so you can apply biology across a whole field.”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Costa Rica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Agronomist, University of Costa Rica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im-cute-bacterium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572500" y="8090296"/>
            <a:ext cx="1619250" cy="1821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Elena Kalli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Admin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cute-bacterium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8090296"/>
            <a:ext cx="1619250" cy="1821656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Ib Borup Pederson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7705725"/>
            <a:ext cx="1619250" cy="2590800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" name="Picture 3" descr="582190176139378757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Nick Padwick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AP Mentor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22371F"/>
                  </a:solidFill>
                  <a:latin typeface="Montserrat"/>
                </a:rPr>
                <a:t>“I make 750 tons of compost a year. Biology works at any scale.”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West Norfolk, England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Farmers Weekly Farm Manager and Farmer of the Year, 2009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Managing Ken Hill Estate, home of Wild Ken Hill</a:t>
              </a:r>
            </a:p>
          </p:txBody>
        </p:sp>
        <p:pic>
          <p:nvPicPr>
            <p:cNvPr id="16" name="Picture 15" descr="foundation-logo-colo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7" name="Rectangle 16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im-mushroo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0000">
            <a:off x="8572500" y="8133053"/>
            <a:ext cx="1619250" cy="173614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9429750" cy="12334875"/>
            <a:chOff x="0" y="0"/>
            <a:chExt cx="9429750" cy="12334875"/>
          </a:xfrm>
        </p:grpSpPr>
        <p:sp>
          <p:nvSpPr>
            <p:cNvPr id="3" name="Rounded Rectangle 2"/>
            <p:cNvSpPr/>
            <p:nvPr/>
          </p:nvSpPr>
          <p:spPr>
            <a:xfrm>
              <a:off x="857250" y="523875"/>
              <a:ext cx="8572500" cy="11811000"/>
            </a:xfrm>
            <a:prstGeom prst="roundRect">
              <a:avLst>
                <a:gd name="adj" fmla="val 3111"/>
              </a:avLst>
            </a:prstGeom>
            <a:solidFill>
              <a:srgbClr val="F4F1EA"/>
            </a:solidFill>
            <a:ln>
              <a:noFill/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1200150" y="866775"/>
              <a:ext cx="7886700" cy="4953000"/>
            </a:xfrm>
            <a:prstGeom prst="roundRect">
              <a:avLst>
                <a:gd name="adj" fmla="val 4615"/>
              </a:avLst>
            </a:prstGeom>
            <a:pattFill prst="ltUpDiag">
              <a:fgClr>
                <a:srgbClr val="E8E2D4"/>
              </a:fgClr>
              <a:bgClr>
                <a:srgbClr val="F4F1EA"/>
              </a:bgClr>
            </a:patt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" name="Picture 4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25" y="2118690"/>
              <a:ext cx="2724150" cy="2449168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1200150" y="5953125"/>
              <a:ext cx="78867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5600" b="1" i="0">
                  <a:solidFill>
                    <a:srgbClr val="22371F"/>
                  </a:solidFill>
                  <a:latin typeface="Montserrat"/>
                </a:rPr>
                <a:t>Delvin Solkinson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0150" y="6734175"/>
              <a:ext cx="7886700" cy="381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2600" b="1" i="0">
                  <a:solidFill>
                    <a:srgbClr val="156826"/>
                  </a:solidFill>
                  <a:latin typeface="Source Sans 3"/>
                </a:rPr>
                <a:t>Permaculture Lead Teacher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0150" y="7239000"/>
              <a:ext cx="7886700" cy="2476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12000"/>
                </a:lnSpc>
              </a:pPr>
              <a:r>
                <a:rPr sz="3400" b="1" i="0">
                  <a:solidFill>
                    <a:srgbClr val="B23A2E"/>
                  </a:solidFill>
                  <a:latin typeface="Montserrat"/>
                </a:rPr>
                <a:t>[ADVICE LINE NEEDED]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001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BASED IN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001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19650" y="990600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TEACHING SINCE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19650" y="1015365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001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BACKGROUND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001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819650" y="11029950"/>
              <a:ext cx="3333750" cy="2476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1" i="0" spc="200">
                  <a:solidFill>
                    <a:srgbClr val="156826"/>
                  </a:solidFill>
                  <a:latin typeface="Montserrat"/>
                </a:rPr>
                <a:t>KNOWN FOR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19650" y="11277600"/>
              <a:ext cx="3333750" cy="857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900" b="0" i="0">
                  <a:solidFill>
                    <a:srgbClr val="333130"/>
                  </a:solidFill>
                  <a:latin typeface="Source Sans 3"/>
                </a:rPr>
                <a:t>[VERIFY]</a:t>
              </a:r>
            </a:p>
          </p:txBody>
        </p:sp>
        <p:pic>
          <p:nvPicPr>
            <p:cNvPr id="17" name="Picture 16" descr="foundation-logo-colo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0" y="11220450"/>
              <a:ext cx="857250" cy="770717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/>
        </p:nvSpPr>
        <p:spPr>
          <a:xfrm rot="19680000">
            <a:off x="6191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920000">
            <a:off x="8048625" y="523875"/>
            <a:ext cx="1619250" cy="47625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8572500" y="7705725"/>
            <a:ext cx="1619250" cy="2590800"/>
          </a:xfrm>
          <a:prstGeom prst="rect">
            <a:avLst/>
          </a:prstGeom>
        </p:spPr>
      </p:pic>
      <p:pic>
        <p:nvPicPr>
          <p:cNvPr id="21" name="Picture 20" descr="trim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80000">
            <a:off x="7381875" y="4038600"/>
            <a:ext cx="1619250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m-leaf-fram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95250" y="1524000"/>
            <a:ext cx="10096500" cy="10096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09750" y="3810000"/>
            <a:ext cx="66675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920000">
            <a:off x="1666875" y="3657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1680000">
            <a:off x="7191375" y="3657600"/>
            <a:ext cx="1428750" cy="4191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0750" y="4572000"/>
            <a:ext cx="5905500" cy="4362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Thank you to every mentor who teaches our students to see soil.</a:t>
            </a:r>
          </a:p>
        </p:txBody>
      </p:sp>
      <p:pic>
        <p:nvPicPr>
          <p:cNvPr id="7" name="Picture 6" descr="trim-happy-seedling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1952625" y="8601474"/>
            <a:ext cx="1809750" cy="2037550"/>
          </a:xfrm>
          <a:prstGeom prst="rect">
            <a:avLst/>
          </a:prstGeom>
        </p:spPr>
      </p:pic>
      <p:pic>
        <p:nvPicPr>
          <p:cNvPr id="8" name="Picture 7" descr="trim-cute-bacterium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000000">
            <a:off x="6524625" y="8495109"/>
            <a:ext cx="2000250" cy="2250281"/>
          </a:xfrm>
          <a:prstGeom prst="rect">
            <a:avLst/>
          </a:prstGeom>
        </p:spPr>
      </p:pic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