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2A. Cover: Glow strikethrough marks it as a myth.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2B. Microscopy image: soil sample with bacterial rods (general).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60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wet coffee grounds on soil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096000"/>
            <a:ext cx="10287000" cy="762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6667500"/>
            <a:ext cx="7620000" cy="362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DID YOU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334250"/>
            <a:ext cx="7620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4F1EA"/>
                </a:solidFill>
                <a:latin typeface="Montserrat"/>
              </a:rPr>
              <a:t>Coffee grounds make your soil acidic.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8618186"/>
            <a:ext cx="8001000" cy="114300"/>
          </a:xfrm>
          <a:prstGeom prst="rect">
            <a:avLst/>
          </a:prstGeom>
          <a:solidFill>
            <a:srgbClr val="DBE6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0254547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DBE6A7"/>
                </a:solidFill>
                <a:latin typeface="Source Sans 3"/>
              </a:rPr>
              <a:t>Mostly wrong. Here is the chemistry.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2665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Hot water pulls most of the acid into your cup. Used grounds are close to neutral.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2665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What stays in the grounds: nitrogen, plus leftover caffeine and tannins.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33082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Caffeine is the coffee plant's own pesticide. It protects young leaves from insects and snails.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2023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So fresh grounds spread on soil can slow seedlings down.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66750"/>
            <a:ext cx="38100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 i="0">
                <a:solidFill>
                  <a:srgbClr val="156826">
                    <a:alpha val="25000"/>
                  </a:srgbClr>
                </a:solidFill>
                <a:latin typeface="Montserrat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2500" y="4000500"/>
            <a:ext cx="8382000" cy="3950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22371F"/>
                </a:solidFill>
                <a:latin typeface="Montserrat"/>
              </a:rPr>
              <a:t>Compost flips it. Soil bacteria break down caffeine. One strain, found in a university flower bed, lives on caffeine alone.</a:t>
            </a:r>
          </a:p>
        </p:txBody>
      </p:sp>
      <p:pic>
        <p:nvPicPr>
          <p:cNvPr id="4" name="Picture 3" descr="62941832902949229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8286750"/>
            <a:ext cx="3810000" cy="3810000"/>
          </a:xfrm>
          <a:prstGeom prst="roundRect">
            <a:avLst>
              <a:gd name="adj" fmla="val 6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2206049"/>
            <a:ext cx="8382000" cy="4827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400" b="1" i="0">
                <a:solidFill>
                  <a:srgbClr val="F4F1EA"/>
                </a:solidFill>
                <a:latin typeface="Montserrat"/>
              </a:rPr>
              <a:t>Grounds go in the compost first, mixed with leaves or cardboard. Then onto the garden.</a:t>
            </a:r>
          </a:p>
        </p:txBody>
      </p:sp>
      <p:sp>
        <p:nvSpPr>
          <p:cNvPr id="3" name="Freeform 2"/>
          <p:cNvSpPr/>
          <p:nvPr/>
        </p:nvSpPr>
        <p:spPr>
          <a:xfrm>
            <a:off x="3333750" y="8572500"/>
            <a:ext cx="571500" cy="762000"/>
          </a:xfrm>
          <a:custGeom>
            <a:avLst/>
            <a:gdLst/>
            <a:ahLst/>
            <a:cxnLst/>
            <a:rect l="l" t="t" r="r" b="b"/>
            <a:pathLst>
              <a:path w="571500" h="762000">
                <a:moveTo>
                  <a:pt x="0" y="0"/>
                </a:moveTo>
                <a:lnTo>
                  <a:pt x="571500" y="0"/>
                </a:lnTo>
                <a:lnTo>
                  <a:pt x="571500" y="762000"/>
                </a:lnTo>
                <a:lnTo>
                  <a:pt x="285750" y="552450"/>
                </a:lnTo>
                <a:lnTo>
                  <a:pt x="0" y="76200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409950" y="8648700"/>
            <a:ext cx="419100" cy="533400"/>
          </a:xfrm>
          <a:custGeom>
            <a:avLst/>
            <a:gdLst/>
            <a:ahLst/>
            <a:cxnLst/>
            <a:rect l="l" t="t" r="r" b="b"/>
            <a:pathLst>
              <a:path w="419100" h="533400">
                <a:moveTo>
                  <a:pt x="0" y="0"/>
                </a:moveTo>
                <a:lnTo>
                  <a:pt x="419100" y="0"/>
                </a:lnTo>
                <a:lnTo>
                  <a:pt x="419100" y="533400"/>
                </a:lnTo>
                <a:lnTo>
                  <a:pt x="209550" y="381000"/>
                </a:lnTo>
                <a:lnTo>
                  <a:pt x="0" y="533400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67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4F1EA"/>
                </a:solidFill>
                <a:latin typeface="Montserrat"/>
              </a:rPr>
              <a:t>Save this</a:t>
            </a:r>
          </a:p>
        </p:txBody>
      </p:sp>
      <p:sp>
        <p:nvSpPr>
          <p:cNvPr id="6" name="Freeform 5"/>
          <p:cNvSpPr/>
          <p:nvPr/>
        </p:nvSpPr>
        <p:spPr>
          <a:xfrm>
            <a:off x="6248400" y="8572500"/>
            <a:ext cx="838200" cy="762000"/>
          </a:xfrm>
          <a:custGeom>
            <a:avLst/>
            <a:gdLst/>
            <a:ahLst/>
            <a:cxnLst/>
            <a:rect l="l" t="t" r="r" b="b"/>
            <a:pathLst>
              <a:path w="838200" h="762000">
                <a:moveTo>
                  <a:pt x="0" y="342900"/>
                </a:moveTo>
                <a:lnTo>
                  <a:pt x="838200" y="0"/>
                </a:lnTo>
                <a:lnTo>
                  <a:pt x="514350" y="762000"/>
                </a:lnTo>
                <a:lnTo>
                  <a:pt x="381000" y="438150"/>
                </a:lnTo>
                <a:close/>
              </a:path>
            </a:pathLst>
          </a:cu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343650" y="8667750"/>
            <a:ext cx="609600" cy="285750"/>
          </a:xfrm>
          <a:custGeom>
            <a:avLst/>
            <a:gdLst/>
            <a:ahLst/>
            <a:cxnLst/>
            <a:rect l="l" t="t" r="r" b="b"/>
            <a:pathLst>
              <a:path w="609600" h="285750">
                <a:moveTo>
                  <a:pt x="0" y="247650"/>
                </a:moveTo>
                <a:lnTo>
                  <a:pt x="60960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95250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4F1EA"/>
                </a:solidFill>
                <a:latin typeface="Montserrat"/>
              </a:rPr>
              <a:t>Send this</a:t>
            </a:r>
          </a:p>
        </p:txBody>
      </p:sp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4F1EA">
                    <a:alpha val="60000"/>
                  </a:srgbClr>
                </a:solidFill>
                <a:latin typeface="Source Sans 3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