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World Teachers' Day, 5 October (UNESCO). Creatures: collage library (flux-2-pro).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 card: Dr. Carla Portugal. Advice line and facts from the mentor bios, 30 Sep 2026: confirm with Carla before posting. Photo: assets/mentors-teachers-day/carla-portugal.jpg (assets/mentors-teachers-day/README: written consent needed).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 card: Wesley Sanders. Advice line and facts from the mentor bios, 30 Sep 2026: confirm with Sanders before posting. Photo: assets/mentors-teachers-day/wes-sander.jpg (assets/mentors-teachers-day/README: written consent needed).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 card: Gerald Ramirez. Advice line and facts from the mentor bios, 30 Sep 2026: confirm with Ramirez before posting. Photo: assets/mentors-teachers-day/gerald-ramirez.jpg (assets/mentors-teachers-day/README: written consent needed).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 card: Nick Padwick. Advice line and facts from the mentor bios, 30 Sep 2026: confirm with Padwick before posting. Photo: assets/mentors-teachers-day/Nick.png (assets/mentors-teachers-day/README: written consent needed).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Closing: every mentor on the roster (Linnea, September 2026) thanked by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Relationship Id="rId4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3335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300">
                <a:solidFill>
                  <a:srgbClr val="B1BCB1"/>
                </a:solidFill>
                <a:latin typeface="Montserrat"/>
              </a:rPr>
              <a:t>WORLD TEACHERS' DAY · 5 OCTOBER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87630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 i="0">
                <a:solidFill>
                  <a:srgbClr val="F3F1EA"/>
                </a:solidFill>
                <a:latin typeface="Montserrat"/>
              </a:rPr>
              <a:t>Happy World Teachers' 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334000"/>
            <a:ext cx="87630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1">
                <a:solidFill>
                  <a:srgbClr val="F3F1EA"/>
                </a:solidFill>
                <a:latin typeface="EB Garamond"/>
              </a:rPr>
              <a:t>Our mentors' best advice, in one line each.</a:t>
            </a:r>
          </a:p>
        </p:txBody>
      </p:sp>
      <p:pic>
        <p:nvPicPr>
          <p:cNvPr id="5" name="Picture 4" descr="trim-microscope-paper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8056119"/>
            <a:ext cx="1905000" cy="2175761"/>
          </a:xfrm>
          <a:prstGeom prst="rect">
            <a:avLst/>
          </a:prstGeom>
        </p:spPr>
      </p:pic>
      <p:pic>
        <p:nvPicPr>
          <p:cNvPr id="6" name="Picture 5" descr="trim-cute-bacterium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0375" y="8072437"/>
            <a:ext cx="1905000" cy="2143125"/>
          </a:xfrm>
          <a:prstGeom prst="rect">
            <a:avLst/>
          </a:prstGeom>
        </p:spPr>
      </p:pic>
      <p:pic>
        <p:nvPicPr>
          <p:cNvPr id="7" name="Picture 6" descr="trim-mushroom-pap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8750" y="8122247"/>
            <a:ext cx="1905000" cy="2043504"/>
          </a:xfrm>
          <a:prstGeom prst="rect">
            <a:avLst/>
          </a:prstGeom>
        </p:spPr>
      </p:pic>
      <p:pic>
        <p:nvPicPr>
          <p:cNvPr id="8" name="Picture 7" descr="trim-happy-seedling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7125" y="8071096"/>
            <a:ext cx="1905000" cy="2145807"/>
          </a:xfrm>
          <a:prstGeom prst="rect">
            <a:avLst/>
          </a:prstGeom>
        </p:spPr>
      </p:pic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98970535765930937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8763000" cy="5715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6858000"/>
            <a:ext cx="6858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31662F"/>
                </a:solidFill>
                <a:latin typeface="Montserrat"/>
              </a:rPr>
              <a:t>Dr. Carla Portugal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562850"/>
            <a:ext cx="685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A1A1A"/>
                </a:solidFill>
                <a:latin typeface="Source Sans 3"/>
              </a:rPr>
              <a:t>Science Lead &amp; Mentor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91500"/>
            <a:ext cx="66675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A1A1A"/>
                </a:solidFill>
                <a:latin typeface="EB Garamond"/>
              </a:rPr>
              <a:t>“Bare soil erodes. Living roots and cover hold the aggregates together.”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191875"/>
            <a:ext cx="6858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31662F"/>
                </a:solidFill>
                <a:latin typeface="Source Sans 3"/>
              </a:rPr>
              <a:t>PhD in Environmental Sciences. 20 years of environmental and farm consulting. Mentoring since 2019.</a:t>
            </a:r>
          </a:p>
        </p:txBody>
      </p:sp>
      <p:pic>
        <p:nvPicPr>
          <p:cNvPr id="7" name="Picture 6" descr="trim-critter-mycorrhiza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7712382"/>
            <a:ext cx="1714500" cy="172023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67500" y="12192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468898671832195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8763000" cy="5715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6858000"/>
            <a:ext cx="6858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562850"/>
            <a:ext cx="685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A1A1A"/>
                </a:solidFill>
                <a:latin typeface="Source Sans 3"/>
              </a:rPr>
              <a:t>Advanced Programs Mentor · Sierra Nevada foothills, California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91500"/>
            <a:ext cx="66675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A1A1A"/>
                </a:solidFill>
                <a:latin typeface="EB Garamond"/>
              </a:rPr>
              <a:t>“Compost can look finished and still lack the biology you need. Check it under the microscope before you apply it.”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191875"/>
            <a:ext cx="6858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31662F"/>
                </a:solidFill>
                <a:latin typeface="Source Sans 3"/>
              </a:rPr>
              <a:t>Ten years as an agricultural journalist, then ten managing a farm. Mentoring since 2020.</a:t>
            </a:r>
          </a:p>
        </p:txBody>
      </p:sp>
      <p:pic>
        <p:nvPicPr>
          <p:cNvPr id="7" name="Picture 6" descr="trim-microscope-paper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7593407"/>
            <a:ext cx="1714500" cy="19581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67500" y="12192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33896372745005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8763000" cy="5715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6858000"/>
            <a:ext cx="6858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562850"/>
            <a:ext cx="685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A1A1A"/>
                </a:solidFill>
                <a:latin typeface="Source Sans 3"/>
              </a:rPr>
              <a:t>Advanced Programs Mentor · Costa Rica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91500"/>
            <a:ext cx="66675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A1A1A"/>
                </a:solidFill>
                <a:latin typeface="EB Garamond"/>
              </a:rPr>
              <a:t>“Extracts pull organisms off the compost into solution, so you can apply biology across a whole field.”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191875"/>
            <a:ext cx="6858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31662F"/>
                </a:solidFill>
                <a:latin typeface="Source Sans 3"/>
              </a:rPr>
              <a:t>Agronomist, University of Costa Rica. Teaches compost extracts and teas.</a:t>
            </a:r>
          </a:p>
        </p:txBody>
      </p:sp>
      <p:pic>
        <p:nvPicPr>
          <p:cNvPr id="7" name="Picture 6" descr="trim-critter-paramecium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8925" y="7143750"/>
            <a:ext cx="1517649" cy="2857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67500" y="12192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669437409812916361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8763000" cy="5715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6858000"/>
            <a:ext cx="6858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562850"/>
            <a:ext cx="685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1A1A1A"/>
                </a:solidFill>
                <a:latin typeface="Source Sans 3"/>
              </a:rPr>
              <a:t>Advanced Programs Mentor · West Norfolk, England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91500"/>
            <a:ext cx="66675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A1A1A"/>
                </a:solidFill>
                <a:latin typeface="EB Garamond"/>
              </a:rPr>
              <a:t>“I make 750 tons of compost a year. Biology works at any scale.”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191875"/>
            <a:ext cx="6858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31662F"/>
                </a:solidFill>
                <a:latin typeface="Source Sans 3"/>
              </a:rPr>
              <a:t>Manages Ken Hill Estate, home of Wild Ken Hill. Farmers Weekly Farmer of the Year, 2009.</a:t>
            </a:r>
          </a:p>
        </p:txBody>
      </p:sp>
      <p:pic>
        <p:nvPicPr>
          <p:cNvPr id="7" name="Picture 6" descr="trim-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7625843"/>
            <a:ext cx="1714500" cy="18933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67500" y="12192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333500"/>
            <a:ext cx="8763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200" b="1" i="0">
                <a:solidFill>
                  <a:srgbClr val="F3F1EA"/>
                </a:solidFill>
                <a:latin typeface="Montserrat"/>
              </a:rPr>
              <a:t>Thank you to every mentor who teaches our students to see soil.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476750"/>
            <a:ext cx="8763000" cy="438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i="1">
                <a:solidFill>
                  <a:srgbClr val="B1BCB1"/>
                </a:solidFill>
                <a:latin typeface="EB Garamond"/>
              </a:rPr>
              <a:t>Tommy Tepper · Loida Vasquez · Dr. Carla Portugal · Wesley Sanders · Casey Williams · Brian Daubenspeck · Isadora Schmidt · Aysen Ustunay · Dora Tkalec · Gerald Ramirez · Elena Kalli · Ib Borup Pederson · Nick Padwick · Delvin Solkinson</a:t>
            </a:r>
          </a:p>
        </p:txBody>
      </p:sp>
      <p:pic>
        <p:nvPicPr>
          <p:cNvPr id="4" name="Picture 3" descr="trim-critter-cocci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9562465"/>
            <a:ext cx="2095500" cy="1830070"/>
          </a:xfrm>
          <a:prstGeom prst="rect">
            <a:avLst/>
          </a:prstGeom>
        </p:spPr>
      </p:pic>
      <p:pic>
        <p:nvPicPr>
          <p:cNvPr id="5" name="Picture 4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