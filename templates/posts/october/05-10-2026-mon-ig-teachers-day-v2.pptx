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World Teachers' Day, 5 October. Cut-paper flowers from the collage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Tommy Tepper, Loida Vasquez. About and advice lines: drafts from the team notes, confirm with each mentor (05-10-2026-mon-ig-teachers-day-mentors.md). Photo boxes marked PHOTO NEEDED: drop the mentor's photo in (written consent).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Carla Portugal, Wesley Sanders. About and advice lines: drafts from the team notes, confirm with each mentor (05-10-2026-mon-ig-teachers-day-mentors.md). Photo boxes marked PHOTO NEEDED: drop the mentor's photo in (written consent).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Casey Williams, Brian Daubenspeck. About and advice lines: drafts from the team notes, confirm with each mentor (05-10-2026-mon-ig-teachers-day-mentors.md). Photo boxes marked PHOTO NEEDED: drop the mentor's photo in (written consent).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Isadora Schmidt, Aysen Ustunay. About and advice lines: drafts from the team notes, confirm with each mentor (05-10-2026-mon-ig-teachers-day-mentors.md). Photo boxes marked PHOTO NEEDED: drop the mentor's photo in (written consent).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Dora Tkalec, Gerald Ramirez. About and advice lines: drafts from the team notes, confirm with each mentor (05-10-2026-mon-ig-teachers-day-mentors.md). Photo boxes marked PHOTO NEEDED: drop the mentor's photo in (written consent).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Elena Kalli, Ib Borup Pederson. About and advice lines: drafts from the team notes, confirm with each mentor (05-10-2026-mon-ig-teachers-day-mentors.md). Photo boxes marked PHOTO NEEDED: drop the mentor's photo in (written consent).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Mentors: Nick Padwick, Delvin Solkinson. About and advice lines: drafts from the team notes, confirm with each mentor (05-10-2026-mon-ig-teachers-day-mentors.md). Photo boxes marked PHOTO NEEDED: drop the mentor's photo in (written consent).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Closing: every mentor on the roster thanked by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jpg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300">
                <a:solidFill>
                  <a:srgbClr val="B1BCB1"/>
                </a:solidFill>
                <a:latin typeface="Montserrat"/>
              </a:rPr>
              <a:t>WORLD TEACHERS' DAY · 5 OCTOBER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1714500"/>
            <a:ext cx="8763000" cy="342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600" b="1" i="0">
                <a:solidFill>
                  <a:srgbClr val="F3F1EA"/>
                </a:solidFill>
                <a:latin typeface="Montserrat"/>
              </a:rPr>
              <a:t>Happy World Teachers' 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5143500"/>
            <a:ext cx="8763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1">
                <a:solidFill>
                  <a:srgbClr val="F3F1EA"/>
                </a:solidFill>
                <a:latin typeface="EB Garamond"/>
              </a:rPr>
              <a:t>Meet the mentors who teach our students to see soil.</a:t>
            </a:r>
          </a:p>
        </p:txBody>
      </p:sp>
      <p:pic>
        <p:nvPicPr>
          <p:cNvPr id="5" name="Picture 4" descr="td-tithonia-flower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689728"/>
            <a:ext cx="1619250" cy="3099043"/>
          </a:xfrm>
          <a:prstGeom prst="rect">
            <a:avLst/>
          </a:prstGeom>
        </p:spPr>
      </p:pic>
      <p:pic>
        <p:nvPicPr>
          <p:cNvPr id="6" name="Picture 5" descr="td-dried-flowers-1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8194572"/>
            <a:ext cx="1619250" cy="2089354"/>
          </a:xfrm>
          <a:prstGeom prst="rect">
            <a:avLst/>
          </a:prstGeom>
        </p:spPr>
      </p:pic>
      <p:pic>
        <p:nvPicPr>
          <p:cNvPr id="7" name="Picture 6" descr="td-dried-flowers-2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200" y="8019475"/>
            <a:ext cx="1619250" cy="2439548"/>
          </a:xfrm>
          <a:prstGeom prst="rect">
            <a:avLst/>
          </a:prstGeom>
        </p:spPr>
      </p:pic>
      <p:pic>
        <p:nvPicPr>
          <p:cNvPr id="8" name="Picture 7" descr="td-leaf-sprig-paper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9800" y="7943850"/>
            <a:ext cx="1619250" cy="2590800"/>
          </a:xfrm>
          <a:prstGeom prst="rect">
            <a:avLst/>
          </a:prstGeom>
        </p:spPr>
      </p:pic>
      <p:pic>
        <p:nvPicPr>
          <p:cNvPr id="9" name="Picture 8" descr="td-happy-seedling-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0" y="8328279"/>
            <a:ext cx="1619250" cy="1821940"/>
          </a:xfrm>
          <a:prstGeom prst="rect">
            <a:avLst/>
          </a:prstGeom>
        </p:spPr>
      </p:pic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762000"/>
            <a:ext cx="3810000" cy="4953000"/>
          </a:xfrm>
          <a:prstGeom prst="rect">
            <a:avLst/>
          </a:prstGeom>
          <a:solidFill>
            <a:srgbClr val="E4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d-tithonia-flower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0709" y="1333500"/>
            <a:ext cx="1592580" cy="304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466725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8A8577"/>
                </a:solidFill>
                <a:latin typeface="Montserrat"/>
              </a:rPr>
              <a:t>PHOTO NEEDED</a:t>
            </a:r>
          </a:p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8A8577"/>
                </a:solidFill>
                <a:latin typeface="Montserrat"/>
              </a:rPr>
              <a:t>Tommy Tepper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3000" y="857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0" y="1449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Director of Education &amp; Mentor</a:t>
            </a:r>
          </a:p>
        </p:txBody>
      </p:sp>
      <p:pic>
        <p:nvPicPr>
          <p:cNvPr id="7" name="Picture 6" descr="741412344285452737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477000"/>
            <a:ext cx="3810000" cy="4953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3000" y="6572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7164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Advanced Programs Lead &amp; Mentor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2000" y="6096000"/>
            <a:ext cx="8763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67500" y="122872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88309318426438518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62000"/>
            <a:ext cx="3810000" cy="4953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953000" y="857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Dr. Carla Portugal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0" y="1449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Science Lead &amp; Mentor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3000" y="1928334"/>
            <a:ext cx="4572000" cy="915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1A1A1A"/>
                </a:solidFill>
                <a:latin typeface="EB Garamond"/>
              </a:rPr>
              <a:t>“Bare soil erodes. Living roots and cover hold the aggregates together.”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0" y="2862830"/>
            <a:ext cx="4572000" cy="10692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31662F"/>
                </a:solidFill>
                <a:latin typeface="Source Sans 3"/>
              </a:rPr>
              <a:t>PhD in Environmental Sciences. 20 years of environmental and farm consulting. Mentoring since 2019.</a:t>
            </a:r>
          </a:p>
        </p:txBody>
      </p:sp>
      <p:pic>
        <p:nvPicPr>
          <p:cNvPr id="7" name="Picture 6" descr="65700093245532095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477000"/>
            <a:ext cx="3810000" cy="4953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3000" y="6572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7164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0" y="7643334"/>
            <a:ext cx="4572000" cy="1325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1A1A1A"/>
                </a:solidFill>
                <a:latin typeface="EB Garamond"/>
              </a:rPr>
              <a:t>“Compost can look finished and still lack the biology you need. Check it under the microscope before you apply it.”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8987928"/>
            <a:ext cx="4572000" cy="1393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31662F"/>
                </a:solidFill>
                <a:latin typeface="Source Sans 3"/>
              </a:rPr>
              <a:t>A farmer and agricultural journalist, then our first lab tech. Runs Foothill Biological Soil Health Services in California's Sierra Nevada foothills.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000" y="6096000"/>
            <a:ext cx="8763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7500" y="122872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762000"/>
            <a:ext cx="3810000" cy="4953000"/>
          </a:xfrm>
          <a:prstGeom prst="rect">
            <a:avLst/>
          </a:prstGeom>
          <a:solidFill>
            <a:srgbClr val="E4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d-happy-seedling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0" y="1785770"/>
            <a:ext cx="1905000" cy="21434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466725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8A8577"/>
                </a:solidFill>
                <a:latin typeface="Montserrat"/>
              </a:rPr>
              <a:t>PHOTO NEEDED</a:t>
            </a:r>
          </a:p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8A8577"/>
                </a:solidFill>
                <a:latin typeface="Montserrat"/>
              </a:rPr>
              <a:t>Casey Williams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3000" y="857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0" y="1449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3000" y="1928334"/>
            <a:ext cx="4572000" cy="10692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A1A1A"/>
                </a:solidFill>
                <a:latin typeface="Source Sans 3"/>
              </a:rPr>
              <a:t>Around ten years of farming and gardening. A long-time student, now teaching. Favourite microbe: rotifers.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6477000"/>
            <a:ext cx="3810000" cy="4953000"/>
          </a:xfrm>
          <a:prstGeom prst="rect">
            <a:avLst/>
          </a:prstGeom>
          <a:solidFill>
            <a:srgbClr val="E4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d-dried-flowers-1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0" y="7343467"/>
            <a:ext cx="1905000" cy="2458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2000" y="1038225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8A8577"/>
                </a:solidFill>
                <a:latin typeface="Montserrat"/>
              </a:rPr>
              <a:t>PHOTO NEEDED</a:t>
            </a:r>
          </a:p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8A8577"/>
                </a:solidFill>
                <a:latin typeface="Montserrat"/>
              </a:rPr>
              <a:t>Brian Daubenspeck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6572250"/>
            <a:ext cx="4572000" cy="1165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7699221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3000" y="8178244"/>
            <a:ext cx="4572000" cy="10692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A1A1A"/>
                </a:solidFill>
                <a:latin typeface="Source Sans 3"/>
              </a:rPr>
              <a:t>Manages orchards in California, after years in New Mexico. Favourite microbes: the small underdogs.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2000" y="6096000"/>
            <a:ext cx="8763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67500" y="122872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762000"/>
            <a:ext cx="3810000" cy="4953000"/>
          </a:xfrm>
          <a:prstGeom prst="rect">
            <a:avLst/>
          </a:prstGeom>
          <a:solidFill>
            <a:srgbClr val="E4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d-dried-flowers-2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0" y="1422471"/>
            <a:ext cx="1905000" cy="28700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466725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8A8577"/>
                </a:solidFill>
                <a:latin typeface="Montserrat"/>
              </a:rPr>
              <a:t>PHOTO NEEDED</a:t>
            </a:r>
          </a:p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8A8577"/>
                </a:solidFill>
                <a:latin typeface="Montserrat"/>
              </a:rPr>
              <a:t>Isadora Schmidt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3000" y="857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0" y="1449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53000" y="1928334"/>
            <a:ext cx="4572000" cy="10692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A1A1A"/>
                </a:solidFill>
                <a:latin typeface="Source Sans 3"/>
              </a:rPr>
              <a:t>From Florianópolis, Brazil, now living in Spain. Favourite: lichens, though she loves all her microbes equally.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2000" y="6477000"/>
            <a:ext cx="3810000" cy="4953000"/>
          </a:xfrm>
          <a:prstGeom prst="rect">
            <a:avLst/>
          </a:prstGeom>
          <a:solidFill>
            <a:srgbClr val="E4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d-dandelion-short-root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4034" y="7048500"/>
            <a:ext cx="1725930" cy="3048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2000" y="1038225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8A8577"/>
                </a:solidFill>
                <a:latin typeface="Montserrat"/>
              </a:rPr>
              <a:t>PHOTO NEEDED</a:t>
            </a:r>
          </a:p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8A8577"/>
                </a:solidFill>
                <a:latin typeface="Montserrat"/>
              </a:rPr>
              <a:t>Aysen Ustunay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6572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7164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3000" y="7643334"/>
            <a:ext cx="4572000" cy="7445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A1A1A"/>
                </a:solidFill>
                <a:latin typeface="Source Sans 3"/>
              </a:rPr>
              <a:t>Favourite microbe: flagellates. She loves watching them as babies, running around.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2000" y="6096000"/>
            <a:ext cx="8763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67500" y="122872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762000"/>
            <a:ext cx="3810000" cy="4953000"/>
          </a:xfrm>
          <a:prstGeom prst="rect">
            <a:avLst/>
          </a:prstGeom>
          <a:solidFill>
            <a:srgbClr val="E4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d-tithonia-flower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0709" y="1333500"/>
            <a:ext cx="1592580" cy="304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466725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8A8577"/>
                </a:solidFill>
                <a:latin typeface="Montserrat"/>
              </a:rPr>
              <a:t>PHOTO NEEDED</a:t>
            </a:r>
          </a:p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8A8577"/>
                </a:solidFill>
                <a:latin typeface="Montserrat"/>
              </a:rPr>
              <a:t>Dora Tkalec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3000" y="857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0" y="1449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pic>
        <p:nvPicPr>
          <p:cNvPr id="7" name="Picture 6" descr="843578168000193256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6477000"/>
            <a:ext cx="3810000" cy="4953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3000" y="6572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7164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0" y="7643334"/>
            <a:ext cx="4572000" cy="13255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1A1A1A"/>
                </a:solidFill>
                <a:latin typeface="EB Garamond"/>
              </a:rPr>
              <a:t>“Extracts pull organisms off the compost into solution, so you can apply biology across a whole field.”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8987928"/>
            <a:ext cx="4572000" cy="13938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31662F"/>
                </a:solidFill>
                <a:latin typeface="Source Sans 3"/>
              </a:rPr>
              <a:t>An agronomist from the University of Costa Rica, who went looking for Dr. Elaine's teaching. Now he teaches it, from compost extracts to teas.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000" y="6096000"/>
            <a:ext cx="8763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7500" y="122872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762000"/>
            <a:ext cx="3810000" cy="4953000"/>
          </a:xfrm>
          <a:prstGeom prst="rect">
            <a:avLst/>
          </a:prstGeom>
          <a:solidFill>
            <a:srgbClr val="E4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d-happy-seedling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0" y="1785770"/>
            <a:ext cx="1905000" cy="21434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466725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8A8577"/>
                </a:solidFill>
                <a:latin typeface="Montserrat"/>
              </a:rPr>
              <a:t>PHOTO NEEDED</a:t>
            </a:r>
          </a:p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8A8577"/>
                </a:solidFill>
                <a:latin typeface="Montserrat"/>
              </a:rPr>
              <a:t>Elena Kalli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3000" y="857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0" y="1449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Advanced Programs Admin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6477000"/>
            <a:ext cx="3810000" cy="4953000"/>
          </a:xfrm>
          <a:prstGeom prst="rect">
            <a:avLst/>
          </a:prstGeom>
          <a:solidFill>
            <a:srgbClr val="E4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d-leaf-sprig-paper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0" y="7048500"/>
            <a:ext cx="1905000" cy="304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1038225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8A8577"/>
                </a:solidFill>
                <a:latin typeface="Montserrat"/>
              </a:rPr>
              <a:t>PHOTO NEEDED</a:t>
            </a:r>
          </a:p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8A8577"/>
                </a:solidFill>
                <a:latin typeface="Montserrat"/>
              </a:rPr>
              <a:t>Ib Borup Pederson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0" y="6572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7164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000" y="6096000"/>
            <a:ext cx="8763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7500" y="122872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73982411824801975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762000"/>
            <a:ext cx="3810000" cy="4953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953000" y="857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53000" y="1449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53000" y="1928334"/>
            <a:ext cx="4572000" cy="9154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1A1A1A"/>
                </a:solidFill>
                <a:latin typeface="EB Garamond"/>
              </a:rPr>
              <a:t>“I make 750 tons of compost a year. Biology works at any scale.”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3000" y="2862830"/>
            <a:ext cx="4572000" cy="10692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31662F"/>
                </a:solidFill>
                <a:latin typeface="Source Sans 3"/>
              </a:rPr>
              <a:t>Manages Ken Hill Estate, home of Wild Ken Hill, in West Norfolk, England. Farmers Weekly Farmer of the Year, 2009.</a:t>
            </a:r>
          </a:p>
        </p:txBody>
      </p:sp>
      <p:sp>
        <p:nvSpPr>
          <p:cNvPr id="7" name="Rectangle 6"/>
          <p:cNvSpPr/>
          <p:nvPr/>
        </p:nvSpPr>
        <p:spPr>
          <a:xfrm>
            <a:off x="762000" y="6477000"/>
            <a:ext cx="3810000" cy="4953000"/>
          </a:xfrm>
          <a:prstGeom prst="rect">
            <a:avLst/>
          </a:prstGeom>
          <a:solidFill>
            <a:srgbClr val="E4E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d-tithonia-flower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0709" y="7048500"/>
            <a:ext cx="1592580" cy="3048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10382250"/>
            <a:ext cx="3810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8A8577"/>
                </a:solidFill>
                <a:latin typeface="Montserrat"/>
              </a:rPr>
              <a:t>PHOTO NEEDED</a:t>
            </a:r>
          </a:p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8A8577"/>
                </a:solidFill>
                <a:latin typeface="Montserrat"/>
              </a:rPr>
              <a:t>Delvin Solkinson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3000" y="6572250"/>
            <a:ext cx="4572000" cy="63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3000" y="7164310"/>
            <a:ext cx="4572000" cy="4028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A1A1A"/>
                </a:solidFill>
                <a:latin typeface="Source Sans 3"/>
              </a:rPr>
              <a:t>Permaculture Lead Teacher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2000" y="6096000"/>
            <a:ext cx="8763000" cy="190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67500" y="12287250"/>
            <a:ext cx="2857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333500"/>
            <a:ext cx="8763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200" b="1" i="0">
                <a:solidFill>
                  <a:srgbClr val="F3F1EA"/>
                </a:solidFill>
                <a:latin typeface="Montserrat"/>
              </a:rPr>
              <a:t>Thank you to every mentor who teaches our students to see soil.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447675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0" i="1">
                <a:solidFill>
                  <a:srgbClr val="F3F1EA"/>
                </a:solidFill>
                <a:latin typeface="EB Garamond"/>
              </a:rPr>
              <a:t>Tommy Tepper · Loida Vasquez · Carla Portugal · Wesley Sanders · Casey Williams · Brian Daubenspeck · Isadora Schmidt · Aysen Ustunay · Dora Tkalec · Gerald Ramirez · Elena Kalli · Ib Borup Pederson · Nick Padwick · Delvin Solkinson</a:t>
            </a:r>
          </a:p>
        </p:txBody>
      </p:sp>
      <p:pic>
        <p:nvPicPr>
          <p:cNvPr id="4" name="Picture 3" descr="td-leaf-sprig-paper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8991600"/>
            <a:ext cx="1619250" cy="2590800"/>
          </a:xfrm>
          <a:prstGeom prst="rect">
            <a:avLst/>
          </a:prstGeom>
        </p:spPr>
      </p:pic>
      <p:pic>
        <p:nvPicPr>
          <p:cNvPr id="5" name="Picture 4" descr="td-dried-flowers-2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71750" y="9067225"/>
            <a:ext cx="1619250" cy="2439548"/>
          </a:xfrm>
          <a:prstGeom prst="rect">
            <a:avLst/>
          </a:prstGeom>
        </p:spPr>
      </p:pic>
      <p:pic>
        <p:nvPicPr>
          <p:cNvPr id="6" name="Picture 5" descr="td-tithonia-flower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4603" y="8858250"/>
            <a:ext cx="1493043" cy="2857500"/>
          </a:xfrm>
          <a:prstGeom prst="rect">
            <a:avLst/>
          </a:prstGeom>
        </p:spPr>
      </p:pic>
      <p:pic>
        <p:nvPicPr>
          <p:cNvPr id="7" name="Picture 6" descr="td-dried-flowers-1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1250" y="9242322"/>
            <a:ext cx="1619250" cy="2089354"/>
          </a:xfrm>
          <a:prstGeom prst="rect">
            <a:avLst/>
          </a:prstGeom>
        </p:spPr>
      </p:pic>
      <p:pic>
        <p:nvPicPr>
          <p:cNvPr id="8" name="Picture 7" descr="foundation-logo-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