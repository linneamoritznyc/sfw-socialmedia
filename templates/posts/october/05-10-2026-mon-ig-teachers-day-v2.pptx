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World Teachers' Day, 5 October. Cut-paper flowers from the collage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Tommy Tepper, Director of Education &amp; Mentor. About line: draft from the team notes, confirm with Allison and Tommy. No photo yet: flower arrangement. [ABOUT LINE NEEDED from Allison; the card shows name and role until then]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Loida Vasquez, Advanced Programs Lead &amp; Mentor. About line: draft from the team notes, confirm with Allison and Loida. Photo: assets/photo/loida-teaching-3.jpg (written consent needed).  [ABOUT LINE NEEDED from Allison; the card shows name and role until then]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Dr. Carla Portugal, Science Lead &amp; Mentor. About line: draft from the team notes, confirm with Allison and Carla. Advice line from the mentor bios, 30 Sep 2026: confirm with Carla. Photo: assets/mentors-teachers-day/carla-portugal.jpg (written consent needed).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Wesley Sanders, Advanced Programs Mentor. About line: draft from the team notes, confirm with Allison and Wesley. Advice line from the mentor bios, 30 Sep 2026: confirm with Wesley. Photo: assets/mentors-teachers-day/wes-sander.jpg (written consent needed).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Casey Williams, Advanced Programs Mentor. About line: draft from the team notes, confirm with Allison and Casey. No photo yet: flower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Brian Daubenspeck, Advanced Programs Mentor. About line: draft from the team notes, confirm with Allison and Brian. No photo yet: flower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Isadora Schmidt, Advanced Programs Mentor. About line: draft from the team notes, confirm with Allison and Isadora. No photo yet: flower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Aysen Ustunay, Advanced Programs Mentor. About line: draft from the team notes, confirm with Allison and Aysen. No photo yet: flower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Dora Tkalec, Advanced Programs Mentor. About line: draft from the team notes, confirm with Allison and Dora. No photo yet: flower arrangement. [ABOUT LINE NEEDED from Allison; the card shows name and role until then]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Gerald Ramirez, Advanced Programs Mentor. About line: draft from the team notes, confirm with Allison and Gerald. Advice line from the mentor bios, 30 Sep 2026: confirm with Gerald. Photo: assets/mentors-teachers-day/gerald-ramirez.jpg (written consent needed).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Elena Kalli, Advanced Programs Admin. About line: draft from the team notes, confirm with Allison and Elena. No photo yet: flower arrangement. [ABOUT LINE NEEDED from Allison; the card shows name and role until then]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Ib Borup Pederson, Advanced Programs Mentor. About line: draft from the team notes, confirm with Allison and Ib. No photo yet: flower arrangement. [ABOUT LINE NEEDED from Allison; the card shows name and role until then]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Nick Padwick, Advanced Programs Mentor. About line: draft from the team notes, confirm with Allison and Nick. Advice line from the mentor bios, 30 Sep 2026: confirm with Nick. Photo: assets/mentors-teachers-day/Nick.png (written consent needed).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card: Delvin Solkinson, Permaculture Lead Teacher. About line: draft from the team notes, confirm with Allison and Delvin. No photo yet: flower arrangement. [ABOUT LINE NEEDED from Allison; the card shows name and role until then]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every mentor on the roster thanked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B1BCB1"/>
                </a:solidFill>
                <a:latin typeface="Montserrat"/>
              </a:rPr>
              <a:t>WORLD TEACHERS' DAY · 5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876300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F3F1EA"/>
                </a:solidFill>
                <a:latin typeface="Montserrat"/>
              </a:rPr>
              <a:t>Happy World Teachers'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143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F3F1EA"/>
                </a:solidFill>
                <a:latin typeface="EB Garamond"/>
              </a:rPr>
              <a:t>Meet the mentors who teach our students to see soil.</a:t>
            </a:r>
          </a:p>
        </p:txBody>
      </p:sp>
      <p:pic>
        <p:nvPicPr>
          <p:cNvPr id="5" name="Picture 4" descr="td-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89728"/>
            <a:ext cx="1619250" cy="3099043"/>
          </a:xfrm>
          <a:prstGeom prst="rect">
            <a:avLst/>
          </a:prstGeom>
        </p:spPr>
      </p:pic>
      <p:pic>
        <p:nvPicPr>
          <p:cNvPr id="6" name="Picture 5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8194572"/>
            <a:ext cx="1619250" cy="2089354"/>
          </a:xfrm>
          <a:prstGeom prst="rect">
            <a:avLst/>
          </a:prstGeom>
        </p:spPr>
      </p:pic>
      <p:pic>
        <p:nvPicPr>
          <p:cNvPr id="7" name="Picture 6" descr="td-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8019475"/>
            <a:ext cx="1619250" cy="2439548"/>
          </a:xfrm>
          <a:prstGeom prst="rect">
            <a:avLst/>
          </a:prstGeom>
        </p:spPr>
      </p:pic>
      <p:pic>
        <p:nvPicPr>
          <p:cNvPr id="8" name="Picture 7" descr="td-leaf-sprig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7943850"/>
            <a:ext cx="1619250" cy="2590800"/>
          </a:xfrm>
          <a:prstGeom prst="rect">
            <a:avLst/>
          </a:prstGeom>
        </p:spPr>
      </p:pic>
      <p:pic>
        <p:nvPicPr>
          <p:cNvPr id="9" name="Picture 8" descr="td-happy-seedling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8328279"/>
            <a:ext cx="1619250" cy="1821940"/>
          </a:xfrm>
          <a:prstGeom prst="rect">
            <a:avLst/>
          </a:prstGeom>
        </p:spPr>
      </p:pic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78105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29" y="1143000"/>
            <a:ext cx="3682841" cy="7048500"/>
          </a:xfrm>
          <a:prstGeom prst="rect">
            <a:avLst/>
          </a:prstGeom>
        </p:spPr>
      </p:pic>
      <p:pic>
        <p:nvPicPr>
          <p:cNvPr id="4" name="Picture 3" descr="td-leaf-sprig-pap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466850"/>
            <a:ext cx="40005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88963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6964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Director of Education &amp;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2013493819470703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334000"/>
          </a:xfrm>
          <a:prstGeom prst="rect">
            <a:avLst/>
          </a:prstGeom>
        </p:spPr>
      </p:pic>
      <p:pic>
        <p:nvPicPr>
          <p:cNvPr id="3" name="Picture 2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5003697"/>
            <a:ext cx="1619250" cy="2089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Lead &amp;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664079895590520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334000"/>
          </a:xfrm>
          <a:prstGeom prst="rect">
            <a:avLst/>
          </a:prstGeom>
        </p:spPr>
      </p:pic>
      <p:pic>
        <p:nvPicPr>
          <p:cNvPr id="3" name="Picture 2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819" y="4953000"/>
            <a:ext cx="1454110" cy="2190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Dr. Carla Portugal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Science Lead &amp;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43504"/>
            <a:ext cx="8763000" cy="1393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1A1A1A"/>
                </a:solidFill>
                <a:latin typeface="EB Garamond"/>
              </a:rPr>
              <a:t>“Bare soil erodes. Living roots and cover hold the aggregates together.”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332648"/>
            <a:ext cx="87630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PhD in Environmental Sciences. 20 years of environmental and farm consulting. Mentoring since 2019.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545315227462026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334000"/>
          </a:xfrm>
          <a:prstGeom prst="rect">
            <a:avLst/>
          </a:prstGeom>
        </p:spPr>
      </p:pic>
      <p:pic>
        <p:nvPicPr>
          <p:cNvPr id="3" name="Picture 2" descr="td-leaf-sprig-pap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265" y="4953000"/>
            <a:ext cx="1369218" cy="2190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Wesley Sanders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43504"/>
            <a:ext cx="8763000" cy="2043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1A1A1A"/>
                </a:solidFill>
                <a:latin typeface="EB Garamond"/>
              </a:rPr>
              <a:t>“Compost can look finished and still lack the biology you need. Check it under the microscope before you apply it.”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981970"/>
            <a:ext cx="8763000" cy="1428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A farmer and agricultural journalist, then our first lab tech. Runs Foothill Biological Soil Health Services in California's Sierra Nevada foothills.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53340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happy-seedl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78367"/>
            <a:ext cx="4000500" cy="4501265"/>
          </a:xfrm>
          <a:prstGeom prst="rect">
            <a:avLst/>
          </a:prstGeom>
        </p:spPr>
      </p:pic>
      <p:pic>
        <p:nvPicPr>
          <p:cNvPr id="4" name="Picture 3" descr="td-leaf-sprig-pap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143000"/>
            <a:ext cx="28575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43504"/>
            <a:ext cx="87630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A1A1A"/>
                </a:solidFill>
                <a:latin typeface="Source Sans 3"/>
              </a:rPr>
              <a:t>Around ten years of farming and gardening. A long-time student, now teaching. Favourite microbe: rotifers.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53340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dried-flowers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143000"/>
            <a:ext cx="3543300" cy="4572000"/>
          </a:xfrm>
          <a:prstGeom prst="rect">
            <a:avLst/>
          </a:prstGeom>
        </p:spPr>
      </p:pic>
      <p:pic>
        <p:nvPicPr>
          <p:cNvPr id="4" name="Picture 3" descr="td-tithonia-flow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815" y="1143000"/>
            <a:ext cx="238887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43504"/>
            <a:ext cx="87630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A1A1A"/>
                </a:solidFill>
                <a:latin typeface="Source Sans 3"/>
              </a:rPr>
              <a:t>Manages orchards in California, after years in New Mexico. Favourite microbes: the small underdogs.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53340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dried-flowers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417" y="1143000"/>
            <a:ext cx="3034664" cy="4572000"/>
          </a:xfrm>
          <a:prstGeom prst="rect">
            <a:avLst/>
          </a:prstGeom>
        </p:spPr>
      </p:pic>
      <p:pic>
        <p:nvPicPr>
          <p:cNvPr id="4" name="Picture 3" descr="td-happy-seedling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178367"/>
            <a:ext cx="4000500" cy="4501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43504"/>
            <a:ext cx="87630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A1A1A"/>
                </a:solidFill>
                <a:latin typeface="Source Sans 3"/>
              </a:rPr>
              <a:t>From Florianópolis, Brazil, now living in Spain. Favourite: lichens, though she loves all her microbes equally.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53340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dandelion-short-ro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302" y="1143000"/>
            <a:ext cx="2588895" cy="4572000"/>
          </a:xfrm>
          <a:prstGeom prst="rect">
            <a:avLst/>
          </a:prstGeom>
        </p:spPr>
      </p:pic>
      <p:pic>
        <p:nvPicPr>
          <p:cNvPr id="4" name="Picture 3" descr="td-leaf-sprig-pap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143000"/>
            <a:ext cx="28575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Aysen Ustunay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43504"/>
            <a:ext cx="87630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A1A1A"/>
                </a:solidFill>
                <a:latin typeface="Source Sans 3"/>
              </a:rPr>
              <a:t>Favourite microbe: flagellates. She loves watching them as babies, running around.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78105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29" y="1143000"/>
            <a:ext cx="3682841" cy="7048500"/>
          </a:xfrm>
          <a:prstGeom prst="rect">
            <a:avLst/>
          </a:prstGeom>
        </p:spPr>
      </p:pic>
      <p:pic>
        <p:nvPicPr>
          <p:cNvPr id="4" name="Picture 3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653690"/>
            <a:ext cx="4000500" cy="60271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88963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6964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9968458731645791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334000"/>
          </a:xfrm>
          <a:prstGeom prst="rect">
            <a:avLst/>
          </a:prstGeom>
        </p:spPr>
      </p:pic>
      <p:pic>
        <p:nvPicPr>
          <p:cNvPr id="3" name="Picture 2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5003697"/>
            <a:ext cx="1619250" cy="2089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Gerald Ramirez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43504"/>
            <a:ext cx="8763000" cy="2043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1A1A1A"/>
                </a:solidFill>
                <a:latin typeface="EB Garamond"/>
              </a:rPr>
              <a:t>“Extracts pull organisms off the compost into solution, so you can apply biology across a whole field.”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981970"/>
            <a:ext cx="8763000" cy="1428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An agronomist from the University of Costa Rica, who went looking for Dr. Elaine's teaching. Now he teaches it, from compost extracts to teas.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78105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happy-seedl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416617"/>
            <a:ext cx="4000500" cy="4501265"/>
          </a:xfrm>
          <a:prstGeom prst="rect">
            <a:avLst/>
          </a:prstGeom>
        </p:spPr>
      </p:pic>
      <p:pic>
        <p:nvPicPr>
          <p:cNvPr id="4" name="Picture 3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2086282"/>
            <a:ext cx="4000499" cy="51619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88963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6964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78105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leaf-sprig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466850"/>
            <a:ext cx="4000500" cy="6400800"/>
          </a:xfrm>
          <a:prstGeom prst="rect">
            <a:avLst/>
          </a:prstGeom>
        </p:spPr>
      </p:pic>
      <p:pic>
        <p:nvPicPr>
          <p:cNvPr id="4" name="Picture 3" descr="td-dandelion-short-root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643" y="1143000"/>
            <a:ext cx="3991213" cy="704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88963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Ib Borup Pederson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6964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524750207797058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8763000" cy="5334000"/>
          </a:xfrm>
          <a:prstGeom prst="rect">
            <a:avLst/>
          </a:prstGeom>
        </p:spPr>
      </p:pic>
      <p:pic>
        <p:nvPicPr>
          <p:cNvPr id="3" name="Picture 2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819" y="4953000"/>
            <a:ext cx="1454110" cy="2190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4198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2199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Advanced Programs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43504"/>
            <a:ext cx="8763000" cy="1393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1A1A1A"/>
                </a:solidFill>
                <a:latin typeface="EB Garamond"/>
              </a:rPr>
              <a:t>“I make 750 tons of compost a year. Biology works at any scale.”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332648"/>
            <a:ext cx="87630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Manages Ken Hill Estate, home of Wild Ken Hill, in West Norfolk, England. Farmers Weekly Farmer of the Year, 2009.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8763000" cy="7810500"/>
          </a:xfrm>
          <a:prstGeom prst="rect">
            <a:avLst/>
          </a:prstGeom>
          <a:solidFill>
            <a:srgbClr val="E4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d-tithonia-flow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236627"/>
            <a:ext cx="2540000" cy="4861244"/>
          </a:xfrm>
          <a:prstGeom prst="rect">
            <a:avLst/>
          </a:prstGeom>
        </p:spPr>
      </p:pic>
      <p:pic>
        <p:nvPicPr>
          <p:cNvPr id="4" name="Picture 3" descr="td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3028540"/>
            <a:ext cx="2540000" cy="3277419"/>
          </a:xfrm>
          <a:prstGeom prst="rect">
            <a:avLst/>
          </a:prstGeom>
        </p:spPr>
      </p:pic>
      <p:pic>
        <p:nvPicPr>
          <p:cNvPr id="5" name="Picture 4" descr="td-leaf-sprig-pap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0" y="2635249"/>
            <a:ext cx="2540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8896350"/>
            <a:ext cx="8763000" cy="83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696431"/>
            <a:ext cx="8763000" cy="4711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A1A1A"/>
                </a:solidFill>
                <a:latin typeface="Source Sans 3"/>
              </a:rPr>
              <a:t>Permaculture Lead 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2192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333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Thank you to every mentor who teaches our students to see soil.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47675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 i="1">
                <a:solidFill>
                  <a:srgbClr val="F3F1EA"/>
                </a:solidFill>
                <a:latin typeface="EB Garamond"/>
              </a:rPr>
              <a:t>Tommy Tepper · Loida Vasquez · Carla Portugal · Wesley Sanders · Casey Williams · Brian Daubenspeck · Isadora Schmidt · Aysen Ustunay · Dora Tkalec · Gerald Ramirez · Elena Kalli · Ib Borup Pederson · Nick Padwick · Delvin Solkinson</a:t>
            </a:r>
          </a:p>
        </p:txBody>
      </p:sp>
      <p:pic>
        <p:nvPicPr>
          <p:cNvPr id="4" name="Picture 3" descr="td-leaf-sprig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991600"/>
            <a:ext cx="1619250" cy="2590800"/>
          </a:xfrm>
          <a:prstGeom prst="rect">
            <a:avLst/>
          </a:prstGeom>
        </p:spPr>
      </p:pic>
      <p:pic>
        <p:nvPicPr>
          <p:cNvPr id="5" name="Picture 4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9067225"/>
            <a:ext cx="1619250" cy="2439548"/>
          </a:xfrm>
          <a:prstGeom prst="rect">
            <a:avLst/>
          </a:prstGeom>
        </p:spPr>
      </p:pic>
      <p:pic>
        <p:nvPicPr>
          <p:cNvPr id="6" name="Picture 5" descr="td-tithonia-flow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603" y="8858250"/>
            <a:ext cx="1493043" cy="2857500"/>
          </a:xfrm>
          <a:prstGeom prst="rect">
            <a:avLst/>
          </a:prstGeom>
        </p:spPr>
      </p:pic>
      <p:pic>
        <p:nvPicPr>
          <p:cNvPr id="7" name="Picture 6" descr="td-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9242322"/>
            <a:ext cx="1619250" cy="2089354"/>
          </a:xfrm>
          <a:prstGeom prst="rect">
            <a:avLst/>
          </a:prstGeom>
        </p:spPr>
      </p:pic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