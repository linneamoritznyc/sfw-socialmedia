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1A. Series cover. Same cover on every Soil Regenerators post.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1B.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1C.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1C.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1C.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400" y="0"/>
            <a:ext cx="9982200" cy="1285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Boubacar among his coffee plants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077075"/>
            <a:ext cx="10287000" cy="5781675"/>
          </a:xfrm>
          <a:prstGeom prst="rect">
            <a:avLst/>
          </a:prstGeom>
          <a:gradFill rotWithShape="1">
            <a:gsLst>
              <a:gs pos="0">
                <a:srgbClr val="22371F">
                  <a:alpha val="0"/>
                </a:srgbClr>
              </a:gs>
              <a:gs pos="100000">
                <a:srgbClr val="22371F">
                  <a:alpha val="8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762000"/>
            <a:ext cx="7239000" cy="666750"/>
          </a:xfrm>
          <a:prstGeom prst="roundRect">
            <a:avLst>
              <a:gd name="adj" fmla="val 50000"/>
            </a:avLst>
          </a:prstGeom>
          <a:solidFill>
            <a:srgbClr val="22371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762000"/>
            <a:ext cx="72390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 spc="200">
                <a:solidFill>
                  <a:srgbClr val="DBE6A7"/>
                </a:solidFill>
                <a:latin typeface="Montserrat"/>
              </a:rPr>
              <a:t>SOIL REGENERATORS IN THE WILD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9105900"/>
            <a:ext cx="1143000" cy="38100"/>
          </a:xfrm>
          <a:prstGeom prst="rect">
            <a:avLst/>
          </a:prstGeom>
          <a:solidFill>
            <a:srgbClr val="59A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9429750"/>
            <a:ext cx="7620000" cy="18452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400" b="1" i="0">
                <a:solidFill>
                  <a:srgbClr val="F4F1EA"/>
                </a:solidFill>
                <a:latin typeface="Montserrat"/>
              </a:rPr>
              <a:t>Boubacar Tidiane Diallo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1389315"/>
            <a:ext cx="7429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0" i="0">
                <a:solidFill>
                  <a:srgbClr val="DBE6A7"/>
                </a:solidFill>
                <a:latin typeface="Source Sans 3"/>
              </a:rPr>
              <a:t>Guinea</a:t>
            </a:r>
          </a:p>
        </p:txBody>
      </p:sp>
      <p:sp>
        <p:nvSpPr>
          <p:cNvPr id="10" name="Oval 9"/>
          <p:cNvSpPr/>
          <p:nvPr/>
        </p:nvSpPr>
        <p:spPr>
          <a:xfrm>
            <a:off x="8667750" y="11239500"/>
            <a:ext cx="857250" cy="857250"/>
          </a:xfrm>
          <a:prstGeom prst="ellipse">
            <a:avLst/>
          </a:prstGeom>
          <a:noFill/>
          <a:ln w="19050">
            <a:solidFill>
              <a:srgbClr val="F4F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67750" y="11239500"/>
            <a:ext cx="85725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F4F1EA"/>
                </a:solidFill>
                <a:latin typeface="Montserrat"/>
              </a:rPr>
              <a:t>LOGO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F4F1EA">
                    <a:alpha val="60000"/>
                  </a:srgbClr>
                </a:solidFill>
                <a:latin typeface="Source Sans 3"/>
              </a:rPr>
              <a:t>1/6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143000"/>
            <a:ext cx="2857500" cy="33011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26000" b="1" i="0">
                <a:solidFill>
                  <a:srgbClr val="156826">
                    <a:alpha val="30000"/>
                  </a:srgbClr>
                </a:solidFill>
                <a:latin typeface="Montserrat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2500" y="4267245"/>
            <a:ext cx="8382000" cy="37527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800" b="1" i="0">
                <a:solidFill>
                  <a:srgbClr val="22371F"/>
                </a:solidFill>
                <a:latin typeface="Montserrat"/>
              </a:rPr>
              <a:t>“Today, I ask a different question: What does the soil food web need to thrive?”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8305754"/>
            <a:ext cx="838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0" i="0">
                <a:solidFill>
                  <a:srgbClr val="156826"/>
                </a:solidFill>
                <a:latin typeface="Source Sans 3"/>
              </a:rPr>
              <a:t>Boubacar Tidiane Diallo, Guinea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800100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400" y="0"/>
            <a:ext cx="9982200" cy="800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his compost or mulched soil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477250"/>
            <a:ext cx="8763000" cy="329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200">
                <a:solidFill>
                  <a:srgbClr val="156826"/>
                </a:solidFill>
                <a:latin typeface="Montserrat"/>
              </a:rPr>
              <a:t>HOW HE FEEDS HIS SOIL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9001125"/>
            <a:ext cx="8763000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0" i="0">
                <a:solidFill>
                  <a:srgbClr val="22371F"/>
                </a:solidFill>
                <a:latin typeface="Source Sans 3"/>
              </a:rPr>
              <a:t>Compost, vermicompost, activated biochar, permanent mulch, cover crops.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800100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400" y="0"/>
            <a:ext cx="9982200" cy="800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coffee between cacao and banana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477250"/>
            <a:ext cx="8763000" cy="329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200">
                <a:solidFill>
                  <a:srgbClr val="156826"/>
                </a:solidFill>
                <a:latin typeface="Montserrat"/>
              </a:rPr>
              <a:t>WHAT HE GROWS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9001125"/>
            <a:ext cx="8763000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0" i="0">
                <a:solidFill>
                  <a:srgbClr val="22371F"/>
                </a:solidFill>
                <a:latin typeface="Source Sans 3"/>
              </a:rPr>
              <a:t>Coffee, cacao, bananas, citrus, pineapple.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800100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400" y="0"/>
            <a:ext cx="9982200" cy="800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earthworms in his soil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477250"/>
            <a:ext cx="8763000" cy="329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200">
                <a:solidFill>
                  <a:srgbClr val="156826"/>
                </a:solidFill>
                <a:latin typeface="Montserrat"/>
              </a:rPr>
              <a:t>WHAT CHANGED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9001125"/>
            <a:ext cx="8763000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0" i="0">
                <a:solidFill>
                  <a:srgbClr val="22371F"/>
                </a:solidFill>
                <a:latin typeface="Source Sans 3"/>
              </a:rPr>
              <a:t>More earthworms, better soil structure, better moisture, stronger young plants.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143000"/>
            <a:ext cx="2857500" cy="33011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26000" b="1" i="0">
                <a:solidFill>
                  <a:srgbClr val="156826">
                    <a:alpha val="30000"/>
                  </a:srgbClr>
                </a:solidFill>
                <a:latin typeface="Montserrat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2500" y="3870996"/>
            <a:ext cx="8382000" cy="3021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800" b="1" i="0">
                <a:solidFill>
                  <a:srgbClr val="22371F"/>
                </a:solidFill>
                <a:latin typeface="Montserrat"/>
              </a:rPr>
              <a:t>“I am cultivating the life that makes healthy agriculture possible.”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7178003"/>
            <a:ext cx="838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0" i="0">
                <a:solidFill>
                  <a:srgbClr val="156826"/>
                </a:solidFill>
                <a:latin typeface="Source Sans 3"/>
              </a:rPr>
              <a:t>Boubacar Tidiane Diallo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2500" y="8035253"/>
            <a:ext cx="8382000" cy="1269977"/>
          </a:xfrm>
          <a:prstGeom prst="roundRect">
            <a:avLst>
              <a:gd name="adj" fmla="val 30000"/>
            </a:avLst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7300" y="8035253"/>
            <a:ext cx="7772400" cy="12699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1" i="0">
                <a:solidFill>
                  <a:srgbClr val="F4F1EA"/>
                </a:solidFill>
                <a:latin typeface="Montserrat"/>
              </a:rPr>
              <a:t>Follow @boubacartidianediallo on YouTube</a:t>
            </a:r>
          </a:p>
        </p:txBody>
      </p:sp>
      <p:sp>
        <p:nvSpPr>
          <p:cNvPr id="7" name="Oval 6"/>
          <p:cNvSpPr/>
          <p:nvPr/>
        </p:nvSpPr>
        <p:spPr>
          <a:xfrm>
            <a:off x="8667750" y="11239500"/>
            <a:ext cx="857250" cy="857250"/>
          </a:xfrm>
          <a:prstGeom prst="ellipse">
            <a:avLst/>
          </a:prstGeom>
          <a:noFill/>
          <a:ln w="19050">
            <a:solidFill>
              <a:srgbClr val="223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67750" y="11239500"/>
            <a:ext cx="85725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22371F"/>
                </a:solidFill>
                <a:latin typeface="Montserrat"/>
              </a:rPr>
              <a:t>LOGO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