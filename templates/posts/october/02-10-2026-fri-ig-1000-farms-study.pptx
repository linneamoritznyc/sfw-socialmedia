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2A. Sources: Lundgren et al., Environmental Research: Food Systems, 2026, https://doi.org/10.1088/2976-601X/ae8f4e; Ecdysis Foundation press release, 17 September 2026, https://www.globenewswire.com/news-release/2026/09/17/3363925/0/en/regenerative-farming-outpaces-tech-based-carbon-capture-solutions-in-first-large-scale-systemic-study.html Collage: field cross-section. Stand-in from existing cutouts (ferns over a soil band with the fungal-hyphae cutout) until field-cross-section is generated [COLLAGE NEEDED].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Collage: bird-beetle-wildflower. Not generated (Replicate throttled): type-only [COLLAGE NEEDED: bird, beetle and wildflower].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Paper title: not reachable from this session (doi.org and the journal were blocked); fill in the exact title from the DOI page [PAPER TITLE NEEDED].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pic>
        <p:nvPicPr>
          <p:cNvPr id="4" name="Picture 3" descr="trim-cut-brown-br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150" y="2533650"/>
            <a:ext cx="7886700" cy="3147060"/>
          </a:xfrm>
          <a:prstGeom prst="rect">
            <a:avLst/>
          </a:prstGeom>
        </p:spPr>
      </p:pic>
      <p:pic>
        <p:nvPicPr>
          <p:cNvPr id="5" name="Picture 4" descr="trim-fern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1457325" y="881573"/>
            <a:ext cx="4286250" cy="2180203"/>
          </a:xfrm>
          <a:prstGeom prst="rect">
            <a:avLst/>
          </a:prstGeom>
        </p:spPr>
      </p:pic>
      <p:pic>
        <p:nvPicPr>
          <p:cNvPr id="6" name="Picture 5" descr="trim-fern-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1400000">
            <a:off x="4929187" y="985893"/>
            <a:ext cx="3857625" cy="1971563"/>
          </a:xfrm>
          <a:prstGeom prst="rect">
            <a:avLst/>
          </a:prstGeom>
        </p:spPr>
      </p:pic>
      <p:pic>
        <p:nvPicPr>
          <p:cNvPr id="7" name="Picture 6" descr="trim-fungal-hyphae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2786062" y="1590752"/>
            <a:ext cx="4714875" cy="503285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6667500"/>
            <a:ext cx="8763000" cy="45330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“A new study of working farms: the most regenerative farms stored 39% more carbon in their soil.”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DBE6A7">
                    <a:alpha val="85000"/>
                  </a:srgbClr>
                </a:solidFill>
                <a:latin typeface="Source Sans 3"/>
              </a:rPr>
              <a:t>Lundgren et al. 2026, Environ. Res.: Food Syst.</a:t>
            </a:r>
          </a:p>
        </p:txBody>
      </p:sp>
      <p:pic>
        <p:nvPicPr>
          <p:cNvPr id="11" name="Picture 1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2631952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203452"/>
            <a:ext cx="8763000" cy="6547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i="0">
                <a:solidFill>
                  <a:srgbClr val="22371F"/>
                </a:solidFill>
                <a:latin typeface="Montserrat"/>
              </a:rPr>
              <a:t>The 1000 Farms Initiative, led by Ecdysis Foundation, measured farms across North America, from the most conventional to the most regenerative.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000" y="3143250"/>
            <a:ext cx="95250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0" b="1" i="0">
                <a:solidFill>
                  <a:srgbClr val="156826"/>
                </a:solidFill>
                <a:latin typeface="Montserrat"/>
              </a:rPr>
              <a:t>39%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77000"/>
            <a:ext cx="8382000" cy="2860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400" b="1" i="0">
                <a:solidFill>
                  <a:srgbClr val="22371F"/>
                </a:solidFill>
                <a:latin typeface="Montserrat"/>
              </a:rPr>
              <a:t>more total soil carbon on the most regenerative farms.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000" y="3143250"/>
            <a:ext cx="95250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0" b="1" i="0">
                <a:solidFill>
                  <a:srgbClr val="156826"/>
                </a:solidFill>
                <a:latin typeface="Montserrat"/>
              </a:rPr>
              <a:t>77%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77000"/>
            <a:ext cx="8382000" cy="19386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400" b="1" i="0">
                <a:solidFill>
                  <a:srgbClr val="22371F"/>
                </a:solidFill>
                <a:latin typeface="Montserrat"/>
              </a:rPr>
              <a:t>more total fungi in regenerative soils.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3382960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954460"/>
            <a:ext cx="8763000" cy="50450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800" b="1" i="0">
                <a:solidFill>
                  <a:srgbClr val="22371F"/>
                </a:solidFill>
                <a:latin typeface="Montserrat"/>
              </a:rPr>
              <a:t>More life everywhere: soil microbes, insects, plants and birds. The more biodiversity, the more carbon stored.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3212277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783777"/>
            <a:ext cx="8763000" cy="53864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200" b="1" i="0">
                <a:solidFill>
                  <a:srgbClr val="22371F"/>
                </a:solidFill>
                <a:latin typeface="Montserrat"/>
              </a:rPr>
              <a:t>Regenerative yields matched national averages, and net profit per acre was similar.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2171106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742606"/>
            <a:ext cx="8763000" cy="7468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i="0">
                <a:solidFill>
                  <a:srgbClr val="22371F"/>
                </a:solidFill>
                <a:latin typeface="Montserrat"/>
              </a:rPr>
              <a:t>One practice alone changed nothing. Farms using a single regenerative practice looked like conventional farms. The whole system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A665C"/>
                </a:solidFill>
                <a:latin typeface="Source Sans 3"/>
              </a:rPr>
              <a:t>Lundgren et al. 2026, Environ. Res.: Food Syst.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0"/>
            <a:ext cx="8763000" cy="52157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Read the paper: Lundgren et al., Environmental Research: Food Systems, 2026.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8168511"/>
            <a:ext cx="13335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644761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B23A2E"/>
                </a:solidFill>
                <a:latin typeface="Source Sans 3"/>
              </a:rPr>
              <a:t>[PAPER TITLE NEEDED]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216261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Environmental Research: Food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692511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https://doi.org/10.1088/2976-601X/ae8f4e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53875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DBE6A7">
                    <a:alpha val="85000"/>
                  </a:srgbClr>
                </a:solidFill>
                <a:latin typeface="Source Sans 3"/>
              </a:rPr>
              <a:t>Lundgren et al. 2026, Environ. Res.: Food Syst.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