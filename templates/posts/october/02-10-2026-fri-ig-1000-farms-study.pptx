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2A, scrapbook. Sources: Lundgren et al., Environmental Research: Food Systems, 2026, https://doi.org/10.1088/2976-601X/ae8f4e; Ecdysis Foundation press release, 17 September 2026, https://www.globenewswire.com/news-release/2026/09/17/3363925/0/en/regenerative-farming-outpaces-tech-based-carbon-capture-solutions-in-first-large-scale-systemic-study.html Field collage: stand-in from existing cutouts (ferns over torn-paper soil with the fungal-hyphae cutout) until field-cross-section is generated [COLLAGE NEEDED]. Stickers are drawn PowerPoint shapes (grouped, editable).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Photo: assets/photo/erc-rancho-cacachilas-agro.jpg (Foundation library). Stickers are drawn PowerPoint shapes (grouped, editable).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5 big number, scrapbook. Photo: assets/photo/hand-soil-roots-fungi.jpg (Foundation library). Stickers are drawn PowerPoint shapes (grouped, editable).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5 big number, scrapbook. Cutout: fungal-hyphae-1 (cut paper). Stickers are drawn PowerPoint shapes (grouped, editable).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Stickers: bacteria, beetle, wildflowers and a bird, one for each group in the sentence. Stickers are drawn PowerPoint shapes (grouped, editable).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Photo: assets/photo/erc-rancho-cacachilas-agro8.jpg (Foundation library). Stickers are drawn PowerPoint shapes (grouped, editable).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lonely seedling on the left, the whole system (fungi, bacteria, beetle, flowers) on the right. Stickers are drawn PowerPoint shapes (grouped, editable).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Closing. Paper title: not reachable from this session (doi.org and the journal were blocked); fill in the exact title from the DOI page [PAPER TITLE NEEDED]. Stickers are drawn PowerPoint shapes (grouped, editable).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120000">
            <a:off x="1047750" y="666750"/>
            <a:ext cx="8191500" cy="533400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9920000">
            <a:off x="904875" y="514350"/>
            <a:ext cx="1428750" cy="4191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680000">
            <a:off x="7953375" y="514350"/>
            <a:ext cx="1428750" cy="4191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rim-cut-brown-bru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5930" y="2876550"/>
            <a:ext cx="6835140" cy="2560320"/>
          </a:xfrm>
          <a:prstGeom prst="rect">
            <a:avLst/>
          </a:prstGeom>
        </p:spPr>
      </p:pic>
      <p:pic>
        <p:nvPicPr>
          <p:cNvPr id="7" name="Picture 6" descr="trim-fern-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120000">
            <a:off x="1948815" y="1474595"/>
            <a:ext cx="3714750" cy="1889509"/>
          </a:xfrm>
          <a:prstGeom prst="rect">
            <a:avLst/>
          </a:prstGeom>
        </p:spPr>
      </p:pic>
      <p:pic>
        <p:nvPicPr>
          <p:cNvPr id="8" name="Picture 7" descr="trim-fern-s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1400000">
            <a:off x="4957762" y="1565005"/>
            <a:ext cx="3343275" cy="1708688"/>
          </a:xfrm>
          <a:prstGeom prst="rect">
            <a:avLst/>
          </a:prstGeom>
        </p:spPr>
      </p:pic>
      <p:pic>
        <p:nvPicPr>
          <p:cNvPr id="9" name="Picture 8" descr="trim-fungal-hyphae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3100387" y="1975806"/>
            <a:ext cx="4086225" cy="4361807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 rot="21240000">
            <a:off x="0" y="0"/>
            <a:ext cx="2428875" cy="6419850"/>
            <a:chOff x="0" y="0"/>
            <a:chExt cx="2428875" cy="6419850"/>
          </a:xfrm>
        </p:grpSpPr>
        <p:sp>
          <p:nvSpPr>
            <p:cNvPr id="11" name="Rectangle 10"/>
            <p:cNvSpPr/>
            <p:nvPr/>
          </p:nvSpPr>
          <p:spPr>
            <a:xfrm>
              <a:off x="1581150" y="5092065"/>
              <a:ext cx="76200" cy="1003935"/>
            </a:xfrm>
            <a:prstGeom prst="rect">
              <a:avLst/>
            </a:prstGeom>
            <a:solidFill>
              <a:srgbClr val="7FA0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 rot="8700000">
              <a:off x="971550" y="4865370"/>
              <a:ext cx="647700" cy="323850"/>
            </a:xfrm>
            <a:prstGeom prst="ellipse">
              <a:avLst/>
            </a:prstGeom>
            <a:solidFill>
              <a:srgbClr val="59A66C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 rot="2100000">
              <a:off x="1619250" y="4865370"/>
              <a:ext cx="647700" cy="323850"/>
            </a:xfrm>
            <a:prstGeom prst="ellipse">
              <a:avLst/>
            </a:prstGeom>
            <a:solidFill>
              <a:srgbClr val="59A66C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809625" y="5934075"/>
              <a:ext cx="1619250" cy="485775"/>
            </a:xfrm>
            <a:prstGeom prst="ellipse">
              <a:avLst/>
            </a:prstGeom>
            <a:solidFill>
              <a:srgbClr val="4F3433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1497806" y="6122779"/>
              <a:ext cx="43595" cy="43595"/>
            </a:xfrm>
            <a:prstGeom prst="ellipse">
              <a:avLst/>
            </a:prstGeom>
            <a:solidFill>
              <a:srgbClr val="F4F1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1697098" y="6122779"/>
              <a:ext cx="43595" cy="43595"/>
            </a:xfrm>
            <a:prstGeom prst="ellipse">
              <a:avLst/>
            </a:prstGeom>
            <a:solidFill>
              <a:srgbClr val="F4F1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Block Arc 16"/>
            <p:cNvSpPr/>
            <p:nvPr/>
          </p:nvSpPr>
          <p:spPr>
            <a:xfrm rot="10800000">
              <a:off x="1550743" y="6157033"/>
              <a:ext cx="137013" cy="99646"/>
            </a:xfrm>
            <a:prstGeom prst="blockArc">
              <a:avLst>
                <a:gd name="adj1" fmla="val 10800000"/>
                <a:gd name="adj2" fmla="val 0"/>
                <a:gd name="adj3" fmla="val 18000"/>
              </a:avLst>
            </a:prstGeom>
            <a:solidFill>
              <a:srgbClr val="F4F1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8" name="Rectangle 17"/>
          <p:cNvSpPr/>
          <p:nvPr/>
        </p:nvSpPr>
        <p:spPr>
          <a:xfrm rot="21510000">
            <a:off x="571500" y="6572250"/>
            <a:ext cx="9144000" cy="4953000"/>
          </a:xfrm>
          <a:prstGeom prst="rect">
            <a:avLst/>
          </a:prstGeom>
          <a:solidFill>
            <a:srgbClr val="22371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19920000">
            <a:off x="428625" y="6419850"/>
            <a:ext cx="1428750" cy="4191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1680000">
            <a:off x="8429625" y="6419850"/>
            <a:ext cx="1428750" cy="4191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7750" y="7096125"/>
            <a:ext cx="8191500" cy="4533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200" b="1" i="0">
                <a:solidFill>
                  <a:srgbClr val="F4F1EA"/>
                </a:solidFill>
                <a:latin typeface="Montserrat"/>
              </a:rPr>
              <a:t>“A new study of working farms: the most regenerative farms stored 39% more carbon in their soil.”</a:t>
            </a:r>
          </a:p>
        </p:txBody>
      </p:sp>
      <p:grpSp>
        <p:nvGrpSpPr>
          <p:cNvPr id="22" name="Group 21"/>
          <p:cNvGrpSpPr/>
          <p:nvPr/>
        </p:nvGrpSpPr>
        <p:grpSpPr>
          <a:xfrm rot="1500000">
            <a:off x="0" y="0"/>
            <a:ext cx="9816465" cy="7086599"/>
            <a:chOff x="0" y="0"/>
            <a:chExt cx="9816465" cy="7086599"/>
          </a:xfrm>
        </p:grpSpPr>
        <p:sp>
          <p:nvSpPr>
            <p:cNvPr id="23" name="Rectangle 22"/>
            <p:cNvSpPr/>
            <p:nvPr/>
          </p:nvSpPr>
          <p:spPr>
            <a:xfrm rot="1500000">
              <a:off x="8859406" y="6428859"/>
              <a:ext cx="188595" cy="38100"/>
            </a:xfrm>
            <a:prstGeom prst="rect">
              <a:avLst/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8852535" y="6648450"/>
              <a:ext cx="188595" cy="38100"/>
            </a:xfrm>
            <a:prstGeom prst="rect">
              <a:avLst/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 rot="20100000">
              <a:off x="8859406" y="6868040"/>
              <a:ext cx="188595" cy="38100"/>
            </a:xfrm>
            <a:prstGeom prst="rect">
              <a:avLst/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 rot="20100000">
              <a:off x="9620998" y="6428859"/>
              <a:ext cx="188595" cy="38100"/>
            </a:xfrm>
            <a:prstGeom prst="rect">
              <a:avLst/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9627870" y="6648450"/>
              <a:ext cx="188595" cy="38100"/>
            </a:xfrm>
            <a:prstGeom prst="rect">
              <a:avLst/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 rot="1500000">
              <a:off x="9620998" y="6868040"/>
              <a:ext cx="188595" cy="38100"/>
            </a:xfrm>
            <a:prstGeom prst="rect">
              <a:avLst/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9187815" y="6017895"/>
              <a:ext cx="293370" cy="251460"/>
            </a:xfrm>
            <a:prstGeom prst="ellipse">
              <a:avLst/>
            </a:prstGeom>
            <a:solidFill>
              <a:srgbClr val="22371F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9020175" y="6196012"/>
              <a:ext cx="628650" cy="890587"/>
            </a:xfrm>
            <a:prstGeom prst="ellipse">
              <a:avLst/>
            </a:prstGeom>
            <a:solidFill>
              <a:srgbClr val="2F4A3A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9315450" y="6227445"/>
              <a:ext cx="38100" cy="838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9145905" y="6468427"/>
              <a:ext cx="83820" cy="83820"/>
            </a:xfrm>
            <a:prstGeom prst="ellipse">
              <a:avLst/>
            </a:prstGeom>
            <a:solidFill>
              <a:srgbClr val="DBE6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9439275" y="6573202"/>
              <a:ext cx="83820" cy="83820"/>
            </a:xfrm>
            <a:prstGeom prst="ellipse">
              <a:avLst/>
            </a:prstGeom>
            <a:solidFill>
              <a:srgbClr val="DBE6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9166860" y="6782752"/>
              <a:ext cx="83820" cy="83820"/>
            </a:xfrm>
            <a:prstGeom prst="ellipse">
              <a:avLst/>
            </a:prstGeom>
            <a:solidFill>
              <a:srgbClr val="DBE6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9418320" y="6856095"/>
              <a:ext cx="83820" cy="83820"/>
            </a:xfrm>
            <a:prstGeom prst="ellipse">
              <a:avLst/>
            </a:prstGeom>
            <a:solidFill>
              <a:srgbClr val="DBE6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762000" y="11953875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A665C"/>
                </a:solidFill>
                <a:latin typeface="Source Sans 3"/>
              </a:rPr>
              <a:t>Lundgren et al. 2026, Environ. Res.: Food Syst.</a:t>
            </a:r>
          </a:p>
        </p:txBody>
      </p:sp>
      <p:pic>
        <p:nvPicPr>
          <p:cNvPr id="37" name="Picture 36" descr="foundation-logo-col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0" y="11430897"/>
            <a:ext cx="952500" cy="856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047750"/>
            <a:ext cx="8763000" cy="2959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800" b="1" i="0">
                <a:solidFill>
                  <a:srgbClr val="22371F"/>
                </a:solidFill>
                <a:latin typeface="Montserrat"/>
              </a:rPr>
              <a:t>The 1000 Farms Initiative, led by Ecdysis Foundation,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4159229"/>
            <a:ext cx="8763000" cy="2495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0" i="0">
                <a:solidFill>
                  <a:srgbClr val="333130"/>
                </a:solidFill>
                <a:latin typeface="Source Sans 3"/>
              </a:rPr>
              <a:t>measured farms across North America, from the most conventional to the most regenerative.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2476499" y="5715000"/>
            <a:ext cx="5349240" cy="569595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918820004493890148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20000">
            <a:off x="2665547" y="5913357"/>
            <a:ext cx="4953000" cy="4953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 rot="21420000">
            <a:off x="2809414" y="10862590"/>
            <a:ext cx="4953000" cy="544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Foundation library</a:t>
            </a:r>
          </a:p>
        </p:txBody>
      </p:sp>
      <p:sp>
        <p:nvSpPr>
          <p:cNvPr id="8" name="Rectangle 7"/>
          <p:cNvSpPr/>
          <p:nvPr/>
        </p:nvSpPr>
        <p:spPr>
          <a:xfrm rot="19800000">
            <a:off x="2333625" y="5572125"/>
            <a:ext cx="1428750" cy="43815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800000">
            <a:off x="6539865" y="5572125"/>
            <a:ext cx="1428750" cy="43815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0" name="Group 9"/>
          <p:cNvGrpSpPr/>
          <p:nvPr/>
        </p:nvGrpSpPr>
        <p:grpSpPr>
          <a:xfrm rot="19500000">
            <a:off x="0" y="0"/>
            <a:ext cx="9334500" cy="9334500"/>
            <a:chOff x="0" y="0"/>
            <a:chExt cx="9334500" cy="9334500"/>
          </a:xfrm>
        </p:grpSpPr>
        <p:sp>
          <p:nvSpPr>
            <p:cNvPr id="11" name="Rectangle 10"/>
            <p:cNvSpPr/>
            <p:nvPr/>
          </p:nvSpPr>
          <p:spPr>
            <a:xfrm>
              <a:off x="8374380" y="8391525"/>
              <a:ext cx="205739" cy="942975"/>
            </a:xfrm>
            <a:prstGeom prst="rect">
              <a:avLst/>
            </a:prstGeom>
            <a:solidFill>
              <a:srgbClr val="4F3433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Donut 11"/>
            <p:cNvSpPr/>
            <p:nvPr/>
          </p:nvSpPr>
          <p:spPr>
            <a:xfrm>
              <a:off x="7620000" y="6762750"/>
              <a:ext cx="1714500" cy="1714500"/>
            </a:xfrm>
            <a:prstGeom prst="donut">
              <a:avLst/>
            </a:prstGeom>
            <a:solidFill>
              <a:srgbClr val="22371F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7808595" y="6951345"/>
              <a:ext cx="1337310" cy="1337310"/>
            </a:xfrm>
            <a:prstGeom prst="ellipse">
              <a:avLst/>
            </a:prstGeom>
            <a:solidFill>
              <a:srgbClr val="DDEB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8048625" y="7148512"/>
              <a:ext cx="300037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 rot="21360000">
            <a:off x="0" y="0"/>
            <a:ext cx="2381250" cy="11525250"/>
            <a:chOff x="0" y="0"/>
            <a:chExt cx="2381250" cy="11525250"/>
          </a:xfrm>
        </p:grpSpPr>
        <p:sp>
          <p:nvSpPr>
            <p:cNvPr id="16" name="Rectangle 15"/>
            <p:cNvSpPr/>
            <p:nvPr/>
          </p:nvSpPr>
          <p:spPr>
            <a:xfrm>
              <a:off x="1390650" y="9963150"/>
              <a:ext cx="76200" cy="1181100"/>
            </a:xfrm>
            <a:prstGeom prst="rect">
              <a:avLst/>
            </a:prstGeom>
            <a:solidFill>
              <a:srgbClr val="7FA0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 rot="8700000">
              <a:off x="666750" y="9696450"/>
              <a:ext cx="762000" cy="381000"/>
            </a:xfrm>
            <a:prstGeom prst="ellipse">
              <a:avLst/>
            </a:prstGeom>
            <a:solidFill>
              <a:srgbClr val="59A66C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 rot="2100000">
              <a:off x="1428750" y="9696450"/>
              <a:ext cx="762000" cy="381000"/>
            </a:xfrm>
            <a:prstGeom prst="ellipse">
              <a:avLst/>
            </a:prstGeom>
            <a:solidFill>
              <a:srgbClr val="59A66C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476250" y="10953750"/>
              <a:ext cx="1905000" cy="571500"/>
            </a:xfrm>
            <a:prstGeom prst="ellipse">
              <a:avLst/>
            </a:prstGeom>
            <a:solidFill>
              <a:srgbClr val="4F3433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1285875" y="11175755"/>
              <a:ext cx="51288" cy="51288"/>
            </a:xfrm>
            <a:prstGeom prst="ellipse">
              <a:avLst/>
            </a:prstGeom>
            <a:solidFill>
              <a:srgbClr val="F4F1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1520336" y="11175755"/>
              <a:ext cx="51288" cy="51288"/>
            </a:xfrm>
            <a:prstGeom prst="ellipse">
              <a:avLst/>
            </a:prstGeom>
            <a:solidFill>
              <a:srgbClr val="F4F1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Block Arc 21"/>
            <p:cNvSpPr/>
            <p:nvPr/>
          </p:nvSpPr>
          <p:spPr>
            <a:xfrm rot="10800000">
              <a:off x="1348153" y="11216053"/>
              <a:ext cx="161192" cy="117230"/>
            </a:xfrm>
            <a:prstGeom prst="blockArc">
              <a:avLst>
                <a:gd name="adj1" fmla="val 10800000"/>
                <a:gd name="adj2" fmla="val 0"/>
                <a:gd name="adj3" fmla="val 18000"/>
              </a:avLst>
            </a:prstGeom>
            <a:solidFill>
              <a:srgbClr val="F4F1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762000" y="11953875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A665C"/>
                </a:solidFill>
                <a:latin typeface="Source Sans 3"/>
              </a:rPr>
              <a:t>Lundgren et al. 2026, Environ. Res.: Food Syst.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21480000">
            <a:off x="1047750" y="1619250"/>
            <a:ext cx="8191500" cy="609600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9920000">
            <a:off x="904875" y="1466850"/>
            <a:ext cx="1428750" cy="4191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680000">
            <a:off x="7953375" y="1466850"/>
            <a:ext cx="1428750" cy="4191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 rot="21480000">
            <a:off x="1011184" y="2191388"/>
            <a:ext cx="8191500" cy="285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0" b="1" i="0">
                <a:solidFill>
                  <a:srgbClr val="156826"/>
                </a:solidFill>
                <a:latin typeface="Montserrat"/>
              </a:rPr>
              <a:t>39%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9250" y="5143500"/>
            <a:ext cx="7048500" cy="26555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5000" b="1" i="0">
                <a:solidFill>
                  <a:srgbClr val="22371F"/>
                </a:solidFill>
                <a:latin typeface="Montserrat"/>
              </a:rPr>
              <a:t>more total soil carbon on the most regenerative farms.</a:t>
            </a:r>
          </a:p>
        </p:txBody>
      </p:sp>
      <p:sp>
        <p:nvSpPr>
          <p:cNvPr id="8" name="Rectangle 7"/>
          <p:cNvSpPr/>
          <p:nvPr/>
        </p:nvSpPr>
        <p:spPr>
          <a:xfrm rot="21300000">
            <a:off x="857250" y="8096249"/>
            <a:ext cx="3394710" cy="378333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454654958595434044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00000">
            <a:off x="966044" y="8222719"/>
            <a:ext cx="3143250" cy="3143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 rot="21300000">
            <a:off x="1125435" y="11359010"/>
            <a:ext cx="314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6A665C"/>
                </a:solidFill>
                <a:latin typeface="Source Sans 3"/>
              </a:rPr>
              <a:t>Foundation library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0" y="0"/>
            <a:ext cx="7000875" cy="11677650"/>
            <a:chOff x="0" y="0"/>
            <a:chExt cx="7000875" cy="11677650"/>
          </a:xfrm>
        </p:grpSpPr>
        <p:sp>
          <p:nvSpPr>
            <p:cNvPr id="12" name="Rectangle 11"/>
            <p:cNvSpPr/>
            <p:nvPr/>
          </p:nvSpPr>
          <p:spPr>
            <a:xfrm>
              <a:off x="5867400" y="9881235"/>
              <a:ext cx="76200" cy="1358265"/>
            </a:xfrm>
            <a:prstGeom prst="rect">
              <a:avLst/>
            </a:prstGeom>
            <a:solidFill>
              <a:srgbClr val="7FA0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 rot="8700000">
              <a:off x="5029200" y="9574530"/>
              <a:ext cx="876300" cy="438150"/>
            </a:xfrm>
            <a:prstGeom prst="ellipse">
              <a:avLst/>
            </a:prstGeom>
            <a:solidFill>
              <a:srgbClr val="59A66C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 rot="2100000">
              <a:off x="5905500" y="9574530"/>
              <a:ext cx="876300" cy="438150"/>
            </a:xfrm>
            <a:prstGeom prst="ellipse">
              <a:avLst/>
            </a:prstGeom>
            <a:solidFill>
              <a:srgbClr val="59A66C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4810125" y="11020425"/>
              <a:ext cx="2190750" cy="657225"/>
            </a:xfrm>
            <a:prstGeom prst="ellipse">
              <a:avLst/>
            </a:prstGeom>
            <a:solidFill>
              <a:srgbClr val="4F3433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5741193" y="11275731"/>
              <a:ext cx="58981" cy="58981"/>
            </a:xfrm>
            <a:prstGeom prst="ellipse">
              <a:avLst/>
            </a:prstGeom>
            <a:solidFill>
              <a:srgbClr val="F4F1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6010824" y="11275731"/>
              <a:ext cx="58981" cy="58981"/>
            </a:xfrm>
            <a:prstGeom prst="ellipse">
              <a:avLst/>
            </a:prstGeom>
            <a:solidFill>
              <a:srgbClr val="F4F1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Block Arc 17"/>
            <p:cNvSpPr/>
            <p:nvPr/>
          </p:nvSpPr>
          <p:spPr>
            <a:xfrm rot="10800000">
              <a:off x="5812814" y="11322074"/>
              <a:ext cx="185371" cy="134815"/>
            </a:xfrm>
            <a:prstGeom prst="blockArc">
              <a:avLst>
                <a:gd name="adj1" fmla="val 10800000"/>
                <a:gd name="adj2" fmla="val 0"/>
                <a:gd name="adj3" fmla="val 18000"/>
              </a:avLst>
            </a:prstGeom>
            <a:solidFill>
              <a:srgbClr val="F4F1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" name="Group 18"/>
          <p:cNvGrpSpPr/>
          <p:nvPr/>
        </p:nvGrpSpPr>
        <p:grpSpPr>
          <a:xfrm rot="360000">
            <a:off x="0" y="0"/>
            <a:ext cx="9048750" cy="11239500"/>
            <a:chOff x="0" y="0"/>
            <a:chExt cx="9048750" cy="11239500"/>
          </a:xfrm>
        </p:grpSpPr>
        <p:sp>
          <p:nvSpPr>
            <p:cNvPr id="20" name="Rounded Rectangle 19"/>
            <p:cNvSpPr/>
            <p:nvPr/>
          </p:nvSpPr>
          <p:spPr>
            <a:xfrm>
              <a:off x="7924800" y="10191750"/>
              <a:ext cx="533400" cy="1047750"/>
            </a:xfrm>
            <a:prstGeom prst="roundRect">
              <a:avLst/>
            </a:prstGeom>
            <a:solidFill>
              <a:srgbClr val="FFFDF7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Chord 20"/>
            <p:cNvSpPr/>
            <p:nvPr/>
          </p:nvSpPr>
          <p:spPr>
            <a:xfrm>
              <a:off x="7334250" y="9429750"/>
              <a:ext cx="1714500" cy="1524000"/>
            </a:xfrm>
            <a:prstGeom prst="chord">
              <a:avLst/>
            </a:prstGeom>
            <a:solidFill>
              <a:srgbClr val="B98A5E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7715250" y="9677400"/>
              <a:ext cx="190500" cy="152400"/>
            </a:xfrm>
            <a:prstGeom prst="ellipse">
              <a:avLst/>
            </a:prstGeom>
            <a:solidFill>
              <a:srgbClr val="FFFD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8324850" y="9563100"/>
              <a:ext cx="190500" cy="152400"/>
            </a:xfrm>
            <a:prstGeom prst="ellipse">
              <a:avLst/>
            </a:prstGeom>
            <a:solidFill>
              <a:srgbClr val="FFFD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8572500" y="9829800"/>
              <a:ext cx="190500" cy="152400"/>
            </a:xfrm>
            <a:prstGeom prst="ellipse">
              <a:avLst/>
            </a:prstGeom>
            <a:solidFill>
              <a:srgbClr val="FFFD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8067675" y="10645775"/>
              <a:ext cx="44449" cy="44449"/>
            </a:xfrm>
            <a:prstGeom prst="ellipse">
              <a:avLst/>
            </a:prstGeom>
            <a:solidFill>
              <a:srgbClr val="4F34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8270874" y="10645775"/>
              <a:ext cx="44449" cy="44449"/>
            </a:xfrm>
            <a:prstGeom prst="ellipse">
              <a:avLst/>
            </a:prstGeom>
            <a:solidFill>
              <a:srgbClr val="4F34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Block Arc 26"/>
            <p:cNvSpPr/>
            <p:nvPr/>
          </p:nvSpPr>
          <p:spPr>
            <a:xfrm rot="10800000">
              <a:off x="8121650" y="10680700"/>
              <a:ext cx="139700" cy="101600"/>
            </a:xfrm>
            <a:prstGeom prst="blockArc">
              <a:avLst>
                <a:gd name="adj1" fmla="val 10800000"/>
                <a:gd name="adj2" fmla="val 0"/>
                <a:gd name="adj3" fmla="val 18000"/>
              </a:avLst>
            </a:prstGeom>
            <a:solidFill>
              <a:srgbClr val="4F34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762000" y="11953875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A665C"/>
                </a:solidFill>
                <a:latin typeface="Source Sans 3"/>
              </a:rPr>
              <a:t>Lundgren et al. 2026, Environ. Res.: Food Syst.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21480000">
            <a:off x="1047750" y="1619250"/>
            <a:ext cx="8191500" cy="609600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9920000">
            <a:off x="904875" y="1466850"/>
            <a:ext cx="1428750" cy="4191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680000">
            <a:off x="7953375" y="1466850"/>
            <a:ext cx="1428750" cy="4191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 rot="21480000">
            <a:off x="1011184" y="2191388"/>
            <a:ext cx="8191500" cy="285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0" b="1" i="0">
                <a:solidFill>
                  <a:srgbClr val="156826"/>
                </a:solidFill>
                <a:latin typeface="Montserrat"/>
              </a:rPr>
              <a:t>77%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9250" y="5143500"/>
            <a:ext cx="7048500" cy="1802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5000" b="1" i="0">
                <a:solidFill>
                  <a:srgbClr val="22371F"/>
                </a:solidFill>
                <a:latin typeface="Montserrat"/>
              </a:rPr>
              <a:t>more total fungi in regenerative soils.</a:t>
            </a:r>
          </a:p>
        </p:txBody>
      </p:sp>
      <p:pic>
        <p:nvPicPr>
          <p:cNvPr id="8" name="Picture 7" descr="trim-fungal-hypha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800000">
            <a:off x="857250" y="7866099"/>
            <a:ext cx="4000500" cy="427030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 rot="21360000">
            <a:off x="0" y="0"/>
            <a:ext cx="7653337" cy="11334749"/>
            <a:chOff x="0" y="0"/>
            <a:chExt cx="7653337" cy="11334749"/>
          </a:xfrm>
        </p:grpSpPr>
        <p:sp>
          <p:nvSpPr>
            <p:cNvPr id="10" name="Rounded Rectangle 9"/>
            <p:cNvSpPr/>
            <p:nvPr/>
          </p:nvSpPr>
          <p:spPr>
            <a:xfrm>
              <a:off x="6360795" y="10129837"/>
              <a:ext cx="613410" cy="1204912"/>
            </a:xfrm>
            <a:prstGeom prst="roundRect">
              <a:avLst/>
            </a:prstGeom>
            <a:solidFill>
              <a:srgbClr val="FFFDF7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Chord 10"/>
            <p:cNvSpPr/>
            <p:nvPr/>
          </p:nvSpPr>
          <p:spPr>
            <a:xfrm>
              <a:off x="5681662" y="9253537"/>
              <a:ext cx="1971675" cy="1752600"/>
            </a:xfrm>
            <a:prstGeom prst="chord">
              <a:avLst/>
            </a:prstGeom>
            <a:solidFill>
              <a:srgbClr val="B98A5E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6119812" y="9538335"/>
              <a:ext cx="219075" cy="175260"/>
            </a:xfrm>
            <a:prstGeom prst="ellipse">
              <a:avLst/>
            </a:prstGeom>
            <a:solidFill>
              <a:srgbClr val="FFFD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6820852" y="9406890"/>
              <a:ext cx="219075" cy="175260"/>
            </a:xfrm>
            <a:prstGeom prst="ellipse">
              <a:avLst/>
            </a:prstGeom>
            <a:solidFill>
              <a:srgbClr val="FFFD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7105650" y="9713595"/>
              <a:ext cx="219075" cy="175260"/>
            </a:xfrm>
            <a:prstGeom prst="ellipse">
              <a:avLst/>
            </a:prstGeom>
            <a:solidFill>
              <a:srgbClr val="FFFD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6525101" y="10651966"/>
              <a:ext cx="51117" cy="51117"/>
            </a:xfrm>
            <a:prstGeom prst="ellipse">
              <a:avLst/>
            </a:prstGeom>
            <a:solidFill>
              <a:srgbClr val="4F34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6758781" y="10651966"/>
              <a:ext cx="51117" cy="51117"/>
            </a:xfrm>
            <a:prstGeom prst="ellipse">
              <a:avLst/>
            </a:prstGeom>
            <a:solidFill>
              <a:srgbClr val="4F34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Block Arc 16"/>
            <p:cNvSpPr/>
            <p:nvPr/>
          </p:nvSpPr>
          <p:spPr>
            <a:xfrm rot="10800000">
              <a:off x="6587172" y="10692130"/>
              <a:ext cx="160655" cy="116840"/>
            </a:xfrm>
            <a:prstGeom prst="blockArc">
              <a:avLst>
                <a:gd name="adj1" fmla="val 10800000"/>
                <a:gd name="adj2" fmla="val 0"/>
                <a:gd name="adj3" fmla="val 18000"/>
              </a:avLst>
            </a:prstGeom>
            <a:solidFill>
              <a:srgbClr val="4F34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" name="Group 17"/>
          <p:cNvGrpSpPr/>
          <p:nvPr/>
        </p:nvGrpSpPr>
        <p:grpSpPr>
          <a:xfrm rot="480000">
            <a:off x="0" y="0"/>
            <a:ext cx="9301162" cy="11239499"/>
            <a:chOff x="0" y="0"/>
            <a:chExt cx="9301162" cy="11239499"/>
          </a:xfrm>
        </p:grpSpPr>
        <p:sp>
          <p:nvSpPr>
            <p:cNvPr id="19" name="Rounded Rectangle 18"/>
            <p:cNvSpPr/>
            <p:nvPr/>
          </p:nvSpPr>
          <p:spPr>
            <a:xfrm>
              <a:off x="8345805" y="10348912"/>
              <a:ext cx="453390" cy="890587"/>
            </a:xfrm>
            <a:prstGeom prst="roundRect">
              <a:avLst/>
            </a:prstGeom>
            <a:solidFill>
              <a:srgbClr val="FFFDF7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Chord 19"/>
            <p:cNvSpPr/>
            <p:nvPr/>
          </p:nvSpPr>
          <p:spPr>
            <a:xfrm>
              <a:off x="7843837" y="9701212"/>
              <a:ext cx="1457325" cy="1295400"/>
            </a:xfrm>
            <a:prstGeom prst="chord">
              <a:avLst/>
            </a:prstGeom>
            <a:solidFill>
              <a:srgbClr val="C9A227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8167687" y="9911715"/>
              <a:ext cx="161925" cy="129540"/>
            </a:xfrm>
            <a:prstGeom prst="ellipse">
              <a:avLst/>
            </a:prstGeom>
            <a:solidFill>
              <a:srgbClr val="FFFD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8685847" y="9814560"/>
              <a:ext cx="161925" cy="129540"/>
            </a:xfrm>
            <a:prstGeom prst="ellipse">
              <a:avLst/>
            </a:prstGeom>
            <a:solidFill>
              <a:srgbClr val="FFFD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8896350" y="10041255"/>
              <a:ext cx="161925" cy="129540"/>
            </a:xfrm>
            <a:prstGeom prst="ellipse">
              <a:avLst/>
            </a:prstGeom>
            <a:solidFill>
              <a:srgbClr val="FFFD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8467248" y="10734833"/>
              <a:ext cx="37782" cy="37782"/>
            </a:xfrm>
            <a:prstGeom prst="ellipse">
              <a:avLst/>
            </a:prstGeom>
            <a:solidFill>
              <a:srgbClr val="4F34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8639968" y="10734833"/>
              <a:ext cx="37782" cy="37782"/>
            </a:xfrm>
            <a:prstGeom prst="ellipse">
              <a:avLst/>
            </a:prstGeom>
            <a:solidFill>
              <a:srgbClr val="4F34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Block Arc 25"/>
            <p:cNvSpPr/>
            <p:nvPr/>
          </p:nvSpPr>
          <p:spPr>
            <a:xfrm rot="10800000">
              <a:off x="8513127" y="10764520"/>
              <a:ext cx="118745" cy="86360"/>
            </a:xfrm>
            <a:prstGeom prst="blockArc">
              <a:avLst>
                <a:gd name="adj1" fmla="val 10800000"/>
                <a:gd name="adj2" fmla="val 0"/>
                <a:gd name="adj3" fmla="val 18000"/>
              </a:avLst>
            </a:prstGeom>
            <a:solidFill>
              <a:srgbClr val="4F34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762000" y="11953875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A665C"/>
                </a:solidFill>
                <a:latin typeface="Source Sans 3"/>
              </a:rPr>
              <a:t>Lundgren et al. 2026, Environ. Res.: Food Syst.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047750"/>
            <a:ext cx="8763000" cy="2959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800" b="1" i="0">
                <a:solidFill>
                  <a:srgbClr val="22371F"/>
                </a:solidFill>
                <a:latin typeface="Montserrat"/>
              </a:rPr>
              <a:t>More life everywhere: soil microbes, insects, plants and birds.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4159229"/>
            <a:ext cx="8763000" cy="1771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0" i="0">
                <a:solidFill>
                  <a:srgbClr val="333130"/>
                </a:solidFill>
                <a:latin typeface="Source Sans 3"/>
              </a:rPr>
              <a:t>The more biodiversity, the more carbon stored.</a:t>
            </a:r>
          </a:p>
        </p:txBody>
      </p:sp>
      <p:grpSp>
        <p:nvGrpSpPr>
          <p:cNvPr id="5" name="Group 4"/>
          <p:cNvGrpSpPr/>
          <p:nvPr/>
        </p:nvGrpSpPr>
        <p:grpSpPr>
          <a:xfrm rot="21360000">
            <a:off x="0" y="0"/>
            <a:ext cx="8915400" cy="7587615"/>
            <a:chOff x="0" y="0"/>
            <a:chExt cx="8915400" cy="7587615"/>
          </a:xfrm>
        </p:grpSpPr>
        <p:sp>
          <p:nvSpPr>
            <p:cNvPr id="6" name="Isosceles Triangle 5"/>
            <p:cNvSpPr/>
            <p:nvPr/>
          </p:nvSpPr>
          <p:spPr>
            <a:xfrm rot="16200000">
              <a:off x="5894070" y="6275070"/>
              <a:ext cx="742950" cy="544830"/>
            </a:xfrm>
            <a:prstGeom prst="triangle">
              <a:avLst/>
            </a:prstGeom>
            <a:solidFill>
              <a:srgbClr val="8C6A4E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6315075" y="5878830"/>
              <a:ext cx="1981200" cy="1386840"/>
            </a:xfrm>
            <a:prstGeom prst="ellipse">
              <a:avLst/>
            </a:prstGeom>
            <a:solidFill>
              <a:srgbClr val="8C6A4E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6934200" y="6522720"/>
              <a:ext cx="1040130" cy="544830"/>
            </a:xfrm>
            <a:prstGeom prst="ellipse">
              <a:avLst/>
            </a:prstGeom>
            <a:solidFill>
              <a:srgbClr val="E8D9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 rot="20700000">
              <a:off x="6736080" y="6076950"/>
              <a:ext cx="990600" cy="594360"/>
            </a:xfrm>
            <a:prstGeom prst="ellipse">
              <a:avLst/>
            </a:prstGeom>
            <a:solidFill>
              <a:srgbClr val="6E523B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7726680" y="5284470"/>
              <a:ext cx="891540" cy="891540"/>
            </a:xfrm>
            <a:prstGeom prst="ellipse">
              <a:avLst/>
            </a:prstGeom>
            <a:solidFill>
              <a:srgbClr val="8C6A4E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Isosceles Triangle 10"/>
            <p:cNvSpPr/>
            <p:nvPr/>
          </p:nvSpPr>
          <p:spPr>
            <a:xfrm rot="5400000">
              <a:off x="8519160" y="5581650"/>
              <a:ext cx="396240" cy="247650"/>
            </a:xfrm>
            <a:prstGeom prst="triangle">
              <a:avLst/>
            </a:prstGeom>
            <a:solidFill>
              <a:srgbClr val="E0A8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8172450" y="5532120"/>
              <a:ext cx="148590" cy="148590"/>
            </a:xfrm>
            <a:prstGeom prst="ellipse">
              <a:avLst/>
            </a:prstGeom>
            <a:solidFill>
              <a:srgbClr val="4F34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231380" y="7191375"/>
              <a:ext cx="38100" cy="396240"/>
            </a:xfrm>
            <a:prstGeom prst="rect">
              <a:avLst/>
            </a:prstGeom>
            <a:solidFill>
              <a:srgbClr val="E0A8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627620" y="7191375"/>
              <a:ext cx="38100" cy="396240"/>
            </a:xfrm>
            <a:prstGeom prst="rect">
              <a:avLst/>
            </a:prstGeom>
            <a:solidFill>
              <a:srgbClr val="E0A8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0" y="0"/>
            <a:ext cx="5928360" cy="9105900"/>
            <a:chOff x="0" y="0"/>
            <a:chExt cx="5928360" cy="9105900"/>
          </a:xfrm>
        </p:grpSpPr>
        <p:sp>
          <p:nvSpPr>
            <p:cNvPr id="16" name="Rectangle 15"/>
            <p:cNvSpPr/>
            <p:nvPr/>
          </p:nvSpPr>
          <p:spPr>
            <a:xfrm>
              <a:off x="5305425" y="7620000"/>
              <a:ext cx="57150" cy="1485900"/>
            </a:xfrm>
            <a:prstGeom prst="rect">
              <a:avLst/>
            </a:prstGeom>
            <a:solidFill>
              <a:srgbClr val="7FA0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 rot="19800000">
              <a:off x="5353050" y="8362950"/>
              <a:ext cx="514350" cy="228600"/>
            </a:xfrm>
            <a:prstGeom prst="ellipse">
              <a:avLst/>
            </a:prstGeom>
            <a:solidFill>
              <a:srgbClr val="59A66C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5448300" y="7459980"/>
              <a:ext cx="480060" cy="320040"/>
            </a:xfrm>
            <a:prstGeom prst="ellipse">
              <a:avLst/>
            </a:prstGeom>
            <a:solidFill>
              <a:srgbClr val="F2CF5B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 rot="3600000">
              <a:off x="5271135" y="7766838"/>
              <a:ext cx="480060" cy="320040"/>
            </a:xfrm>
            <a:prstGeom prst="ellipse">
              <a:avLst/>
            </a:prstGeom>
            <a:solidFill>
              <a:srgbClr val="F2CF5B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 rot="7200000">
              <a:off x="4916804" y="7766838"/>
              <a:ext cx="480060" cy="320040"/>
            </a:xfrm>
            <a:prstGeom prst="ellipse">
              <a:avLst/>
            </a:prstGeom>
            <a:solidFill>
              <a:srgbClr val="F2CF5B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 rot="10800000">
              <a:off x="4739640" y="7459980"/>
              <a:ext cx="480060" cy="320040"/>
            </a:xfrm>
            <a:prstGeom prst="ellipse">
              <a:avLst/>
            </a:prstGeom>
            <a:solidFill>
              <a:srgbClr val="F2CF5B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 rot="14400000">
              <a:off x="4916804" y="7153121"/>
              <a:ext cx="480060" cy="320040"/>
            </a:xfrm>
            <a:prstGeom prst="ellipse">
              <a:avLst/>
            </a:prstGeom>
            <a:solidFill>
              <a:srgbClr val="F2CF5B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 rot="18000000">
              <a:off x="5271135" y="7153121"/>
              <a:ext cx="480060" cy="320040"/>
            </a:xfrm>
            <a:prstGeom prst="ellipse">
              <a:avLst/>
            </a:prstGeom>
            <a:solidFill>
              <a:srgbClr val="F2CF5B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5116830" y="7402830"/>
              <a:ext cx="434340" cy="434340"/>
            </a:xfrm>
            <a:prstGeom prst="ellipse">
              <a:avLst/>
            </a:prstGeom>
            <a:solidFill>
              <a:srgbClr val="8C6A4E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" name="Group 24"/>
          <p:cNvGrpSpPr/>
          <p:nvPr/>
        </p:nvGrpSpPr>
        <p:grpSpPr>
          <a:xfrm rot="600000">
            <a:off x="0" y="0"/>
            <a:ext cx="7142988" cy="9761220"/>
            <a:chOff x="0" y="0"/>
            <a:chExt cx="7142988" cy="9761220"/>
          </a:xfrm>
        </p:grpSpPr>
        <p:sp>
          <p:nvSpPr>
            <p:cNvPr id="26" name="Rectangle 25"/>
            <p:cNvSpPr/>
            <p:nvPr/>
          </p:nvSpPr>
          <p:spPr>
            <a:xfrm>
              <a:off x="6638925" y="8572500"/>
              <a:ext cx="57150" cy="1188720"/>
            </a:xfrm>
            <a:prstGeom prst="rect">
              <a:avLst/>
            </a:prstGeom>
            <a:solidFill>
              <a:srgbClr val="7FA0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 rot="19800000">
              <a:off x="6686550" y="9166860"/>
              <a:ext cx="411480" cy="182880"/>
            </a:xfrm>
            <a:prstGeom prst="ellipse">
              <a:avLst/>
            </a:prstGeom>
            <a:solidFill>
              <a:srgbClr val="59A66C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6758940" y="8444484"/>
              <a:ext cx="384048" cy="256032"/>
            </a:xfrm>
            <a:prstGeom prst="ellipse">
              <a:avLst/>
            </a:prstGeom>
            <a:solidFill>
              <a:srgbClr val="9DB8D9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 rot="3600000">
              <a:off x="6617208" y="8689971"/>
              <a:ext cx="384048" cy="256032"/>
            </a:xfrm>
            <a:prstGeom prst="ellipse">
              <a:avLst/>
            </a:prstGeom>
            <a:solidFill>
              <a:srgbClr val="9DB8D9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 rot="7200000">
              <a:off x="6333744" y="8689971"/>
              <a:ext cx="384048" cy="256032"/>
            </a:xfrm>
            <a:prstGeom prst="ellipse">
              <a:avLst/>
            </a:prstGeom>
            <a:solidFill>
              <a:srgbClr val="9DB8D9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 rot="10800000">
              <a:off x="6192012" y="8444484"/>
              <a:ext cx="384048" cy="256032"/>
            </a:xfrm>
            <a:prstGeom prst="ellipse">
              <a:avLst/>
            </a:prstGeom>
            <a:solidFill>
              <a:srgbClr val="9DB8D9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 rot="14400000">
              <a:off x="6333744" y="8198996"/>
              <a:ext cx="384048" cy="256032"/>
            </a:xfrm>
            <a:prstGeom prst="ellipse">
              <a:avLst/>
            </a:prstGeom>
            <a:solidFill>
              <a:srgbClr val="9DB8D9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 rot="18000000">
              <a:off x="6617208" y="8198996"/>
              <a:ext cx="384048" cy="256032"/>
            </a:xfrm>
            <a:prstGeom prst="ellipse">
              <a:avLst/>
            </a:prstGeom>
            <a:solidFill>
              <a:srgbClr val="9DB8D9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6493764" y="8398764"/>
              <a:ext cx="347472" cy="347472"/>
            </a:xfrm>
            <a:prstGeom prst="ellipse">
              <a:avLst/>
            </a:prstGeom>
            <a:solidFill>
              <a:srgbClr val="8C6A4E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" name="Group 34"/>
          <p:cNvGrpSpPr/>
          <p:nvPr/>
        </p:nvGrpSpPr>
        <p:grpSpPr>
          <a:xfrm rot="21120000">
            <a:off x="0" y="0"/>
            <a:ext cx="8926829" cy="9648825"/>
            <a:chOff x="0" y="0"/>
            <a:chExt cx="8926829" cy="9648825"/>
          </a:xfrm>
        </p:grpSpPr>
        <p:sp>
          <p:nvSpPr>
            <p:cNvPr id="36" name="Rectangle 35"/>
            <p:cNvSpPr/>
            <p:nvPr/>
          </p:nvSpPr>
          <p:spPr>
            <a:xfrm>
              <a:off x="8353425" y="8286750"/>
              <a:ext cx="57150" cy="1362075"/>
            </a:xfrm>
            <a:prstGeom prst="rect">
              <a:avLst/>
            </a:prstGeom>
            <a:solidFill>
              <a:srgbClr val="7FA0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 rot="19800000">
              <a:off x="8401050" y="8967787"/>
              <a:ext cx="471487" cy="209550"/>
            </a:xfrm>
            <a:prstGeom prst="ellipse">
              <a:avLst/>
            </a:prstGeom>
            <a:solidFill>
              <a:srgbClr val="59A66C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8486775" y="8140065"/>
              <a:ext cx="440054" cy="293370"/>
            </a:xfrm>
            <a:prstGeom prst="ellipse">
              <a:avLst/>
            </a:prstGeom>
            <a:solidFill>
              <a:srgbClr val="F2CF5B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 rot="3600000">
              <a:off x="8324373" y="8421352"/>
              <a:ext cx="440054" cy="293370"/>
            </a:xfrm>
            <a:prstGeom prst="ellipse">
              <a:avLst/>
            </a:prstGeom>
            <a:solidFill>
              <a:srgbClr val="F2CF5B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 rot="7200000">
              <a:off x="7999571" y="8421352"/>
              <a:ext cx="440054" cy="293370"/>
            </a:xfrm>
            <a:prstGeom prst="ellipse">
              <a:avLst/>
            </a:prstGeom>
            <a:solidFill>
              <a:srgbClr val="F2CF5B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 rot="10800000">
              <a:off x="7837170" y="8140065"/>
              <a:ext cx="440054" cy="293370"/>
            </a:xfrm>
            <a:prstGeom prst="ellipse">
              <a:avLst/>
            </a:prstGeom>
            <a:solidFill>
              <a:srgbClr val="F2CF5B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 rot="14400000">
              <a:off x="7999571" y="7858777"/>
              <a:ext cx="440054" cy="293370"/>
            </a:xfrm>
            <a:prstGeom prst="ellipse">
              <a:avLst/>
            </a:prstGeom>
            <a:solidFill>
              <a:srgbClr val="F2CF5B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 rot="18000000">
              <a:off x="8324373" y="7858777"/>
              <a:ext cx="440054" cy="293370"/>
            </a:xfrm>
            <a:prstGeom prst="ellipse">
              <a:avLst/>
            </a:prstGeom>
            <a:solidFill>
              <a:srgbClr val="F2CF5B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8182927" y="8087677"/>
              <a:ext cx="398145" cy="398145"/>
            </a:xfrm>
            <a:prstGeom prst="ellipse">
              <a:avLst/>
            </a:prstGeom>
            <a:solidFill>
              <a:srgbClr val="8C6A4E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" name="Group 44"/>
          <p:cNvGrpSpPr/>
          <p:nvPr/>
        </p:nvGrpSpPr>
        <p:grpSpPr>
          <a:xfrm rot="20400000">
            <a:off x="0" y="0"/>
            <a:ext cx="3800475" cy="10191749"/>
            <a:chOff x="0" y="0"/>
            <a:chExt cx="3800475" cy="10191749"/>
          </a:xfrm>
        </p:grpSpPr>
        <p:sp>
          <p:nvSpPr>
            <p:cNvPr id="46" name="Rectangle 45"/>
            <p:cNvSpPr/>
            <p:nvPr/>
          </p:nvSpPr>
          <p:spPr>
            <a:xfrm rot="1500000">
              <a:off x="2495395" y="9301757"/>
              <a:ext cx="257175" cy="38100"/>
            </a:xfrm>
            <a:prstGeom prst="rect">
              <a:avLst/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2486025" y="9601200"/>
              <a:ext cx="257175" cy="38100"/>
            </a:xfrm>
            <a:prstGeom prst="rect">
              <a:avLst/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 rot="20100000">
              <a:off x="2495395" y="9900642"/>
              <a:ext cx="257175" cy="38100"/>
            </a:xfrm>
            <a:prstGeom prst="rect">
              <a:avLst/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 rot="20100000">
              <a:off x="3533929" y="9301757"/>
              <a:ext cx="257175" cy="38100"/>
            </a:xfrm>
            <a:prstGeom prst="rect">
              <a:avLst/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543300" y="9601200"/>
              <a:ext cx="257175" cy="38100"/>
            </a:xfrm>
            <a:prstGeom prst="rect">
              <a:avLst/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ectangle 50"/>
            <p:cNvSpPr/>
            <p:nvPr/>
          </p:nvSpPr>
          <p:spPr>
            <a:xfrm rot="1500000">
              <a:off x="3533929" y="9900642"/>
              <a:ext cx="257175" cy="38100"/>
            </a:xfrm>
            <a:prstGeom prst="rect">
              <a:avLst/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2943225" y="8734425"/>
              <a:ext cx="400050" cy="342900"/>
            </a:xfrm>
            <a:prstGeom prst="ellipse">
              <a:avLst/>
            </a:prstGeom>
            <a:solidFill>
              <a:srgbClr val="22371F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2714625" y="8977312"/>
              <a:ext cx="857250" cy="1214437"/>
            </a:xfrm>
            <a:prstGeom prst="ellipse">
              <a:avLst/>
            </a:prstGeom>
            <a:solidFill>
              <a:srgbClr val="2F4A3A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3124200" y="9020175"/>
              <a:ext cx="38100" cy="1143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val 54"/>
            <p:cNvSpPr/>
            <p:nvPr/>
          </p:nvSpPr>
          <p:spPr>
            <a:xfrm>
              <a:off x="2886075" y="9348787"/>
              <a:ext cx="114300" cy="114300"/>
            </a:xfrm>
            <a:prstGeom prst="ellipse">
              <a:avLst/>
            </a:prstGeom>
            <a:solidFill>
              <a:srgbClr val="DBE6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3286125" y="9491662"/>
              <a:ext cx="114300" cy="114300"/>
            </a:xfrm>
            <a:prstGeom prst="ellipse">
              <a:avLst/>
            </a:prstGeom>
            <a:solidFill>
              <a:srgbClr val="DBE6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2914650" y="9777412"/>
              <a:ext cx="114300" cy="114300"/>
            </a:xfrm>
            <a:prstGeom prst="ellipse">
              <a:avLst/>
            </a:prstGeom>
            <a:solidFill>
              <a:srgbClr val="DBE6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3257550" y="9877425"/>
              <a:ext cx="114300" cy="114300"/>
            </a:xfrm>
            <a:prstGeom prst="ellipse">
              <a:avLst/>
            </a:prstGeom>
            <a:solidFill>
              <a:srgbClr val="DBE6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9" name="Group 58"/>
          <p:cNvGrpSpPr/>
          <p:nvPr/>
        </p:nvGrpSpPr>
        <p:grpSpPr>
          <a:xfrm rot="20880000">
            <a:off x="0" y="0"/>
            <a:ext cx="2428875" cy="7769541"/>
            <a:chOff x="0" y="0"/>
            <a:chExt cx="2428875" cy="7769541"/>
          </a:xfrm>
        </p:grpSpPr>
        <p:sp>
          <p:nvSpPr>
            <p:cNvPr id="60" name="Arc 59"/>
            <p:cNvSpPr/>
            <p:nvPr/>
          </p:nvSpPr>
          <p:spPr>
            <a:xfrm>
              <a:off x="550545" y="7334288"/>
              <a:ext cx="275272" cy="176822"/>
            </a:xfrm>
            <a:prstGeom prst="arc">
              <a:avLst/>
            </a:prstGeom>
            <a:noFill/>
            <a:ln w="38100">
              <a:solidFill>
                <a:srgbClr val="15682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Arc 60"/>
            <p:cNvSpPr/>
            <p:nvPr/>
          </p:nvSpPr>
          <p:spPr>
            <a:xfrm rot="10800000">
              <a:off x="291465" y="7347889"/>
              <a:ext cx="275272" cy="176822"/>
            </a:xfrm>
            <a:prstGeom prst="arc">
              <a:avLst/>
            </a:prstGeom>
            <a:noFill/>
            <a:ln w="38100">
              <a:solidFill>
                <a:srgbClr val="15682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Arc 61"/>
            <p:cNvSpPr/>
            <p:nvPr/>
          </p:nvSpPr>
          <p:spPr>
            <a:xfrm>
              <a:off x="32384" y="7334288"/>
              <a:ext cx="275272" cy="176822"/>
            </a:xfrm>
            <a:prstGeom prst="arc">
              <a:avLst/>
            </a:prstGeom>
            <a:noFill/>
            <a:ln w="38100">
              <a:solidFill>
                <a:srgbClr val="15682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809625" y="7089457"/>
              <a:ext cx="1619250" cy="680084"/>
            </a:xfrm>
            <a:prstGeom prst="roundRect">
              <a:avLst>
                <a:gd name="adj" fmla="val 50000"/>
              </a:avLst>
            </a:prstGeom>
            <a:solidFill>
              <a:srgbClr val="BFD8A6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1670035" y="7369734"/>
              <a:ext cx="51521" cy="51521"/>
            </a:xfrm>
            <a:prstGeom prst="ellipse">
              <a:avLst/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1905562" y="7369734"/>
              <a:ext cx="51521" cy="51521"/>
            </a:xfrm>
            <a:prstGeom prst="ellipse">
              <a:avLst/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Block Arc 65"/>
            <p:cNvSpPr/>
            <p:nvPr/>
          </p:nvSpPr>
          <p:spPr>
            <a:xfrm rot="10800000">
              <a:off x="1732597" y="7410216"/>
              <a:ext cx="161925" cy="117763"/>
            </a:xfrm>
            <a:prstGeom prst="blockArc">
              <a:avLst>
                <a:gd name="adj1" fmla="val 10800000"/>
                <a:gd name="adj2" fmla="val 0"/>
                <a:gd name="adj3" fmla="val 18000"/>
              </a:avLst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7" name="Group 66"/>
          <p:cNvGrpSpPr/>
          <p:nvPr/>
        </p:nvGrpSpPr>
        <p:grpSpPr>
          <a:xfrm rot="1080000">
            <a:off x="0" y="0"/>
            <a:ext cx="3190875" cy="11825287"/>
            <a:chOff x="0" y="0"/>
            <a:chExt cx="3190875" cy="11825287"/>
          </a:xfrm>
        </p:grpSpPr>
        <p:sp>
          <p:nvSpPr>
            <p:cNvPr id="68" name="Arc 67"/>
            <p:cNvSpPr/>
            <p:nvPr/>
          </p:nvSpPr>
          <p:spPr>
            <a:xfrm>
              <a:off x="1533525" y="11441239"/>
              <a:ext cx="242887" cy="156019"/>
            </a:xfrm>
            <a:prstGeom prst="arc">
              <a:avLst/>
            </a:prstGeom>
            <a:noFill/>
            <a:ln w="38100">
              <a:solidFill>
                <a:srgbClr val="15682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Arc 68"/>
            <p:cNvSpPr/>
            <p:nvPr/>
          </p:nvSpPr>
          <p:spPr>
            <a:xfrm rot="10800000">
              <a:off x="1304925" y="11453241"/>
              <a:ext cx="242887" cy="156019"/>
            </a:xfrm>
            <a:prstGeom prst="arc">
              <a:avLst/>
            </a:prstGeom>
            <a:noFill/>
            <a:ln w="38100">
              <a:solidFill>
                <a:srgbClr val="15682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Arc 69"/>
            <p:cNvSpPr/>
            <p:nvPr/>
          </p:nvSpPr>
          <p:spPr>
            <a:xfrm>
              <a:off x="1076325" y="11441239"/>
              <a:ext cx="242887" cy="156019"/>
            </a:xfrm>
            <a:prstGeom prst="arc">
              <a:avLst/>
            </a:prstGeom>
            <a:noFill/>
            <a:ln w="38100">
              <a:solidFill>
                <a:srgbClr val="15682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1762125" y="11225212"/>
              <a:ext cx="1428750" cy="600075"/>
            </a:xfrm>
            <a:prstGeom prst="roundRect">
              <a:avLst>
                <a:gd name="adj" fmla="val 50000"/>
              </a:avLst>
            </a:prstGeom>
            <a:solidFill>
              <a:srgbClr val="D6E3A8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2521310" y="11472516"/>
              <a:ext cx="45460" cy="45460"/>
            </a:xfrm>
            <a:prstGeom prst="ellipse">
              <a:avLst/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Oval 72"/>
            <p:cNvSpPr/>
            <p:nvPr/>
          </p:nvSpPr>
          <p:spPr>
            <a:xfrm>
              <a:off x="2729128" y="11472516"/>
              <a:ext cx="45460" cy="45460"/>
            </a:xfrm>
            <a:prstGeom prst="ellipse">
              <a:avLst/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Block Arc 73"/>
            <p:cNvSpPr/>
            <p:nvPr/>
          </p:nvSpPr>
          <p:spPr>
            <a:xfrm rot="10800000">
              <a:off x="2576512" y="11508234"/>
              <a:ext cx="142874" cy="103909"/>
            </a:xfrm>
            <a:prstGeom prst="blockArc">
              <a:avLst>
                <a:gd name="adj1" fmla="val 10800000"/>
                <a:gd name="adj2" fmla="val 0"/>
                <a:gd name="adj3" fmla="val 18000"/>
              </a:avLst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0" y="0"/>
            <a:ext cx="6858000" cy="12096750"/>
            <a:chOff x="0" y="0"/>
            <a:chExt cx="6858000" cy="12096750"/>
          </a:xfrm>
        </p:grpSpPr>
        <p:sp>
          <p:nvSpPr>
            <p:cNvPr id="76" name="Rectangle 75"/>
            <p:cNvSpPr/>
            <p:nvPr/>
          </p:nvSpPr>
          <p:spPr>
            <a:xfrm>
              <a:off x="5867400" y="10534650"/>
              <a:ext cx="76200" cy="1181100"/>
            </a:xfrm>
            <a:prstGeom prst="rect">
              <a:avLst/>
            </a:prstGeom>
            <a:solidFill>
              <a:srgbClr val="7FA0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 rot="8700000">
              <a:off x="5143500" y="10267950"/>
              <a:ext cx="762000" cy="381000"/>
            </a:xfrm>
            <a:prstGeom prst="ellipse">
              <a:avLst/>
            </a:prstGeom>
            <a:solidFill>
              <a:srgbClr val="59A66C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 rot="2100000">
              <a:off x="5905500" y="10267950"/>
              <a:ext cx="762000" cy="381000"/>
            </a:xfrm>
            <a:prstGeom prst="ellipse">
              <a:avLst/>
            </a:prstGeom>
            <a:solidFill>
              <a:srgbClr val="59A66C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Oval 78"/>
            <p:cNvSpPr/>
            <p:nvPr/>
          </p:nvSpPr>
          <p:spPr>
            <a:xfrm>
              <a:off x="4953000" y="11525250"/>
              <a:ext cx="1905000" cy="571500"/>
            </a:xfrm>
            <a:prstGeom prst="ellipse">
              <a:avLst/>
            </a:prstGeom>
            <a:solidFill>
              <a:srgbClr val="4F3433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Oval 79"/>
            <p:cNvSpPr/>
            <p:nvPr/>
          </p:nvSpPr>
          <p:spPr>
            <a:xfrm>
              <a:off x="5762625" y="11747255"/>
              <a:ext cx="51288" cy="51288"/>
            </a:xfrm>
            <a:prstGeom prst="ellipse">
              <a:avLst/>
            </a:prstGeom>
            <a:solidFill>
              <a:srgbClr val="F4F1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Oval 80"/>
            <p:cNvSpPr/>
            <p:nvPr/>
          </p:nvSpPr>
          <p:spPr>
            <a:xfrm>
              <a:off x="5997086" y="11747255"/>
              <a:ext cx="51288" cy="51288"/>
            </a:xfrm>
            <a:prstGeom prst="ellipse">
              <a:avLst/>
            </a:prstGeom>
            <a:solidFill>
              <a:srgbClr val="F4F1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Block Arc 81"/>
            <p:cNvSpPr/>
            <p:nvPr/>
          </p:nvSpPr>
          <p:spPr>
            <a:xfrm rot="10800000">
              <a:off x="5824903" y="11787553"/>
              <a:ext cx="161192" cy="117230"/>
            </a:xfrm>
            <a:prstGeom prst="blockArc">
              <a:avLst>
                <a:gd name="adj1" fmla="val 10800000"/>
                <a:gd name="adj2" fmla="val 0"/>
                <a:gd name="adj3" fmla="val 18000"/>
              </a:avLst>
            </a:prstGeom>
            <a:solidFill>
              <a:srgbClr val="F4F1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3" name="Group 82"/>
          <p:cNvGrpSpPr/>
          <p:nvPr/>
        </p:nvGrpSpPr>
        <p:grpSpPr>
          <a:xfrm rot="360000">
            <a:off x="0" y="0"/>
            <a:ext cx="8824912" cy="11715749"/>
            <a:chOff x="0" y="0"/>
            <a:chExt cx="8824912" cy="11715749"/>
          </a:xfrm>
        </p:grpSpPr>
        <p:sp>
          <p:nvSpPr>
            <p:cNvPr id="84" name="Rounded Rectangle 83"/>
            <p:cNvSpPr/>
            <p:nvPr/>
          </p:nvSpPr>
          <p:spPr>
            <a:xfrm>
              <a:off x="7869555" y="10825162"/>
              <a:ext cx="453390" cy="890587"/>
            </a:xfrm>
            <a:prstGeom prst="roundRect">
              <a:avLst/>
            </a:prstGeom>
            <a:solidFill>
              <a:srgbClr val="FFFDF7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Chord 84"/>
            <p:cNvSpPr/>
            <p:nvPr/>
          </p:nvSpPr>
          <p:spPr>
            <a:xfrm>
              <a:off x="7367587" y="10177462"/>
              <a:ext cx="1457325" cy="1295400"/>
            </a:xfrm>
            <a:prstGeom prst="chord">
              <a:avLst/>
            </a:prstGeom>
            <a:solidFill>
              <a:srgbClr val="B98A5E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Oval 85"/>
            <p:cNvSpPr/>
            <p:nvPr/>
          </p:nvSpPr>
          <p:spPr>
            <a:xfrm>
              <a:off x="7691437" y="10387965"/>
              <a:ext cx="161925" cy="129540"/>
            </a:xfrm>
            <a:prstGeom prst="ellipse">
              <a:avLst/>
            </a:prstGeom>
            <a:solidFill>
              <a:srgbClr val="FFFD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Oval 86"/>
            <p:cNvSpPr/>
            <p:nvPr/>
          </p:nvSpPr>
          <p:spPr>
            <a:xfrm>
              <a:off x="8209597" y="10290810"/>
              <a:ext cx="161925" cy="129540"/>
            </a:xfrm>
            <a:prstGeom prst="ellipse">
              <a:avLst/>
            </a:prstGeom>
            <a:solidFill>
              <a:srgbClr val="FFFD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Oval 87"/>
            <p:cNvSpPr/>
            <p:nvPr/>
          </p:nvSpPr>
          <p:spPr>
            <a:xfrm>
              <a:off x="8420100" y="10517505"/>
              <a:ext cx="161925" cy="129540"/>
            </a:xfrm>
            <a:prstGeom prst="ellipse">
              <a:avLst/>
            </a:prstGeom>
            <a:solidFill>
              <a:srgbClr val="FFFD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Oval 88"/>
            <p:cNvSpPr/>
            <p:nvPr/>
          </p:nvSpPr>
          <p:spPr>
            <a:xfrm>
              <a:off x="7990998" y="11211083"/>
              <a:ext cx="37782" cy="37782"/>
            </a:xfrm>
            <a:prstGeom prst="ellipse">
              <a:avLst/>
            </a:prstGeom>
            <a:solidFill>
              <a:srgbClr val="4F34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Oval 89"/>
            <p:cNvSpPr/>
            <p:nvPr/>
          </p:nvSpPr>
          <p:spPr>
            <a:xfrm>
              <a:off x="8163718" y="11211083"/>
              <a:ext cx="37782" cy="37782"/>
            </a:xfrm>
            <a:prstGeom prst="ellipse">
              <a:avLst/>
            </a:prstGeom>
            <a:solidFill>
              <a:srgbClr val="4F34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Block Arc 90"/>
            <p:cNvSpPr/>
            <p:nvPr/>
          </p:nvSpPr>
          <p:spPr>
            <a:xfrm rot="10800000">
              <a:off x="8036877" y="11240770"/>
              <a:ext cx="118745" cy="86360"/>
            </a:xfrm>
            <a:prstGeom prst="blockArc">
              <a:avLst>
                <a:gd name="adj1" fmla="val 10800000"/>
                <a:gd name="adj2" fmla="val 0"/>
                <a:gd name="adj3" fmla="val 18000"/>
              </a:avLst>
            </a:prstGeom>
            <a:solidFill>
              <a:srgbClr val="4F34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2" name="TextBox 91"/>
          <p:cNvSpPr txBox="1"/>
          <p:nvPr/>
        </p:nvSpPr>
        <p:spPr>
          <a:xfrm>
            <a:off x="762000" y="11953875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A665C"/>
                </a:solidFill>
                <a:latin typeface="Source Sans 3"/>
              </a:rPr>
              <a:t>Lundgren et al. 2026, Environ. Res.: Food Syst.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047750"/>
            <a:ext cx="8763000" cy="3057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000" b="1" i="0">
                <a:solidFill>
                  <a:srgbClr val="22371F"/>
                </a:solidFill>
                <a:latin typeface="Montserrat"/>
              </a:rPr>
              <a:t>Regenerative yields matched national averages,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4257981"/>
            <a:ext cx="8763000" cy="971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600" b="0" i="0">
                <a:solidFill>
                  <a:srgbClr val="333130"/>
                </a:solidFill>
                <a:latin typeface="Source Sans 3"/>
              </a:rPr>
              <a:t>and net profit per acre was similar.</a:t>
            </a:r>
          </a:p>
        </p:txBody>
      </p:sp>
      <p:sp>
        <p:nvSpPr>
          <p:cNvPr id="5" name="Rectangle 4"/>
          <p:cNvSpPr/>
          <p:nvPr/>
        </p:nvSpPr>
        <p:spPr>
          <a:xfrm rot="21360000">
            <a:off x="857250" y="5334000"/>
            <a:ext cx="5143500" cy="5476875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388965637862590440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60000">
            <a:off x="1036122" y="5524906"/>
            <a:ext cx="4762500" cy="4762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 rot="21360000">
            <a:off x="1220501" y="10280967"/>
            <a:ext cx="476250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Foundation library</a:t>
            </a:r>
          </a:p>
        </p:txBody>
      </p:sp>
      <p:sp>
        <p:nvSpPr>
          <p:cNvPr id="8" name="Rectangle 7"/>
          <p:cNvSpPr/>
          <p:nvPr/>
        </p:nvSpPr>
        <p:spPr>
          <a:xfrm rot="240000">
            <a:off x="2667000" y="5181600"/>
            <a:ext cx="1524000" cy="4191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" name="Group 8"/>
          <p:cNvGrpSpPr/>
          <p:nvPr/>
        </p:nvGrpSpPr>
        <p:grpSpPr>
          <a:xfrm rot="21240000">
            <a:off x="0" y="0"/>
            <a:ext cx="8715375" cy="8389620"/>
            <a:chOff x="0" y="0"/>
            <a:chExt cx="8715375" cy="8389620"/>
          </a:xfrm>
        </p:grpSpPr>
        <p:sp>
          <p:nvSpPr>
            <p:cNvPr id="10" name="Oval 9"/>
            <p:cNvSpPr/>
            <p:nvPr/>
          </p:nvSpPr>
          <p:spPr>
            <a:xfrm>
              <a:off x="6905625" y="7810500"/>
              <a:ext cx="1809750" cy="579120"/>
            </a:xfrm>
            <a:prstGeom prst="ellipse">
              <a:avLst/>
            </a:prstGeom>
            <a:solidFill>
              <a:srgbClr val="D9A521"/>
            </a:solidFill>
            <a:ln w="3810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6905625" y="7557135"/>
              <a:ext cx="1809750" cy="579120"/>
            </a:xfrm>
            <a:prstGeom prst="ellipse">
              <a:avLst/>
            </a:prstGeom>
            <a:solidFill>
              <a:srgbClr val="D9A521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6905625" y="7303770"/>
              <a:ext cx="1809750" cy="579120"/>
            </a:xfrm>
            <a:prstGeom prst="ellipse">
              <a:avLst/>
            </a:prstGeom>
            <a:solidFill>
              <a:srgbClr val="D9A521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6905625" y="7050405"/>
              <a:ext cx="1809750" cy="579120"/>
            </a:xfrm>
            <a:prstGeom prst="ellipse">
              <a:avLst/>
            </a:prstGeom>
            <a:solidFill>
              <a:srgbClr val="D9A521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7267575" y="7140892"/>
              <a:ext cx="1085850" cy="361950"/>
            </a:xfrm>
            <a:prstGeom prst="ellipse">
              <a:avLst/>
            </a:prstGeom>
            <a:solidFill>
              <a:srgbClr val="E9C4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 rot="480000">
            <a:off x="0" y="0"/>
            <a:ext cx="9286875" cy="10267950"/>
            <a:chOff x="0" y="0"/>
            <a:chExt cx="9286875" cy="10267950"/>
          </a:xfrm>
        </p:grpSpPr>
        <p:sp>
          <p:nvSpPr>
            <p:cNvPr id="16" name="Oval 15"/>
            <p:cNvSpPr/>
            <p:nvPr/>
          </p:nvSpPr>
          <p:spPr>
            <a:xfrm>
              <a:off x="7858125" y="9810750"/>
              <a:ext cx="1428750" cy="457200"/>
            </a:xfrm>
            <a:prstGeom prst="ellipse">
              <a:avLst/>
            </a:prstGeom>
            <a:solidFill>
              <a:srgbClr val="D9A521"/>
            </a:solidFill>
            <a:ln w="3810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7858125" y="9610725"/>
              <a:ext cx="1428750" cy="457200"/>
            </a:xfrm>
            <a:prstGeom prst="ellipse">
              <a:avLst/>
            </a:prstGeom>
            <a:solidFill>
              <a:srgbClr val="D9A521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7858125" y="9410700"/>
              <a:ext cx="1428750" cy="457200"/>
            </a:xfrm>
            <a:prstGeom prst="ellipse">
              <a:avLst/>
            </a:prstGeom>
            <a:solidFill>
              <a:srgbClr val="D9A521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7858125" y="9210675"/>
              <a:ext cx="1428750" cy="457200"/>
            </a:xfrm>
            <a:prstGeom prst="ellipse">
              <a:avLst/>
            </a:prstGeom>
            <a:solidFill>
              <a:srgbClr val="D9A521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8143875" y="9282112"/>
              <a:ext cx="857250" cy="285750"/>
            </a:xfrm>
            <a:prstGeom prst="ellipse">
              <a:avLst/>
            </a:prstGeom>
            <a:solidFill>
              <a:srgbClr val="E9C4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0" y="0"/>
            <a:ext cx="8096250" cy="12134850"/>
            <a:chOff x="0" y="0"/>
            <a:chExt cx="8096250" cy="12134850"/>
          </a:xfrm>
        </p:grpSpPr>
        <p:sp>
          <p:nvSpPr>
            <p:cNvPr id="22" name="Rectangle 21"/>
            <p:cNvSpPr/>
            <p:nvPr/>
          </p:nvSpPr>
          <p:spPr>
            <a:xfrm>
              <a:off x="7010400" y="10416540"/>
              <a:ext cx="76200" cy="1299210"/>
            </a:xfrm>
            <a:prstGeom prst="rect">
              <a:avLst/>
            </a:prstGeom>
            <a:solidFill>
              <a:srgbClr val="7FA0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 rot="8700000">
              <a:off x="6210300" y="10123170"/>
              <a:ext cx="838200" cy="419100"/>
            </a:xfrm>
            <a:prstGeom prst="ellipse">
              <a:avLst/>
            </a:prstGeom>
            <a:solidFill>
              <a:srgbClr val="59A66C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 rot="2100000">
              <a:off x="7048500" y="10123170"/>
              <a:ext cx="838200" cy="419100"/>
            </a:xfrm>
            <a:prstGeom prst="ellipse">
              <a:avLst/>
            </a:prstGeom>
            <a:solidFill>
              <a:srgbClr val="59A66C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6000750" y="11506200"/>
              <a:ext cx="2095500" cy="628650"/>
            </a:xfrm>
            <a:prstGeom prst="ellipse">
              <a:avLst/>
            </a:prstGeom>
            <a:solidFill>
              <a:srgbClr val="4F3433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6891337" y="11750406"/>
              <a:ext cx="56417" cy="56417"/>
            </a:xfrm>
            <a:prstGeom prst="ellipse">
              <a:avLst/>
            </a:prstGeom>
            <a:solidFill>
              <a:srgbClr val="F4F1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7149245" y="11750406"/>
              <a:ext cx="56417" cy="56417"/>
            </a:xfrm>
            <a:prstGeom prst="ellipse">
              <a:avLst/>
            </a:prstGeom>
            <a:solidFill>
              <a:srgbClr val="F4F1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Block Arc 27"/>
            <p:cNvSpPr/>
            <p:nvPr/>
          </p:nvSpPr>
          <p:spPr>
            <a:xfrm rot="10800000">
              <a:off x="6959844" y="11794734"/>
              <a:ext cx="177311" cy="128953"/>
            </a:xfrm>
            <a:prstGeom prst="blockArc">
              <a:avLst>
                <a:gd name="adj1" fmla="val 10800000"/>
                <a:gd name="adj2" fmla="val 0"/>
                <a:gd name="adj3" fmla="val 18000"/>
              </a:avLst>
            </a:prstGeom>
            <a:solidFill>
              <a:srgbClr val="F4F1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762000" y="11953875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A665C"/>
                </a:solidFill>
                <a:latin typeface="Source Sans 3"/>
              </a:rPr>
              <a:t>Lundgren et al. 2026, Environ. Res.: Food Syst.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047750"/>
            <a:ext cx="8763000" cy="2070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000" b="1" i="0">
                <a:solidFill>
                  <a:srgbClr val="22371F"/>
                </a:solidFill>
                <a:latin typeface="Montserrat"/>
              </a:rPr>
              <a:t>One practice alone changed nothing.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270454"/>
            <a:ext cx="8763000" cy="2609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0" i="0">
                <a:solidFill>
                  <a:srgbClr val="333130"/>
                </a:solidFill>
                <a:latin typeface="Source Sans 3"/>
              </a:rPr>
              <a:t>Farms using a single regenerative practice looked like conventional farms. The whole system matters.</a:t>
            </a:r>
          </a:p>
        </p:txBody>
      </p:sp>
      <p:sp>
        <p:nvSpPr>
          <p:cNvPr id="5" name="Rectangle 4"/>
          <p:cNvSpPr/>
          <p:nvPr/>
        </p:nvSpPr>
        <p:spPr>
          <a:xfrm rot="21420000">
            <a:off x="666750" y="6667500"/>
            <a:ext cx="3143250" cy="438150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9920000">
            <a:off x="523875" y="6515100"/>
            <a:ext cx="1428750" cy="4191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680000">
            <a:off x="2524125" y="6515100"/>
            <a:ext cx="1428750" cy="4191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" name="Group 7"/>
          <p:cNvGrpSpPr/>
          <p:nvPr/>
        </p:nvGrpSpPr>
        <p:grpSpPr>
          <a:xfrm>
            <a:off x="0" y="0"/>
            <a:ext cx="2992755" cy="10096500"/>
            <a:chOff x="0" y="0"/>
            <a:chExt cx="2992755" cy="10096500"/>
          </a:xfrm>
        </p:grpSpPr>
        <p:sp>
          <p:nvSpPr>
            <p:cNvPr id="9" name="Rectangle 8"/>
            <p:cNvSpPr/>
            <p:nvPr/>
          </p:nvSpPr>
          <p:spPr>
            <a:xfrm>
              <a:off x="2200275" y="8797290"/>
              <a:ext cx="76200" cy="1299210"/>
            </a:xfrm>
            <a:prstGeom prst="rect">
              <a:avLst/>
            </a:prstGeom>
            <a:solidFill>
              <a:srgbClr val="9C9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 rot="3900000">
              <a:off x="1483995" y="8839200"/>
              <a:ext cx="838200" cy="419100"/>
            </a:xfrm>
            <a:prstGeom prst="ellipse">
              <a:avLst/>
            </a:prstGeom>
            <a:solidFill>
              <a:srgbClr val="A7A45C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 rot="6900000">
              <a:off x="2154555" y="8839200"/>
              <a:ext cx="838200" cy="419100"/>
            </a:xfrm>
            <a:prstGeom prst="ellipse">
              <a:avLst/>
            </a:prstGeom>
            <a:solidFill>
              <a:srgbClr val="A7A45C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1190625" y="9886950"/>
              <a:ext cx="2095500" cy="628650"/>
            </a:xfrm>
            <a:prstGeom prst="ellipse">
              <a:avLst/>
            </a:prstGeom>
            <a:solidFill>
              <a:srgbClr val="4F3433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3" name="Rectangle 12"/>
          <p:cNvSpPr/>
          <p:nvPr/>
        </p:nvSpPr>
        <p:spPr>
          <a:xfrm rot="120000">
            <a:off x="4286250" y="6286500"/>
            <a:ext cx="5334000" cy="495300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19920000">
            <a:off x="4143375" y="6134100"/>
            <a:ext cx="1428750" cy="4191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1680000">
            <a:off x="8334375" y="6134100"/>
            <a:ext cx="1428750" cy="4191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trim-fungal-hypha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524500" y="8285642"/>
            <a:ext cx="2857500" cy="3050215"/>
          </a:xfrm>
          <a:prstGeom prst="rect">
            <a:avLst/>
          </a:prstGeom>
        </p:spPr>
      </p:pic>
      <p:grpSp>
        <p:nvGrpSpPr>
          <p:cNvPr id="17" name="Group 16"/>
          <p:cNvGrpSpPr/>
          <p:nvPr/>
        </p:nvGrpSpPr>
        <p:grpSpPr>
          <a:xfrm>
            <a:off x="0" y="0"/>
            <a:ext cx="7000875" cy="9982200"/>
            <a:chOff x="0" y="0"/>
            <a:chExt cx="7000875" cy="9982200"/>
          </a:xfrm>
        </p:grpSpPr>
        <p:sp>
          <p:nvSpPr>
            <p:cNvPr id="18" name="Rectangle 17"/>
            <p:cNvSpPr/>
            <p:nvPr/>
          </p:nvSpPr>
          <p:spPr>
            <a:xfrm>
              <a:off x="6057900" y="8498205"/>
              <a:ext cx="76200" cy="1122045"/>
            </a:xfrm>
            <a:prstGeom prst="rect">
              <a:avLst/>
            </a:prstGeom>
            <a:solidFill>
              <a:srgbClr val="7FA0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 rot="8700000">
              <a:off x="5372100" y="8244840"/>
              <a:ext cx="723900" cy="361950"/>
            </a:xfrm>
            <a:prstGeom prst="ellipse">
              <a:avLst/>
            </a:prstGeom>
            <a:solidFill>
              <a:srgbClr val="59A66C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 rot="2100000">
              <a:off x="6096000" y="8244840"/>
              <a:ext cx="723900" cy="361950"/>
            </a:xfrm>
            <a:prstGeom prst="ellipse">
              <a:avLst/>
            </a:prstGeom>
            <a:solidFill>
              <a:srgbClr val="59A66C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5191125" y="9439275"/>
              <a:ext cx="1809750" cy="542925"/>
            </a:xfrm>
            <a:prstGeom prst="ellipse">
              <a:avLst/>
            </a:prstGeom>
            <a:solidFill>
              <a:srgbClr val="4F3433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Oval 21"/>
            <p:cNvSpPr/>
            <p:nvPr/>
          </p:nvSpPr>
          <p:spPr>
            <a:xfrm>
              <a:off x="5960268" y="9650180"/>
              <a:ext cx="48724" cy="48724"/>
            </a:xfrm>
            <a:prstGeom prst="ellipse">
              <a:avLst/>
            </a:prstGeom>
            <a:solidFill>
              <a:srgbClr val="F4F1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6183007" y="9650180"/>
              <a:ext cx="48724" cy="48724"/>
            </a:xfrm>
            <a:prstGeom prst="ellipse">
              <a:avLst/>
            </a:prstGeom>
            <a:solidFill>
              <a:srgbClr val="F4F1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Block Arc 23"/>
            <p:cNvSpPr/>
            <p:nvPr/>
          </p:nvSpPr>
          <p:spPr>
            <a:xfrm rot="10800000">
              <a:off x="6019433" y="9688463"/>
              <a:ext cx="153132" cy="111369"/>
            </a:xfrm>
            <a:prstGeom prst="blockArc">
              <a:avLst>
                <a:gd name="adj1" fmla="val 10800000"/>
                <a:gd name="adj2" fmla="val 0"/>
                <a:gd name="adj3" fmla="val 18000"/>
              </a:avLst>
            </a:prstGeom>
            <a:solidFill>
              <a:srgbClr val="F4F1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0" y="0"/>
            <a:ext cx="8686800" cy="9144000"/>
            <a:chOff x="0" y="0"/>
            <a:chExt cx="8686800" cy="9144000"/>
          </a:xfrm>
        </p:grpSpPr>
        <p:sp>
          <p:nvSpPr>
            <p:cNvPr id="26" name="Rectangle 25"/>
            <p:cNvSpPr/>
            <p:nvPr/>
          </p:nvSpPr>
          <p:spPr>
            <a:xfrm>
              <a:off x="8162925" y="7905750"/>
              <a:ext cx="57150" cy="1238250"/>
            </a:xfrm>
            <a:prstGeom prst="rect">
              <a:avLst/>
            </a:prstGeom>
            <a:solidFill>
              <a:srgbClr val="7FA0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 rot="19800000">
              <a:off x="8210550" y="8524875"/>
              <a:ext cx="428625" cy="190500"/>
            </a:xfrm>
            <a:prstGeom prst="ellipse">
              <a:avLst/>
            </a:prstGeom>
            <a:solidFill>
              <a:srgbClr val="59A66C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8286750" y="7772400"/>
              <a:ext cx="400050" cy="266700"/>
            </a:xfrm>
            <a:prstGeom prst="ellipse">
              <a:avLst/>
            </a:prstGeom>
            <a:solidFill>
              <a:srgbClr val="F2CF5B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 rot="3600000">
              <a:off x="8139112" y="8028115"/>
              <a:ext cx="400050" cy="266700"/>
            </a:xfrm>
            <a:prstGeom prst="ellipse">
              <a:avLst/>
            </a:prstGeom>
            <a:solidFill>
              <a:srgbClr val="F2CF5B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 rot="7200000">
              <a:off x="7843837" y="8028115"/>
              <a:ext cx="400050" cy="266700"/>
            </a:xfrm>
            <a:prstGeom prst="ellipse">
              <a:avLst/>
            </a:prstGeom>
            <a:solidFill>
              <a:srgbClr val="F2CF5B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 rot="10800000">
              <a:off x="7696200" y="7772400"/>
              <a:ext cx="400050" cy="266700"/>
            </a:xfrm>
            <a:prstGeom prst="ellipse">
              <a:avLst/>
            </a:prstGeom>
            <a:solidFill>
              <a:srgbClr val="F2CF5B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 rot="14400000">
              <a:off x="7843837" y="7516684"/>
              <a:ext cx="400050" cy="266700"/>
            </a:xfrm>
            <a:prstGeom prst="ellipse">
              <a:avLst/>
            </a:prstGeom>
            <a:solidFill>
              <a:srgbClr val="F2CF5B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 rot="18000000">
              <a:off x="8139112" y="7516684"/>
              <a:ext cx="400050" cy="266700"/>
            </a:xfrm>
            <a:prstGeom prst="ellipse">
              <a:avLst/>
            </a:prstGeom>
            <a:solidFill>
              <a:srgbClr val="F2CF5B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8010525" y="7724775"/>
              <a:ext cx="361950" cy="361950"/>
            </a:xfrm>
            <a:prstGeom prst="ellipse">
              <a:avLst/>
            </a:prstGeom>
            <a:solidFill>
              <a:srgbClr val="8C6A4E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0" y="0"/>
            <a:ext cx="9215437" cy="10572749"/>
            <a:chOff x="0" y="0"/>
            <a:chExt cx="9215437" cy="10572749"/>
          </a:xfrm>
        </p:grpSpPr>
        <p:sp>
          <p:nvSpPr>
            <p:cNvPr id="36" name="Rounded Rectangle 35"/>
            <p:cNvSpPr/>
            <p:nvPr/>
          </p:nvSpPr>
          <p:spPr>
            <a:xfrm>
              <a:off x="8372475" y="9786937"/>
              <a:ext cx="400050" cy="785812"/>
            </a:xfrm>
            <a:prstGeom prst="roundRect">
              <a:avLst/>
            </a:prstGeom>
            <a:solidFill>
              <a:srgbClr val="FFFDF7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Chord 36"/>
            <p:cNvSpPr/>
            <p:nvPr/>
          </p:nvSpPr>
          <p:spPr>
            <a:xfrm>
              <a:off x="7929562" y="9215437"/>
              <a:ext cx="1285875" cy="1143000"/>
            </a:xfrm>
            <a:prstGeom prst="chord">
              <a:avLst/>
            </a:prstGeom>
            <a:solidFill>
              <a:srgbClr val="B98A5E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8215312" y="9401175"/>
              <a:ext cx="142875" cy="114300"/>
            </a:xfrm>
            <a:prstGeom prst="ellipse">
              <a:avLst/>
            </a:prstGeom>
            <a:solidFill>
              <a:srgbClr val="FFFD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8672512" y="9315450"/>
              <a:ext cx="142875" cy="114300"/>
            </a:xfrm>
            <a:prstGeom prst="ellipse">
              <a:avLst/>
            </a:prstGeom>
            <a:solidFill>
              <a:srgbClr val="FFFD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8858250" y="9515475"/>
              <a:ext cx="142875" cy="114300"/>
            </a:xfrm>
            <a:prstGeom prst="ellipse">
              <a:avLst/>
            </a:prstGeom>
            <a:solidFill>
              <a:srgbClr val="FFFD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8479631" y="10127456"/>
              <a:ext cx="33337" cy="33337"/>
            </a:xfrm>
            <a:prstGeom prst="ellipse">
              <a:avLst/>
            </a:prstGeom>
            <a:solidFill>
              <a:srgbClr val="4F34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8632031" y="10127456"/>
              <a:ext cx="33337" cy="33337"/>
            </a:xfrm>
            <a:prstGeom prst="ellipse">
              <a:avLst/>
            </a:prstGeom>
            <a:solidFill>
              <a:srgbClr val="4F34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Block Arc 42"/>
            <p:cNvSpPr/>
            <p:nvPr/>
          </p:nvSpPr>
          <p:spPr>
            <a:xfrm rot="10800000">
              <a:off x="8520112" y="10153650"/>
              <a:ext cx="104775" cy="76200"/>
            </a:xfrm>
            <a:prstGeom prst="blockArc">
              <a:avLst>
                <a:gd name="adj1" fmla="val 10800000"/>
                <a:gd name="adj2" fmla="val 0"/>
                <a:gd name="adj3" fmla="val 18000"/>
              </a:avLst>
            </a:prstGeom>
            <a:solidFill>
              <a:srgbClr val="4F34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" name="Group 43"/>
          <p:cNvGrpSpPr/>
          <p:nvPr/>
        </p:nvGrpSpPr>
        <p:grpSpPr>
          <a:xfrm rot="21000000">
            <a:off x="0" y="0"/>
            <a:ext cx="6334125" cy="7689532"/>
            <a:chOff x="0" y="0"/>
            <a:chExt cx="6334125" cy="7689532"/>
          </a:xfrm>
        </p:grpSpPr>
        <p:sp>
          <p:nvSpPr>
            <p:cNvPr id="45" name="Arc 44"/>
            <p:cNvSpPr/>
            <p:nvPr/>
          </p:nvSpPr>
          <p:spPr>
            <a:xfrm>
              <a:off x="4897755" y="7356690"/>
              <a:ext cx="210502" cy="135216"/>
            </a:xfrm>
            <a:prstGeom prst="arc">
              <a:avLst/>
            </a:prstGeom>
            <a:noFill/>
            <a:ln w="38100">
              <a:solidFill>
                <a:srgbClr val="15682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Arc 45"/>
            <p:cNvSpPr/>
            <p:nvPr/>
          </p:nvSpPr>
          <p:spPr>
            <a:xfrm rot="10800000">
              <a:off x="4699635" y="7367092"/>
              <a:ext cx="210502" cy="135216"/>
            </a:xfrm>
            <a:prstGeom prst="arc">
              <a:avLst/>
            </a:prstGeom>
            <a:noFill/>
            <a:ln w="38100">
              <a:solidFill>
                <a:srgbClr val="15682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Arc 46"/>
            <p:cNvSpPr/>
            <p:nvPr/>
          </p:nvSpPr>
          <p:spPr>
            <a:xfrm>
              <a:off x="4501515" y="7356690"/>
              <a:ext cx="210502" cy="135216"/>
            </a:xfrm>
            <a:prstGeom prst="arc">
              <a:avLst/>
            </a:prstGeom>
            <a:noFill/>
            <a:ln w="38100">
              <a:solidFill>
                <a:srgbClr val="15682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5095875" y="7169467"/>
              <a:ext cx="1238250" cy="520065"/>
            </a:xfrm>
            <a:prstGeom prst="roundRect">
              <a:avLst>
                <a:gd name="adj" fmla="val 50000"/>
              </a:avLst>
            </a:prstGeom>
            <a:solidFill>
              <a:srgbClr val="BFD8A6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5753836" y="7383797"/>
              <a:ext cx="39398" cy="39398"/>
            </a:xfrm>
            <a:prstGeom prst="ellipse">
              <a:avLst/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5933945" y="7383797"/>
              <a:ext cx="39398" cy="39398"/>
            </a:xfrm>
            <a:prstGeom prst="ellipse">
              <a:avLst/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Block Arc 50"/>
            <p:cNvSpPr/>
            <p:nvPr/>
          </p:nvSpPr>
          <p:spPr>
            <a:xfrm rot="10800000">
              <a:off x="5801677" y="7414753"/>
              <a:ext cx="123825" cy="90054"/>
            </a:xfrm>
            <a:prstGeom prst="blockArc">
              <a:avLst>
                <a:gd name="adj1" fmla="val 10800000"/>
                <a:gd name="adj2" fmla="val 0"/>
                <a:gd name="adj3" fmla="val 18000"/>
              </a:avLst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" name="Group 51"/>
          <p:cNvGrpSpPr/>
          <p:nvPr/>
        </p:nvGrpSpPr>
        <p:grpSpPr>
          <a:xfrm rot="1200000">
            <a:off x="0" y="0"/>
            <a:ext cx="7633335" cy="7962899"/>
            <a:chOff x="0" y="0"/>
            <a:chExt cx="7633335" cy="7962899"/>
          </a:xfrm>
        </p:grpSpPr>
        <p:sp>
          <p:nvSpPr>
            <p:cNvPr id="53" name="Rectangle 52"/>
            <p:cNvSpPr/>
            <p:nvPr/>
          </p:nvSpPr>
          <p:spPr>
            <a:xfrm rot="1500000">
              <a:off x="6850287" y="7421284"/>
              <a:ext cx="154305" cy="38100"/>
            </a:xfrm>
            <a:prstGeom prst="rect">
              <a:avLst/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844664" y="7600950"/>
              <a:ext cx="154305" cy="38100"/>
            </a:xfrm>
            <a:prstGeom prst="rect">
              <a:avLst/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 rot="20100000">
              <a:off x="6850287" y="7780615"/>
              <a:ext cx="154305" cy="38100"/>
            </a:xfrm>
            <a:prstGeom prst="rect">
              <a:avLst/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Rectangle 55"/>
            <p:cNvSpPr/>
            <p:nvPr/>
          </p:nvSpPr>
          <p:spPr>
            <a:xfrm rot="20100000">
              <a:off x="7473407" y="7421284"/>
              <a:ext cx="154305" cy="38100"/>
            </a:xfrm>
            <a:prstGeom prst="rect">
              <a:avLst/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7479030" y="7600950"/>
              <a:ext cx="154305" cy="38100"/>
            </a:xfrm>
            <a:prstGeom prst="rect">
              <a:avLst/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 rot="1500000">
              <a:off x="7473407" y="7780615"/>
              <a:ext cx="154305" cy="38100"/>
            </a:xfrm>
            <a:prstGeom prst="rect">
              <a:avLst/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7118985" y="7088505"/>
              <a:ext cx="240030" cy="205739"/>
            </a:xfrm>
            <a:prstGeom prst="ellipse">
              <a:avLst/>
            </a:prstGeom>
            <a:solidFill>
              <a:srgbClr val="22371F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Oval 59"/>
            <p:cNvSpPr/>
            <p:nvPr/>
          </p:nvSpPr>
          <p:spPr>
            <a:xfrm>
              <a:off x="6981825" y="7234237"/>
              <a:ext cx="514350" cy="728662"/>
            </a:xfrm>
            <a:prstGeom prst="ellipse">
              <a:avLst/>
            </a:prstGeom>
            <a:solidFill>
              <a:srgbClr val="2F4A3A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7219950" y="7259955"/>
              <a:ext cx="38100" cy="68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Oval 61"/>
            <p:cNvSpPr/>
            <p:nvPr/>
          </p:nvSpPr>
          <p:spPr>
            <a:xfrm>
              <a:off x="7084695" y="7457122"/>
              <a:ext cx="68580" cy="68580"/>
            </a:xfrm>
            <a:prstGeom prst="ellipse">
              <a:avLst/>
            </a:prstGeom>
            <a:solidFill>
              <a:srgbClr val="DBE6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Oval 62"/>
            <p:cNvSpPr/>
            <p:nvPr/>
          </p:nvSpPr>
          <p:spPr>
            <a:xfrm>
              <a:off x="7324725" y="7542847"/>
              <a:ext cx="68580" cy="68580"/>
            </a:xfrm>
            <a:prstGeom prst="ellipse">
              <a:avLst/>
            </a:prstGeom>
            <a:solidFill>
              <a:srgbClr val="DBE6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7101840" y="7714297"/>
              <a:ext cx="68580" cy="68580"/>
            </a:xfrm>
            <a:prstGeom prst="ellipse">
              <a:avLst/>
            </a:prstGeom>
            <a:solidFill>
              <a:srgbClr val="DBE6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7307579" y="7774304"/>
              <a:ext cx="68580" cy="68580"/>
            </a:xfrm>
            <a:prstGeom prst="ellipse">
              <a:avLst/>
            </a:prstGeom>
            <a:solidFill>
              <a:srgbClr val="DBE6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762000" y="11953875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A665C"/>
                </a:solidFill>
                <a:latin typeface="Source Sans 3"/>
              </a:rPr>
              <a:t>Lundgren et al. 2026, Environ. Res.: Food Syst.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21540000">
            <a:off x="571500" y="1143000"/>
            <a:ext cx="9144000" cy="7429500"/>
          </a:xfrm>
          <a:prstGeom prst="rect">
            <a:avLst/>
          </a:prstGeom>
          <a:solidFill>
            <a:srgbClr val="22371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9920000">
            <a:off x="428625" y="990600"/>
            <a:ext cx="1428750" cy="4191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680000">
            <a:off x="8429625" y="990600"/>
            <a:ext cx="1428750" cy="4191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7750" y="1714500"/>
            <a:ext cx="8191500" cy="50450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800" b="1" i="0">
                <a:solidFill>
                  <a:srgbClr val="F4F1EA"/>
                </a:solidFill>
                <a:latin typeface="Montserrat"/>
              </a:rPr>
              <a:t>Read the paper: Lundgren et al., Environmental Research: Food Systems, 2026.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7750" y="7140578"/>
            <a:ext cx="1333500" cy="76200"/>
          </a:xfrm>
          <a:prstGeom prst="rect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50" y="7521578"/>
            <a:ext cx="8191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E36B5E"/>
                </a:solidFill>
                <a:latin typeface="Source Sans 3"/>
              </a:rPr>
              <a:t>[PAPER TITLE NEEDED]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8045453"/>
            <a:ext cx="8191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DBE6A7"/>
                </a:solidFill>
                <a:latin typeface="Source Sans 3"/>
              </a:rPr>
              <a:t>Environmental Research: Food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" y="8521703"/>
            <a:ext cx="8191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DBE6A7"/>
                </a:solidFill>
                <a:latin typeface="Source Sans 3"/>
              </a:rPr>
              <a:t>https://doi.org/10.1088/2976-601X/ae8f4e</a:t>
            </a:r>
          </a:p>
        </p:txBody>
      </p:sp>
      <p:grpSp>
        <p:nvGrpSpPr>
          <p:cNvPr id="11" name="Group 10"/>
          <p:cNvGrpSpPr/>
          <p:nvPr/>
        </p:nvGrpSpPr>
        <p:grpSpPr>
          <a:xfrm rot="21120000">
            <a:off x="0" y="0"/>
            <a:ext cx="3810000" cy="11620500"/>
            <a:chOff x="0" y="0"/>
            <a:chExt cx="3810000" cy="11620500"/>
          </a:xfrm>
        </p:grpSpPr>
        <p:sp>
          <p:nvSpPr>
            <p:cNvPr id="12" name="Rectangle 11"/>
            <p:cNvSpPr/>
            <p:nvPr/>
          </p:nvSpPr>
          <p:spPr>
            <a:xfrm>
              <a:off x="1905000" y="9144000"/>
              <a:ext cx="1905000" cy="24765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D8D2C4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171700" y="9441180"/>
              <a:ext cx="1371600" cy="173355"/>
            </a:xfrm>
            <a:prstGeom prst="rect">
              <a:avLst/>
            </a:prstGeom>
            <a:solidFill>
              <a:srgbClr val="1568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171700" y="9886950"/>
              <a:ext cx="1371600" cy="47625"/>
            </a:xfrm>
            <a:prstGeom prst="rect">
              <a:avLst/>
            </a:prstGeom>
            <a:solidFill>
              <a:srgbClr val="B8B2A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171700" y="10134600"/>
              <a:ext cx="1371600" cy="47625"/>
            </a:xfrm>
            <a:prstGeom prst="rect">
              <a:avLst/>
            </a:prstGeom>
            <a:solidFill>
              <a:srgbClr val="B8B2A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171700" y="10382250"/>
              <a:ext cx="952500" cy="47625"/>
            </a:xfrm>
            <a:prstGeom prst="rect">
              <a:avLst/>
            </a:prstGeom>
            <a:solidFill>
              <a:srgbClr val="B8B2A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171700" y="10629900"/>
              <a:ext cx="1371600" cy="47625"/>
            </a:xfrm>
            <a:prstGeom prst="rect">
              <a:avLst/>
            </a:prstGeom>
            <a:solidFill>
              <a:srgbClr val="B8B2A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171700" y="10877550"/>
              <a:ext cx="1371600" cy="47625"/>
            </a:xfrm>
            <a:prstGeom prst="rect">
              <a:avLst/>
            </a:prstGeom>
            <a:solidFill>
              <a:srgbClr val="B8B2A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171700" y="11125200"/>
              <a:ext cx="952500" cy="47625"/>
            </a:xfrm>
            <a:prstGeom prst="rect">
              <a:avLst/>
            </a:prstGeom>
            <a:solidFill>
              <a:srgbClr val="B8B2A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" name="Group 19"/>
          <p:cNvGrpSpPr/>
          <p:nvPr/>
        </p:nvGrpSpPr>
        <p:grpSpPr>
          <a:xfrm rot="19500000">
            <a:off x="0" y="0"/>
            <a:ext cx="4762500" cy="11620500"/>
            <a:chOff x="0" y="0"/>
            <a:chExt cx="4762500" cy="11620500"/>
          </a:xfrm>
        </p:grpSpPr>
        <p:sp>
          <p:nvSpPr>
            <p:cNvPr id="21" name="Rectangle 20"/>
            <p:cNvSpPr/>
            <p:nvPr/>
          </p:nvSpPr>
          <p:spPr>
            <a:xfrm>
              <a:off x="3909060" y="10782300"/>
              <a:ext cx="182880" cy="838200"/>
            </a:xfrm>
            <a:prstGeom prst="rect">
              <a:avLst/>
            </a:prstGeom>
            <a:solidFill>
              <a:srgbClr val="4F3433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Donut 21"/>
            <p:cNvSpPr/>
            <p:nvPr/>
          </p:nvSpPr>
          <p:spPr>
            <a:xfrm>
              <a:off x="3238500" y="9334500"/>
              <a:ext cx="1524000" cy="1524000"/>
            </a:xfrm>
            <a:prstGeom prst="donut">
              <a:avLst/>
            </a:prstGeom>
            <a:solidFill>
              <a:srgbClr val="22371F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3406140" y="9502140"/>
              <a:ext cx="1188720" cy="1188720"/>
            </a:xfrm>
            <a:prstGeom prst="ellipse">
              <a:avLst/>
            </a:prstGeom>
            <a:solidFill>
              <a:srgbClr val="DDEB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3619500" y="9677400"/>
              <a:ext cx="266700" cy="152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5" name="Picture 24" descr="trim-dried-flowers-1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">
            <a:off x="5715000" y="9439550"/>
            <a:ext cx="1905000" cy="245689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62000" y="11953875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A665C"/>
                </a:solidFill>
                <a:latin typeface="Source Sans 3"/>
              </a:rPr>
              <a:t>Lundgren et al. 2026, Environ. Res.: Food Syst.</a:t>
            </a:r>
          </a:p>
        </p:txBody>
      </p:sp>
      <p:pic>
        <p:nvPicPr>
          <p:cNvPr id="27" name="Picture 26" descr="foundation-logo-col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0" y="11345262"/>
            <a:ext cx="1047750" cy="9419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