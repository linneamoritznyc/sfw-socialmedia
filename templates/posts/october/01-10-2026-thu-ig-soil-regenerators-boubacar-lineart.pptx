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Line-art version: realistic botanical line drawings made with flux-2-pro (no style reference, objects only, never Boubacar or his farm), recoloured Deep Green. Call to action: his YouTube channel (his Instagram @tidia.diallo.1 is private). Sources: Impact story sheet, Boubacar Tidiane Diallo: https://docs.google.com/spreadsheets/d/10UHLwzJLBQAsmJqmg4hiCQRjBKXPAx7UnOudU-Vsg5U/edit; Email from Boubacar to Allison, 30 September 2026; Instagram: https://www.instagram.com/tidia.diallo.1/; YouTube: https://www.youtube.com/@boubacartidianediallo; Facebook: https://www.facebook.com/btidja; Photos: sent by Boubacar to Stephanie on WhatsApp, 17 August 2026, and to Allison, September 2026. [TAG @Stephanie] Send Boubacar the final caption and slides to approve before posting, and confirm he studied on a scholarship. Photo: boubacar-portrait-bananas-closer.jpg.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hook. Setup line from the approved caption ('Back then, he told us, he mostly thought about what nutrients his plants needed'), shortened; then his quote. Chapter labels are new, short connective words. Line-art version: realistic botanical line drawings made with flux-2-pro (no style reference, objects only, never Boubacar or his farm), recoloured Deep Green.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land. Photos: farm-overview-with-tanks.jpeg, young-tree-with-pineapples.jpg. Degraded-soil line from the approved caption ('When he started, the soil had been degraded and poorly managed for years'). Line-art version: realistic botanical line drawings made with flux-2-pro (no style reference, objects only, never Boubacar or his farm), recoloured Deep Green.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Photos: boubacar-compost-pile.jpeg; still-biochar-kiln-smoke-73s.png (making-biochar-in-barrel-kiln.mp4 at 1:13). Line-art version: realistic botanical line drawings made with flux-2-pro (no style reference, objects only, never Boubacar or his farm), recoloured Deep Green.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 words (email to Allison, 30 Sep 2026). Photos: carrying-mulch.jpg, young-tree-yellow-new-leaves.jpg. Line-art version: realistic botanical line drawings made with flux-2-pro (no style reference, objects only, never Boubacar or his farm), recoloured Deep Green.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 words (email to Allison, 30 Sep 2026). Photos: barrel-brew-under-shelter.jpeg, still-biochar-charcoal-16s.png (making-biochar-in-barrel-kiln.mp4 at 0:16). Line-art version: realistic botanical line drawings made with flux-2-pro (no style reference, objects only, never Boubacar or his farm), recoloured Deep Green.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Photos: planting-seedling-in-agroforest.jpeg, banana-bunch.jpg. Line-art version: realistic botanical line drawings made with flux-2-pro (no style reference, objects only, never Boubacar or his farm), recoloured Deep Green.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Photos: millipede-leaf-litter.jpg, boubacar-hand-compost-worm.jpg. Line-art version: realistic botanical line drawings made with flux-2-pro (no style reference, objects only, never Boubacar or his farm), recoloured Deep Green.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 words (email to Allison, 30 Sep 2026). Photos: yellow-caterpillar-on-stem.jpg, caterpillar-on-leaf.jpg. Line-art version: realistic botanical line drawings made with flux-2-pro (no style reference, objects only, never Boubacar or his farm), recoloured Deep Green.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 words (email to Allison, 30 Sep 2026). Photos: group-of-five-farmers.jpeg, two-men-at-shade-house.jpeg [VERIFY who, where, when]. Line-art version: realistic botanical line drawings made with flux-2-pro (no style reference, objects only, never Boubacar or his farm), recoloured Deep Green.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dream and the call to action (YouTube). Line-art version: realistic botanical line drawings made with flux-2-pro (no style reference, objects only, never Boubacar or his farm), recoloured Deep Green.  Photo: young-coffee-plant.jpg.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6.jpg"/><Relationship Id="rId5" Type="http://schemas.openxmlformats.org/officeDocument/2006/relationships/image" Target="../media/image27.jpg"/><Relationship Id="rId6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31.jp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67150" y="723900"/>
            <a:ext cx="5791200" cy="8077200"/>
          </a:xfrm>
          <a:prstGeom prst="rect">
            <a:avLst/>
          </a:prstGeom>
          <a:noFill/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86765537142302866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857250"/>
            <a:ext cx="5524500" cy="7810500"/>
          </a:xfrm>
          <a:prstGeom prst="rect">
            <a:avLst/>
          </a:prstGeom>
        </p:spPr>
      </p:pic>
      <p:pic>
        <p:nvPicPr>
          <p:cNvPr id="5" name="Picture 4" descr="trim-line-coffee-branch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880000">
            <a:off x="285750" y="3877124"/>
            <a:ext cx="3619500" cy="3675751"/>
          </a:xfrm>
          <a:prstGeom prst="rect">
            <a:avLst/>
          </a:prstGeom>
        </p:spPr>
      </p:pic>
      <p:pic>
        <p:nvPicPr>
          <p:cNvPr id="6" name="Picture 5" descr="foundation-logo-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666750"/>
            <a:ext cx="1428750" cy="12845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9144000"/>
            <a:ext cx="857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300">
                <a:solidFill>
                  <a:srgbClr val="156826"/>
                </a:solidFill>
                <a:latin typeface="Montserrat"/>
              </a:rPr>
              <a:t>HAPPY INTERNATIONAL COFFEE 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9544050"/>
            <a:ext cx="666750" cy="28575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9763125"/>
            <a:ext cx="89535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Boubacar Tidiane</a:t>
            </a:r>
          </a:p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Diallo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123950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0" i="1">
                <a:solidFill>
                  <a:srgbClr val="156826"/>
                </a:solidFill>
                <a:latin typeface="EB Garamond"/>
              </a:rPr>
              <a:t>Guinea-Conakry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0" y="12268200"/>
            <a:ext cx="1047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3000" b="1" i="0">
                <a:solidFill>
                  <a:srgbClr val="156826"/>
                </a:solidFill>
                <a:latin typeface="Montserrat"/>
              </a:rPr>
              <a:t>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66750"/>
            <a:ext cx="857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300">
                <a:solidFill>
                  <a:srgbClr val="156826"/>
                </a:solidFill>
                <a:latin typeface="Montserrat"/>
              </a:rPr>
              <a:t>02   THE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66800"/>
            <a:ext cx="666750" cy="28575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809750"/>
            <a:ext cx="8763000" cy="15773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0" i="0">
                <a:solidFill>
                  <a:srgbClr val="333130"/>
                </a:solidFill>
                <a:latin typeface="Source Sans 3"/>
              </a:rPr>
              <a:t>He used to ask what nutrients his plants needed.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653753"/>
            <a:ext cx="8763000" cy="14287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149053"/>
            <a:ext cx="1143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11000" b="0" i="0">
                <a:solidFill>
                  <a:srgbClr val="C9A227"/>
                </a:solidFill>
                <a:latin typeface="EB Garamond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892003"/>
            <a:ext cx="8763000" cy="3479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0" i="1">
                <a:solidFill>
                  <a:srgbClr val="22371F"/>
                </a:solidFill>
                <a:latin typeface="EB Garamond"/>
              </a:rPr>
              <a:t>Today, I ask a different question: What does the soil food web need to thrive?</a:t>
            </a:r>
          </a:p>
        </p:txBody>
      </p:sp>
      <p:pic>
        <p:nvPicPr>
          <p:cNvPr id="9" name="Picture 8" descr="trim-line-seedling-roots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8477250"/>
            <a:ext cx="2857500" cy="2857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1226820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22371F"/>
                </a:solidFill>
                <a:latin typeface="Montserrat"/>
              </a:rPr>
              <a:t>soilfoodweb.com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0" y="12268200"/>
            <a:ext cx="1047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3000" b="1" i="0">
                <a:solidFill>
                  <a:srgbClr val="156826"/>
                </a:solidFill>
                <a:latin typeface="Montserrat"/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66750"/>
            <a:ext cx="857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300">
                <a:solidFill>
                  <a:srgbClr val="156826"/>
                </a:solidFill>
                <a:latin typeface="Montserrat"/>
              </a:rPr>
              <a:t>03   THE LAND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66800"/>
            <a:ext cx="666750" cy="28575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485900"/>
            <a:ext cx="5219700" cy="6362700"/>
          </a:xfrm>
          <a:prstGeom prst="rect">
            <a:avLst/>
          </a:prstGeom>
          <a:noFill/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8260713057948457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1619250"/>
            <a:ext cx="4953000" cy="6096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343650" y="1485900"/>
            <a:ext cx="3181350" cy="3124200"/>
          </a:xfrm>
          <a:prstGeom prst="rect">
            <a:avLst/>
          </a:prstGeom>
          <a:noFill/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689962054087291900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1619250"/>
            <a:ext cx="2914650" cy="2857500"/>
          </a:xfrm>
          <a:prstGeom prst="rect">
            <a:avLst/>
          </a:prstGeom>
        </p:spPr>
      </p:pic>
      <p:pic>
        <p:nvPicPr>
          <p:cNvPr id="9" name="Picture 8" descr="trim-line-banana-plant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40000">
            <a:off x="6477000" y="5049678"/>
            <a:ext cx="2857500" cy="285464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8382000"/>
            <a:ext cx="8763000" cy="152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56826"/>
                </a:solidFill>
                <a:latin typeface="Montserrat"/>
              </a:rPr>
              <a:t>Gnaly Coffee &amp; AgroÉcole Bio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9923490"/>
            <a:ext cx="8763000" cy="1979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0" i="0">
                <a:solidFill>
                  <a:srgbClr val="333130"/>
                </a:solidFill>
                <a:latin typeface="Source Sans 3"/>
              </a:rPr>
              <a:t>Fouta Djallon, Guinea-Conakry. When he started, the soil had been degraded and poorly managed for years.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1226820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22371F"/>
                </a:solidFill>
                <a:latin typeface="Montserrat"/>
              </a:rPr>
              <a:t>soilfoodweb.com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0" y="12268200"/>
            <a:ext cx="1047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3000" b="1" i="0">
                <a:solidFill>
                  <a:srgbClr val="156826"/>
                </a:solidFill>
                <a:latin typeface="Montserrat"/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66750"/>
            <a:ext cx="857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300">
                <a:solidFill>
                  <a:srgbClr val="156826"/>
                </a:solidFill>
                <a:latin typeface="Montserrat"/>
              </a:rPr>
              <a:t>04   FEEDING THE SOIL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66800"/>
            <a:ext cx="666750" cy="28575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485900"/>
            <a:ext cx="5600700" cy="6362700"/>
          </a:xfrm>
          <a:prstGeom prst="rect">
            <a:avLst/>
          </a:prstGeom>
          <a:noFill/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32901628102403282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1619250"/>
            <a:ext cx="5334000" cy="6096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24650" y="3009900"/>
            <a:ext cx="2800350" cy="4076700"/>
          </a:xfrm>
          <a:prstGeom prst="rect">
            <a:avLst/>
          </a:prstGeom>
          <a:noFill/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706460490967467191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3143250"/>
            <a:ext cx="2533650" cy="3810000"/>
          </a:xfrm>
          <a:prstGeom prst="rect">
            <a:avLst/>
          </a:prstGeom>
        </p:spPr>
      </p:pic>
      <p:pic>
        <p:nvPicPr>
          <p:cNvPr id="9" name="Picture 8" descr="trim-line-tithonia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00000">
            <a:off x="7143750" y="1146143"/>
            <a:ext cx="2095500" cy="208921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8382000"/>
            <a:ext cx="8763000" cy="818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56826"/>
                </a:solidFill>
                <a:latin typeface="Montserrat"/>
              </a:rPr>
              <a:t>How he feeds his soil: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9219420"/>
            <a:ext cx="8763000" cy="1869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333130"/>
                </a:solidFill>
                <a:latin typeface="Source Sans 3"/>
              </a:rPr>
              <a:t>living groundcover, mulch from his farm and the forest, and compost with biochar activated with fish hydrolysate and compost tea.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1226820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22371F"/>
                </a:solidFill>
                <a:latin typeface="Montserrat"/>
              </a:rPr>
              <a:t>soilfoodweb.com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0" y="12268200"/>
            <a:ext cx="1047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3000" b="1" i="0">
                <a:solidFill>
                  <a:srgbClr val="156826"/>
                </a:solidFill>
                <a:latin typeface="Montserrat"/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66750"/>
            <a:ext cx="857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300">
                <a:solidFill>
                  <a:srgbClr val="156826"/>
                </a:solidFill>
                <a:latin typeface="Montserrat"/>
              </a:rPr>
              <a:t>05   IN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66800"/>
            <a:ext cx="666750" cy="28575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485900"/>
            <a:ext cx="4838700" cy="6934200"/>
          </a:xfrm>
          <a:prstGeom prst="rect">
            <a:avLst/>
          </a:prstGeom>
          <a:noFill/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515689283744688338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1619250"/>
            <a:ext cx="4572000" cy="666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57900" y="1485900"/>
            <a:ext cx="3467100" cy="3886200"/>
          </a:xfrm>
          <a:prstGeom prst="rect">
            <a:avLst/>
          </a:prstGeom>
          <a:noFill/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37687133703148013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1619250"/>
            <a:ext cx="3200400" cy="3619500"/>
          </a:xfrm>
          <a:prstGeom prst="rect">
            <a:avLst/>
          </a:prstGeom>
        </p:spPr>
      </p:pic>
      <p:pic>
        <p:nvPicPr>
          <p:cNvPr id="9" name="Picture 8" descr="trim-line-orange-branch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120000">
            <a:off x="6381750" y="5619750"/>
            <a:ext cx="2857500" cy="2857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8591550"/>
            <a:ext cx="1143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11000" b="0" i="0">
                <a:solidFill>
                  <a:srgbClr val="C9A227"/>
                </a:solidFill>
                <a:latin typeface="EB Garamond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9334500"/>
            <a:ext cx="8763000" cy="1656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1">
                <a:solidFill>
                  <a:srgbClr val="22371F"/>
                </a:solidFill>
                <a:latin typeface="EB Garamond"/>
              </a:rPr>
              <a:t>I apply compost regularly around young trees and whenever I add new mulch.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1226820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22371F"/>
                </a:solidFill>
                <a:latin typeface="Montserrat"/>
              </a:rPr>
              <a:t>soilfoodweb.com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0" y="12268200"/>
            <a:ext cx="1047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3000" b="1" i="0">
                <a:solidFill>
                  <a:srgbClr val="156826"/>
                </a:solidFill>
                <a:latin typeface="Montserrat"/>
              </a:rPr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66750"/>
            <a:ext cx="857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300">
                <a:solidFill>
                  <a:srgbClr val="156826"/>
                </a:solidFill>
                <a:latin typeface="Montserrat"/>
              </a:rPr>
              <a:t>06   HIS COMPOST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66800"/>
            <a:ext cx="666750" cy="28575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485900"/>
            <a:ext cx="4457700" cy="5600700"/>
          </a:xfrm>
          <a:prstGeom prst="rect">
            <a:avLst/>
          </a:prstGeom>
          <a:noFill/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49860293484268176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1619250"/>
            <a:ext cx="4191000" cy="5334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581650" y="1485900"/>
            <a:ext cx="3943350" cy="3409950"/>
          </a:xfrm>
          <a:prstGeom prst="rect">
            <a:avLst/>
          </a:prstGeom>
          <a:noFill/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92662207400952308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1619250"/>
            <a:ext cx="3676650" cy="3143250"/>
          </a:xfrm>
          <a:prstGeom prst="rect">
            <a:avLst/>
          </a:prstGeom>
        </p:spPr>
      </p:pic>
      <p:pic>
        <p:nvPicPr>
          <p:cNvPr id="9" name="Picture 8" descr="trim-line-compost-pile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3125" y="5001078"/>
            <a:ext cx="3143250" cy="257084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7543800"/>
            <a:ext cx="1143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11000" b="0" i="0">
                <a:solidFill>
                  <a:srgbClr val="C9A227"/>
                </a:solidFill>
                <a:latin typeface="EB Garamond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8286750"/>
            <a:ext cx="8763000" cy="2778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1">
                <a:solidFill>
                  <a:srgbClr val="22371F"/>
                </a:solidFill>
                <a:latin typeface="EB Garamond"/>
              </a:rPr>
              <a:t>My compost includes plant residues, animal manure when available, biochar activated with fish hydrolysate and compost tea, and local organic materials.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1226820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22371F"/>
                </a:solidFill>
                <a:latin typeface="Montserrat"/>
              </a:rPr>
              <a:t>soilfoodweb.com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0" y="12268200"/>
            <a:ext cx="1047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3000" b="1" i="0">
                <a:solidFill>
                  <a:srgbClr val="156826"/>
                </a:solidFill>
                <a:latin typeface="Montserrat"/>
              </a:rPr>
              <a:t>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66750"/>
            <a:ext cx="857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300">
                <a:solidFill>
                  <a:srgbClr val="156826"/>
                </a:solidFill>
                <a:latin typeface="Montserrat"/>
              </a:rPr>
              <a:t>07   WHAT GROWS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66800"/>
            <a:ext cx="666750" cy="28575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485900"/>
            <a:ext cx="5410200" cy="6553200"/>
          </a:xfrm>
          <a:prstGeom prst="rect">
            <a:avLst/>
          </a:prstGeom>
          <a:noFill/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69396910895218562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1619250"/>
            <a:ext cx="5143500" cy="6286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34150" y="1485900"/>
            <a:ext cx="2990850" cy="3886200"/>
          </a:xfrm>
          <a:prstGeom prst="rect">
            <a:avLst/>
          </a:prstGeom>
          <a:noFill/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84559780560369258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0" y="1619250"/>
            <a:ext cx="2724150" cy="3619500"/>
          </a:xfrm>
          <a:prstGeom prst="rect">
            <a:avLst/>
          </a:prstGeom>
        </p:spPr>
      </p:pic>
      <p:pic>
        <p:nvPicPr>
          <p:cNvPr id="9" name="Picture 8" descr="trim-line-cacao-pod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000000">
            <a:off x="6286500" y="5716428"/>
            <a:ext cx="1905000" cy="1902142"/>
          </a:xfrm>
          <a:prstGeom prst="rect">
            <a:avLst/>
          </a:prstGeom>
        </p:spPr>
      </p:pic>
      <p:pic>
        <p:nvPicPr>
          <p:cNvPr id="10" name="Picture 9" descr="trim-line-pineapple-plant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60000">
            <a:off x="7858125" y="5856872"/>
            <a:ext cx="2000250" cy="20022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8572500"/>
            <a:ext cx="8763000" cy="818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56826"/>
                </a:solidFill>
                <a:latin typeface="Montserrat"/>
              </a:rPr>
              <a:t>What he grows together: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9409920"/>
            <a:ext cx="8763000" cy="14310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333130"/>
                </a:solidFill>
                <a:latin typeface="Source Sans 3"/>
              </a:rPr>
              <a:t>coffee, cacao, bananas, citrus, and pineapple.</a:t>
            </a:r>
          </a:p>
        </p:txBody>
      </p:sp>
      <p:pic>
        <p:nvPicPr>
          <p:cNvPr id="13" name="Picture 12" descr="trim-line-coffee-branch-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200000">
            <a:off x="7905750" y="9986446"/>
            <a:ext cx="1905000" cy="193460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0" y="1226820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22371F"/>
                </a:solidFill>
                <a:latin typeface="Montserrat"/>
              </a:rPr>
              <a:t>soilfoodweb.com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50" y="12268200"/>
            <a:ext cx="1047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3000" b="1" i="0">
                <a:solidFill>
                  <a:srgbClr val="156826"/>
                </a:solidFill>
                <a:latin typeface="Montserrat"/>
              </a:rPr>
              <a:t>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66750"/>
            <a:ext cx="857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300">
                <a:solidFill>
                  <a:srgbClr val="156826"/>
                </a:solidFill>
                <a:latin typeface="Montserrat"/>
              </a:rPr>
              <a:t>08   WHAT'S CHANGING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66800"/>
            <a:ext cx="666750" cy="28575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485900"/>
            <a:ext cx="5410200" cy="6553200"/>
          </a:xfrm>
          <a:prstGeom prst="rect">
            <a:avLst/>
          </a:prstGeom>
          <a:noFill/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854221274901591565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1619250"/>
            <a:ext cx="5143500" cy="6286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34150" y="1485900"/>
            <a:ext cx="2990850" cy="3886200"/>
          </a:xfrm>
          <a:prstGeom prst="rect">
            <a:avLst/>
          </a:prstGeom>
          <a:noFill/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51198826047870898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0" y="1619250"/>
            <a:ext cx="2724150" cy="3619500"/>
          </a:xfrm>
          <a:prstGeom prst="rect">
            <a:avLst/>
          </a:prstGeom>
        </p:spPr>
      </p:pic>
      <p:pic>
        <p:nvPicPr>
          <p:cNvPr id="9" name="Picture 8" descr="trim-line-earthworm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240000">
            <a:off x="6572250" y="5135903"/>
            <a:ext cx="2476500" cy="2682193"/>
          </a:xfrm>
          <a:prstGeom prst="rect">
            <a:avLst/>
          </a:prstGeom>
        </p:spPr>
      </p:pic>
      <p:pic>
        <p:nvPicPr>
          <p:cNvPr id="10" name="Picture 9" descr="trim-line-mushroom-cluster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1875" y="6811999"/>
            <a:ext cx="1619250" cy="161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8572500"/>
            <a:ext cx="8763000" cy="818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56826"/>
                </a:solidFill>
                <a:latin typeface="Montserrat"/>
              </a:rPr>
              <a:t>What he's seeing: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9409920"/>
            <a:ext cx="8763000" cy="14310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333130"/>
                </a:solidFill>
                <a:latin typeface="Source Sans 3"/>
              </a:rPr>
              <a:t>more earthworms, more mushrooms, active decomposition, and better soil structure.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226820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22371F"/>
                </a:solidFill>
                <a:latin typeface="Montserrat"/>
              </a:rPr>
              <a:t>soilfoodweb.com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0" y="12268200"/>
            <a:ext cx="1047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3000" b="1" i="0">
                <a:solidFill>
                  <a:srgbClr val="156826"/>
                </a:solidFill>
                <a:latin typeface="Montserrat"/>
              </a:rPr>
              <a:t>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66750"/>
            <a:ext cx="857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300">
                <a:solidFill>
                  <a:srgbClr val="156826"/>
                </a:solidFill>
                <a:latin typeface="Montserrat"/>
              </a:rPr>
              <a:t>09   LIFE RETURNS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66800"/>
            <a:ext cx="666750" cy="28575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485900"/>
            <a:ext cx="4838700" cy="6553200"/>
          </a:xfrm>
          <a:prstGeom prst="rect">
            <a:avLst/>
          </a:prstGeom>
          <a:noFill/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25548039722547789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1619250"/>
            <a:ext cx="4572000" cy="6286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57900" y="1485900"/>
            <a:ext cx="3467100" cy="3409950"/>
          </a:xfrm>
          <a:prstGeom prst="rect">
            <a:avLst/>
          </a:prstGeom>
          <a:noFill/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882293196034263952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1619250"/>
            <a:ext cx="3200400" cy="3143250"/>
          </a:xfrm>
          <a:prstGeom prst="rect">
            <a:avLst/>
          </a:prstGeom>
        </p:spPr>
      </p:pic>
      <p:pic>
        <p:nvPicPr>
          <p:cNvPr id="9" name="Picture 8" descr="trim-line-millipede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5143500"/>
            <a:ext cx="2857500" cy="2857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8305800"/>
            <a:ext cx="1143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11000" b="0" i="0">
                <a:solidFill>
                  <a:srgbClr val="C9A227"/>
                </a:solidFill>
                <a:latin typeface="EB Garamond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9048750"/>
            <a:ext cx="8763000" cy="22173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1">
                <a:solidFill>
                  <a:srgbClr val="22371F"/>
                </a:solidFill>
                <a:latin typeface="EB Garamond"/>
              </a:rPr>
              <a:t>I can already see signs of healthier soil in the field, including more earthworms, mushrooms, and active decomposition.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1226820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22371F"/>
                </a:solidFill>
                <a:latin typeface="Montserrat"/>
              </a:rPr>
              <a:t>soilfoodweb.com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0" y="12268200"/>
            <a:ext cx="1047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3000" b="1" i="0">
                <a:solidFill>
                  <a:srgbClr val="156826"/>
                </a:solidFill>
                <a:latin typeface="Montserrat"/>
              </a:rP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66750"/>
            <a:ext cx="857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300">
                <a:solidFill>
                  <a:srgbClr val="156826"/>
                </a:solidFill>
                <a:latin typeface="Montserrat"/>
              </a:rPr>
              <a:t>10   PASSING IT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66800"/>
            <a:ext cx="666750" cy="28575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485900"/>
            <a:ext cx="8763000" cy="4457700"/>
          </a:xfrm>
          <a:prstGeom prst="rect">
            <a:avLst/>
          </a:prstGeom>
          <a:noFill/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523644224161166716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1619250"/>
            <a:ext cx="8496300" cy="419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2000" y="6248400"/>
            <a:ext cx="4267200" cy="2743200"/>
          </a:xfrm>
          <a:prstGeom prst="rect">
            <a:avLst/>
          </a:prstGeom>
          <a:noFill/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04217847283079655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6381750"/>
            <a:ext cx="4000500" cy="2476500"/>
          </a:xfrm>
          <a:prstGeom prst="rect">
            <a:avLst/>
          </a:prstGeom>
        </p:spPr>
      </p:pic>
      <p:pic>
        <p:nvPicPr>
          <p:cNvPr id="9" name="Picture 8" descr="trim-line-seedling-roots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6286500"/>
            <a:ext cx="2667000" cy="2667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9067800"/>
            <a:ext cx="1143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11000" b="0" i="0">
                <a:solidFill>
                  <a:srgbClr val="C9A227"/>
                </a:solidFill>
                <a:latin typeface="EB Garamond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9810750"/>
            <a:ext cx="8763000" cy="2112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1">
                <a:solidFill>
                  <a:srgbClr val="22371F"/>
                </a:solidFill>
                <a:latin typeface="EB Garamond"/>
              </a:rPr>
              <a:t>Your training changed the way I see agriculture. I now believe that agriculture is biology, not chemical fertilizer.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1226820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22371F"/>
                </a:solidFill>
                <a:latin typeface="Montserrat"/>
              </a:rPr>
              <a:t>soilfoodweb.com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0" y="12268200"/>
            <a:ext cx="1047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3000" b="1" i="0">
                <a:solidFill>
                  <a:srgbClr val="156826"/>
                </a:solidFill>
                <a:latin typeface="Montserrat"/>
              </a:rPr>
              <a:t>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66750"/>
            <a:ext cx="857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300">
                <a:solidFill>
                  <a:srgbClr val="156826"/>
                </a:solidFill>
                <a:latin typeface="Montserrat"/>
              </a:rPr>
              <a:t>11   THE DREAM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66800"/>
            <a:ext cx="666750" cy="28575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1352550"/>
            <a:ext cx="1143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11000" b="0" i="0">
                <a:solidFill>
                  <a:srgbClr val="C9A227"/>
                </a:solidFill>
                <a:latin typeface="EB Garamond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095500"/>
            <a:ext cx="8763000" cy="36194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000" b="0" i="1">
                <a:solidFill>
                  <a:srgbClr val="22371F"/>
                </a:solidFill>
                <a:latin typeface="EB Garamond"/>
              </a:rPr>
              <a:t>My dream is to restore degraded land in the Fouta Djallon and help my community learn living-soil practices.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134012"/>
            <a:ext cx="4648200" cy="4953087"/>
          </a:xfrm>
          <a:prstGeom prst="rect">
            <a:avLst/>
          </a:prstGeom>
          <a:noFill/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92391624775439174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6267362"/>
            <a:ext cx="4381500" cy="4686387"/>
          </a:xfrm>
          <a:prstGeom prst="rect">
            <a:avLst/>
          </a:prstGeom>
        </p:spPr>
      </p:pic>
      <p:pic>
        <p:nvPicPr>
          <p:cNvPr id="9" name="Picture 8" descr="trim-line-coffee-branch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00000">
            <a:off x="5905500" y="6240716"/>
            <a:ext cx="3429000" cy="348229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2000" y="11334750"/>
            <a:ext cx="8763000" cy="762000"/>
          </a:xfrm>
          <a:prstGeom prst="roundRect">
            <a:avLst>
              <a:gd name="adj" fmla="val 50000"/>
            </a:avLst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11334750"/>
            <a:ext cx="8763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4F1EA"/>
                </a:solidFill>
                <a:latin typeface="Montserrat"/>
              </a:rPr>
              <a:t>Subscribe on YouTube: @boubacartidianediallo</a:t>
            </a:r>
          </a:p>
        </p:txBody>
      </p:sp>
      <p:pic>
        <p:nvPicPr>
          <p:cNvPr id="12" name="Picture 11" descr="foundation-logo-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0" y="476250"/>
            <a:ext cx="1143000" cy="10276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