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1A. Series cover. Same cover on every Soil Regenerators post.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1D.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85875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128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the HealTerra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077075"/>
            <a:ext cx="10287000" cy="5781675"/>
          </a:xfrm>
          <a:prstGeom prst="rect">
            <a:avLst/>
          </a:prstGeom>
          <a:gradFill rotWithShape="1">
            <a:gsLst>
              <a:gs pos="0">
                <a:srgbClr val="1E3F1D">
                  <a:alpha val="0"/>
                </a:srgbClr>
              </a:gs>
              <a:gs pos="100000">
                <a:srgbClr val="1E3F1D">
                  <a:alpha val="85000"/>
                </a:srgbClr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62000" y="762000"/>
            <a:ext cx="7239000" cy="666750"/>
          </a:xfrm>
          <a:prstGeom prst="roundRect">
            <a:avLst>
              <a:gd name="adj" fmla="val 50000"/>
            </a:avLst>
          </a:prstGeom>
          <a:solidFill>
            <a:srgbClr val="1E3F1D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72390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0" spc="200">
                <a:solidFill>
                  <a:srgbClr val="B1BCB1"/>
                </a:solidFill>
                <a:latin typeface="Montserrat"/>
              </a:rPr>
              <a:t>SOIL REGENERATORS IN THE WILD</a:t>
            </a:r>
          </a:p>
        </p:txBody>
      </p:sp>
      <p:sp>
        <p:nvSpPr>
          <p:cNvPr id="7" name="Rectangle 6"/>
          <p:cNvSpPr/>
          <p:nvPr/>
        </p:nvSpPr>
        <p:spPr>
          <a:xfrm>
            <a:off x="762000" y="10058400"/>
            <a:ext cx="1143000" cy="38100"/>
          </a:xfrm>
          <a:prstGeom prst="rect">
            <a:avLst/>
          </a:prstGeom>
          <a:solidFill>
            <a:srgbClr val="B1BC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2000" y="10382250"/>
            <a:ext cx="7620000" cy="95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400" b="1" i="0">
                <a:solidFill>
                  <a:srgbClr val="F3F1EA"/>
                </a:solidFill>
                <a:latin typeface="Montserrat"/>
              </a:rPr>
              <a:t>Elena Lininger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1447757"/>
            <a:ext cx="7429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0" i="0">
                <a:solidFill>
                  <a:srgbClr val="B1BCB1"/>
                </a:solidFill>
                <a:latin typeface="Source Sans 3"/>
              </a:rPr>
              <a:t>HealTerra, Southern Oregon</a:t>
            </a:r>
          </a:p>
        </p:txBody>
      </p:sp>
      <p:pic>
        <p:nvPicPr>
          <p:cNvPr id="10" name="Picture 9" descr="foundation-logo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623463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B1BCB1"/>
                </a:solidFill>
                <a:latin typeface="Montserrat"/>
              </a:rPr>
              <a:t>WHAT HAPPENS THERE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5290213"/>
            <a:ext cx="8382000" cy="237357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Food waste goes in, living compost comes out.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8001000"/>
          </a:xfrm>
          <a:prstGeom prst="rect">
            <a:avLst/>
          </a:prstGeom>
          <a:solidFill>
            <a:srgbClr val="C9C4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2400" y="0"/>
            <a:ext cx="9982200" cy="800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>
                <a:solidFill>
                  <a:srgbClr val="4A463F"/>
                </a:solidFill>
                <a:latin typeface="Source Sans 3"/>
              </a:rPr>
              <a:t>PHOTO: worm castings in hand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8477250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31662F"/>
                </a:solidFill>
                <a:latin typeface="Montserrat"/>
              </a:rPr>
              <a:t>WORM DIGESTER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9001125"/>
            <a:ext cx="8763000" cy="285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800" b="0" i="0">
                <a:solidFill>
                  <a:srgbClr val="1E3F1D"/>
                </a:solidFill>
                <a:latin typeface="Source Sans 3"/>
              </a:rPr>
              <a:t>Compost and worm castings from a worm digester.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4243742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B1BCB1"/>
                </a:solidFill>
                <a:latin typeface="Montserrat"/>
              </a:rPr>
              <a:t>HEALTERRA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910492"/>
            <a:ext cx="8382000" cy="313301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Part of a nonprofit that runs outdoor programs for veterans.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3484301"/>
            <a:ext cx="8763000" cy="3293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 spc="200">
                <a:solidFill>
                  <a:srgbClr val="B1BCB1"/>
                </a:solidFill>
                <a:latin typeface="Montserrat"/>
              </a:rPr>
              <a:t>WITH SFW GRADUATES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4151051"/>
            <a:ext cx="8382000" cy="4651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5200" b="1" i="0">
                <a:solidFill>
                  <a:srgbClr val="F3F1EA"/>
                </a:solidFill>
                <a:latin typeface="Montserrat"/>
              </a:rPr>
              <a:t>A compost extractor built by SFW graduates, and biological testing with another graduate.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F3F1EA">
                    <a:alpha val="60000"/>
                  </a:srgbClr>
                </a:solidFill>
                <a:latin typeface="Source Sans 3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211670" y="5334000"/>
            <a:ext cx="7863658" cy="1015984"/>
          </a:xfrm>
          <a:prstGeom prst="roundRect">
            <a:avLst>
              <a:gd name="adj" fmla="val 37500"/>
            </a:avLst>
          </a:prstGeom>
          <a:solidFill>
            <a:srgbClr val="316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516470" y="5334000"/>
            <a:ext cx="7254058" cy="10159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4000" b="1" i="0">
                <a:solidFill>
                  <a:srgbClr val="F3F1EA"/>
                </a:solidFill>
                <a:latin typeface="Montserrat"/>
              </a:rPr>
              <a:t>Follow @healterra_org</a:t>
            </a:r>
          </a:p>
        </p:txBody>
      </p:sp>
      <p:pic>
        <p:nvPicPr>
          <p:cNvPr id="4" name="Picture 3" descr="foundation-logo-col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1501" y="11239500"/>
            <a:ext cx="953498" cy="8572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