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Tommy Tepper, Loida Vasquez, Carla Portugal, Wesley Sanders.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Casey Williams, Brian Daubenspeck, Isadora Schmidt, Aysen Ustunay.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Gerald Ramirez, Elena Kalli.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Pederson, Nick Padwick, Delvin Solkinson.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Relationship Id="rId11" Type="http://schemas.openxmlformats.org/officeDocument/2006/relationships/image" Target="../media/image24.jpg"/><Relationship Id="rId12" Type="http://schemas.openxmlformats.org/officeDocument/2006/relationships/image" Target="../media/image25.jpg"/><Relationship Id="rId13" Type="http://schemas.openxmlformats.org/officeDocument/2006/relationships/image" Target="../media/image26.jpg"/><Relationship Id="rId14" Type="http://schemas.openxmlformats.org/officeDocument/2006/relationships/image" Target="../media/image27.jpg"/><Relationship Id="rId15" Type="http://schemas.openxmlformats.org/officeDocument/2006/relationships/image" Target="../media/image28.jpg"/><Relationship Id="rId16" Type="http://schemas.openxmlformats.org/officeDocument/2006/relationships/image" Target="../media/image2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Meet our fourteen mentors.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392036393016209585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66875"/>
            <a:ext cx="4191000" cy="419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599122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39659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Director of Education &amp; Mentor</a:t>
            </a:r>
          </a:p>
        </p:txBody>
      </p:sp>
      <p:pic>
        <p:nvPicPr>
          <p:cNvPr id="72" name="Picture 71" descr="69971234041650637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800" y="1666875"/>
            <a:ext cx="4191000" cy="4191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638800" y="599122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38800" y="639659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Advanced Programs Lead &amp; Mentor</a:t>
            </a:r>
          </a:p>
        </p:txBody>
      </p:sp>
      <p:pic>
        <p:nvPicPr>
          <p:cNvPr id="75" name="Picture 74" descr="597151715960520346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7286625"/>
            <a:ext cx="4191000" cy="41910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57200" y="1161097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1201634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7200" y="12346898"/>
            <a:ext cx="41910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1662F"/>
                </a:solidFill>
                <a:latin typeface="Source Sans 3"/>
              </a:rPr>
              <a:t>“Bare soil erodes. Living roots and cover hold the aggregates together.”</a:t>
            </a:r>
          </a:p>
        </p:txBody>
      </p:sp>
      <p:pic>
        <p:nvPicPr>
          <p:cNvPr id="79" name="Picture 78" descr="64795739128005070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7286625"/>
            <a:ext cx="4191000" cy="419100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638800" y="1161097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38800" y="1201634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38800" y="12346898"/>
            <a:ext cx="41910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1662F"/>
                </a:solidFill>
                <a:latin typeface="Source Sans 3"/>
              </a:rPr>
              <a:t>“Compost can look finished and still lack the biology you need. Check it under the microscope before you apply it.”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331717395542823822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66875"/>
            <a:ext cx="4191000" cy="419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57200" y="599122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39659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6727148"/>
            <a:ext cx="41910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1662F"/>
                </a:solidFill>
                <a:latin typeface="Source Sans 3"/>
              </a:rPr>
              <a:t>Around ten years of farming and gardening. A long-time student, now teaching. Favourite microbe: rotifers.</a:t>
            </a:r>
          </a:p>
        </p:txBody>
      </p:sp>
      <p:pic>
        <p:nvPicPr>
          <p:cNvPr id="73" name="Picture 72" descr="64824950001101245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800" y="1666875"/>
            <a:ext cx="4191000" cy="4191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38800" y="599122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38800" y="639659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38800" y="6727148"/>
            <a:ext cx="41910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1662F"/>
                </a:solidFill>
                <a:latin typeface="Source Sans 3"/>
              </a:rPr>
              <a:t>Manages orchards in California, after years in New Mexico. Favourite microbes: the small underdogs.</a:t>
            </a:r>
          </a:p>
        </p:txBody>
      </p:sp>
      <p:pic>
        <p:nvPicPr>
          <p:cNvPr id="77" name="Picture 76" descr="44905042083380120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7286625"/>
            <a:ext cx="4191000" cy="41910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457200" y="1161097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7200" y="1201634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12346898"/>
            <a:ext cx="41910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1662F"/>
                </a:solidFill>
                <a:latin typeface="Source Sans 3"/>
              </a:rPr>
              <a:t>From Florianópolis, Brazil, now living in Spain. Favourite: lichens, though she loves all her microbes equally.</a:t>
            </a:r>
          </a:p>
        </p:txBody>
      </p:sp>
      <p:pic>
        <p:nvPicPr>
          <p:cNvPr id="81" name="Picture 80" descr="52626133070980756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7286625"/>
            <a:ext cx="4191000" cy="41910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638800" y="11610975"/>
            <a:ext cx="4191000" cy="481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38800" y="12016349"/>
            <a:ext cx="4191000" cy="368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38800" y="12346898"/>
            <a:ext cx="41910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1662F"/>
                </a:solidFill>
                <a:latin typeface="Source Sans 3"/>
              </a:rPr>
              <a:t>Favourite microbe: flagellates. She loves watching them as babies, running around.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7696628177326262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19250"/>
            <a:ext cx="3476625" cy="3476625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429125" y="1809750"/>
            <a:ext cx="5286375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9125" y="2450577"/>
            <a:ext cx="528637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2" name="Picture 71" descr="563728922253125218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334000"/>
            <a:ext cx="3476625" cy="347662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429125" y="5524500"/>
            <a:ext cx="5286375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29125" y="6165327"/>
            <a:ext cx="528637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29125" y="6708776"/>
            <a:ext cx="5286375" cy="1223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“Extracts pull organisms off the compost into solution, so you can apply biology across a whole field.”</a:t>
            </a:r>
          </a:p>
        </p:txBody>
      </p:sp>
      <p:pic>
        <p:nvPicPr>
          <p:cNvPr id="76" name="Picture 75" descr="607720919668984937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9048750"/>
            <a:ext cx="3476625" cy="347662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29125" y="9239250"/>
            <a:ext cx="5286375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29125" y="9880077"/>
            <a:ext cx="528637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Admin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5039607456405408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19250"/>
            <a:ext cx="3476625" cy="3476625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429125" y="1809750"/>
            <a:ext cx="5286375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9125" y="2450577"/>
            <a:ext cx="528637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2" name="Picture 71" descr="27245454738775568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334000"/>
            <a:ext cx="3476625" cy="347662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429125" y="5524500"/>
            <a:ext cx="5286375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29125" y="6165327"/>
            <a:ext cx="528637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29125" y="6708776"/>
            <a:ext cx="5286375" cy="84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“I make 750 tons of compost a year. Biology works at any scale.”</a:t>
            </a:r>
          </a:p>
        </p:txBody>
      </p:sp>
      <p:pic>
        <p:nvPicPr>
          <p:cNvPr id="76" name="Picture 75" descr="272605222068293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9048750"/>
            <a:ext cx="3476625" cy="347662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429125" y="9239250"/>
            <a:ext cx="5286375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29125" y="9880077"/>
            <a:ext cx="5286375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Permaculture Lead Teacher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227099091821747239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00250"/>
            <a:ext cx="2286000" cy="2286000"/>
          </a:xfrm>
          <a:prstGeom prst="rect">
            <a:avLst/>
          </a:prstGeom>
        </p:spPr>
      </p:pic>
      <p:sp>
        <p:nvSpPr>
          <p:cNvPr id="70" name="Rectangle 69"/>
          <p:cNvSpPr/>
          <p:nvPr/>
        </p:nvSpPr>
        <p:spPr>
          <a:xfrm>
            <a:off x="457200" y="38671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350" y="38671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2" name="Picture 71" descr="73920690050579522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000250"/>
            <a:ext cx="2286000" cy="2286000"/>
          </a:xfrm>
          <a:prstGeom prst="rect">
            <a:avLst/>
          </a:prstGeom>
        </p:spPr>
      </p:pic>
      <p:sp>
        <p:nvSpPr>
          <p:cNvPr id="73" name="Rectangle 72"/>
          <p:cNvSpPr/>
          <p:nvPr/>
        </p:nvSpPr>
        <p:spPr>
          <a:xfrm>
            <a:off x="2819400" y="38671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76550" y="38671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75" name="Picture 74" descr="21202641858692551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000250"/>
            <a:ext cx="2286000" cy="2286000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5181600" y="38671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38750" y="38671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78" name="Picture 77" descr="92181857898692998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000250"/>
            <a:ext cx="2286000" cy="2286000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7543800" y="38671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00950" y="38671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81" name="Picture 80" descr="7640282304349610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" y="4362450"/>
            <a:ext cx="2286000" cy="2286000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1638300" y="62293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695450" y="62293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84" name="Picture 83" descr="38724677281249684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362450"/>
            <a:ext cx="2286000" cy="2286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4000500" y="62293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57650" y="62293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87" name="Picture 86" descr="776856302004529674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4362450"/>
            <a:ext cx="2286000" cy="2286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6362700" y="62293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850" y="62293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0" name="Picture 89" descr="1884781694128120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724650"/>
            <a:ext cx="2286000" cy="2286000"/>
          </a:xfrm>
          <a:prstGeom prst="rect">
            <a:avLst/>
          </a:prstGeom>
        </p:spPr>
      </p:pic>
      <p:sp>
        <p:nvSpPr>
          <p:cNvPr id="91" name="Rectangle 90"/>
          <p:cNvSpPr/>
          <p:nvPr/>
        </p:nvSpPr>
        <p:spPr>
          <a:xfrm>
            <a:off x="457200" y="85915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4350" y="85915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93" name="Picture 92" descr="728508305515664816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724650"/>
            <a:ext cx="2286000" cy="2286000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2819400" y="85915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876550" y="85915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96" name="Picture 95" descr="329838735852376745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724650"/>
            <a:ext cx="2286000" cy="2286000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5181600" y="85915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238750" y="85915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99" name="Picture 98" descr="298460372437736068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724650"/>
            <a:ext cx="2286000" cy="2286000"/>
          </a:xfrm>
          <a:prstGeom prst="rect">
            <a:avLst/>
          </a:prstGeom>
        </p:spPr>
      </p:pic>
      <p:sp>
        <p:nvSpPr>
          <p:cNvPr id="100" name="Rectangle 99"/>
          <p:cNvSpPr/>
          <p:nvPr/>
        </p:nvSpPr>
        <p:spPr>
          <a:xfrm>
            <a:off x="7543800" y="85915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600950" y="85915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102" name="Picture 101" descr="381548926460400943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8300" y="9086850"/>
            <a:ext cx="2286000" cy="2286000"/>
          </a:xfrm>
          <a:prstGeom prst="rect">
            <a:avLst/>
          </a:prstGeom>
        </p:spPr>
      </p:pic>
      <p:sp>
        <p:nvSpPr>
          <p:cNvPr id="103" name="Rectangle 102"/>
          <p:cNvSpPr/>
          <p:nvPr/>
        </p:nvSpPr>
        <p:spPr>
          <a:xfrm>
            <a:off x="1638300" y="109537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695450" y="109537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105" name="Picture 104" descr="6333570285111628965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0" y="9086850"/>
            <a:ext cx="2286000" cy="2286000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4000500" y="109537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057650" y="109537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108" name="Picture 107" descr="483277807472718740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62700" y="9086850"/>
            <a:ext cx="2286000" cy="2286000"/>
          </a:xfrm>
          <a:prstGeom prst="rect">
            <a:avLst/>
          </a:prstGeom>
        </p:spPr>
      </p:pic>
      <p:sp>
        <p:nvSpPr>
          <p:cNvPr id="109" name="Rectangle 108"/>
          <p:cNvSpPr/>
          <p:nvPr/>
        </p:nvSpPr>
        <p:spPr>
          <a:xfrm>
            <a:off x="6362700" y="109537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19850" y="109537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