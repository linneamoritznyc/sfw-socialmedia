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image. Sources: Lundgren et al., Environmental Research: Food Systems, 2026, https://doi.org/10.1088/2976-601X/ae8f4e; Ecdysis Foundation press release, 17 September 2026, https://www.globenewswire.com/news-release/2026/09/17/3363925/0/en/regenerative-farming-outpaces-tech-based-carbon-capture-solutions-in-first-large-scale-systemic-study.html Right half: the slide 1 field collage on a taped paper card (not tilted), on Food Web Green.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0" y="0"/>
            <a:ext cx="5715000" cy="5972175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91250" y="571500"/>
            <a:ext cx="4762500" cy="40957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9920000">
            <a:off x="6048375" y="4191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680000">
            <a:off x="9667875" y="4191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m-cut-brown-bru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010" y="2247900"/>
            <a:ext cx="4030980" cy="2080260"/>
          </a:xfrm>
          <a:prstGeom prst="rect">
            <a:avLst/>
          </a:prstGeom>
        </p:spPr>
      </p:pic>
      <p:pic>
        <p:nvPicPr>
          <p:cNvPr id="7" name="Picture 6" descr="trim-fern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20000">
            <a:off x="6688455" y="1319261"/>
            <a:ext cx="2190750" cy="1114326"/>
          </a:xfrm>
          <a:prstGeom prst="rect">
            <a:avLst/>
          </a:prstGeom>
        </p:spPr>
      </p:pic>
      <p:pic>
        <p:nvPicPr>
          <p:cNvPr id="8" name="Picture 7" descr="trim-fern-s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1400000">
            <a:off x="8462962" y="1372581"/>
            <a:ext cx="1971675" cy="1007687"/>
          </a:xfrm>
          <a:prstGeom prst="rect">
            <a:avLst/>
          </a:prstGeom>
        </p:spPr>
      </p:pic>
      <p:pic>
        <p:nvPicPr>
          <p:cNvPr id="9" name="Picture 8" descr="trim-fungal-hyphae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367587" y="2001855"/>
            <a:ext cx="2409825" cy="2572348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 rot="21240000">
            <a:off x="0" y="0"/>
            <a:ext cx="7096125" cy="5638800"/>
            <a:chOff x="0" y="0"/>
            <a:chExt cx="7096125" cy="5638800"/>
          </a:xfrm>
        </p:grpSpPr>
        <p:sp>
          <p:nvSpPr>
            <p:cNvPr id="11" name="Rectangle 10"/>
            <p:cNvSpPr/>
            <p:nvPr/>
          </p:nvSpPr>
          <p:spPr>
            <a:xfrm>
              <a:off x="6534150" y="4779645"/>
              <a:ext cx="76200" cy="64960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 rot="8700000">
              <a:off x="6153150" y="4632960"/>
              <a:ext cx="419100" cy="2095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 rot="2100000">
              <a:off x="6572250" y="4632960"/>
              <a:ext cx="419100" cy="2095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6048375" y="5324475"/>
              <a:ext cx="1047750" cy="314325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493668" y="5446578"/>
              <a:ext cx="28208" cy="28208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6622622" y="5446578"/>
              <a:ext cx="28208" cy="28208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lock Arc 16"/>
            <p:cNvSpPr/>
            <p:nvPr/>
          </p:nvSpPr>
          <p:spPr>
            <a:xfrm rot="10800000">
              <a:off x="6527922" y="5468742"/>
              <a:ext cx="88655" cy="64476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571500" y="1390496"/>
            <a:ext cx="4953000" cy="21434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39% more</a:t>
            </a:r>
          </a:p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soil carbon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" y="3667301"/>
            <a:ext cx="4953000" cy="1009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DBE6A7"/>
                </a:solidFill>
                <a:latin typeface="Source Sans 3"/>
              </a:rPr>
              <a:t>on the most regenerative farms,</a:t>
            </a:r>
          </a:p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DBE6A7"/>
                </a:solidFill>
                <a:latin typeface="Source Sans 3"/>
              </a:rPr>
              <a:t>1000 Farms Initiative, 2026</a:t>
            </a:r>
          </a:p>
        </p:txBody>
      </p:sp>
      <p:pic>
        <p:nvPicPr>
          <p:cNvPr id="20" name="Picture 1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0" y="4915707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