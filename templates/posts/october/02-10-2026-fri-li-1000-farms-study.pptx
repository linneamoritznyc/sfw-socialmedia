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image. Sources: Lundgren et al., Environmental Research: Food Systems, 2026, https://doi.org/10.1088/2976-601X/ae8f4e; Ecdysis Foundation press release, 17 September 2026, https://www.globenewswire.com/news-release/2026/09/17/3363925/0/en/regenerative-farming-outpaces-tech-based-carbon-capture-solutions-in-first-large-scale-systemic-study.html Right half: the slide 1 field collage on a taped paper card, on Food Web Green.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0" y="0"/>
            <a:ext cx="5715000" cy="5972175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20000">
            <a:off x="6096000" y="381000"/>
            <a:ext cx="4953000" cy="428625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9920000">
            <a:off x="5953125" y="2286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680000">
            <a:off x="9763125" y="2286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m-cut-brown-bru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010" y="2152650"/>
            <a:ext cx="4030980" cy="2080260"/>
          </a:xfrm>
          <a:prstGeom prst="rect">
            <a:avLst/>
          </a:prstGeom>
        </p:spPr>
      </p:pic>
      <p:pic>
        <p:nvPicPr>
          <p:cNvPr id="7" name="Picture 6" descr="trim-fern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20000">
            <a:off x="6688455" y="1224011"/>
            <a:ext cx="2190750" cy="1114326"/>
          </a:xfrm>
          <a:prstGeom prst="rect">
            <a:avLst/>
          </a:prstGeom>
        </p:spPr>
      </p:pic>
      <p:pic>
        <p:nvPicPr>
          <p:cNvPr id="8" name="Picture 7" descr="trim-fern-s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1400000">
            <a:off x="8462962" y="1277331"/>
            <a:ext cx="1971675" cy="1007687"/>
          </a:xfrm>
          <a:prstGeom prst="rect">
            <a:avLst/>
          </a:prstGeom>
        </p:spPr>
      </p:pic>
      <p:pic>
        <p:nvPicPr>
          <p:cNvPr id="9" name="Picture 8" descr="trim-fungal-hyphae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367587" y="1906605"/>
            <a:ext cx="2409825" cy="2572348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 rot="21240000">
            <a:off x="0" y="0"/>
            <a:ext cx="7096125" cy="5543550"/>
            <a:chOff x="0" y="0"/>
            <a:chExt cx="7096125" cy="5543550"/>
          </a:xfrm>
        </p:grpSpPr>
        <p:sp>
          <p:nvSpPr>
            <p:cNvPr id="11" name="Rectangle 10"/>
            <p:cNvSpPr/>
            <p:nvPr/>
          </p:nvSpPr>
          <p:spPr>
            <a:xfrm>
              <a:off x="6534150" y="4684395"/>
              <a:ext cx="76200" cy="64960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 rot="8700000">
              <a:off x="6153150" y="4537710"/>
              <a:ext cx="419100" cy="2095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 rot="2100000">
              <a:off x="6572250" y="4537710"/>
              <a:ext cx="419100" cy="2095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6048375" y="5229225"/>
              <a:ext cx="1047750" cy="314325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493668" y="5351328"/>
              <a:ext cx="28208" cy="28208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6622622" y="5351328"/>
              <a:ext cx="28208" cy="28208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lock Arc 16"/>
            <p:cNvSpPr/>
            <p:nvPr/>
          </p:nvSpPr>
          <p:spPr>
            <a:xfrm rot="10800000">
              <a:off x="6527922" y="5373492"/>
              <a:ext cx="88655" cy="64476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" name="Group 17"/>
          <p:cNvGrpSpPr/>
          <p:nvPr/>
        </p:nvGrpSpPr>
        <p:grpSpPr>
          <a:xfrm rot="1500000">
            <a:off x="0" y="0"/>
            <a:ext cx="10593705" cy="4743449"/>
            <a:chOff x="0" y="0"/>
            <a:chExt cx="10593705" cy="4743449"/>
          </a:xfrm>
        </p:grpSpPr>
        <p:sp>
          <p:nvSpPr>
            <p:cNvPr id="19" name="Rectangle 18"/>
            <p:cNvSpPr/>
            <p:nvPr/>
          </p:nvSpPr>
          <p:spPr>
            <a:xfrm rot="1500000">
              <a:off x="9984667" y="4317960"/>
              <a:ext cx="12001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980295" y="4457700"/>
              <a:ext cx="12001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 rot="20100000">
              <a:off x="9984667" y="4597439"/>
              <a:ext cx="12001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 rot="20100000">
              <a:off x="10469317" y="4317960"/>
              <a:ext cx="12001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473690" y="4457700"/>
              <a:ext cx="12001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 rot="1500000">
              <a:off x="10469317" y="4597439"/>
              <a:ext cx="120015" cy="38100"/>
            </a:xfrm>
            <a:prstGeom prst="rect">
              <a:avLst/>
            </a:prstGeom>
            <a:solidFill>
              <a:srgbClr val="22371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10193655" y="4063365"/>
              <a:ext cx="186690" cy="160020"/>
            </a:xfrm>
            <a:prstGeom prst="ellipse">
              <a:avLst/>
            </a:prstGeom>
            <a:solidFill>
              <a:srgbClr val="22371F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10086975" y="4176712"/>
              <a:ext cx="400050" cy="566737"/>
            </a:xfrm>
            <a:prstGeom prst="ellipse">
              <a:avLst/>
            </a:prstGeom>
            <a:solidFill>
              <a:srgbClr val="2F4A3A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0267950" y="4196715"/>
              <a:ext cx="38100" cy="533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10166985" y="4350067"/>
              <a:ext cx="53340" cy="5334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10353675" y="4416742"/>
              <a:ext cx="53340" cy="5334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10180320" y="4550092"/>
              <a:ext cx="53340" cy="5334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10340340" y="4596765"/>
              <a:ext cx="53340" cy="53340"/>
            </a:xfrm>
            <a:prstGeom prst="ellipse">
              <a:avLst/>
            </a:prstGeom>
            <a:solidFill>
              <a:srgbClr val="DBE6A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476250" y="1428750"/>
            <a:ext cx="4953000" cy="21434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39% more soil carbon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250" y="3667454"/>
            <a:ext cx="476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BE6A7"/>
                </a:solidFill>
                <a:latin typeface="Source Sans 3"/>
              </a:rPr>
              <a:t>on the most regenerative farms, 1000 Farms Initiative, 2026</a:t>
            </a:r>
          </a:p>
        </p:txBody>
      </p:sp>
      <p:pic>
        <p:nvPicPr>
          <p:cNvPr id="34" name="Picture 33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0" y="4915707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