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Grid and continuous hyphae panorama after Stephanie's feedback. Background: assets/collage/boubacar-panorama/ (tools/make_hyphae_panorama.py, drawn by code). His quotes from his email to Allison, 30 Sep 2026.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 Photo: boubacar-portrait-bananas-closer.jpg. Graduation line from Linnea (1 Oct 2026): confirm the exact course or program and the date [VERIFY].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Gnaly. Grid and continuous hyphae panorama after Stephanie's feedback. Background: assets/collage/boubacar-panorama/ (tools/make_hyphae_panorama.py, drawn by code). His quotes from his email to Allison, 30 Sep 2026. Photos: farm-overview-with-tanks.jpeg, young-tree-with-pineapples.jpg, man-by-water-tanks.jpeg. NEW COPY for approval (narrative hook): based on his email and the approved caption draft. From the caption: 'When he started, the soil had been degraded and poorly managed for years.'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question. Grid and continuous hyphae panorama after Stephanie's feedback. Background: assets/collage/boubacar-panorama/ (tools/make_hyphae_panorama.py, drawn by code). His quotes from his email to Allison, 30 Sep 2026. Photo: vegetable-beds-by-building.jpeg. NEW COPY for approval (narrative hook): based on his email and the approved caption draft. Lead-in 'So he changed the question' is new; the quote is 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Feeding the soil. Grid and continuous hyphae panorama after Stephanie's feedback. Background: assets/collage/boubacar-panorama/ (tools/make_hyphae_panorama.py, drawn by code). His quotes from his email to Allison, 30 Sep 2026. Photos: boubacar-compost-pile.jpeg; still-biochar-kiln-smoke-73s.png (making-biochar-in-barrel-kiln.mp4 at 1:13).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practice. Grid and continuous hyphae panorama after Stephanie's feedback. Background: assets/collage/boubacar-panorama/ (tools/make_hyphae_panorama.py, drawn by code). His quotes from his email to Allison, 30 Sep 2026. Photos: carrying-mulch.jpg, still-biochar-charcoal-16s.png, barrel-brew-under-shelter.jpeg.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grows. Grid and continuous hyphae panorama after Stephanie's feedback. Background: assets/collage/boubacar-panorama/ (tools/make_hyphae_panorama.py, drawn by code). His quotes from his email to Allison, 30 Sep 2026. Photos: planting-seedling-in-agroforest.jpeg, banana-bunch.jpg.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His compost. Grid and continuous hyphae panorama after Stephanie's feedback. Background: assets/collage/boubacar-panorama/ (tools/make_hyphae_panorama.py, drawn by code). His quotes from his email to Allison, 30 Sep 2026. Photos: buckets-of-tubers.jpg, young-tree-yellow-new-leaves.jpg, man-with-harvested-tubers.jpeg [VERIFY who].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What's changing. Grid and continuous hyphae panorama after Stephanie's feedback. Background: assets/collage/boubacar-panorama/ (tools/make_hyphae_panorama.py, drawn by code). His quotes from his email to Allison, 30 Sep 2026. Photos: millipede-leaf-litter.jpg, boubacar-hand-compost-worm.jpg.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Life returns. Grid and continuous hyphae panorama after Stephanie's feedback. Background: assets/collage/boubacar-panorama/ (tools/make_hyphae_panorama.py, drawn by code). His quotes from his email to Allison, 30 Sep 2026. Photos: yellow-caterpillar-on-stem.jpg, caterpillar-on-leaf.jpg, still-young-plants-buckets-29s.png.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Passing it on. Grid and continuous hyphae panorama after Stephanie's feedback. Background: assets/collage/boubacar-panorama/ (tools/make_hyphae_panorama.py, drawn by code). His quotes from his email to Allison, 30 Sep 2026. Photos: group-of-five-farmers.jpeg, two-men-at-shade-house.jpeg [VERIFY who, where, when].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dream and the call to action (YouTube). Grid and continuous hyphae panorama after Stephanie's feedback. Background: assets/collage/boubacar-panorama/ (tools/make_hyphae_panorama.py, drawn by code). His quotes from his email to Allison, 30 Sep 2026. Photo: young-coffee-plant.jpg.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1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6.jpg"/><Relationship Id="rId6" Type="http://schemas.openxmlformats.org/officeDocument/2006/relationships/image" Target="../media/image1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jpg"/><Relationship Id="rId4" Type="http://schemas.openxmlformats.org/officeDocument/2006/relationships/image" Target="../media/image19.jpg"/><Relationship Id="rId5" Type="http://schemas.openxmlformats.org/officeDocument/2006/relationships/image" Target="../media/image2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1.jpg"/><Relationship Id="rId4" Type="http://schemas.openxmlformats.org/officeDocument/2006/relationships/image" Target="../media/image22.jpg"/><Relationship Id="rId5" Type="http://schemas.openxmlformats.org/officeDocument/2006/relationships/image" Target="../media/image23.jpg"/><Relationship Id="rId6" Type="http://schemas.openxmlformats.org/officeDocument/2006/relationships/image" Target="../media/image2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5.jpg"/><Relationship Id="rId4" Type="http://schemas.openxmlformats.org/officeDocument/2006/relationships/image" Target="../media/image26.jpg"/><Relationship Id="rId5" Type="http://schemas.openxmlformats.org/officeDocument/2006/relationships/image" Target="../media/image2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2.jpg"/><Relationship Id="rId4" Type="http://schemas.openxmlformats.org/officeDocument/2006/relationships/image" Target="../media/image33.jpg"/><Relationship Id="rId5" Type="http://schemas.openxmlformats.org/officeDocument/2006/relationships/image" Target="../media/image3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5.jpg"/><Relationship Id="rId4" Type="http://schemas.openxmlformats.org/officeDocument/2006/relationships/image" Target="../media/image36.jpg"/><Relationship Id="rId5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61130525107846300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pic>
        <p:nvPicPr>
          <p:cNvPr id="5" name="Picture 4" descr="foundation-logo-co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500" y="857250"/>
            <a:ext cx="2286000" cy="20552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3619500"/>
            <a:ext cx="2667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E1412"/>
                </a:solidFill>
                <a:latin typeface="Montserrat"/>
              </a:rPr>
              <a:t>Happy</a:t>
            </a:r>
          </a:p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E1412"/>
                </a:solidFill>
                <a:latin typeface="Montserrat"/>
              </a:rPr>
              <a:t>International</a:t>
            </a:r>
          </a:p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E1412"/>
                </a:solidFill>
                <a:latin typeface="Montserrat"/>
              </a:rPr>
              <a:t>Coffee 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6E3C2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623434"/>
            <a:ext cx="8191500" cy="807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111111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431099"/>
            <a:ext cx="8191500" cy="2043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111111"/>
                </a:solidFill>
                <a:latin typeface="Source Sans 3"/>
              </a:rPr>
              <a:t>Guinea-Conakry</a:t>
            </a:r>
          </a:p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111111"/>
                </a:solidFill>
                <a:latin typeface="Source Sans 3"/>
              </a:rPr>
              <a:t>Graduated from the Soil Food Web School in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233713856575705502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730136575966437484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484239758987102200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625662"/>
            <a:ext cx="8191500" cy="12133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11111"/>
                </a:solidFill>
                <a:latin typeface="Montserrat"/>
              </a:rPr>
              <a:t>When he started, the land was worn 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9838969"/>
            <a:ext cx="8191500" cy="16331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11111"/>
                </a:solidFill>
                <a:latin typeface="Source Sans 3"/>
              </a:rPr>
              <a:t>The soil at Gnaly Coffee &amp; AgroÉcole Bio, in the Fouta Djallon highlands of Guinea-Conakry, had been degraded and poorly managed for years.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744335713897139403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53250" y="476250"/>
            <a:ext cx="2667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26000" b="0" i="0">
                <a:solidFill>
                  <a:srgbClr val="F6E3C2"/>
                </a:solidFill>
                <a:latin typeface="EB Garamond"/>
              </a:rPr>
              <a:t>“</a:t>
            </a:r>
          </a:p>
        </p:txBody>
      </p:sp>
      <p:pic>
        <p:nvPicPr>
          <p:cNvPr id="6" name="Picture 5" descr="foundation-logo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500" y="4857750"/>
            <a:ext cx="2286000" cy="205524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948095"/>
            <a:ext cx="8191500" cy="807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111111"/>
                </a:solidFill>
                <a:latin typeface="Montserrat"/>
              </a:rPr>
              <a:t>So he changed the question: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755760"/>
            <a:ext cx="8191500" cy="1393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1">
                <a:solidFill>
                  <a:srgbClr val="111111"/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264062822614448855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894350005986276657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6E3C2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824025"/>
            <a:ext cx="8191500" cy="714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1111"/>
                </a:solidFill>
                <a:latin typeface="Montserrat"/>
              </a:rPr>
              <a:t>How he feeds his soil: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538081"/>
            <a:ext cx="8191500" cy="1735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11111"/>
                </a:solidFill>
                <a:latin typeface="Source Sans 3"/>
              </a:rPr>
              <a:t>living groundcover, mulch from his farm and the forest, and compost with biochar activated with fish hydrolysate and compost tea.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1E1412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8862376431337764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87069480833563548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483007179821921615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719693"/>
            <a:ext cx="8191500" cy="26583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0" i="1">
                <a:solidFill>
                  <a:srgbClr val="111111"/>
                </a:solidFill>
                <a:latin typeface="EB Garamond"/>
              </a:rPr>
              <a:t>“I apply compost regularly around young trees and whenever I add new mulch.”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93774118913299670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661474551571619577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848542"/>
            <a:ext cx="8191500" cy="870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111111"/>
                </a:solidFill>
                <a:latin typeface="Montserrat"/>
              </a:rPr>
              <a:t>What he grows together: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718614"/>
            <a:ext cx="8191500" cy="15305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111111"/>
                </a:solidFill>
                <a:latin typeface="Source Sans 3"/>
              </a:rPr>
              <a:t>coffee, cacao, bananas, citrus, and pineapple.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05906788889597634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747973568801380450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634056141955195587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6E3C2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634256"/>
            <a:ext cx="8191500" cy="28292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1">
                <a:solidFill>
                  <a:srgbClr val="111111"/>
                </a:solidFill>
                <a:latin typeface="EB Garamond"/>
              </a:rPr>
              <a:t>“My compost includes plant residues, animal manure when available, biochar activated with fish hydrolysate and compost tea, and local organic materials.”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1E1412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779986792620369817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82645031754242916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623434"/>
            <a:ext cx="8191500" cy="807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111111"/>
                </a:solidFill>
                <a:latin typeface="Montserrat"/>
              </a:rPr>
              <a:t>What he's seeing: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431099"/>
            <a:ext cx="8191500" cy="2043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111111"/>
                </a:solidFill>
                <a:latin typeface="Source Sans 3"/>
              </a:rPr>
              <a:t>more earthworms, more mushrooms, active decomposition, and better soil structure.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29863362256447501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72409739313200375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354583135920322402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924742"/>
            <a:ext cx="81915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111111"/>
                </a:solidFill>
                <a:latin typeface="EB Garamond"/>
              </a:rPr>
              <a:t>“I can already see signs of healthier soil in the field, including more earthworms, mushrooms, and active decomposition.”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92350724037448961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904863767380853468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6E3C2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976004"/>
            <a:ext cx="8191500" cy="214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1">
                <a:solidFill>
                  <a:srgbClr val="111111"/>
                </a:solidFill>
                <a:latin typeface="EB Garamond"/>
              </a:rPr>
              <a:t>“Your training changed the way I see agriculture. I now believe that agriculture is biology, not chemical fertilizer.”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1E1412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710305280403991590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53250" y="476250"/>
            <a:ext cx="2667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26000" b="0" i="0">
                <a:solidFill>
                  <a:srgbClr val="F6E3C2"/>
                </a:solidFill>
                <a:latin typeface="EB Garamond"/>
              </a:rPr>
              <a:t>“</a:t>
            </a:r>
          </a:p>
        </p:txBody>
      </p:sp>
      <p:pic>
        <p:nvPicPr>
          <p:cNvPr id="6" name="Picture 5" descr="foundation-logo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500" y="5562600"/>
            <a:ext cx="2286000" cy="205524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924742"/>
            <a:ext cx="81915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111111"/>
                </a:solidFill>
                <a:latin typeface="EB Garamond"/>
              </a:rPr>
              <a:t>“My dream is to restore degraded land in the Fouta Djallon and help my community learn living-soil practices.”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Subscribe on YouTube: @boubacartidianediallo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