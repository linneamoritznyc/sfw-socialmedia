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Grid and continuous hyphae panorama after Stephanie's feedback. Background: assets/collage/boubacar-panorama/ (tools/make_hyphae_panorama.py, drawn by code). His quotes from his email to Allison, 30 Sep 2026. Call to action: his YouTube channel (his Instagram @tidia.diallo.1 is private). Sources: Impact story sheet, Boubacar Tidiane Diallo: https://docs.google.com/spreadsheets/d/10UHLwzJLBQAsmJqmg4hiCQRjBKXPAx7UnOudU-Vsg5U/edit; Email from Boubacar to Allison, 30 September 2026; Instagram: https://www.instagram.com/tidia.diallo.1/; YouTube: https://www.youtube.com/@boubacartidianediallo; Facebook: https://www.facebook.com/btidja; Photos: sent by Boubacar to Stephanie on WhatsApp, 17 August 2026, and to Allison, September 2026. [TAG @Stephanie] Send Boubacar the final caption and slides to approve before posting, and confirm he studied on a scholarship. Photo: boubacar-portrait-bananas-closer.jpg. Graduation line from Linnea (1 Oct 2026): confirm the exact course or program and the date [VERIFY].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Gnaly. Grid and continuous hyphae panorama after Stephanie's feedback. Background: assets/collage/boubacar-panorama/ (tools/make_hyphae_panorama.py, drawn by code). His quotes from his email to Allison, 30 Sep 2026. Photos: farm-overview-with-tanks.jpeg, young-tree-with-pineapples.jpg, man-by-water-tanks.jpeg. NEW COPY for approval (narrative hook): based on his email and the approved caption draft. From the caption: 'When he started, the soil had been degraded and poorly managed for years.'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question. Grid and continuous hyphae panorama after Stephanie's feedback. Background: assets/collage/boubacar-panorama/ (tools/make_hyphae_panorama.py, drawn by code). His quotes from his email to Allison, 30 Sep 2026. Photo: vegetable-beds-by-building.jpeg. NEW COPY for approval (narrative hook): based on his email and the approved caption draft. Lead-in 'So he changed the question' is new; the quote is 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Feeding the soil. Grid and continuous hyphae panorama after Stephanie's feedback. Background: assets/collage/boubacar-panorama/ (tools/make_hyphae_panorama.py, drawn by code). His quotes from his email to Allison, 30 Sep 2026. Photos: boubacar-compost-pile.jpeg; still-biochar-kiln-smoke-73s.png (making-biochar-in-barrel-kiln.mp4 at 1:13).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practice. Grid and continuous hyphae panorama after Stephanie's feedback. Background: assets/collage/boubacar-panorama/ (tools/make_hyphae_panorama.py, drawn by code). His quotes from his email to Allison, 30 Sep 2026. Photos: carrying-mulch.jpg, still-biochar-charcoal-16s.png, barrel-brew-under-shelter.jpeg.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grows. Grid and continuous hyphae panorama after Stephanie's feedback. Background: assets/collage/boubacar-panorama/ (tools/make_hyphae_panorama.py, drawn by code). His quotes from his email to Allison, 30 Sep 2026. Photos: planting-seedling-in-agroforest.jpeg, banana-bunch.jpg.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 compost. Grid and continuous hyphae panorama after Stephanie's feedback. Background: assets/collage/boubacar-panorama/ (tools/make_hyphae_panorama.py, drawn by code). His quotes from his email to Allison, 30 Sep 2026. Photos: buckets-of-tubers.jpg, young-tree-yellow-new-leaves.jpg, man-with-harvested-tubers.jpeg [VERIFY who].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changing. Grid and continuous hyphae panorama after Stephanie's feedback. Background: assets/collage/boubacar-panorama/ (tools/make_hyphae_panorama.py, drawn by code). His quotes from his email to Allison, 30 Sep 2026. Photos: millipede-leaf-litter.jpg, boubacar-hand-compost-worm.jpg.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Life returns. Grid and continuous hyphae panorama after Stephanie's feedback. Background: assets/collage/boubacar-panorama/ (tools/make_hyphae_panorama.py, drawn by code). His quotes from his email to Allison, 30 Sep 2026. Photos: yellow-caterpillar-on-stem.jpg, caterpillar-on-leaf.jpg, still-young-plants-buckets-29s.png.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Passing it on. Grid and continuous hyphae panorama after Stephanie's feedback. Background: assets/collage/boubacar-panorama/ (tools/make_hyphae_panorama.py, drawn by code). His quotes from his email to Allison, 30 Sep 2026. Photos: group-of-five-farmers.jpeg, two-men-at-shade-house.jpeg [VERIFY who, where, when].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dream and the call to action (YouTube). Grid and continuous hyphae panorama after Stephanie's feedback. Background: assets/collage/boubacar-panorama/ (tools/make_hyphae_panorama.py, drawn by code). His quotes from his email to Allison, 30 Sep 2026. Photo: young-coffee-plant.jpg.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jpg"/><Relationship Id="rId4" Type="http://schemas.openxmlformats.org/officeDocument/2006/relationships/image" Target="../media/image33.jpg"/><Relationship Id="rId5" Type="http://schemas.openxmlformats.org/officeDocument/2006/relationships/image" Target="../media/image3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jpg"/><Relationship Id="rId4" Type="http://schemas.openxmlformats.org/officeDocument/2006/relationships/image" Target="../media/image36.jp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666750"/>
            <a:ext cx="5715000" cy="7048500"/>
          </a:xfrm>
          <a:prstGeom prst="rect">
            <a:avLst/>
          </a:prstGeom>
          <a:solidFill>
            <a:srgbClr val="F6E3C2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10997097987924279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858000"/>
          </a:xfrm>
          <a:prstGeom prst="rect">
            <a:avLst/>
          </a:prstGeom>
        </p:spPr>
      </p:pic>
      <p:pic>
        <p:nvPicPr>
          <p:cNvPr id="5" name="Picture 4" descr="foundation-logo-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0" y="857250"/>
            <a:ext cx="2286000" cy="20552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3619500"/>
            <a:ext cx="2667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1412"/>
                </a:solidFill>
                <a:latin typeface="Montserrat"/>
              </a:rPr>
              <a:t>Happy</a:t>
            </a:r>
          </a:p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1412"/>
                </a:solidFill>
                <a:latin typeface="Montserrat"/>
              </a:rPr>
              <a:t>International</a:t>
            </a:r>
          </a:p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1412"/>
                </a:solidFill>
                <a:latin typeface="Montserrat"/>
              </a:rPr>
              <a:t>Coffee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8191500"/>
            <a:ext cx="9144000" cy="3619500"/>
          </a:xfrm>
          <a:prstGeom prst="rect">
            <a:avLst/>
          </a:prstGeom>
          <a:solidFill>
            <a:srgbClr val="F6E3C2">
              <a:alpha val="94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8623434"/>
            <a:ext cx="8191500" cy="807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1E1412"/>
                </a:solidFill>
                <a:latin typeface="Montserrat"/>
              </a:rPr>
              <a:t>Boubacar Tidiane Diallo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9431099"/>
            <a:ext cx="8191500" cy="2043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0">
                <a:solidFill>
                  <a:srgbClr val="1E1412"/>
                </a:solidFill>
                <a:latin typeface="Source Sans 3"/>
              </a:rPr>
              <a:t>Guinea-Conakry</a:t>
            </a:r>
          </a:p>
          <a:p>
            <a:pPr algn="l">
              <a:lnSpc>
                <a:spcPct val="115000"/>
              </a:lnSpc>
            </a:pPr>
            <a:r>
              <a:rPr sz="3800" b="0" i="0">
                <a:solidFill>
                  <a:srgbClr val="1E1412"/>
                </a:solidFill>
                <a:latin typeface="Source Sans 3"/>
              </a:rPr>
              <a:t>Graduated from the Soil Food Web School in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666750"/>
            <a:ext cx="5715000" cy="70485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14234400149177386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62750" y="666750"/>
            <a:ext cx="2857500" cy="34290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409506912190323909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3238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62750" y="4286250"/>
            <a:ext cx="2857500" cy="34290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20972586953007347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381500"/>
            <a:ext cx="2667000" cy="32385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71500" y="8191500"/>
            <a:ext cx="9144000" cy="3619500"/>
          </a:xfrm>
          <a:prstGeom prst="rect">
            <a:avLst/>
          </a:prstGeom>
          <a:solidFill>
            <a:srgbClr val="E4E6CF">
              <a:alpha val="94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750" y="8625662"/>
            <a:ext cx="8191500" cy="1213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2371F"/>
                </a:solidFill>
                <a:latin typeface="Montserrat"/>
              </a:rPr>
              <a:t>When he started, the land was worn 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9838969"/>
            <a:ext cx="8191500" cy="16331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22371F"/>
                </a:solidFill>
                <a:latin typeface="Source Sans 3"/>
              </a:rPr>
              <a:t>The soil at Gnaly Coffee &amp; AgroÉcole Bio, in the Fouta Djallon highlands of Guinea-Conakry, had been degraded and poorly managed for years.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4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666750"/>
            <a:ext cx="5715000" cy="7048500"/>
          </a:xfrm>
          <a:prstGeom prst="rect">
            <a:avLst/>
          </a:prstGeom>
          <a:solidFill>
            <a:srgbClr val="F1E4D6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26257943473410769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53250" y="476250"/>
            <a:ext cx="2667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26000" b="0" i="0">
                <a:solidFill>
                  <a:srgbClr val="F6E3C2"/>
                </a:solidFill>
                <a:latin typeface="EB Garamond"/>
              </a:rPr>
              <a:t>“</a:t>
            </a:r>
          </a:p>
        </p:txBody>
      </p:sp>
      <p:pic>
        <p:nvPicPr>
          <p:cNvPr id="6" name="Picture 5" descr="foundation-logo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0" y="4857750"/>
            <a:ext cx="2286000" cy="205524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8191500"/>
            <a:ext cx="9144000" cy="3619500"/>
          </a:xfrm>
          <a:prstGeom prst="rect">
            <a:avLst/>
          </a:prstGeom>
          <a:solidFill>
            <a:srgbClr val="F1E4D6">
              <a:alpha val="94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8948095"/>
            <a:ext cx="8191500" cy="807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3A2524"/>
                </a:solidFill>
                <a:latin typeface="Montserrat"/>
              </a:rPr>
              <a:t>So he changed the question: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9755760"/>
            <a:ext cx="8191500" cy="1393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1">
                <a:solidFill>
                  <a:srgbClr val="3A2524"/>
                </a:solidFill>
                <a:latin typeface="EB Garamond"/>
              </a:rPr>
              <a:t>“Today, I ask a different question: What does the soil food web need to thrive?”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4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666750"/>
            <a:ext cx="5715000" cy="7048500"/>
          </a:xfrm>
          <a:prstGeom prst="rect">
            <a:avLst/>
          </a:prstGeom>
          <a:solidFill>
            <a:srgbClr val="F6E3C2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896013735737272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62750" y="666750"/>
            <a:ext cx="2857500" cy="7048500"/>
          </a:xfrm>
          <a:prstGeom prst="rect">
            <a:avLst/>
          </a:prstGeom>
          <a:solidFill>
            <a:srgbClr val="F6E3C2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82887843867101790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8191500"/>
            <a:ext cx="9144000" cy="3619500"/>
          </a:xfrm>
          <a:prstGeom prst="rect">
            <a:avLst/>
          </a:prstGeom>
          <a:solidFill>
            <a:srgbClr val="F6E3C2">
              <a:alpha val="94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8824025"/>
            <a:ext cx="8191500" cy="714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E1412"/>
                </a:solidFill>
                <a:latin typeface="Montserrat"/>
              </a:rPr>
              <a:t>How he feeds his soil: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9538081"/>
            <a:ext cx="8191500" cy="17356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E1412"/>
                </a:solidFill>
                <a:latin typeface="Source Sans 3"/>
              </a:rPr>
              <a:t>living groundcover, mulch from his farm and the forest, and compost with biochar activated with fish hydrolysate and compost tea.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1E1412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666750"/>
            <a:ext cx="5715000" cy="70485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95477316085266826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62750" y="666750"/>
            <a:ext cx="2857500" cy="34290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778540450786921496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3238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62750" y="4286250"/>
            <a:ext cx="2857500" cy="34290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33733057136842897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381500"/>
            <a:ext cx="2667000" cy="32385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71500" y="8191500"/>
            <a:ext cx="9144000" cy="3619500"/>
          </a:xfrm>
          <a:prstGeom prst="rect">
            <a:avLst/>
          </a:prstGeom>
          <a:solidFill>
            <a:srgbClr val="E4E6CF">
              <a:alpha val="94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750" y="8719693"/>
            <a:ext cx="8191500" cy="26583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0" i="1">
                <a:solidFill>
                  <a:srgbClr val="22371F"/>
                </a:solidFill>
                <a:latin typeface="EB Garamond"/>
              </a:rPr>
              <a:t>“I apply compost regularly around young trees and whenever I add new mulch.”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4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666750"/>
            <a:ext cx="5715000" cy="7048500"/>
          </a:xfrm>
          <a:prstGeom prst="rect">
            <a:avLst/>
          </a:prstGeom>
          <a:solidFill>
            <a:srgbClr val="F1E4D6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57250107566051705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62750" y="666750"/>
            <a:ext cx="2857500" cy="7048500"/>
          </a:xfrm>
          <a:prstGeom prst="rect">
            <a:avLst/>
          </a:prstGeom>
          <a:solidFill>
            <a:srgbClr val="F1E4D6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680196950812938299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8191500"/>
            <a:ext cx="9144000" cy="3619500"/>
          </a:xfrm>
          <a:prstGeom prst="rect">
            <a:avLst/>
          </a:prstGeom>
          <a:solidFill>
            <a:srgbClr val="F1E4D6">
              <a:alpha val="94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8848542"/>
            <a:ext cx="8191500" cy="870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3A2524"/>
                </a:solidFill>
                <a:latin typeface="Montserrat"/>
              </a:rPr>
              <a:t>What he grows together: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9718614"/>
            <a:ext cx="8191500" cy="1530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3A2524"/>
                </a:solidFill>
                <a:latin typeface="Source Sans 3"/>
              </a:rPr>
              <a:t>coffee, cacao, bananas, citrus, and pineapple.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4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666750"/>
            <a:ext cx="5715000" cy="7048500"/>
          </a:xfrm>
          <a:prstGeom prst="rect">
            <a:avLst/>
          </a:prstGeom>
          <a:solidFill>
            <a:srgbClr val="F6E3C2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04815730018063044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62750" y="666750"/>
            <a:ext cx="2857500" cy="3429000"/>
          </a:xfrm>
          <a:prstGeom prst="rect">
            <a:avLst/>
          </a:prstGeom>
          <a:solidFill>
            <a:srgbClr val="F6E3C2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44683929638317699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3238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62750" y="4286250"/>
            <a:ext cx="2857500" cy="3429000"/>
          </a:xfrm>
          <a:prstGeom prst="rect">
            <a:avLst/>
          </a:prstGeom>
          <a:solidFill>
            <a:srgbClr val="F6E3C2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7083435479568395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381500"/>
            <a:ext cx="2667000" cy="32385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71500" y="8191500"/>
            <a:ext cx="9144000" cy="3619500"/>
          </a:xfrm>
          <a:prstGeom prst="rect">
            <a:avLst/>
          </a:prstGeom>
          <a:solidFill>
            <a:srgbClr val="F6E3C2">
              <a:alpha val="94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750" y="8634256"/>
            <a:ext cx="8191500" cy="28292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1">
                <a:solidFill>
                  <a:srgbClr val="1E1412"/>
                </a:solidFill>
                <a:latin typeface="EB Garamond"/>
              </a:rPr>
              <a:t>“My compost includes plant residues, animal manure when available, biochar activated with fish hydrolysate and compost tea, and local organic materials.”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1E1412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666750"/>
            <a:ext cx="5715000" cy="70485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5662187529016669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62750" y="666750"/>
            <a:ext cx="2857500" cy="70485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756619804398717823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8191500"/>
            <a:ext cx="9144000" cy="3619500"/>
          </a:xfrm>
          <a:prstGeom prst="rect">
            <a:avLst/>
          </a:prstGeom>
          <a:solidFill>
            <a:srgbClr val="E4E6CF">
              <a:alpha val="94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8623434"/>
            <a:ext cx="8191500" cy="807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22371F"/>
                </a:solidFill>
                <a:latin typeface="Montserrat"/>
              </a:rPr>
              <a:t>What he's seeing: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9431099"/>
            <a:ext cx="8191500" cy="2043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0">
                <a:solidFill>
                  <a:srgbClr val="22371F"/>
                </a:solidFill>
                <a:latin typeface="Source Sans 3"/>
              </a:rPr>
              <a:t>more earthworms, more mushrooms, active decomposition, and better soil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4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666750"/>
            <a:ext cx="5715000" cy="7048500"/>
          </a:xfrm>
          <a:prstGeom prst="rect">
            <a:avLst/>
          </a:prstGeom>
          <a:solidFill>
            <a:srgbClr val="F1E4D6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26527155163075964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62750" y="666750"/>
            <a:ext cx="2857500" cy="3429000"/>
          </a:xfrm>
          <a:prstGeom prst="rect">
            <a:avLst/>
          </a:prstGeom>
          <a:solidFill>
            <a:srgbClr val="F1E4D6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815886413134119867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3238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62750" y="4286250"/>
            <a:ext cx="2857500" cy="3429000"/>
          </a:xfrm>
          <a:prstGeom prst="rect">
            <a:avLst/>
          </a:prstGeom>
          <a:solidFill>
            <a:srgbClr val="F1E4D6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660856287640660403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381500"/>
            <a:ext cx="2667000" cy="32385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71500" y="8191500"/>
            <a:ext cx="9144000" cy="3619500"/>
          </a:xfrm>
          <a:prstGeom prst="rect">
            <a:avLst/>
          </a:prstGeom>
          <a:solidFill>
            <a:srgbClr val="F1E4D6">
              <a:alpha val="94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750" y="8924742"/>
            <a:ext cx="8191500" cy="2248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1">
                <a:solidFill>
                  <a:srgbClr val="3A2524"/>
                </a:solidFill>
                <a:latin typeface="EB Garamond"/>
              </a:rPr>
              <a:t>“I can already see signs of healthier soil in the field, including more earthworms, mushrooms, and active decomposition.”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4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666750"/>
            <a:ext cx="5715000" cy="7048500"/>
          </a:xfrm>
          <a:prstGeom prst="rect">
            <a:avLst/>
          </a:prstGeom>
          <a:solidFill>
            <a:srgbClr val="F6E3C2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00181149313257775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62750" y="666750"/>
            <a:ext cx="2857500" cy="7048500"/>
          </a:xfrm>
          <a:prstGeom prst="rect">
            <a:avLst/>
          </a:prstGeom>
          <a:solidFill>
            <a:srgbClr val="F6E3C2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98128292113577595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8191500"/>
            <a:ext cx="9144000" cy="3619500"/>
          </a:xfrm>
          <a:prstGeom prst="rect">
            <a:avLst/>
          </a:prstGeom>
          <a:solidFill>
            <a:srgbClr val="F6E3C2">
              <a:alpha val="94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8976004"/>
            <a:ext cx="8191500" cy="214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1">
                <a:solidFill>
                  <a:srgbClr val="1E1412"/>
                </a:solidFill>
                <a:latin typeface="EB Garamond"/>
              </a:rPr>
              <a:t>“Your training changed the way I see agriculture. I now believe that agriculture is biology, not chemical fertilizer.”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1E1412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666750"/>
            <a:ext cx="5715000" cy="70485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76515081499056949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53250" y="476250"/>
            <a:ext cx="2667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26000" b="0" i="0">
                <a:solidFill>
                  <a:srgbClr val="F6E3C2"/>
                </a:solidFill>
                <a:latin typeface="EB Garamond"/>
              </a:rPr>
              <a:t>“</a:t>
            </a:r>
          </a:p>
        </p:txBody>
      </p:sp>
      <p:pic>
        <p:nvPicPr>
          <p:cNvPr id="6" name="Picture 5" descr="foundation-logo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0" y="5562600"/>
            <a:ext cx="2286000" cy="205524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8191500"/>
            <a:ext cx="9144000" cy="3619500"/>
          </a:xfrm>
          <a:prstGeom prst="rect">
            <a:avLst/>
          </a:prstGeom>
          <a:solidFill>
            <a:srgbClr val="E4E6CF">
              <a:alpha val="94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8924742"/>
            <a:ext cx="8191500" cy="2248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1">
                <a:solidFill>
                  <a:srgbClr val="22371F"/>
                </a:solidFill>
                <a:latin typeface="EB Garamond"/>
              </a:rPr>
              <a:t>“My dream is to restore degraded land in the Fouta Djallon and help my community learn living-soil practices.”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4F1EA"/>
                </a:solidFill>
                <a:latin typeface="Montserrat"/>
              </a:rPr>
              <a:t>Subscribe on YouTube: @boubacartidianediallo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