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1430000" cy="5972175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Option B, blue. Trifold style: gradient panel, tracked eyebrow, Montserrat headline, EB Garamond serif. EB Garamond is in the repo (assets/font) and in Canva. No stickers. Photo: assets/photo/boubacar/vegetable-beds-by-building.jpeg. Call to action: his YouTube channel (his Instagram @tidia.diallo.1 is private). Sources: Impact story sheet, Boubacar Tidiane Diallo: https://docs.google.com/spreadsheets/d/10UHLwzJLBQAsmJqmg4hiCQRjBKXPAx7UnOudU-Vsg5U/edit; Email from Boubacar to Allison, 30 September 2026; Instagram: https://www.instagram.com/tidia.diallo.1/; YouTube: https://www.youtube.com/@boubacartidianediallo; Facebook: https://www.facebook.com/btidja; Photos: sent by Boubacar to Stephanie on WhatsApp, 17 August 2026, and to Allison, September 2026. [TAG @Stephanie] Send Boubacar the final caption and slides to approve before posting, and confirm he studied on a scholarship.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780B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5972175"/>
          </a:xfrm>
          <a:prstGeom prst="rect">
            <a:avLst/>
          </a:prstGeom>
          <a:gradFill rotWithShape="1">
            <a:gsLst>
              <a:gs pos="0">
                <a:srgbClr val="3780B8"/>
              </a:gs>
              <a:gs pos="100000">
                <a:srgbClr val="1F4E73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940872279443182179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4953000" cy="5972175"/>
          </a:xfrm>
          <a:prstGeom prst="rect">
            <a:avLst/>
          </a:prstGeom>
        </p:spPr>
      </p:pic>
      <p:sp>
        <p:nvSpPr>
          <p:cNvPr id="4" name="Freeform 3"/>
          <p:cNvSpPr/>
          <p:nvPr/>
        </p:nvSpPr>
        <p:spPr>
          <a:xfrm>
            <a:off x="4381500" y="0"/>
            <a:ext cx="7048500" cy="5972175"/>
          </a:xfrm>
          <a:custGeom>
            <a:avLst/>
            <a:gdLst/>
            <a:ahLst/>
            <a:cxnLst/>
            <a:rect l="l" t="t" r="r" b="b"/>
            <a:pathLst>
              <a:path w="7048500" h="5972175">
                <a:moveTo>
                  <a:pt x="7048500" y="5972175"/>
                </a:moveTo>
                <a:lnTo>
                  <a:pt x="7048500" y="0"/>
                </a:lnTo>
                <a:lnTo>
                  <a:pt x="571500" y="0"/>
                </a:lnTo>
                <a:lnTo>
                  <a:pt x="526660" y="149304"/>
                </a:lnTo>
                <a:lnTo>
                  <a:pt x="482097" y="298608"/>
                </a:lnTo>
                <a:lnTo>
                  <a:pt x="438085" y="447913"/>
                </a:lnTo>
                <a:lnTo>
                  <a:pt x="394896" y="597217"/>
                </a:lnTo>
                <a:lnTo>
                  <a:pt x="352796" y="746521"/>
                </a:lnTo>
                <a:lnTo>
                  <a:pt x="312044" y="895826"/>
                </a:lnTo>
                <a:lnTo>
                  <a:pt x="272892" y="1045130"/>
                </a:lnTo>
                <a:lnTo>
                  <a:pt x="235580" y="1194435"/>
                </a:lnTo>
                <a:lnTo>
                  <a:pt x="200340" y="1343739"/>
                </a:lnTo>
                <a:lnTo>
                  <a:pt x="167388" y="1493043"/>
                </a:lnTo>
                <a:lnTo>
                  <a:pt x="136927" y="1642348"/>
                </a:lnTo>
                <a:lnTo>
                  <a:pt x="109146" y="1791652"/>
                </a:lnTo>
                <a:lnTo>
                  <a:pt x="84216" y="1940956"/>
                </a:lnTo>
                <a:lnTo>
                  <a:pt x="62289" y="2090261"/>
                </a:lnTo>
                <a:lnTo>
                  <a:pt x="43502" y="2239565"/>
                </a:lnTo>
                <a:lnTo>
                  <a:pt x="27971" y="2388870"/>
                </a:lnTo>
                <a:lnTo>
                  <a:pt x="15790" y="2538174"/>
                </a:lnTo>
                <a:lnTo>
                  <a:pt x="7036" y="2687478"/>
                </a:lnTo>
                <a:lnTo>
                  <a:pt x="1761" y="2836783"/>
                </a:lnTo>
                <a:lnTo>
                  <a:pt x="0" y="2986087"/>
                </a:lnTo>
                <a:lnTo>
                  <a:pt x="1761" y="3135391"/>
                </a:lnTo>
                <a:lnTo>
                  <a:pt x="7036" y="3284696"/>
                </a:lnTo>
                <a:lnTo>
                  <a:pt x="15790" y="3434000"/>
                </a:lnTo>
                <a:lnTo>
                  <a:pt x="27971" y="3583305"/>
                </a:lnTo>
                <a:lnTo>
                  <a:pt x="43502" y="3732609"/>
                </a:lnTo>
                <a:lnTo>
                  <a:pt x="62289" y="3881913"/>
                </a:lnTo>
                <a:lnTo>
                  <a:pt x="84216" y="4031218"/>
                </a:lnTo>
                <a:lnTo>
                  <a:pt x="109146" y="4180522"/>
                </a:lnTo>
                <a:lnTo>
                  <a:pt x="136927" y="4329826"/>
                </a:lnTo>
                <a:lnTo>
                  <a:pt x="167388" y="4479131"/>
                </a:lnTo>
                <a:lnTo>
                  <a:pt x="200340" y="4628435"/>
                </a:lnTo>
                <a:lnTo>
                  <a:pt x="235580" y="4777740"/>
                </a:lnTo>
                <a:lnTo>
                  <a:pt x="272892" y="4927044"/>
                </a:lnTo>
                <a:lnTo>
                  <a:pt x="312044" y="5076348"/>
                </a:lnTo>
                <a:lnTo>
                  <a:pt x="352796" y="5225653"/>
                </a:lnTo>
                <a:lnTo>
                  <a:pt x="394896" y="5374957"/>
                </a:lnTo>
                <a:lnTo>
                  <a:pt x="438085" y="5524261"/>
                </a:lnTo>
                <a:lnTo>
                  <a:pt x="482097" y="5673566"/>
                </a:lnTo>
                <a:lnTo>
                  <a:pt x="526660" y="5822870"/>
                </a:lnTo>
                <a:lnTo>
                  <a:pt x="571500" y="5972175"/>
                </a:lnTo>
                <a:close/>
              </a:path>
            </a:pathLst>
          </a:custGeom>
          <a:solidFill>
            <a:srgbClr val="2E6A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334000" y="666750"/>
            <a:ext cx="5715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 spc="300">
                <a:solidFill>
                  <a:srgbClr val="DCEBF7"/>
                </a:solidFill>
                <a:latin typeface="Montserrat"/>
              </a:rPr>
              <a:t>HAPPY INTERNATIONAL COFFEE DAY</a:t>
            </a:r>
          </a:p>
        </p:txBody>
      </p:sp>
      <p:sp>
        <p:nvSpPr>
          <p:cNvPr id="6" name="Rectangle 5"/>
          <p:cNvSpPr/>
          <p:nvPr/>
        </p:nvSpPr>
        <p:spPr>
          <a:xfrm>
            <a:off x="5334000" y="1028700"/>
            <a:ext cx="571500" cy="28575"/>
          </a:xfrm>
          <a:prstGeom prst="rect">
            <a:avLst/>
          </a:prstGeom>
          <a:solidFill>
            <a:srgbClr val="DC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34000" y="1333500"/>
            <a:ext cx="5619750" cy="2476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0" i="1">
                <a:solidFill>
                  <a:srgbClr val="F4F1EA"/>
                </a:solidFill>
                <a:latin typeface="EB Garamond"/>
              </a:rPr>
              <a:t>“Today, I ask a different question: What does the soil food web need to thrive?”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34000" y="4095750"/>
            <a:ext cx="5524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800" b="1" i="0">
                <a:solidFill>
                  <a:srgbClr val="F4F1EA"/>
                </a:solidFill>
                <a:latin typeface="Montserrat"/>
              </a:rPr>
              <a:t>Boubacar Tidiane Diallo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34000" y="4514850"/>
            <a:ext cx="55245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0" i="0">
                <a:solidFill>
                  <a:srgbClr val="DCEBF7"/>
                </a:solidFill>
                <a:latin typeface="EB Garamond"/>
              </a:rPr>
              <a:t>Gnaly Coffee &amp; AgroÉcole Bio, Guinea-Conakry</a:t>
            </a:r>
          </a:p>
        </p:txBody>
      </p:sp>
      <p:pic>
        <p:nvPicPr>
          <p:cNvPr id="10" name="Picture 9" descr="foundation-logo-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87000" y="4905375"/>
            <a:ext cx="762000" cy="685082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