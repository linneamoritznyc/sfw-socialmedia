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0287000" cy="1285875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Myth slide. Sources: Hardgrove and Livesley, Urban Forestry and Urban Greening, 2016, https://doi.org/10.1016/j.ufug.2016.02.015; Summers et al., Journal of Bacteriology, 2012, https://doi.org/10.1128/JB.06637-11; US EPA, 40 CFR Part 503, https://www.ecfr.gov/current/title-40/chapter-I/subchapter-O/part-503. Photos: Photo by Stacy on Unsplash (https://unsplash.com/@stacysuxx?utm_source=sfw_social&amp;utm_medium=referral). Photo by Klim Sergeev on Unsplash (https://unsplash.com/@klimsergeev?utm_source=sfw_social&amp;utm_medium=referral). Stickers (lemon, cup, beans, seedlings, bacteria, pH strip, thermometer) are drawn PowerPoint shapes, grouped and editable. Draft livelier copy (not in use, awaiting approval): Happy International Coffee Day ☕ Let's spill the beans.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 strip: universal indicator colours, 0 to 14. Lemon marks the acid end; the cup sits near neutral, as the slide says. Stickers (lemon, cup, beans, seedlings, bacteria, pH strip, thermometer) are drawn PowerPoint shapes, grouped and editable. Draft livelier copy (not in use, awaiting approval): Plot twist: your coffee took the acid with it. Brewing pulls most of the acids into your cup. The spent grounds left behind sit close to neutral pH.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 Photo by Bianca Pătrașcu on Unsplash (https://unsplash.com/@bianncapatrascu?utm_source=sfw_social&amp;utm_medium=referral). Stickers (lemon, cup, beans, seedlings, bacteria, pH strip, thermometer) are drawn PowerPoint shapes, grouped and editable. Draft livelier copy (not in use, awaiting approval): So what's the catch? Caffeine. 😬 Leftover caffeine and chlorogenic acids are allelopathic: plant-speak for chemicals that stop seeds sprouting and roots growing.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 assets/photo/garden-vegetable-beds.jpg (Foundation library). Stickers (lemon, cup, beans, seedlings, bacteria, pH strip, thermometer) are drawn PowerPoint shapes, grouped and editable. Draft livelier copy (not in use, awaiting approval): Sprinkled straight on the garden? In trials, fresh grounds spread on beds actually slowed plant growth.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Microscopy: assets/microscopy/sfw-amoeba-still-square.jpg (Foundation). The library has no bacteria-only image; this still shows an amoeba, a bacteria feeder. Swap in a bacteria micrograph if Wes has one [IMAGE NEEDED]. The drawn bacteria are rods with a flagellum, like Pseudomonas. Stickers (lemon, cup, beans, seedlings, bacteria, pH strip, thermometer) are drawn PowerPoint shapes, grouped and editable. Draft livelier copy (not in use, awaiting approval): Enter the compost crew. 🦠 Composting breaks caffeine down. Some soil bacteria eat it for breakfast, lunch and dinner: Pseudomonas putida CBB5 uses caffeine as its only carbon and nitrogen source.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 assets/photo/hand-of-compost.jpg (Foundation library). Thermometer marks 55°C, from the slide text. Stickers (lemon, cup, beans, seedlings, bacteria, pH strip, thermometer) are drawn PowerPoint shapes, grouped and editable. Draft livelier copy (not in use, awaiting approval): The fix: compost them first. 🔥 Grounds are a nitrogen-rich green. Mix them with woody browns like leaves or wood chips, and keep the pile hot: 55°C (131°F) or more.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Draft livelier copy (not in use, awaiting approval): Save this for your next coffee run.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jpg"/><Relationship Id="rId5" Type="http://schemas.openxmlformats.org/officeDocument/2006/relationships/image" Target="../media/image3.jpg"/><Relationship Id="rId6"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jp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jpg"/><Relationship Id="rId4" Type="http://schemas.openxmlformats.org/officeDocument/2006/relationships/image" Target="../media/image6.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jpg"/><Relationship Id="rId4" Type="http://schemas.openxmlformats.org/officeDocument/2006/relationships/image" Target="../media/image7.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jpg"/><Relationship Id="rId4" Type="http://schemas.openxmlformats.org/officeDocument/2006/relationships/image" Target="../media/image8.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jpg"/><Relationship Id="rId4" Type="http://schemas.openxmlformats.org/officeDocument/2006/relationships/image" Target="../media/image9.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jpg"/><Relationship Id="rId4" Type="http://schemas.openxmlformats.org/officeDocument/2006/relationships/image" Target="../media/image5.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pic>
        <p:nvPicPr>
          <p:cNvPr id="2" name="Picture 1" descr="paper-grain-cream.jpg"/>
          <p:cNvPicPr>
            <a:picLocks noChangeAspect="1"/>
          </p:cNvPicPr>
          <p:nvPr/>
        </p:nvPicPr>
        <p:blipFill>
          <a:blip r:embed="rId3"/>
          <a:stretch>
            <a:fillRect/>
          </a:stretch>
        </p:blipFill>
        <p:spPr>
          <a:xfrm>
            <a:off x="0" y="0"/>
            <a:ext cx="10287000" cy="12858750"/>
          </a:xfrm>
          <a:prstGeom prst="rect">
            <a:avLst/>
          </a:prstGeom>
        </p:spPr>
      </p:pic>
      <p:sp>
        <p:nvSpPr>
          <p:cNvPr id="3" name="Rectangle 2"/>
          <p:cNvSpPr/>
          <p:nvPr/>
        </p:nvSpPr>
        <p:spPr>
          <a:xfrm rot="21300000">
            <a:off x="666750" y="857250"/>
            <a:ext cx="4834890" cy="5170170"/>
          </a:xfrm>
          <a:prstGeom prst="rect">
            <a:avLst/>
          </a:prstGeom>
          <a:solidFill>
            <a:srgbClr val="FFFDF7"/>
          </a:solidFill>
          <a:ln>
            <a:no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528992742192131230.jpg"/>
          <p:cNvPicPr>
            <a:picLocks noChangeAspect="1"/>
          </p:cNvPicPr>
          <p:nvPr/>
        </p:nvPicPr>
        <p:blipFill>
          <a:blip r:embed="rId4"/>
          <a:stretch>
            <a:fillRect/>
          </a:stretch>
        </p:blipFill>
        <p:spPr>
          <a:xfrm rot="21300000">
            <a:off x="831209" y="1036957"/>
            <a:ext cx="4476750" cy="4476750"/>
          </a:xfrm>
          <a:prstGeom prst="rect">
            <a:avLst/>
          </a:prstGeom>
        </p:spPr>
      </p:pic>
      <p:sp>
        <p:nvSpPr>
          <p:cNvPr id="5" name="TextBox 4"/>
          <p:cNvSpPr txBox="1"/>
          <p:nvPr/>
        </p:nvSpPr>
        <p:spPr>
          <a:xfrm rot="21300000">
            <a:off x="1048710" y="5504211"/>
            <a:ext cx="4476750" cy="514350"/>
          </a:xfrm>
          <a:prstGeom prst="rect">
            <a:avLst/>
          </a:prstGeom>
          <a:noFill/>
        </p:spPr>
        <p:txBody>
          <a:bodyPr wrap="square" lIns="0" rIns="0" tIns="0" bIns="0" anchor="ctr">
            <a:spAutoFit/>
          </a:bodyPr>
          <a:lstStyle/>
          <a:p>
            <a:pPr algn="ctr">
              <a:lnSpc>
                <a:spcPct val="120000"/>
              </a:lnSpc>
            </a:pPr>
            <a:r>
              <a:rPr sz="1600" b="0" i="0">
                <a:solidFill>
                  <a:srgbClr val="6A665C"/>
                </a:solidFill>
                <a:latin typeface="Source Sans 3"/>
              </a:rPr>
              <a:t>Photo: Stacy on Unsplash</a:t>
            </a:r>
          </a:p>
        </p:txBody>
      </p:sp>
      <p:sp>
        <p:nvSpPr>
          <p:cNvPr id="6" name="Rectangle 5"/>
          <p:cNvSpPr/>
          <p:nvPr/>
        </p:nvSpPr>
        <p:spPr>
          <a:xfrm rot="21240000">
            <a:off x="2322195" y="714375"/>
            <a:ext cx="1524000" cy="438150"/>
          </a:xfrm>
          <a:prstGeom prst="rect">
            <a:avLst/>
          </a:prstGeom>
          <a:solidFill>
            <a:srgbClr val="DBE6A7">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rot="240000">
            <a:off x="5334000" y="1428750"/>
            <a:ext cx="4217670" cy="4575810"/>
          </a:xfrm>
          <a:prstGeom prst="rect">
            <a:avLst/>
          </a:prstGeom>
          <a:solidFill>
            <a:srgbClr val="FFFDF7"/>
          </a:solidFill>
          <a:ln>
            <a:no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1295611418783792776.jpg"/>
          <p:cNvPicPr>
            <a:picLocks noChangeAspect="1"/>
          </p:cNvPicPr>
          <p:nvPr/>
        </p:nvPicPr>
        <p:blipFill>
          <a:blip r:embed="rId5"/>
          <a:stretch>
            <a:fillRect/>
          </a:stretch>
        </p:blipFill>
        <p:spPr>
          <a:xfrm rot="240000">
            <a:off x="5502701" y="1585396"/>
            <a:ext cx="3905250" cy="3905250"/>
          </a:xfrm>
          <a:prstGeom prst="rect">
            <a:avLst/>
          </a:prstGeom>
        </p:spPr>
      </p:pic>
      <p:sp>
        <p:nvSpPr>
          <p:cNvPr id="9" name="TextBox 8"/>
          <p:cNvSpPr txBox="1"/>
          <p:nvPr/>
        </p:nvSpPr>
        <p:spPr>
          <a:xfrm rot="240000">
            <a:off x="5348553" y="5485263"/>
            <a:ext cx="3905250" cy="514350"/>
          </a:xfrm>
          <a:prstGeom prst="rect">
            <a:avLst/>
          </a:prstGeom>
          <a:noFill/>
        </p:spPr>
        <p:txBody>
          <a:bodyPr wrap="square" lIns="0" rIns="0" tIns="0" bIns="0" anchor="ctr">
            <a:spAutoFit/>
          </a:bodyPr>
          <a:lstStyle/>
          <a:p>
            <a:pPr algn="ctr">
              <a:lnSpc>
                <a:spcPct val="120000"/>
              </a:lnSpc>
            </a:pPr>
            <a:r>
              <a:rPr sz="1600" b="0" i="0">
                <a:solidFill>
                  <a:srgbClr val="6A665C"/>
                </a:solidFill>
                <a:latin typeface="Source Sans 3"/>
              </a:rPr>
              <a:t>Photo: Klim Sergeev on Unsplash</a:t>
            </a:r>
          </a:p>
        </p:txBody>
      </p:sp>
      <p:sp>
        <p:nvSpPr>
          <p:cNvPr id="10" name="Rectangle 9"/>
          <p:cNvSpPr/>
          <p:nvPr/>
        </p:nvSpPr>
        <p:spPr>
          <a:xfrm rot="1920000">
            <a:off x="8408670" y="1314450"/>
            <a:ext cx="1333500" cy="419100"/>
          </a:xfrm>
          <a:prstGeom prst="rect">
            <a:avLst/>
          </a:prstGeom>
          <a:solidFill>
            <a:srgbClr val="DBE6A7">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 name="Group 10"/>
          <p:cNvGrpSpPr/>
          <p:nvPr/>
        </p:nvGrpSpPr>
        <p:grpSpPr>
          <a:xfrm rot="720000">
            <a:off x="0" y="0"/>
            <a:ext cx="10236993" cy="2047875"/>
            <a:chOff x="0" y="0"/>
            <a:chExt cx="10236993" cy="2047875"/>
          </a:xfrm>
        </p:grpSpPr>
        <p:sp>
          <p:nvSpPr>
            <p:cNvPr id="12" name="Oval 11"/>
            <p:cNvSpPr/>
            <p:nvPr/>
          </p:nvSpPr>
          <p:spPr>
            <a:xfrm rot="19500000">
              <a:off x="9508331" y="266700"/>
              <a:ext cx="728662" cy="364331"/>
            </a:xfrm>
            <a:prstGeom prst="ellipse">
              <a:avLst/>
            </a:prstGeom>
            <a:solidFill>
              <a:srgbClr val="59A66C"/>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34375" y="428625"/>
              <a:ext cx="1619250" cy="1619250"/>
            </a:xfrm>
            <a:prstGeom prst="ellipse">
              <a:avLst/>
            </a:prstGeom>
            <a:solidFill>
              <a:srgbClr val="E9B824"/>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496300" y="590550"/>
              <a:ext cx="1295400" cy="1295400"/>
            </a:xfrm>
            <a:prstGeom prst="ellipse">
              <a:avLst/>
            </a:prstGeom>
            <a:solidFill>
              <a:srgbClr val="FFE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496300" y="1209675"/>
              <a:ext cx="1295400" cy="571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rot="2700000">
              <a:off x="8496300" y="1209675"/>
              <a:ext cx="1295400" cy="571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rot="5400000">
              <a:off x="8496300" y="1209675"/>
              <a:ext cx="1295400" cy="571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rot="8100000">
              <a:off x="8496300" y="1209675"/>
              <a:ext cx="1295400" cy="571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046845" y="1141095"/>
              <a:ext cx="194310" cy="1943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20" name="Group 19"/>
          <p:cNvGrpSpPr/>
          <p:nvPr/>
        </p:nvGrpSpPr>
        <p:grpSpPr>
          <a:xfrm rot="21000000">
            <a:off x="0" y="0"/>
            <a:ext cx="5795010" cy="6977062"/>
            <a:chOff x="0" y="0"/>
            <a:chExt cx="5795010" cy="6977062"/>
          </a:xfrm>
        </p:grpSpPr>
        <p:sp>
          <p:nvSpPr>
            <p:cNvPr id="21" name="Oval 20"/>
            <p:cNvSpPr/>
            <p:nvPr/>
          </p:nvSpPr>
          <p:spPr>
            <a:xfrm rot="19800000">
              <a:off x="4143375" y="6442710"/>
              <a:ext cx="647700" cy="421005"/>
            </a:xfrm>
            <a:prstGeom prst="ellipse">
              <a:avLst/>
            </a:prstGeom>
            <a:solidFill>
              <a:srgbClr val="6B4430"/>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rot="20280000">
              <a:off x="4224337" y="6629400"/>
              <a:ext cx="485775" cy="47625"/>
            </a:xfrm>
            <a:prstGeom prst="rect">
              <a:avLst/>
            </a:prstGeom>
            <a:solidFill>
              <a:srgbClr val="3E2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rot="1200000">
              <a:off x="4710112" y="6167437"/>
              <a:ext cx="647700" cy="421005"/>
            </a:xfrm>
            <a:prstGeom prst="ellipse">
              <a:avLst/>
            </a:prstGeom>
            <a:solidFill>
              <a:srgbClr val="6B4430"/>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rot="1680000">
              <a:off x="4791075" y="6354127"/>
              <a:ext cx="485775" cy="47625"/>
            </a:xfrm>
            <a:prstGeom prst="rect">
              <a:avLst/>
            </a:prstGeom>
            <a:solidFill>
              <a:srgbClr val="3E2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rot="4200000">
              <a:off x="5147310" y="6556057"/>
              <a:ext cx="647700" cy="421005"/>
            </a:xfrm>
            <a:prstGeom prst="ellipse">
              <a:avLst/>
            </a:prstGeom>
            <a:solidFill>
              <a:srgbClr val="6B4430"/>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rot="4680000">
              <a:off x="5228272" y="6742747"/>
              <a:ext cx="485775" cy="47625"/>
            </a:xfrm>
            <a:prstGeom prst="rect">
              <a:avLst/>
            </a:prstGeom>
            <a:solidFill>
              <a:srgbClr val="3E2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27" name="Rectangle 26"/>
          <p:cNvSpPr/>
          <p:nvPr/>
        </p:nvSpPr>
        <p:spPr>
          <a:xfrm rot="21510000">
            <a:off x="666750" y="7334250"/>
            <a:ext cx="8953500" cy="4095750"/>
          </a:xfrm>
          <a:prstGeom prst="rect">
            <a:avLst/>
          </a:prstGeom>
          <a:solidFill>
            <a:srgbClr val="22371F"/>
          </a:solidFill>
          <a:ln>
            <a:no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rot="19920000">
            <a:off x="523875" y="7181850"/>
            <a:ext cx="1428750" cy="419100"/>
          </a:xfrm>
          <a:prstGeom prst="rect">
            <a:avLst/>
          </a:prstGeom>
          <a:solidFill>
            <a:srgbClr val="DBE6A7">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rot="1680000">
            <a:off x="8334375" y="7181850"/>
            <a:ext cx="1428750" cy="419100"/>
          </a:xfrm>
          <a:prstGeom prst="rect">
            <a:avLst/>
          </a:prstGeom>
          <a:solidFill>
            <a:srgbClr val="DBE6A7">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rot="21510000">
            <a:off x="1110586" y="7715674"/>
            <a:ext cx="8001000" cy="857250"/>
          </a:xfrm>
          <a:prstGeom prst="rect">
            <a:avLst/>
          </a:prstGeom>
          <a:noFill/>
        </p:spPr>
        <p:txBody>
          <a:bodyPr wrap="square" lIns="0" rIns="0" tIns="0" bIns="0" anchor="ctr">
            <a:spAutoFit/>
          </a:bodyPr>
          <a:lstStyle/>
          <a:p>
            <a:pPr algn="l">
              <a:lnSpc>
                <a:spcPct val="120000"/>
              </a:lnSpc>
            </a:pPr>
            <a:r>
              <a:rPr sz="6000" b="1" i="0">
                <a:solidFill>
                  <a:srgbClr val="DBE6A7"/>
                </a:solidFill>
                <a:latin typeface="Montserrat"/>
              </a:rPr>
              <a:t>Myth:</a:t>
            </a:r>
          </a:p>
        </p:txBody>
      </p:sp>
      <p:sp>
        <p:nvSpPr>
          <p:cNvPr id="31" name="TextBox 30"/>
          <p:cNvSpPr txBox="1"/>
          <p:nvPr/>
        </p:nvSpPr>
        <p:spPr>
          <a:xfrm rot="21510000">
            <a:off x="1136668" y="8612726"/>
            <a:ext cx="8572500" cy="1047750"/>
          </a:xfrm>
          <a:prstGeom prst="rect">
            <a:avLst/>
          </a:prstGeom>
          <a:noFill/>
        </p:spPr>
        <p:txBody>
          <a:bodyPr wrap="square" lIns="0" rIns="0" tIns="0" bIns="0" anchor="ctr">
            <a:spAutoFit/>
          </a:bodyPr>
          <a:lstStyle/>
          <a:p>
            <a:pPr algn="l">
              <a:lnSpc>
                <a:spcPct val="100000"/>
              </a:lnSpc>
            </a:pPr>
            <a:r>
              <a:rPr sz="7000" b="1" i="0">
                <a:solidFill>
                  <a:srgbClr val="F4F1EA"/>
                </a:solidFill>
                <a:latin typeface="Montserrat"/>
              </a:rPr>
              <a:t>“Coffee grounds</a:t>
            </a:r>
          </a:p>
        </p:txBody>
      </p:sp>
      <p:sp>
        <p:nvSpPr>
          <p:cNvPr id="32" name="Rectangle 31"/>
          <p:cNvSpPr/>
          <p:nvPr/>
        </p:nvSpPr>
        <p:spPr>
          <a:xfrm rot="21510000">
            <a:off x="1005482" y="9149531"/>
            <a:ext cx="7849344" cy="152400"/>
          </a:xfrm>
          <a:prstGeom prst="rect">
            <a:avLst/>
          </a:prstGeom>
          <a:solidFill>
            <a:srgbClr val="DBE6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rot="21510000">
            <a:off x="1165342" y="9707726"/>
            <a:ext cx="8572500" cy="1047750"/>
          </a:xfrm>
          <a:prstGeom prst="rect">
            <a:avLst/>
          </a:prstGeom>
          <a:noFill/>
        </p:spPr>
        <p:txBody>
          <a:bodyPr wrap="square" lIns="0" rIns="0" tIns="0" bIns="0" anchor="ctr">
            <a:spAutoFit/>
          </a:bodyPr>
          <a:lstStyle/>
          <a:p>
            <a:pPr algn="l">
              <a:lnSpc>
                <a:spcPct val="100000"/>
              </a:lnSpc>
            </a:pPr>
            <a:r>
              <a:rPr sz="7000" b="1" i="0">
                <a:solidFill>
                  <a:srgbClr val="F4F1EA"/>
                </a:solidFill>
                <a:latin typeface="Montserrat"/>
              </a:rPr>
              <a:t>acidify your soil.”</a:t>
            </a:r>
          </a:p>
        </p:txBody>
      </p:sp>
      <p:sp>
        <p:nvSpPr>
          <p:cNvPr id="34" name="Rectangle 33"/>
          <p:cNvSpPr/>
          <p:nvPr/>
        </p:nvSpPr>
        <p:spPr>
          <a:xfrm rot="21510000">
            <a:off x="1034099" y="10240169"/>
            <a:ext cx="8182570" cy="152400"/>
          </a:xfrm>
          <a:prstGeom prst="rect">
            <a:avLst/>
          </a:prstGeom>
          <a:solidFill>
            <a:srgbClr val="DBE6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foundation-logo-color.png"/>
          <p:cNvPicPr>
            <a:picLocks noChangeAspect="1"/>
          </p:cNvPicPr>
          <p:nvPr/>
        </p:nvPicPr>
        <p:blipFill>
          <a:blip r:embed="rId6"/>
          <a:stretch>
            <a:fillRect/>
          </a:stretch>
        </p:blipFill>
        <p:spPr>
          <a:xfrm>
            <a:off x="8667750" y="11345262"/>
            <a:ext cx="1047750" cy="94198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pic>
        <p:nvPicPr>
          <p:cNvPr id="2" name="Picture 1" descr="paper-grain-cream.jpg"/>
          <p:cNvPicPr>
            <a:picLocks noChangeAspect="1"/>
          </p:cNvPicPr>
          <p:nvPr/>
        </p:nvPicPr>
        <p:blipFill>
          <a:blip r:embed="rId3"/>
          <a:stretch>
            <a:fillRect/>
          </a:stretch>
        </p:blipFill>
        <p:spPr>
          <a:xfrm>
            <a:off x="0" y="0"/>
            <a:ext cx="10287000" cy="12858750"/>
          </a:xfrm>
          <a:prstGeom prst="rect">
            <a:avLst/>
          </a:prstGeom>
        </p:spPr>
      </p:pic>
      <p:sp>
        <p:nvSpPr>
          <p:cNvPr id="3" name="TextBox 2"/>
          <p:cNvSpPr txBox="1"/>
          <p:nvPr/>
        </p:nvSpPr>
        <p:spPr>
          <a:xfrm>
            <a:off x="762000" y="1047750"/>
            <a:ext cx="8763000" cy="2136139"/>
          </a:xfrm>
          <a:prstGeom prst="rect">
            <a:avLst/>
          </a:prstGeom>
          <a:noFill/>
        </p:spPr>
        <p:txBody>
          <a:bodyPr wrap="square" lIns="0" rIns="0" tIns="0" bIns="0" anchor="t">
            <a:spAutoFit/>
          </a:bodyPr>
          <a:lstStyle/>
          <a:p>
            <a:pPr algn="l">
              <a:lnSpc>
                <a:spcPct val="108000"/>
              </a:lnSpc>
            </a:pPr>
            <a:r>
              <a:rPr sz="6200" b="1" i="0">
                <a:solidFill>
                  <a:srgbClr val="22371F"/>
                </a:solidFill>
                <a:latin typeface="Montserrat"/>
              </a:rPr>
              <a:t>Brewing extracts most of the acids.</a:t>
            </a:r>
          </a:p>
        </p:txBody>
      </p:sp>
      <p:sp>
        <p:nvSpPr>
          <p:cNvPr id="4" name="TextBox 3"/>
          <p:cNvSpPr txBox="1"/>
          <p:nvPr/>
        </p:nvSpPr>
        <p:spPr>
          <a:xfrm>
            <a:off x="762000" y="3336289"/>
            <a:ext cx="8763000" cy="1771608"/>
          </a:xfrm>
          <a:prstGeom prst="rect">
            <a:avLst/>
          </a:prstGeom>
          <a:noFill/>
        </p:spPr>
        <p:txBody>
          <a:bodyPr wrap="square" lIns="0" rIns="0" tIns="0" bIns="0" anchor="t">
            <a:spAutoFit/>
          </a:bodyPr>
          <a:lstStyle/>
          <a:p>
            <a:pPr algn="l">
              <a:lnSpc>
                <a:spcPct val="125000"/>
              </a:lnSpc>
            </a:pPr>
            <a:r>
              <a:rPr sz="4400" b="0" i="0">
                <a:solidFill>
                  <a:srgbClr val="333130"/>
                </a:solidFill>
                <a:latin typeface="Source Sans 3"/>
              </a:rPr>
              <a:t>Spent grounds sit close to neutral pH.</a:t>
            </a:r>
          </a:p>
        </p:txBody>
      </p:sp>
      <p:sp>
        <p:nvSpPr>
          <p:cNvPr id="5" name="Rectangle 4"/>
          <p:cNvSpPr/>
          <p:nvPr/>
        </p:nvSpPr>
        <p:spPr>
          <a:xfrm>
            <a:off x="723900" y="7260547"/>
            <a:ext cx="8839200" cy="1524000"/>
          </a:xfrm>
          <a:prstGeom prst="rect">
            <a:avLst/>
          </a:prstGeom>
          <a:solidFill>
            <a:srgbClr val="FFFDF7"/>
          </a:solidFill>
          <a:ln>
            <a:no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57250" y="7393897"/>
            <a:ext cx="581025" cy="857250"/>
          </a:xfrm>
          <a:prstGeom prst="rect">
            <a:avLst/>
          </a:prstGeom>
          <a:solidFill>
            <a:srgbClr val="D73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428750" y="7393897"/>
            <a:ext cx="581025" cy="857250"/>
          </a:xfrm>
          <a:prstGeom prst="rect">
            <a:avLst/>
          </a:prstGeom>
          <a:solidFill>
            <a:srgbClr val="E45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00250" y="7393897"/>
            <a:ext cx="581025" cy="857250"/>
          </a:xfrm>
          <a:prstGeom prst="rect">
            <a:avLst/>
          </a:prstGeom>
          <a:solidFill>
            <a:srgbClr val="EC7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71750" y="7393897"/>
            <a:ext cx="581025" cy="857250"/>
          </a:xfrm>
          <a:prstGeom prst="rect">
            <a:avLst/>
          </a:prstGeom>
          <a:solidFill>
            <a:srgbClr val="F1A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143250" y="7393897"/>
            <a:ext cx="581025" cy="857250"/>
          </a:xfrm>
          <a:prstGeom prst="rect">
            <a:avLst/>
          </a:prstGeom>
          <a:solidFill>
            <a:srgbClr val="F4C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714750" y="7393897"/>
            <a:ext cx="581025" cy="857250"/>
          </a:xfrm>
          <a:prstGeom prst="rect">
            <a:avLst/>
          </a:prstGeom>
          <a:solidFill>
            <a:srgbClr val="D9D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6250" y="7393897"/>
            <a:ext cx="581025" cy="857250"/>
          </a:xfrm>
          <a:prstGeom prst="rect">
            <a:avLst/>
          </a:prstGeom>
          <a:solidFill>
            <a:srgbClr val="A8C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857750" y="7393897"/>
            <a:ext cx="581025" cy="857250"/>
          </a:xfrm>
          <a:prstGeom prst="rect">
            <a:avLst/>
          </a:prstGeom>
          <a:solidFill>
            <a:srgbClr val="6FB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29250" y="7393897"/>
            <a:ext cx="581025" cy="857250"/>
          </a:xfrm>
          <a:prstGeom prst="rect">
            <a:avLst/>
          </a:prstGeom>
          <a:solidFill>
            <a:srgbClr val="3E9F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00750" y="7393897"/>
            <a:ext cx="581025" cy="857250"/>
          </a:xfrm>
          <a:prstGeom prst="rect">
            <a:avLst/>
          </a:prstGeom>
          <a:solidFill>
            <a:srgbClr val="2F8C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72250" y="7393897"/>
            <a:ext cx="581025" cy="857250"/>
          </a:xfrm>
          <a:prstGeom prst="rect">
            <a:avLst/>
          </a:prstGeom>
          <a:solidFill>
            <a:srgbClr val="2C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143750" y="7393897"/>
            <a:ext cx="581025" cy="857250"/>
          </a:xfrm>
          <a:prstGeom prst="rect">
            <a:avLst/>
          </a:prstGeom>
          <a:solidFill>
            <a:srgbClr val="346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15250" y="7393897"/>
            <a:ext cx="581025" cy="857250"/>
          </a:xfrm>
          <a:prstGeom prst="rect">
            <a:avLst/>
          </a:prstGeom>
          <a:solidFill>
            <a:srgbClr val="4A4F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86750" y="7393897"/>
            <a:ext cx="581025" cy="857250"/>
          </a:xfrm>
          <a:prstGeom prst="rect">
            <a:avLst/>
          </a:prstGeom>
          <a:solidFill>
            <a:srgbClr val="5B3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58250" y="7393897"/>
            <a:ext cx="581025" cy="857250"/>
          </a:xfrm>
          <a:prstGeom prst="rect">
            <a:avLst/>
          </a:prstGeom>
          <a:solidFill>
            <a:srgbClr val="6530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6750" y="8308297"/>
            <a:ext cx="952500" cy="381000"/>
          </a:xfrm>
          <a:prstGeom prst="rect">
            <a:avLst/>
          </a:prstGeom>
          <a:noFill/>
        </p:spPr>
        <p:txBody>
          <a:bodyPr wrap="square" lIns="0" rIns="0" tIns="0" bIns="0" anchor="t">
            <a:spAutoFit/>
          </a:bodyPr>
          <a:lstStyle/>
          <a:p>
            <a:pPr algn="ctr">
              <a:lnSpc>
                <a:spcPct val="120000"/>
              </a:lnSpc>
            </a:pPr>
            <a:r>
              <a:rPr sz="2400" b="1" i="0">
                <a:solidFill>
                  <a:srgbClr val="333130"/>
                </a:solidFill>
                <a:latin typeface="Montserrat"/>
              </a:rPr>
              <a:t>0</a:t>
            </a:r>
          </a:p>
        </p:txBody>
      </p:sp>
      <p:sp>
        <p:nvSpPr>
          <p:cNvPr id="22" name="TextBox 21"/>
          <p:cNvSpPr txBox="1"/>
          <p:nvPr/>
        </p:nvSpPr>
        <p:spPr>
          <a:xfrm>
            <a:off x="4667250" y="8308297"/>
            <a:ext cx="952500" cy="381000"/>
          </a:xfrm>
          <a:prstGeom prst="rect">
            <a:avLst/>
          </a:prstGeom>
          <a:noFill/>
        </p:spPr>
        <p:txBody>
          <a:bodyPr wrap="square" lIns="0" rIns="0" tIns="0" bIns="0" anchor="t">
            <a:spAutoFit/>
          </a:bodyPr>
          <a:lstStyle/>
          <a:p>
            <a:pPr algn="ctr">
              <a:lnSpc>
                <a:spcPct val="120000"/>
              </a:lnSpc>
            </a:pPr>
            <a:r>
              <a:rPr sz="2400" b="1" i="0">
                <a:solidFill>
                  <a:srgbClr val="333130"/>
                </a:solidFill>
                <a:latin typeface="Montserrat"/>
              </a:rPr>
              <a:t>7</a:t>
            </a:r>
          </a:p>
        </p:txBody>
      </p:sp>
      <p:sp>
        <p:nvSpPr>
          <p:cNvPr id="23" name="TextBox 22"/>
          <p:cNvSpPr txBox="1"/>
          <p:nvPr/>
        </p:nvSpPr>
        <p:spPr>
          <a:xfrm>
            <a:off x="8667750" y="8308297"/>
            <a:ext cx="952500" cy="381000"/>
          </a:xfrm>
          <a:prstGeom prst="rect">
            <a:avLst/>
          </a:prstGeom>
          <a:noFill/>
        </p:spPr>
        <p:txBody>
          <a:bodyPr wrap="square" lIns="0" rIns="0" tIns="0" bIns="0" anchor="t">
            <a:spAutoFit/>
          </a:bodyPr>
          <a:lstStyle/>
          <a:p>
            <a:pPr algn="ctr">
              <a:lnSpc>
                <a:spcPct val="120000"/>
              </a:lnSpc>
            </a:pPr>
            <a:r>
              <a:rPr sz="2400" b="1" i="0">
                <a:solidFill>
                  <a:srgbClr val="333130"/>
                </a:solidFill>
                <a:latin typeface="Montserrat"/>
              </a:rPr>
              <a:t>14</a:t>
            </a:r>
          </a:p>
        </p:txBody>
      </p:sp>
      <p:grpSp>
        <p:nvGrpSpPr>
          <p:cNvPr id="24" name="Group 23"/>
          <p:cNvGrpSpPr/>
          <p:nvPr/>
        </p:nvGrpSpPr>
        <p:grpSpPr>
          <a:xfrm rot="21000000">
            <a:off x="0" y="0"/>
            <a:ext cx="3186112" cy="6917647"/>
            <a:chOff x="0" y="0"/>
            <a:chExt cx="3186112" cy="6917647"/>
          </a:xfrm>
        </p:grpSpPr>
        <p:sp>
          <p:nvSpPr>
            <p:cNvPr id="25" name="Oval 24"/>
            <p:cNvSpPr/>
            <p:nvPr/>
          </p:nvSpPr>
          <p:spPr>
            <a:xfrm rot="19500000">
              <a:off x="2586037" y="5450797"/>
              <a:ext cx="600075" cy="300037"/>
            </a:xfrm>
            <a:prstGeom prst="ellipse">
              <a:avLst/>
            </a:prstGeom>
            <a:solidFill>
              <a:srgbClr val="59A66C"/>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619250" y="5584147"/>
              <a:ext cx="1333500" cy="1333500"/>
            </a:xfrm>
            <a:prstGeom prst="ellipse">
              <a:avLst/>
            </a:prstGeom>
            <a:solidFill>
              <a:srgbClr val="E9B824"/>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752600" y="5717497"/>
              <a:ext cx="1066800" cy="1066800"/>
            </a:xfrm>
            <a:prstGeom prst="ellipse">
              <a:avLst/>
            </a:prstGeom>
            <a:solidFill>
              <a:srgbClr val="FFE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752600" y="6222322"/>
              <a:ext cx="1066800" cy="571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rot="2700000">
              <a:off x="1752600" y="6222322"/>
              <a:ext cx="1066800" cy="571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rot="5400000">
              <a:off x="1752600" y="6222322"/>
              <a:ext cx="1066800" cy="571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rot="8100000">
              <a:off x="1752600" y="6222322"/>
              <a:ext cx="1066800" cy="571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2205990" y="6170887"/>
              <a:ext cx="160020" cy="1600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33" name="Isosceles Triangle 32"/>
          <p:cNvSpPr/>
          <p:nvPr/>
        </p:nvSpPr>
        <p:spPr>
          <a:xfrm rot="10800000">
            <a:off x="2133600" y="7012897"/>
            <a:ext cx="304800" cy="247650"/>
          </a:xfrm>
          <a:prstGeom prst="triangle">
            <a:avLst/>
          </a:prstGeom>
          <a:solidFill>
            <a:srgbClr val="223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34" name="Group 33"/>
          <p:cNvGrpSpPr/>
          <p:nvPr/>
        </p:nvGrpSpPr>
        <p:grpSpPr>
          <a:xfrm>
            <a:off x="0" y="0"/>
            <a:ext cx="5425440" cy="6978607"/>
            <a:chOff x="0" y="0"/>
            <a:chExt cx="5425440" cy="6978607"/>
          </a:xfrm>
        </p:grpSpPr>
        <p:sp>
          <p:nvSpPr>
            <p:cNvPr id="35" name="Oval 34"/>
            <p:cNvSpPr/>
            <p:nvPr/>
          </p:nvSpPr>
          <p:spPr>
            <a:xfrm>
              <a:off x="3733800" y="6582367"/>
              <a:ext cx="1676400" cy="396240"/>
            </a:xfrm>
            <a:prstGeom prst="ellipse">
              <a:avLst/>
            </a:prstGeom>
            <a:solidFill>
              <a:srgbClr val="FFFDF7"/>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nut 35"/>
            <p:cNvSpPr/>
            <p:nvPr/>
          </p:nvSpPr>
          <p:spPr>
            <a:xfrm>
              <a:off x="4968240" y="5972767"/>
              <a:ext cx="457200" cy="457200"/>
            </a:xfrm>
            <a:prstGeom prst="donut">
              <a:avLst/>
            </a:prstGeom>
            <a:solidFill>
              <a:srgbClr val="FFFDF7"/>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3992880" y="5774647"/>
              <a:ext cx="1158240" cy="944880"/>
            </a:xfrm>
            <a:prstGeom prst="roundRect">
              <a:avLst/>
            </a:prstGeom>
            <a:solidFill>
              <a:srgbClr val="FFFDF7"/>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21455" y="6338527"/>
              <a:ext cx="1101090" cy="121920"/>
            </a:xfrm>
            <a:prstGeom prst="rect">
              <a:avLst/>
            </a:prstGeom>
            <a:solidFill>
              <a:srgbClr val="156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4023360" y="5667967"/>
              <a:ext cx="1097280" cy="243840"/>
            </a:xfrm>
            <a:prstGeom prst="ellipse">
              <a:avLst/>
            </a:prstGeom>
            <a:solidFill>
              <a:srgbClr val="4F3433"/>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4406900" y="6095534"/>
              <a:ext cx="59266" cy="59266"/>
            </a:xfrm>
            <a:prstGeom prst="ellipse">
              <a:avLst/>
            </a:prstGeom>
            <a:solidFill>
              <a:srgbClr val="4F3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677833" y="6095534"/>
              <a:ext cx="59266" cy="59266"/>
            </a:xfrm>
            <a:prstGeom prst="ellipse">
              <a:avLst/>
            </a:prstGeom>
            <a:solidFill>
              <a:srgbClr val="4F3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lock Arc 41"/>
            <p:cNvSpPr/>
            <p:nvPr/>
          </p:nvSpPr>
          <p:spPr>
            <a:xfrm rot="10800000">
              <a:off x="4478866" y="6142101"/>
              <a:ext cx="186266" cy="135466"/>
            </a:xfrm>
            <a:prstGeom prst="blockArc">
              <a:avLst>
                <a:gd name="adj1" fmla="val 10800000"/>
                <a:gd name="adj2" fmla="val 0"/>
                <a:gd name="adj3" fmla="val 18000"/>
              </a:avLst>
            </a:prstGeom>
            <a:solidFill>
              <a:srgbClr val="4F3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Wave 42"/>
            <p:cNvSpPr/>
            <p:nvPr/>
          </p:nvSpPr>
          <p:spPr>
            <a:xfrm rot="5400000">
              <a:off x="4282440" y="5210767"/>
              <a:ext cx="91440" cy="365760"/>
            </a:xfrm>
            <a:prstGeom prst="wave">
              <a:avLst/>
            </a:prstGeom>
            <a:solidFill>
              <a:srgbClr val="D8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Wave 43"/>
            <p:cNvSpPr/>
            <p:nvPr/>
          </p:nvSpPr>
          <p:spPr>
            <a:xfrm rot="5400000">
              <a:off x="4526280" y="5210767"/>
              <a:ext cx="91440" cy="365760"/>
            </a:xfrm>
            <a:prstGeom prst="wave">
              <a:avLst/>
            </a:prstGeom>
            <a:solidFill>
              <a:srgbClr val="D8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Wave 44"/>
            <p:cNvSpPr/>
            <p:nvPr/>
          </p:nvSpPr>
          <p:spPr>
            <a:xfrm rot="5400000">
              <a:off x="4770120" y="5210767"/>
              <a:ext cx="91440" cy="365760"/>
            </a:xfrm>
            <a:prstGeom prst="wave">
              <a:avLst/>
            </a:prstGeom>
            <a:solidFill>
              <a:srgbClr val="D8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46" name="Isosceles Triangle 45"/>
          <p:cNvSpPr/>
          <p:nvPr/>
        </p:nvSpPr>
        <p:spPr>
          <a:xfrm rot="10800000">
            <a:off x="4419600" y="7012897"/>
            <a:ext cx="304800" cy="247650"/>
          </a:xfrm>
          <a:prstGeom prst="triangle">
            <a:avLst/>
          </a:prstGeom>
          <a:solidFill>
            <a:srgbClr val="223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47" name="Group 46"/>
          <p:cNvGrpSpPr/>
          <p:nvPr/>
        </p:nvGrpSpPr>
        <p:grpSpPr>
          <a:xfrm rot="480000">
            <a:off x="0" y="0"/>
            <a:ext cx="3272790" cy="11382374"/>
            <a:chOff x="0" y="0"/>
            <a:chExt cx="3272790" cy="11382374"/>
          </a:xfrm>
        </p:grpSpPr>
        <p:sp>
          <p:nvSpPr>
            <p:cNvPr id="48" name="Oval 47"/>
            <p:cNvSpPr/>
            <p:nvPr/>
          </p:nvSpPr>
          <p:spPr>
            <a:xfrm rot="19800000">
              <a:off x="1524000" y="10816590"/>
              <a:ext cx="685800" cy="445770"/>
            </a:xfrm>
            <a:prstGeom prst="ellipse">
              <a:avLst/>
            </a:prstGeom>
            <a:solidFill>
              <a:srgbClr val="6B4430"/>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rot="20280000">
              <a:off x="1609725" y="11015662"/>
              <a:ext cx="514350" cy="47625"/>
            </a:xfrm>
            <a:prstGeom prst="rect">
              <a:avLst/>
            </a:prstGeom>
            <a:solidFill>
              <a:srgbClr val="3E2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rot="1200000">
              <a:off x="2124075" y="10525125"/>
              <a:ext cx="685800" cy="445770"/>
            </a:xfrm>
            <a:prstGeom prst="ellipse">
              <a:avLst/>
            </a:prstGeom>
            <a:solidFill>
              <a:srgbClr val="6B4430"/>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rot="1680000">
              <a:off x="2209800" y="10724197"/>
              <a:ext cx="514350" cy="47625"/>
            </a:xfrm>
            <a:prstGeom prst="rect">
              <a:avLst/>
            </a:prstGeom>
            <a:solidFill>
              <a:srgbClr val="3E2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rot="4200000">
              <a:off x="2586990" y="10936604"/>
              <a:ext cx="685800" cy="445770"/>
            </a:xfrm>
            <a:prstGeom prst="ellipse">
              <a:avLst/>
            </a:prstGeom>
            <a:solidFill>
              <a:srgbClr val="6B4430"/>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rot="4680000">
              <a:off x="2672715" y="11135677"/>
              <a:ext cx="514350" cy="47625"/>
            </a:xfrm>
            <a:prstGeom prst="rect">
              <a:avLst/>
            </a:prstGeom>
            <a:solidFill>
              <a:srgbClr val="3E2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pic>
        <p:nvPicPr>
          <p:cNvPr id="54" name="Picture 53" descr="trim-dried-flowers-2-1.png"/>
          <p:cNvPicPr>
            <a:picLocks noChangeAspect="1"/>
          </p:cNvPicPr>
          <p:nvPr/>
        </p:nvPicPr>
        <p:blipFill>
          <a:blip r:embed="rId4"/>
          <a:stretch>
            <a:fillRect/>
          </a:stretch>
        </p:blipFill>
        <p:spPr>
          <a:xfrm rot="1320000">
            <a:off x="8143875" y="10496288"/>
            <a:ext cx="1619250" cy="2438923"/>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pic>
        <p:nvPicPr>
          <p:cNvPr id="2" name="Picture 1" descr="paper-grain-cream.jpg"/>
          <p:cNvPicPr>
            <a:picLocks noChangeAspect="1"/>
          </p:cNvPicPr>
          <p:nvPr/>
        </p:nvPicPr>
        <p:blipFill>
          <a:blip r:embed="rId3"/>
          <a:stretch>
            <a:fillRect/>
          </a:stretch>
        </p:blipFill>
        <p:spPr>
          <a:xfrm>
            <a:off x="0" y="0"/>
            <a:ext cx="10287000" cy="12858750"/>
          </a:xfrm>
          <a:prstGeom prst="rect">
            <a:avLst/>
          </a:prstGeom>
        </p:spPr>
      </p:pic>
      <p:sp>
        <p:nvSpPr>
          <p:cNvPr id="3" name="TextBox 2"/>
          <p:cNvSpPr txBox="1"/>
          <p:nvPr/>
        </p:nvSpPr>
        <p:spPr>
          <a:xfrm>
            <a:off x="762000" y="1047750"/>
            <a:ext cx="8763000" cy="2959079"/>
          </a:xfrm>
          <a:prstGeom prst="rect">
            <a:avLst/>
          </a:prstGeom>
          <a:noFill/>
        </p:spPr>
        <p:txBody>
          <a:bodyPr wrap="square" lIns="0" rIns="0" tIns="0" bIns="0" anchor="t">
            <a:spAutoFit/>
          </a:bodyPr>
          <a:lstStyle/>
          <a:p>
            <a:pPr algn="l">
              <a:lnSpc>
                <a:spcPct val="108000"/>
              </a:lnSpc>
            </a:pPr>
            <a:r>
              <a:rPr sz="5800" b="1" i="0">
                <a:solidFill>
                  <a:srgbClr val="22371F"/>
                </a:solidFill>
                <a:latin typeface="Montserrat"/>
              </a:rPr>
              <a:t>The real issue: residual caffeine and chlorogenic acids.</a:t>
            </a:r>
          </a:p>
        </p:txBody>
      </p:sp>
      <p:sp>
        <p:nvSpPr>
          <p:cNvPr id="4" name="TextBox 3"/>
          <p:cNvSpPr txBox="1"/>
          <p:nvPr/>
        </p:nvSpPr>
        <p:spPr>
          <a:xfrm>
            <a:off x="762000" y="4159229"/>
            <a:ext cx="8763000" cy="1771608"/>
          </a:xfrm>
          <a:prstGeom prst="rect">
            <a:avLst/>
          </a:prstGeom>
          <a:noFill/>
        </p:spPr>
        <p:txBody>
          <a:bodyPr wrap="square" lIns="0" rIns="0" tIns="0" bIns="0" anchor="t">
            <a:spAutoFit/>
          </a:bodyPr>
          <a:lstStyle/>
          <a:p>
            <a:pPr algn="l">
              <a:lnSpc>
                <a:spcPct val="125000"/>
              </a:lnSpc>
            </a:pPr>
            <a:r>
              <a:rPr sz="4400" b="0" i="0">
                <a:solidFill>
                  <a:srgbClr val="333130"/>
                </a:solidFill>
                <a:latin typeface="Source Sans 3"/>
              </a:rPr>
              <a:t>Both are allelopathic. They inhibit germination and root growth.</a:t>
            </a:r>
          </a:p>
        </p:txBody>
      </p:sp>
      <p:sp>
        <p:nvSpPr>
          <p:cNvPr id="5" name="Rectangle 4"/>
          <p:cNvSpPr/>
          <p:nvPr/>
        </p:nvSpPr>
        <p:spPr>
          <a:xfrm rot="21360000">
            <a:off x="857250" y="6667500"/>
            <a:ext cx="4526280" cy="4872990"/>
          </a:xfrm>
          <a:prstGeom prst="rect">
            <a:avLst/>
          </a:prstGeom>
          <a:solidFill>
            <a:srgbClr val="FFFDF7"/>
          </a:solidFill>
          <a:ln>
            <a:no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2706250834023328548.jpg"/>
          <p:cNvPicPr>
            <a:picLocks noChangeAspect="1"/>
          </p:cNvPicPr>
          <p:nvPr/>
        </p:nvPicPr>
        <p:blipFill>
          <a:blip r:embed="rId4"/>
          <a:stretch>
            <a:fillRect/>
          </a:stretch>
        </p:blipFill>
        <p:spPr>
          <a:xfrm rot="21360000">
            <a:off x="1012797" y="6835562"/>
            <a:ext cx="4191000" cy="4191000"/>
          </a:xfrm>
          <a:prstGeom prst="rect">
            <a:avLst/>
          </a:prstGeom>
        </p:spPr>
      </p:pic>
      <p:sp>
        <p:nvSpPr>
          <p:cNvPr id="7" name="TextBox 6"/>
          <p:cNvSpPr txBox="1"/>
          <p:nvPr/>
        </p:nvSpPr>
        <p:spPr>
          <a:xfrm rot="21360000">
            <a:off x="1176911" y="11020831"/>
            <a:ext cx="4191000" cy="514350"/>
          </a:xfrm>
          <a:prstGeom prst="rect">
            <a:avLst/>
          </a:prstGeom>
          <a:noFill/>
        </p:spPr>
        <p:txBody>
          <a:bodyPr wrap="square" lIns="0" rIns="0" tIns="0" bIns="0" anchor="ctr">
            <a:spAutoFit/>
          </a:bodyPr>
          <a:lstStyle/>
          <a:p>
            <a:pPr algn="ctr">
              <a:lnSpc>
                <a:spcPct val="120000"/>
              </a:lnSpc>
            </a:pPr>
            <a:r>
              <a:rPr sz="1600" b="0" i="0">
                <a:solidFill>
                  <a:srgbClr val="6A665C"/>
                </a:solidFill>
                <a:latin typeface="Source Sans 3"/>
              </a:rPr>
              <a:t>Photo: Bianca Pătrașcu on Unsplash</a:t>
            </a:r>
          </a:p>
        </p:txBody>
      </p:sp>
      <p:sp>
        <p:nvSpPr>
          <p:cNvPr id="8" name="Rectangle 7"/>
          <p:cNvSpPr/>
          <p:nvPr/>
        </p:nvSpPr>
        <p:spPr>
          <a:xfrm rot="19800000">
            <a:off x="714375" y="6524625"/>
            <a:ext cx="1428750" cy="438150"/>
          </a:xfrm>
          <a:prstGeom prst="rect">
            <a:avLst/>
          </a:prstGeom>
          <a:solidFill>
            <a:srgbClr val="DBE6A7">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9" name="Group 8"/>
          <p:cNvGrpSpPr/>
          <p:nvPr/>
        </p:nvGrpSpPr>
        <p:grpSpPr>
          <a:xfrm>
            <a:off x="0" y="0"/>
            <a:ext cx="8648700" cy="10287000"/>
            <a:chOff x="0" y="0"/>
            <a:chExt cx="8648700" cy="10287000"/>
          </a:xfrm>
        </p:grpSpPr>
        <p:sp>
          <p:nvSpPr>
            <p:cNvPr id="10" name="Rectangle 9"/>
            <p:cNvSpPr/>
            <p:nvPr/>
          </p:nvSpPr>
          <p:spPr>
            <a:xfrm>
              <a:off x="7581900" y="8515350"/>
              <a:ext cx="76200" cy="1771650"/>
            </a:xfrm>
            <a:prstGeom prst="rect">
              <a:avLst/>
            </a:prstGeom>
            <a:solidFill>
              <a:srgbClr val="9C9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rot="3900000">
              <a:off x="6591300" y="8572500"/>
              <a:ext cx="1143000" cy="571500"/>
            </a:xfrm>
            <a:prstGeom prst="ellipse">
              <a:avLst/>
            </a:prstGeom>
            <a:solidFill>
              <a:srgbClr val="A7A45C"/>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rot="6900000">
              <a:off x="7505700" y="8572500"/>
              <a:ext cx="1143000" cy="571500"/>
            </a:xfrm>
            <a:prstGeom prst="ellipse">
              <a:avLst/>
            </a:prstGeom>
            <a:solidFill>
              <a:srgbClr val="A7A45C"/>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191250" y="10001250"/>
              <a:ext cx="2857500" cy="857250"/>
            </a:xfrm>
            <a:prstGeom prst="ellipse">
              <a:avLst/>
            </a:prstGeom>
            <a:solidFill>
              <a:srgbClr val="4F3433"/>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14" name="Group 13"/>
          <p:cNvGrpSpPr/>
          <p:nvPr/>
        </p:nvGrpSpPr>
        <p:grpSpPr>
          <a:xfrm rot="900000">
            <a:off x="0" y="0"/>
            <a:ext cx="7315200" cy="11596687"/>
            <a:chOff x="0" y="0"/>
            <a:chExt cx="7315200" cy="11596687"/>
          </a:xfrm>
        </p:grpSpPr>
        <p:sp>
          <p:nvSpPr>
            <p:cNvPr id="15" name="Oval 14"/>
            <p:cNvSpPr/>
            <p:nvPr/>
          </p:nvSpPr>
          <p:spPr>
            <a:xfrm rot="19800000">
              <a:off x="5857875" y="11125200"/>
              <a:ext cx="571500" cy="371475"/>
            </a:xfrm>
            <a:prstGeom prst="ellipse">
              <a:avLst/>
            </a:prstGeom>
            <a:solidFill>
              <a:srgbClr val="6B4430"/>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rot="20280000">
              <a:off x="5929312" y="11287125"/>
              <a:ext cx="428625" cy="47625"/>
            </a:xfrm>
            <a:prstGeom prst="rect">
              <a:avLst/>
            </a:prstGeom>
            <a:solidFill>
              <a:srgbClr val="3E2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rot="1200000">
              <a:off x="6357937" y="10882312"/>
              <a:ext cx="571500" cy="371475"/>
            </a:xfrm>
            <a:prstGeom prst="ellipse">
              <a:avLst/>
            </a:prstGeom>
            <a:solidFill>
              <a:srgbClr val="6B4430"/>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rot="1680000">
              <a:off x="6429375" y="11044237"/>
              <a:ext cx="428625" cy="47625"/>
            </a:xfrm>
            <a:prstGeom prst="rect">
              <a:avLst/>
            </a:prstGeom>
            <a:solidFill>
              <a:srgbClr val="3E2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rot="4200000">
              <a:off x="6743700" y="11225212"/>
              <a:ext cx="571500" cy="371475"/>
            </a:xfrm>
            <a:prstGeom prst="ellipse">
              <a:avLst/>
            </a:prstGeom>
            <a:solidFill>
              <a:srgbClr val="6B4430"/>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rot="4680000">
              <a:off x="6815137" y="11387137"/>
              <a:ext cx="428625" cy="47625"/>
            </a:xfrm>
            <a:prstGeom prst="rect">
              <a:avLst/>
            </a:prstGeom>
            <a:solidFill>
              <a:srgbClr val="3E2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21" name="Group 20"/>
          <p:cNvGrpSpPr/>
          <p:nvPr/>
        </p:nvGrpSpPr>
        <p:grpSpPr>
          <a:xfrm rot="480000">
            <a:off x="0" y="0"/>
            <a:ext cx="9795510" cy="7006590"/>
            <a:chOff x="0" y="0"/>
            <a:chExt cx="9795510" cy="7006590"/>
          </a:xfrm>
        </p:grpSpPr>
        <p:sp>
          <p:nvSpPr>
            <p:cNvPr id="22" name="Oval 21"/>
            <p:cNvSpPr/>
            <p:nvPr/>
          </p:nvSpPr>
          <p:spPr>
            <a:xfrm>
              <a:off x="8315325" y="6659880"/>
              <a:ext cx="1466850" cy="346710"/>
            </a:xfrm>
            <a:prstGeom prst="ellipse">
              <a:avLst/>
            </a:prstGeom>
            <a:solidFill>
              <a:srgbClr val="FFFDF7"/>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nut 22"/>
            <p:cNvSpPr/>
            <p:nvPr/>
          </p:nvSpPr>
          <p:spPr>
            <a:xfrm>
              <a:off x="9395460" y="6126480"/>
              <a:ext cx="400050" cy="400050"/>
            </a:xfrm>
            <a:prstGeom prst="donut">
              <a:avLst/>
            </a:prstGeom>
            <a:solidFill>
              <a:srgbClr val="FFFDF7"/>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542020" y="5953125"/>
              <a:ext cx="1013460" cy="826770"/>
            </a:xfrm>
            <a:prstGeom prst="roundRect">
              <a:avLst/>
            </a:prstGeom>
            <a:solidFill>
              <a:srgbClr val="FFFDF7"/>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570595" y="6446520"/>
              <a:ext cx="956310" cy="106680"/>
            </a:xfrm>
            <a:prstGeom prst="rect">
              <a:avLst/>
            </a:prstGeom>
            <a:solidFill>
              <a:srgbClr val="156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568690" y="5859780"/>
              <a:ext cx="960120" cy="213360"/>
            </a:xfrm>
            <a:prstGeom prst="ellipse">
              <a:avLst/>
            </a:prstGeom>
            <a:solidFill>
              <a:srgbClr val="4F3433"/>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Wave 26"/>
            <p:cNvSpPr/>
            <p:nvPr/>
          </p:nvSpPr>
          <p:spPr>
            <a:xfrm rot="5400000">
              <a:off x="8795385" y="5459730"/>
              <a:ext cx="80010" cy="320040"/>
            </a:xfrm>
            <a:prstGeom prst="wave">
              <a:avLst/>
            </a:prstGeom>
            <a:solidFill>
              <a:srgbClr val="D8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Wave 27"/>
            <p:cNvSpPr/>
            <p:nvPr/>
          </p:nvSpPr>
          <p:spPr>
            <a:xfrm rot="5400000">
              <a:off x="9008745" y="5459730"/>
              <a:ext cx="80010" cy="320040"/>
            </a:xfrm>
            <a:prstGeom prst="wave">
              <a:avLst/>
            </a:prstGeom>
            <a:solidFill>
              <a:srgbClr val="D8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Wave 28"/>
            <p:cNvSpPr/>
            <p:nvPr/>
          </p:nvSpPr>
          <p:spPr>
            <a:xfrm rot="5400000">
              <a:off x="9222105" y="5459730"/>
              <a:ext cx="80010" cy="320040"/>
            </a:xfrm>
            <a:prstGeom prst="wave">
              <a:avLst/>
            </a:prstGeom>
            <a:solidFill>
              <a:srgbClr val="D8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pic>
        <p:nvPicPr>
          <p:cNvPr id="2" name="Picture 1" descr="paper-grain-cream.jpg"/>
          <p:cNvPicPr>
            <a:picLocks noChangeAspect="1"/>
          </p:cNvPicPr>
          <p:nvPr/>
        </p:nvPicPr>
        <p:blipFill>
          <a:blip r:embed="rId3"/>
          <a:stretch>
            <a:fillRect/>
          </a:stretch>
        </p:blipFill>
        <p:spPr>
          <a:xfrm>
            <a:off x="0" y="0"/>
            <a:ext cx="10287000" cy="12858750"/>
          </a:xfrm>
          <a:prstGeom prst="rect">
            <a:avLst/>
          </a:prstGeom>
        </p:spPr>
      </p:pic>
      <p:sp>
        <p:nvSpPr>
          <p:cNvPr id="3" name="TextBox 2"/>
          <p:cNvSpPr txBox="1"/>
          <p:nvPr/>
        </p:nvSpPr>
        <p:spPr>
          <a:xfrm>
            <a:off x="762000" y="1047750"/>
            <a:ext cx="8763000" cy="3913688"/>
          </a:xfrm>
          <a:prstGeom prst="rect">
            <a:avLst/>
          </a:prstGeom>
          <a:noFill/>
        </p:spPr>
        <p:txBody>
          <a:bodyPr wrap="square" lIns="0" rIns="0" tIns="0" bIns="0" anchor="t">
            <a:spAutoFit/>
          </a:bodyPr>
          <a:lstStyle/>
          <a:p>
            <a:pPr algn="l">
              <a:lnSpc>
                <a:spcPct val="108000"/>
              </a:lnSpc>
            </a:pPr>
            <a:r>
              <a:rPr sz="5800" b="1" i="0">
                <a:solidFill>
                  <a:srgbClr val="22371F"/>
                </a:solidFill>
                <a:latin typeface="Montserrat"/>
              </a:rPr>
              <a:t>Fresh grounds spread on beds have reduced plant growth in trials.</a:t>
            </a:r>
          </a:p>
        </p:txBody>
      </p:sp>
      <p:sp>
        <p:nvSpPr>
          <p:cNvPr id="4" name="Rectangle 3"/>
          <p:cNvSpPr/>
          <p:nvPr/>
        </p:nvSpPr>
        <p:spPr>
          <a:xfrm rot="180000">
            <a:off x="3143250" y="5905500"/>
            <a:ext cx="5143500" cy="5476875"/>
          </a:xfrm>
          <a:prstGeom prst="rect">
            <a:avLst/>
          </a:prstGeom>
          <a:solidFill>
            <a:srgbClr val="FFFDF7"/>
          </a:solidFill>
          <a:ln>
            <a:no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2723930794202739989.jpg"/>
          <p:cNvPicPr>
            <a:picLocks noChangeAspect="1"/>
          </p:cNvPicPr>
          <p:nvPr/>
        </p:nvPicPr>
        <p:blipFill>
          <a:blip r:embed="rId4"/>
          <a:stretch>
            <a:fillRect/>
          </a:stretch>
        </p:blipFill>
        <p:spPr>
          <a:xfrm rot="180000">
            <a:off x="3342473" y="6096228"/>
            <a:ext cx="4762500" cy="4762500"/>
          </a:xfrm>
          <a:prstGeom prst="rect">
            <a:avLst/>
          </a:prstGeom>
        </p:spPr>
      </p:pic>
      <p:sp>
        <p:nvSpPr>
          <p:cNvPr id="6" name="TextBox 5"/>
          <p:cNvSpPr txBox="1"/>
          <p:nvPr/>
        </p:nvSpPr>
        <p:spPr>
          <a:xfrm rot="180000">
            <a:off x="3204140" y="10855106"/>
            <a:ext cx="4762500" cy="523875"/>
          </a:xfrm>
          <a:prstGeom prst="rect">
            <a:avLst/>
          </a:prstGeom>
          <a:noFill/>
        </p:spPr>
        <p:txBody>
          <a:bodyPr wrap="square" lIns="0" rIns="0" tIns="0" bIns="0" anchor="ctr">
            <a:spAutoFit/>
          </a:bodyPr>
          <a:lstStyle/>
          <a:p>
            <a:pPr algn="ctr">
              <a:lnSpc>
                <a:spcPct val="120000"/>
              </a:lnSpc>
            </a:pPr>
            <a:r>
              <a:rPr sz="1600" b="0" i="0">
                <a:solidFill>
                  <a:srgbClr val="6A665C"/>
                </a:solidFill>
                <a:latin typeface="Source Sans 3"/>
              </a:rPr>
              <a:t>Foundation library</a:t>
            </a:r>
          </a:p>
        </p:txBody>
      </p:sp>
      <p:sp>
        <p:nvSpPr>
          <p:cNvPr id="7" name="Rectangle 6"/>
          <p:cNvSpPr/>
          <p:nvPr/>
        </p:nvSpPr>
        <p:spPr>
          <a:xfrm rot="1800000">
            <a:off x="7000875" y="5781675"/>
            <a:ext cx="1428750" cy="438150"/>
          </a:xfrm>
          <a:prstGeom prst="rect">
            <a:avLst/>
          </a:prstGeom>
          <a:solidFill>
            <a:srgbClr val="DBE6A7">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rot="19800000">
            <a:off x="3000375" y="5781675"/>
            <a:ext cx="1428750" cy="438150"/>
          </a:xfrm>
          <a:prstGeom prst="rect">
            <a:avLst/>
          </a:prstGeom>
          <a:solidFill>
            <a:srgbClr val="DBE6A7">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9" name="Group 8"/>
          <p:cNvGrpSpPr/>
          <p:nvPr/>
        </p:nvGrpSpPr>
        <p:grpSpPr>
          <a:xfrm rot="21360000">
            <a:off x="0" y="0"/>
            <a:ext cx="2632710" cy="9620250"/>
            <a:chOff x="0" y="0"/>
            <a:chExt cx="2632710" cy="9620250"/>
          </a:xfrm>
        </p:grpSpPr>
        <p:sp>
          <p:nvSpPr>
            <p:cNvPr id="10" name="Rectangle 9"/>
            <p:cNvSpPr/>
            <p:nvPr/>
          </p:nvSpPr>
          <p:spPr>
            <a:xfrm>
              <a:off x="1771650" y="8202930"/>
              <a:ext cx="76200" cy="1417320"/>
            </a:xfrm>
            <a:prstGeom prst="rect">
              <a:avLst/>
            </a:prstGeom>
            <a:solidFill>
              <a:srgbClr val="9C9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rot="3900000">
              <a:off x="986790" y="8248650"/>
              <a:ext cx="914400" cy="457200"/>
            </a:xfrm>
            <a:prstGeom prst="ellipse">
              <a:avLst/>
            </a:prstGeom>
            <a:solidFill>
              <a:srgbClr val="A7A45C"/>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rot="6900000">
              <a:off x="1718310" y="8248650"/>
              <a:ext cx="914400" cy="457200"/>
            </a:xfrm>
            <a:prstGeom prst="ellipse">
              <a:avLst/>
            </a:prstGeom>
            <a:solidFill>
              <a:srgbClr val="A7A45C"/>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6750" y="9391650"/>
              <a:ext cx="2286000" cy="685800"/>
            </a:xfrm>
            <a:prstGeom prst="ellipse">
              <a:avLst/>
            </a:prstGeom>
            <a:solidFill>
              <a:srgbClr val="4F3433"/>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14" name="Group 13"/>
          <p:cNvGrpSpPr/>
          <p:nvPr/>
        </p:nvGrpSpPr>
        <p:grpSpPr>
          <a:xfrm rot="20880000">
            <a:off x="0" y="0"/>
            <a:ext cx="2747010" cy="11644312"/>
            <a:chOff x="0" y="0"/>
            <a:chExt cx="2747010" cy="11644312"/>
          </a:xfrm>
        </p:grpSpPr>
        <p:sp>
          <p:nvSpPr>
            <p:cNvPr id="15" name="Oval 14"/>
            <p:cNvSpPr/>
            <p:nvPr/>
          </p:nvSpPr>
          <p:spPr>
            <a:xfrm rot="19800000">
              <a:off x="1095375" y="11109960"/>
              <a:ext cx="647700" cy="421005"/>
            </a:xfrm>
            <a:prstGeom prst="ellipse">
              <a:avLst/>
            </a:prstGeom>
            <a:solidFill>
              <a:srgbClr val="6B4430"/>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rot="20280000">
              <a:off x="1176337" y="11296650"/>
              <a:ext cx="485775" cy="47625"/>
            </a:xfrm>
            <a:prstGeom prst="rect">
              <a:avLst/>
            </a:prstGeom>
            <a:solidFill>
              <a:srgbClr val="3E2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rot="1200000">
              <a:off x="1662112" y="10834687"/>
              <a:ext cx="647700" cy="421005"/>
            </a:xfrm>
            <a:prstGeom prst="ellipse">
              <a:avLst/>
            </a:prstGeom>
            <a:solidFill>
              <a:srgbClr val="6B4430"/>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rot="1680000">
              <a:off x="1743075" y="11021377"/>
              <a:ext cx="485775" cy="47625"/>
            </a:xfrm>
            <a:prstGeom prst="rect">
              <a:avLst/>
            </a:prstGeom>
            <a:solidFill>
              <a:srgbClr val="3E2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rot="4200000">
              <a:off x="2099310" y="11223307"/>
              <a:ext cx="647700" cy="421005"/>
            </a:xfrm>
            <a:prstGeom prst="ellipse">
              <a:avLst/>
            </a:prstGeom>
            <a:solidFill>
              <a:srgbClr val="6B4430"/>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rot="4680000">
              <a:off x="2180272" y="11409997"/>
              <a:ext cx="485775" cy="47625"/>
            </a:xfrm>
            <a:prstGeom prst="rect">
              <a:avLst/>
            </a:prstGeom>
            <a:solidFill>
              <a:srgbClr val="3E2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21" name="Group 20"/>
          <p:cNvGrpSpPr/>
          <p:nvPr/>
        </p:nvGrpSpPr>
        <p:grpSpPr>
          <a:xfrm rot="21120000">
            <a:off x="0" y="0"/>
            <a:ext cx="9319260" cy="12150090"/>
            <a:chOff x="0" y="0"/>
            <a:chExt cx="9319260" cy="12150090"/>
          </a:xfrm>
        </p:grpSpPr>
        <p:sp>
          <p:nvSpPr>
            <p:cNvPr id="22" name="Oval 21"/>
            <p:cNvSpPr/>
            <p:nvPr/>
          </p:nvSpPr>
          <p:spPr>
            <a:xfrm>
              <a:off x="7839075" y="11803380"/>
              <a:ext cx="1466850" cy="346710"/>
            </a:xfrm>
            <a:prstGeom prst="ellipse">
              <a:avLst/>
            </a:prstGeom>
            <a:solidFill>
              <a:srgbClr val="FFFDF7"/>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nut 22"/>
            <p:cNvSpPr/>
            <p:nvPr/>
          </p:nvSpPr>
          <p:spPr>
            <a:xfrm>
              <a:off x="8919210" y="11269980"/>
              <a:ext cx="400050" cy="400050"/>
            </a:xfrm>
            <a:prstGeom prst="donut">
              <a:avLst/>
            </a:prstGeom>
            <a:solidFill>
              <a:srgbClr val="FFFDF7"/>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065770" y="11096625"/>
              <a:ext cx="1013460" cy="826770"/>
            </a:xfrm>
            <a:prstGeom prst="roundRect">
              <a:avLst/>
            </a:prstGeom>
            <a:solidFill>
              <a:srgbClr val="FFFDF7"/>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94345" y="11590020"/>
              <a:ext cx="956310" cy="106680"/>
            </a:xfrm>
            <a:prstGeom prst="rect">
              <a:avLst/>
            </a:prstGeom>
            <a:solidFill>
              <a:srgbClr val="156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92440" y="11003280"/>
              <a:ext cx="960120" cy="213360"/>
            </a:xfrm>
            <a:prstGeom prst="ellipse">
              <a:avLst/>
            </a:prstGeom>
            <a:solidFill>
              <a:srgbClr val="4F3433"/>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Wave 26"/>
            <p:cNvSpPr/>
            <p:nvPr/>
          </p:nvSpPr>
          <p:spPr>
            <a:xfrm rot="5400000">
              <a:off x="8319135" y="10603230"/>
              <a:ext cx="80010" cy="320040"/>
            </a:xfrm>
            <a:prstGeom prst="wave">
              <a:avLst/>
            </a:prstGeom>
            <a:solidFill>
              <a:srgbClr val="D8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Wave 27"/>
            <p:cNvSpPr/>
            <p:nvPr/>
          </p:nvSpPr>
          <p:spPr>
            <a:xfrm rot="5400000">
              <a:off x="8532495" y="10603230"/>
              <a:ext cx="80010" cy="320040"/>
            </a:xfrm>
            <a:prstGeom prst="wave">
              <a:avLst/>
            </a:prstGeom>
            <a:solidFill>
              <a:srgbClr val="D8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Wave 28"/>
            <p:cNvSpPr/>
            <p:nvPr/>
          </p:nvSpPr>
          <p:spPr>
            <a:xfrm rot="5400000">
              <a:off x="8745855" y="10603230"/>
              <a:ext cx="80010" cy="320040"/>
            </a:xfrm>
            <a:prstGeom prst="wave">
              <a:avLst/>
            </a:prstGeom>
            <a:solidFill>
              <a:srgbClr val="D8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pic>
        <p:nvPicPr>
          <p:cNvPr id="2" name="Picture 1" descr="paper-grain-cream.jpg"/>
          <p:cNvPicPr>
            <a:picLocks noChangeAspect="1"/>
          </p:cNvPicPr>
          <p:nvPr/>
        </p:nvPicPr>
        <p:blipFill>
          <a:blip r:embed="rId3"/>
          <a:stretch>
            <a:fillRect/>
          </a:stretch>
        </p:blipFill>
        <p:spPr>
          <a:xfrm>
            <a:off x="0" y="0"/>
            <a:ext cx="10287000" cy="12858750"/>
          </a:xfrm>
          <a:prstGeom prst="rect">
            <a:avLst/>
          </a:prstGeom>
        </p:spPr>
      </p:pic>
      <p:sp>
        <p:nvSpPr>
          <p:cNvPr id="3" name="Rectangle 2"/>
          <p:cNvSpPr/>
          <p:nvPr/>
        </p:nvSpPr>
        <p:spPr>
          <a:xfrm rot="21420000">
            <a:off x="762000" y="762000"/>
            <a:ext cx="5349240" cy="5695950"/>
          </a:xfrm>
          <a:prstGeom prst="rect">
            <a:avLst/>
          </a:prstGeom>
          <a:solidFill>
            <a:srgbClr val="FFFDF7"/>
          </a:solidFill>
          <a:ln>
            <a:no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3828914008883886623.jpg"/>
          <p:cNvPicPr>
            <a:picLocks noChangeAspect="1"/>
          </p:cNvPicPr>
          <p:nvPr/>
        </p:nvPicPr>
        <p:blipFill>
          <a:blip r:embed="rId4"/>
          <a:stretch>
            <a:fillRect/>
          </a:stretch>
        </p:blipFill>
        <p:spPr>
          <a:xfrm rot="21420000">
            <a:off x="951047" y="960357"/>
            <a:ext cx="4953000" cy="4953000"/>
          </a:xfrm>
          <a:prstGeom prst="rect">
            <a:avLst/>
          </a:prstGeom>
        </p:spPr>
      </p:pic>
      <p:sp>
        <p:nvSpPr>
          <p:cNvPr id="5" name="TextBox 4"/>
          <p:cNvSpPr txBox="1"/>
          <p:nvPr/>
        </p:nvSpPr>
        <p:spPr>
          <a:xfrm rot="21420000">
            <a:off x="1094914" y="5909590"/>
            <a:ext cx="4953000" cy="544830"/>
          </a:xfrm>
          <a:prstGeom prst="rect">
            <a:avLst/>
          </a:prstGeom>
          <a:noFill/>
        </p:spPr>
        <p:txBody>
          <a:bodyPr wrap="square" lIns="0" rIns="0" tIns="0" bIns="0" anchor="ctr">
            <a:spAutoFit/>
          </a:bodyPr>
          <a:lstStyle/>
          <a:p>
            <a:pPr algn="ctr">
              <a:lnSpc>
                <a:spcPct val="120000"/>
              </a:lnSpc>
            </a:pPr>
            <a:r>
              <a:rPr sz="1600" b="0" i="0">
                <a:solidFill>
                  <a:srgbClr val="6A665C"/>
                </a:solidFill>
                <a:latin typeface="Source Sans 3"/>
              </a:rPr>
              <a:t>Soil Food Web Foundation</a:t>
            </a:r>
          </a:p>
        </p:txBody>
      </p:sp>
      <p:sp>
        <p:nvSpPr>
          <p:cNvPr id="6" name="Rectangle 5"/>
          <p:cNvSpPr/>
          <p:nvPr/>
        </p:nvSpPr>
        <p:spPr>
          <a:xfrm rot="240000">
            <a:off x="2674620" y="600075"/>
            <a:ext cx="1524000" cy="438150"/>
          </a:xfrm>
          <a:prstGeom prst="rect">
            <a:avLst/>
          </a:prstGeom>
          <a:solidFill>
            <a:srgbClr val="DBE6A7">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7" name="Group 6"/>
          <p:cNvGrpSpPr/>
          <p:nvPr/>
        </p:nvGrpSpPr>
        <p:grpSpPr>
          <a:xfrm rot="20520000">
            <a:off x="0" y="0"/>
            <a:ext cx="8858250" cy="2345054"/>
            <a:chOff x="0" y="0"/>
            <a:chExt cx="8858250" cy="2345054"/>
          </a:xfrm>
        </p:grpSpPr>
        <p:sp>
          <p:nvSpPr>
            <p:cNvPr id="8" name="Arc 7"/>
            <p:cNvSpPr/>
            <p:nvPr/>
          </p:nvSpPr>
          <p:spPr>
            <a:xfrm>
              <a:off x="6427470" y="1781784"/>
              <a:ext cx="356235" cy="228828"/>
            </a:xfrm>
            <a:prstGeom prst="arc">
              <a:avLst/>
            </a:prstGeom>
            <a:noFill/>
            <a:ln w="38100">
              <a:solidFill>
                <a:srgbClr val="1568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Arc 8"/>
            <p:cNvSpPr/>
            <p:nvPr/>
          </p:nvSpPr>
          <p:spPr>
            <a:xfrm rot="10800000">
              <a:off x="6092190" y="1799386"/>
              <a:ext cx="356235" cy="228828"/>
            </a:xfrm>
            <a:prstGeom prst="arc">
              <a:avLst/>
            </a:prstGeom>
            <a:noFill/>
            <a:ln w="38100">
              <a:solidFill>
                <a:srgbClr val="1568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Arc 9"/>
            <p:cNvSpPr/>
            <p:nvPr/>
          </p:nvSpPr>
          <p:spPr>
            <a:xfrm>
              <a:off x="5756910" y="1781784"/>
              <a:ext cx="356235" cy="228828"/>
            </a:xfrm>
            <a:prstGeom prst="arc">
              <a:avLst/>
            </a:prstGeom>
            <a:noFill/>
            <a:ln w="38100">
              <a:solidFill>
                <a:srgbClr val="1568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762750" y="1464945"/>
              <a:ext cx="2095500" cy="880109"/>
            </a:xfrm>
            <a:prstGeom prst="roundRect">
              <a:avLst>
                <a:gd name="adj" fmla="val 50000"/>
              </a:avLst>
            </a:prstGeom>
            <a:solidFill>
              <a:srgbClr val="BFD8A6"/>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76222" y="1827657"/>
              <a:ext cx="66675" cy="66675"/>
            </a:xfrm>
            <a:prstGeom prst="ellipse">
              <a:avLst/>
            </a:prstGeom>
            <a:solidFill>
              <a:srgbClr val="223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181022" y="1827657"/>
              <a:ext cx="66675" cy="66675"/>
            </a:xfrm>
            <a:prstGeom prst="ellipse">
              <a:avLst/>
            </a:prstGeom>
            <a:solidFill>
              <a:srgbClr val="223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lock Arc 13"/>
            <p:cNvSpPr/>
            <p:nvPr/>
          </p:nvSpPr>
          <p:spPr>
            <a:xfrm rot="10800000">
              <a:off x="7957185" y="1880044"/>
              <a:ext cx="209550" cy="152400"/>
            </a:xfrm>
            <a:prstGeom prst="blockArc">
              <a:avLst>
                <a:gd name="adj1" fmla="val 10800000"/>
                <a:gd name="adj2" fmla="val 0"/>
                <a:gd name="adj3" fmla="val 18000"/>
              </a:avLst>
            </a:prstGeom>
            <a:solidFill>
              <a:srgbClr val="223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15" name="Group 14"/>
          <p:cNvGrpSpPr/>
          <p:nvPr/>
        </p:nvGrpSpPr>
        <p:grpSpPr>
          <a:xfrm rot="720000">
            <a:off x="0" y="0"/>
            <a:ext cx="9286875" cy="4571047"/>
            <a:chOff x="0" y="0"/>
            <a:chExt cx="9286875" cy="4571047"/>
          </a:xfrm>
        </p:grpSpPr>
        <p:sp>
          <p:nvSpPr>
            <p:cNvPr id="16" name="Arc 15"/>
            <p:cNvSpPr/>
            <p:nvPr/>
          </p:nvSpPr>
          <p:spPr>
            <a:xfrm>
              <a:off x="7187565" y="4084586"/>
              <a:ext cx="307657" cy="197624"/>
            </a:xfrm>
            <a:prstGeom prst="arc">
              <a:avLst/>
            </a:prstGeom>
            <a:noFill/>
            <a:ln w="38100">
              <a:solidFill>
                <a:srgbClr val="1568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Arc 16"/>
            <p:cNvSpPr/>
            <p:nvPr/>
          </p:nvSpPr>
          <p:spPr>
            <a:xfrm rot="10800000">
              <a:off x="6898005" y="4099788"/>
              <a:ext cx="307657" cy="197624"/>
            </a:xfrm>
            <a:prstGeom prst="arc">
              <a:avLst/>
            </a:prstGeom>
            <a:noFill/>
            <a:ln w="38100">
              <a:solidFill>
                <a:srgbClr val="1568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Arc 17"/>
            <p:cNvSpPr/>
            <p:nvPr/>
          </p:nvSpPr>
          <p:spPr>
            <a:xfrm>
              <a:off x="6608445" y="4084586"/>
              <a:ext cx="307657" cy="197624"/>
            </a:xfrm>
            <a:prstGeom prst="arc">
              <a:avLst/>
            </a:prstGeom>
            <a:noFill/>
            <a:ln w="38100">
              <a:solidFill>
                <a:srgbClr val="1568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477125" y="3810952"/>
              <a:ext cx="1809750" cy="760095"/>
            </a:xfrm>
            <a:prstGeom prst="roundRect">
              <a:avLst>
                <a:gd name="adj" fmla="val 50000"/>
              </a:avLst>
            </a:prstGeom>
            <a:solidFill>
              <a:srgbClr val="D6E3A8"/>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38760" y="4124203"/>
              <a:ext cx="57582" cy="57582"/>
            </a:xfrm>
            <a:prstGeom prst="ellipse">
              <a:avLst/>
            </a:prstGeom>
            <a:solidFill>
              <a:srgbClr val="223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701996" y="4124203"/>
              <a:ext cx="57582" cy="57582"/>
            </a:xfrm>
            <a:prstGeom prst="ellipse">
              <a:avLst/>
            </a:prstGeom>
            <a:solidFill>
              <a:srgbClr val="223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lock Arc 21"/>
            <p:cNvSpPr/>
            <p:nvPr/>
          </p:nvSpPr>
          <p:spPr>
            <a:xfrm rot="10800000">
              <a:off x="8508682" y="4169447"/>
              <a:ext cx="180975" cy="131618"/>
            </a:xfrm>
            <a:prstGeom prst="blockArc">
              <a:avLst>
                <a:gd name="adj1" fmla="val 10800000"/>
                <a:gd name="adj2" fmla="val 0"/>
                <a:gd name="adj3" fmla="val 18000"/>
              </a:avLst>
            </a:prstGeom>
            <a:solidFill>
              <a:srgbClr val="223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23" name="Group 22"/>
          <p:cNvGrpSpPr/>
          <p:nvPr/>
        </p:nvGrpSpPr>
        <p:grpSpPr>
          <a:xfrm rot="21240000">
            <a:off x="0" y="0"/>
            <a:ext cx="8048625" cy="6436041"/>
            <a:chOff x="0" y="0"/>
            <a:chExt cx="8048625" cy="6436041"/>
          </a:xfrm>
        </p:grpSpPr>
        <p:sp>
          <p:nvSpPr>
            <p:cNvPr id="24" name="Arc 23"/>
            <p:cNvSpPr/>
            <p:nvPr/>
          </p:nvSpPr>
          <p:spPr>
            <a:xfrm>
              <a:off x="6170295" y="6000788"/>
              <a:ext cx="275272" cy="176822"/>
            </a:xfrm>
            <a:prstGeom prst="arc">
              <a:avLst/>
            </a:prstGeom>
            <a:noFill/>
            <a:ln w="38100">
              <a:solidFill>
                <a:srgbClr val="1568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Arc 24"/>
            <p:cNvSpPr/>
            <p:nvPr/>
          </p:nvSpPr>
          <p:spPr>
            <a:xfrm rot="10800000">
              <a:off x="5911215" y="6014389"/>
              <a:ext cx="275272" cy="176822"/>
            </a:xfrm>
            <a:prstGeom prst="arc">
              <a:avLst/>
            </a:prstGeom>
            <a:noFill/>
            <a:ln w="38100">
              <a:solidFill>
                <a:srgbClr val="1568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Arc 25"/>
            <p:cNvSpPr/>
            <p:nvPr/>
          </p:nvSpPr>
          <p:spPr>
            <a:xfrm>
              <a:off x="5652135" y="6000788"/>
              <a:ext cx="275272" cy="176822"/>
            </a:xfrm>
            <a:prstGeom prst="arc">
              <a:avLst/>
            </a:prstGeom>
            <a:noFill/>
            <a:ln w="38100">
              <a:solidFill>
                <a:srgbClr val="1568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429375" y="5755957"/>
              <a:ext cx="1619250" cy="680084"/>
            </a:xfrm>
            <a:prstGeom prst="roundRect">
              <a:avLst>
                <a:gd name="adj" fmla="val 50000"/>
              </a:avLst>
            </a:prstGeom>
            <a:solidFill>
              <a:srgbClr val="C9DDB6"/>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89785" y="6036234"/>
              <a:ext cx="51521" cy="51521"/>
            </a:xfrm>
            <a:prstGeom prst="ellipse">
              <a:avLst/>
            </a:prstGeom>
            <a:solidFill>
              <a:srgbClr val="223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525312" y="6036234"/>
              <a:ext cx="51521" cy="51521"/>
            </a:xfrm>
            <a:prstGeom prst="ellipse">
              <a:avLst/>
            </a:prstGeom>
            <a:solidFill>
              <a:srgbClr val="223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lock Arc 29"/>
            <p:cNvSpPr/>
            <p:nvPr/>
          </p:nvSpPr>
          <p:spPr>
            <a:xfrm rot="10800000">
              <a:off x="7352347" y="6076716"/>
              <a:ext cx="161925" cy="117763"/>
            </a:xfrm>
            <a:prstGeom prst="blockArc">
              <a:avLst>
                <a:gd name="adj1" fmla="val 10800000"/>
                <a:gd name="adj2" fmla="val 0"/>
                <a:gd name="adj3" fmla="val 18000"/>
              </a:avLst>
            </a:prstGeom>
            <a:solidFill>
              <a:srgbClr val="223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31" name="Group 30"/>
          <p:cNvGrpSpPr/>
          <p:nvPr/>
        </p:nvGrpSpPr>
        <p:grpSpPr>
          <a:xfrm rot="1200000">
            <a:off x="0" y="0"/>
            <a:ext cx="9974580" cy="5881687"/>
            <a:chOff x="0" y="0"/>
            <a:chExt cx="9974580" cy="5881687"/>
          </a:xfrm>
        </p:grpSpPr>
        <p:sp>
          <p:nvSpPr>
            <p:cNvPr id="32" name="Oval 31"/>
            <p:cNvSpPr/>
            <p:nvPr/>
          </p:nvSpPr>
          <p:spPr>
            <a:xfrm rot="19800000">
              <a:off x="8905875" y="5535930"/>
              <a:ext cx="419100" cy="272415"/>
            </a:xfrm>
            <a:prstGeom prst="ellipse">
              <a:avLst/>
            </a:prstGeom>
            <a:solidFill>
              <a:srgbClr val="6B4430"/>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rot="20280000">
              <a:off x="8958262" y="5648325"/>
              <a:ext cx="314325" cy="47625"/>
            </a:xfrm>
            <a:prstGeom prst="rect">
              <a:avLst/>
            </a:prstGeom>
            <a:solidFill>
              <a:srgbClr val="3E2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rot="1200000">
              <a:off x="9272587" y="5357812"/>
              <a:ext cx="419100" cy="272415"/>
            </a:xfrm>
            <a:prstGeom prst="ellipse">
              <a:avLst/>
            </a:prstGeom>
            <a:solidFill>
              <a:srgbClr val="6B4430"/>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rot="1680000">
              <a:off x="9324975" y="5470207"/>
              <a:ext cx="314325" cy="47625"/>
            </a:xfrm>
            <a:prstGeom prst="rect">
              <a:avLst/>
            </a:prstGeom>
            <a:solidFill>
              <a:srgbClr val="3E2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rot="4200000">
              <a:off x="9555480" y="5609272"/>
              <a:ext cx="419100" cy="272415"/>
            </a:xfrm>
            <a:prstGeom prst="ellipse">
              <a:avLst/>
            </a:prstGeom>
            <a:solidFill>
              <a:srgbClr val="6B4430"/>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rot="4680000">
              <a:off x="9607867" y="5721667"/>
              <a:ext cx="314325" cy="47625"/>
            </a:xfrm>
            <a:prstGeom prst="rect">
              <a:avLst/>
            </a:prstGeom>
            <a:solidFill>
              <a:srgbClr val="3E2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38" name="TextBox 37"/>
          <p:cNvSpPr txBox="1"/>
          <p:nvPr/>
        </p:nvSpPr>
        <p:spPr>
          <a:xfrm>
            <a:off x="762000" y="7524750"/>
            <a:ext cx="8763000" cy="2136139"/>
          </a:xfrm>
          <a:prstGeom prst="rect">
            <a:avLst/>
          </a:prstGeom>
          <a:noFill/>
        </p:spPr>
        <p:txBody>
          <a:bodyPr wrap="square" lIns="0" rIns="0" tIns="0" bIns="0" anchor="t">
            <a:spAutoFit/>
          </a:bodyPr>
          <a:lstStyle/>
          <a:p>
            <a:pPr algn="l">
              <a:lnSpc>
                <a:spcPct val="108000"/>
              </a:lnSpc>
            </a:pPr>
            <a:r>
              <a:rPr sz="6200" b="1" i="0">
                <a:solidFill>
                  <a:srgbClr val="22371F"/>
                </a:solidFill>
                <a:latin typeface="Montserrat"/>
              </a:rPr>
              <a:t>Composting breaks them down.</a:t>
            </a:r>
          </a:p>
        </p:txBody>
      </p:sp>
      <p:sp>
        <p:nvSpPr>
          <p:cNvPr id="39" name="TextBox 38"/>
          <p:cNvSpPr txBox="1"/>
          <p:nvPr/>
        </p:nvSpPr>
        <p:spPr>
          <a:xfrm>
            <a:off x="762000" y="9813289"/>
            <a:ext cx="8763000" cy="2495489"/>
          </a:xfrm>
          <a:prstGeom prst="rect">
            <a:avLst/>
          </a:prstGeom>
          <a:noFill/>
        </p:spPr>
        <p:txBody>
          <a:bodyPr wrap="square" lIns="0" rIns="0" tIns="0" bIns="0" anchor="t">
            <a:spAutoFit/>
          </a:bodyPr>
          <a:lstStyle/>
          <a:p>
            <a:pPr algn="l">
              <a:lnSpc>
                <a:spcPct val="125000"/>
              </a:lnSpc>
            </a:pPr>
            <a:r>
              <a:rPr sz="4200" b="0" i="0">
                <a:solidFill>
                  <a:srgbClr val="333130"/>
                </a:solidFill>
                <a:latin typeface="Source Sans 3"/>
              </a:rPr>
              <a:t>Some soil bacteria, like Pseudomonas putida CBB5, use caffeine as their only carbon and nitrogen source.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pic>
        <p:nvPicPr>
          <p:cNvPr id="2" name="Picture 1" descr="paper-grain-cream.jpg"/>
          <p:cNvPicPr>
            <a:picLocks noChangeAspect="1"/>
          </p:cNvPicPr>
          <p:nvPr/>
        </p:nvPicPr>
        <p:blipFill>
          <a:blip r:embed="rId3"/>
          <a:stretch>
            <a:fillRect/>
          </a:stretch>
        </p:blipFill>
        <p:spPr>
          <a:xfrm>
            <a:off x="0" y="0"/>
            <a:ext cx="10287000" cy="12858750"/>
          </a:xfrm>
          <a:prstGeom prst="rect">
            <a:avLst/>
          </a:prstGeom>
        </p:spPr>
      </p:pic>
      <p:sp>
        <p:nvSpPr>
          <p:cNvPr id="3" name="TextBox 2"/>
          <p:cNvSpPr txBox="1"/>
          <p:nvPr/>
        </p:nvSpPr>
        <p:spPr>
          <a:xfrm>
            <a:off x="762000" y="1047750"/>
            <a:ext cx="8763000" cy="3156584"/>
          </a:xfrm>
          <a:prstGeom prst="rect">
            <a:avLst/>
          </a:prstGeom>
          <a:noFill/>
        </p:spPr>
        <p:txBody>
          <a:bodyPr wrap="square" lIns="0" rIns="0" tIns="0" bIns="0" anchor="t">
            <a:spAutoFit/>
          </a:bodyPr>
          <a:lstStyle/>
          <a:p>
            <a:pPr algn="l">
              <a:lnSpc>
                <a:spcPct val="108000"/>
              </a:lnSpc>
            </a:pPr>
            <a:r>
              <a:rPr sz="6200" b="1" i="0">
                <a:solidFill>
                  <a:srgbClr val="22371F"/>
                </a:solidFill>
                <a:latin typeface="Montserrat"/>
              </a:rPr>
              <a:t>Grounds are a green, nitrogen-rich input.</a:t>
            </a:r>
          </a:p>
        </p:txBody>
      </p:sp>
      <p:sp>
        <p:nvSpPr>
          <p:cNvPr id="4" name="TextBox 3"/>
          <p:cNvSpPr txBox="1"/>
          <p:nvPr/>
        </p:nvSpPr>
        <p:spPr>
          <a:xfrm>
            <a:off x="762000" y="4356734"/>
            <a:ext cx="8763000" cy="1771608"/>
          </a:xfrm>
          <a:prstGeom prst="rect">
            <a:avLst/>
          </a:prstGeom>
          <a:noFill/>
        </p:spPr>
        <p:txBody>
          <a:bodyPr wrap="square" lIns="0" rIns="0" tIns="0" bIns="0" anchor="t">
            <a:spAutoFit/>
          </a:bodyPr>
          <a:lstStyle/>
          <a:p>
            <a:pPr algn="l">
              <a:lnSpc>
                <a:spcPct val="125000"/>
              </a:lnSpc>
            </a:pPr>
            <a:r>
              <a:rPr sz="4400" b="0" i="0">
                <a:solidFill>
                  <a:srgbClr val="333130"/>
                </a:solidFill>
                <a:latin typeface="Source Sans 3"/>
              </a:rPr>
              <a:t>Mix with woody browns and compost them hot, at 55°C or more.</a:t>
            </a:r>
          </a:p>
        </p:txBody>
      </p:sp>
      <p:sp>
        <p:nvSpPr>
          <p:cNvPr id="5" name="Rectangle 4"/>
          <p:cNvSpPr/>
          <p:nvPr/>
        </p:nvSpPr>
        <p:spPr>
          <a:xfrm rot="21360000">
            <a:off x="857249" y="6667500"/>
            <a:ext cx="4732020" cy="5071110"/>
          </a:xfrm>
          <a:prstGeom prst="rect">
            <a:avLst/>
          </a:prstGeom>
          <a:solidFill>
            <a:srgbClr val="FFFDF7"/>
          </a:solidFill>
          <a:ln>
            <a:no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5435852472096531304.jpg"/>
          <p:cNvPicPr>
            <a:picLocks noChangeAspect="1"/>
          </p:cNvPicPr>
          <p:nvPr/>
        </p:nvPicPr>
        <p:blipFill>
          <a:blip r:embed="rId4"/>
          <a:stretch>
            <a:fillRect/>
          </a:stretch>
        </p:blipFill>
        <p:spPr>
          <a:xfrm rot="21360000">
            <a:off x="1020683" y="6843173"/>
            <a:ext cx="4381500" cy="4381500"/>
          </a:xfrm>
          <a:prstGeom prst="rect">
            <a:avLst/>
          </a:prstGeom>
        </p:spPr>
      </p:pic>
      <p:sp>
        <p:nvSpPr>
          <p:cNvPr id="7" name="TextBox 6"/>
          <p:cNvSpPr txBox="1"/>
          <p:nvPr/>
        </p:nvSpPr>
        <p:spPr>
          <a:xfrm rot="21360000">
            <a:off x="1191441" y="11218709"/>
            <a:ext cx="4381500" cy="514350"/>
          </a:xfrm>
          <a:prstGeom prst="rect">
            <a:avLst/>
          </a:prstGeom>
          <a:noFill/>
        </p:spPr>
        <p:txBody>
          <a:bodyPr wrap="square" lIns="0" rIns="0" tIns="0" bIns="0" anchor="ctr">
            <a:spAutoFit/>
          </a:bodyPr>
          <a:lstStyle/>
          <a:p>
            <a:pPr algn="ctr">
              <a:lnSpc>
                <a:spcPct val="120000"/>
              </a:lnSpc>
            </a:pPr>
            <a:r>
              <a:rPr sz="1600" b="0" i="0">
                <a:solidFill>
                  <a:srgbClr val="6A665C"/>
                </a:solidFill>
                <a:latin typeface="Source Sans 3"/>
              </a:rPr>
              <a:t>Foundation library</a:t>
            </a:r>
          </a:p>
        </p:txBody>
      </p:sp>
      <p:sp>
        <p:nvSpPr>
          <p:cNvPr id="8" name="Rectangle 7"/>
          <p:cNvSpPr/>
          <p:nvPr/>
        </p:nvSpPr>
        <p:spPr>
          <a:xfrm rot="19800000">
            <a:off x="809625" y="6524625"/>
            <a:ext cx="1428750" cy="438150"/>
          </a:xfrm>
          <a:prstGeom prst="rect">
            <a:avLst/>
          </a:prstGeom>
          <a:solidFill>
            <a:srgbClr val="DBE6A7">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72250" y="6572250"/>
            <a:ext cx="594360" cy="4477512"/>
          </a:xfrm>
          <a:prstGeom prst="roundRect">
            <a:avLst>
              <a:gd name="adj" fmla="val 50000"/>
            </a:avLst>
          </a:prstGeom>
          <a:solidFill>
            <a:srgbClr val="FFFDF7"/>
          </a:solidFill>
          <a:ln w="28575">
            <a:solidFill>
              <a:srgbClr val="2237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750558" y="7992427"/>
            <a:ext cx="237744" cy="3152584"/>
          </a:xfrm>
          <a:prstGeom prst="rect">
            <a:avLst/>
          </a:prstGeom>
          <a:solidFill>
            <a:srgbClr val="D9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275070" y="10431780"/>
            <a:ext cx="1188720" cy="1188720"/>
          </a:xfrm>
          <a:prstGeom prst="ellipse">
            <a:avLst/>
          </a:prstGeom>
          <a:solidFill>
            <a:srgbClr val="D9A521"/>
          </a:solidFill>
          <a:ln w="28575">
            <a:solidFill>
              <a:srgbClr val="2237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04710" y="7973377"/>
            <a:ext cx="342900" cy="47625"/>
          </a:xfrm>
          <a:prstGeom prst="rect">
            <a:avLst/>
          </a:prstGeom>
          <a:solidFill>
            <a:srgbClr val="223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29500" y="7687627"/>
            <a:ext cx="2476500" cy="609600"/>
          </a:xfrm>
          <a:prstGeom prst="rect">
            <a:avLst/>
          </a:prstGeom>
          <a:noFill/>
        </p:spPr>
        <p:txBody>
          <a:bodyPr wrap="square" lIns="0" rIns="0" tIns="0" bIns="0" anchor="ctr">
            <a:spAutoFit/>
          </a:bodyPr>
          <a:lstStyle/>
          <a:p>
            <a:pPr algn="l">
              <a:lnSpc>
                <a:spcPct val="120000"/>
              </a:lnSpc>
            </a:pPr>
            <a:r>
              <a:rPr sz="4400" b="1" i="0">
                <a:solidFill>
                  <a:srgbClr val="22371F"/>
                </a:solidFill>
                <a:latin typeface="Montserrat"/>
              </a:rPr>
              <a:t>55°C</a:t>
            </a:r>
          </a:p>
        </p:txBody>
      </p:sp>
      <p:grpSp>
        <p:nvGrpSpPr>
          <p:cNvPr id="14" name="Group 13"/>
          <p:cNvGrpSpPr/>
          <p:nvPr/>
        </p:nvGrpSpPr>
        <p:grpSpPr>
          <a:xfrm rot="360000">
            <a:off x="0" y="0"/>
            <a:ext cx="9563100" cy="12487275"/>
            <a:chOff x="0" y="0"/>
            <a:chExt cx="9563100" cy="12487275"/>
          </a:xfrm>
        </p:grpSpPr>
        <p:sp>
          <p:nvSpPr>
            <p:cNvPr id="15" name="Oval 14"/>
            <p:cNvSpPr/>
            <p:nvPr/>
          </p:nvSpPr>
          <p:spPr>
            <a:xfrm>
              <a:off x="7977187" y="12115800"/>
              <a:ext cx="1571625" cy="371475"/>
            </a:xfrm>
            <a:prstGeom prst="ellipse">
              <a:avLst/>
            </a:prstGeom>
            <a:solidFill>
              <a:srgbClr val="FFFDF7"/>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onut 15"/>
            <p:cNvSpPr/>
            <p:nvPr/>
          </p:nvSpPr>
          <p:spPr>
            <a:xfrm>
              <a:off x="9134475" y="11544300"/>
              <a:ext cx="428625" cy="428625"/>
            </a:xfrm>
            <a:prstGeom prst="donut">
              <a:avLst/>
            </a:prstGeom>
            <a:solidFill>
              <a:srgbClr val="FFFDF7"/>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220075" y="11358562"/>
              <a:ext cx="1085850" cy="885825"/>
            </a:xfrm>
            <a:prstGeom prst="roundRect">
              <a:avLst/>
            </a:prstGeom>
            <a:solidFill>
              <a:srgbClr val="FFFDF7"/>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48650" y="11887200"/>
              <a:ext cx="1028700" cy="114300"/>
            </a:xfrm>
            <a:prstGeom prst="rect">
              <a:avLst/>
            </a:prstGeom>
            <a:solidFill>
              <a:srgbClr val="156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48650" y="11258550"/>
              <a:ext cx="1028700" cy="228600"/>
            </a:xfrm>
            <a:prstGeom prst="ellipse">
              <a:avLst/>
            </a:prstGeom>
            <a:solidFill>
              <a:srgbClr val="4F3433"/>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608218" y="11659393"/>
              <a:ext cx="55562" cy="55562"/>
            </a:xfrm>
            <a:prstGeom prst="ellipse">
              <a:avLst/>
            </a:prstGeom>
            <a:solidFill>
              <a:srgbClr val="4F3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862218" y="11659393"/>
              <a:ext cx="55562" cy="55562"/>
            </a:xfrm>
            <a:prstGeom prst="ellipse">
              <a:avLst/>
            </a:prstGeom>
            <a:solidFill>
              <a:srgbClr val="4F3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lock Arc 21"/>
            <p:cNvSpPr/>
            <p:nvPr/>
          </p:nvSpPr>
          <p:spPr>
            <a:xfrm rot="10800000">
              <a:off x="8675687" y="11703050"/>
              <a:ext cx="174625" cy="127000"/>
            </a:xfrm>
            <a:prstGeom prst="blockArc">
              <a:avLst>
                <a:gd name="adj1" fmla="val 10800000"/>
                <a:gd name="adj2" fmla="val 0"/>
                <a:gd name="adj3" fmla="val 18000"/>
              </a:avLst>
            </a:prstGeom>
            <a:solidFill>
              <a:srgbClr val="4F3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Wave 22"/>
            <p:cNvSpPr/>
            <p:nvPr/>
          </p:nvSpPr>
          <p:spPr>
            <a:xfrm rot="5400000">
              <a:off x="8491537" y="10829925"/>
              <a:ext cx="85725" cy="342900"/>
            </a:xfrm>
            <a:prstGeom prst="wave">
              <a:avLst/>
            </a:prstGeom>
            <a:solidFill>
              <a:srgbClr val="D8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Wave 23"/>
            <p:cNvSpPr/>
            <p:nvPr/>
          </p:nvSpPr>
          <p:spPr>
            <a:xfrm rot="5400000">
              <a:off x="8720137" y="10829925"/>
              <a:ext cx="85725" cy="342900"/>
            </a:xfrm>
            <a:prstGeom prst="wave">
              <a:avLst/>
            </a:prstGeom>
            <a:solidFill>
              <a:srgbClr val="D8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Wave 24"/>
            <p:cNvSpPr/>
            <p:nvPr/>
          </p:nvSpPr>
          <p:spPr>
            <a:xfrm rot="5400000">
              <a:off x="8948737" y="10829925"/>
              <a:ext cx="85725" cy="342900"/>
            </a:xfrm>
            <a:prstGeom prst="wave">
              <a:avLst/>
            </a:prstGeom>
            <a:solidFill>
              <a:srgbClr val="D8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pic>
        <p:nvPicPr>
          <p:cNvPr id="2" name="Picture 1" descr="paper-grain-cream.jpg"/>
          <p:cNvPicPr>
            <a:picLocks noChangeAspect="1"/>
          </p:cNvPicPr>
          <p:nvPr/>
        </p:nvPicPr>
        <p:blipFill>
          <a:blip r:embed="rId3"/>
          <a:stretch>
            <a:fillRect/>
          </a:stretch>
        </p:blipFill>
        <p:spPr>
          <a:xfrm>
            <a:off x="0" y="0"/>
            <a:ext cx="10287000" cy="12858750"/>
          </a:xfrm>
          <a:prstGeom prst="rect">
            <a:avLst/>
          </a:prstGeom>
        </p:spPr>
      </p:pic>
      <p:sp>
        <p:nvSpPr>
          <p:cNvPr id="3" name="Rectangle 2"/>
          <p:cNvSpPr/>
          <p:nvPr/>
        </p:nvSpPr>
        <p:spPr>
          <a:xfrm rot="21540000">
            <a:off x="666750" y="1428750"/>
            <a:ext cx="8953500" cy="7239000"/>
          </a:xfrm>
          <a:prstGeom prst="rect">
            <a:avLst/>
          </a:prstGeom>
          <a:solidFill>
            <a:srgbClr val="FFFDF7"/>
          </a:solidFill>
          <a:ln>
            <a:no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9920000">
            <a:off x="523875" y="1276350"/>
            <a:ext cx="1428750" cy="419100"/>
          </a:xfrm>
          <a:prstGeom prst="rect">
            <a:avLst/>
          </a:prstGeom>
          <a:solidFill>
            <a:srgbClr val="DBE6A7">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680000">
            <a:off x="8334375" y="1276350"/>
            <a:ext cx="1428750" cy="419100"/>
          </a:xfrm>
          <a:prstGeom prst="rect">
            <a:avLst/>
          </a:prstGeom>
          <a:solidFill>
            <a:srgbClr val="DBE6A7">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rot="21540000">
            <a:off x="1096454" y="1905406"/>
            <a:ext cx="8001000" cy="952500"/>
          </a:xfrm>
          <a:prstGeom prst="rect">
            <a:avLst/>
          </a:prstGeom>
          <a:noFill/>
        </p:spPr>
        <p:txBody>
          <a:bodyPr wrap="square" lIns="0" rIns="0" tIns="0" bIns="0" anchor="ctr">
            <a:spAutoFit/>
          </a:bodyPr>
          <a:lstStyle/>
          <a:p>
            <a:pPr algn="l">
              <a:lnSpc>
                <a:spcPct val="120000"/>
              </a:lnSpc>
            </a:pPr>
            <a:r>
              <a:rPr sz="6400" b="1" i="0">
                <a:solidFill>
                  <a:srgbClr val="22371F"/>
                </a:solidFill>
                <a:latin typeface="Montserrat"/>
              </a:rPr>
              <a:t>Sources.</a:t>
            </a:r>
          </a:p>
        </p:txBody>
      </p:sp>
      <p:sp>
        <p:nvSpPr>
          <p:cNvPr id="7" name="TextBox 6"/>
          <p:cNvSpPr txBox="1"/>
          <p:nvPr/>
        </p:nvSpPr>
        <p:spPr>
          <a:xfrm rot="21540000">
            <a:off x="1117898" y="3143469"/>
            <a:ext cx="8001000" cy="933429"/>
          </a:xfrm>
          <a:prstGeom prst="rect">
            <a:avLst/>
          </a:prstGeom>
          <a:noFill/>
        </p:spPr>
        <p:txBody>
          <a:bodyPr wrap="square" lIns="0" rIns="0" tIns="0" bIns="0" anchor="t">
            <a:spAutoFit/>
          </a:bodyPr>
          <a:lstStyle/>
          <a:p>
            <a:pPr algn="l">
              <a:lnSpc>
                <a:spcPct val="125000"/>
              </a:lnSpc>
            </a:pPr>
            <a:r>
              <a:rPr sz="2200" b="0" i="0">
                <a:solidFill>
                  <a:srgbClr val="333130"/>
                </a:solidFill>
                <a:latin typeface="Source Sans 3"/>
              </a:rPr>
              <a:t>Hardgrove and Livesley, Urban Forestry and Urban Greening, 2016: https://doi.org/10.1016/j.ufug.2016.02.015</a:t>
            </a:r>
          </a:p>
        </p:txBody>
      </p:sp>
      <p:sp>
        <p:nvSpPr>
          <p:cNvPr id="8" name="TextBox 7"/>
          <p:cNvSpPr txBox="1"/>
          <p:nvPr/>
        </p:nvSpPr>
        <p:spPr>
          <a:xfrm rot="21540000">
            <a:off x="1142500" y="4552933"/>
            <a:ext cx="8001000" cy="933429"/>
          </a:xfrm>
          <a:prstGeom prst="rect">
            <a:avLst/>
          </a:prstGeom>
          <a:noFill/>
        </p:spPr>
        <p:txBody>
          <a:bodyPr wrap="square" lIns="0" rIns="0" tIns="0" bIns="0" anchor="t">
            <a:spAutoFit/>
          </a:bodyPr>
          <a:lstStyle/>
          <a:p>
            <a:pPr algn="l">
              <a:lnSpc>
                <a:spcPct val="125000"/>
              </a:lnSpc>
            </a:pPr>
            <a:r>
              <a:rPr sz="2200" b="0" i="0">
                <a:solidFill>
                  <a:srgbClr val="333130"/>
                </a:solidFill>
                <a:latin typeface="Source Sans 3"/>
              </a:rPr>
              <a:t>Summers et al., Journal of Bacteriology, 2012: https://doi.org/10.1128/JB.06637-11</a:t>
            </a:r>
          </a:p>
        </p:txBody>
      </p:sp>
      <p:sp>
        <p:nvSpPr>
          <p:cNvPr id="9" name="TextBox 8"/>
          <p:cNvSpPr txBox="1"/>
          <p:nvPr/>
        </p:nvSpPr>
        <p:spPr>
          <a:xfrm rot="21540000">
            <a:off x="1167103" y="5962397"/>
            <a:ext cx="8001000" cy="933429"/>
          </a:xfrm>
          <a:prstGeom prst="rect">
            <a:avLst/>
          </a:prstGeom>
          <a:noFill/>
        </p:spPr>
        <p:txBody>
          <a:bodyPr wrap="square" lIns="0" rIns="0" tIns="0" bIns="0" anchor="t">
            <a:spAutoFit/>
          </a:bodyPr>
          <a:lstStyle/>
          <a:p>
            <a:pPr algn="l">
              <a:lnSpc>
                <a:spcPct val="125000"/>
              </a:lnSpc>
            </a:pPr>
            <a:r>
              <a:rPr sz="2200" b="0" i="0">
                <a:solidFill>
                  <a:srgbClr val="333130"/>
                </a:solidFill>
                <a:latin typeface="Source Sans 3"/>
              </a:rPr>
              <a:t>US EPA, 40 CFR Part 503: https://www.ecfr.gov/current/title-40/chapter-I/subchapter-O/part-503</a:t>
            </a:r>
          </a:p>
        </p:txBody>
      </p:sp>
      <p:grpSp>
        <p:nvGrpSpPr>
          <p:cNvPr id="10" name="Group 9"/>
          <p:cNvGrpSpPr/>
          <p:nvPr/>
        </p:nvGrpSpPr>
        <p:grpSpPr>
          <a:xfrm rot="20880000">
            <a:off x="0" y="0"/>
            <a:ext cx="4171950" cy="11811000"/>
            <a:chOff x="0" y="0"/>
            <a:chExt cx="4171950" cy="11811000"/>
          </a:xfrm>
        </p:grpSpPr>
        <p:sp>
          <p:nvSpPr>
            <p:cNvPr id="11" name="Oval 10"/>
            <p:cNvSpPr/>
            <p:nvPr/>
          </p:nvSpPr>
          <p:spPr>
            <a:xfrm rot="19500000">
              <a:off x="3486150" y="10134600"/>
              <a:ext cx="685800" cy="342900"/>
            </a:xfrm>
            <a:prstGeom prst="ellipse">
              <a:avLst/>
            </a:prstGeom>
            <a:solidFill>
              <a:srgbClr val="59A66C"/>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81250" y="10287000"/>
              <a:ext cx="1524000" cy="1524000"/>
            </a:xfrm>
            <a:prstGeom prst="ellipse">
              <a:avLst/>
            </a:prstGeom>
            <a:solidFill>
              <a:srgbClr val="E9B824"/>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33650" y="10439400"/>
              <a:ext cx="1219200" cy="1219200"/>
            </a:xfrm>
            <a:prstGeom prst="ellipse">
              <a:avLst/>
            </a:prstGeom>
            <a:solidFill>
              <a:srgbClr val="FFE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33650" y="11020425"/>
              <a:ext cx="1219200" cy="571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rot="2700000">
              <a:off x="2533650" y="11020425"/>
              <a:ext cx="1219200" cy="571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rot="5400000">
              <a:off x="2533650" y="11020425"/>
              <a:ext cx="1219200" cy="571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rot="8100000">
              <a:off x="2533650" y="11020425"/>
              <a:ext cx="1219200" cy="571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051810" y="10957560"/>
              <a:ext cx="182880" cy="18288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19" name="Group 18"/>
          <p:cNvGrpSpPr/>
          <p:nvPr/>
        </p:nvGrpSpPr>
        <p:grpSpPr>
          <a:xfrm rot="240000">
            <a:off x="0" y="0"/>
            <a:ext cx="6336030" cy="12018645"/>
            <a:chOff x="0" y="0"/>
            <a:chExt cx="6336030" cy="12018645"/>
          </a:xfrm>
        </p:grpSpPr>
        <p:sp>
          <p:nvSpPr>
            <p:cNvPr id="20" name="Oval 19"/>
            <p:cNvSpPr/>
            <p:nvPr/>
          </p:nvSpPr>
          <p:spPr>
            <a:xfrm>
              <a:off x="4538662" y="11597640"/>
              <a:ext cx="1781175" cy="421005"/>
            </a:xfrm>
            <a:prstGeom prst="ellipse">
              <a:avLst/>
            </a:prstGeom>
            <a:solidFill>
              <a:srgbClr val="FFFDF7"/>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nut 20"/>
            <p:cNvSpPr/>
            <p:nvPr/>
          </p:nvSpPr>
          <p:spPr>
            <a:xfrm>
              <a:off x="5850255" y="10949940"/>
              <a:ext cx="485775" cy="485775"/>
            </a:xfrm>
            <a:prstGeom prst="donut">
              <a:avLst/>
            </a:prstGeom>
            <a:solidFill>
              <a:srgbClr val="FFFDF7"/>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813935" y="10739437"/>
              <a:ext cx="1230630" cy="1003935"/>
            </a:xfrm>
            <a:prstGeom prst="roundRect">
              <a:avLst/>
            </a:prstGeom>
            <a:solidFill>
              <a:srgbClr val="FFFDF7"/>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842510" y="11338560"/>
              <a:ext cx="1173480" cy="129540"/>
            </a:xfrm>
            <a:prstGeom prst="rect">
              <a:avLst/>
            </a:prstGeom>
            <a:solidFill>
              <a:srgbClr val="156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846320" y="10626090"/>
              <a:ext cx="1165860" cy="259080"/>
            </a:xfrm>
            <a:prstGeom prst="ellipse">
              <a:avLst/>
            </a:prstGeom>
            <a:solidFill>
              <a:srgbClr val="4F3433"/>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253831" y="11080379"/>
              <a:ext cx="62970" cy="62970"/>
            </a:xfrm>
            <a:prstGeom prst="ellipse">
              <a:avLst/>
            </a:prstGeom>
            <a:solidFill>
              <a:srgbClr val="4F3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541697" y="11080379"/>
              <a:ext cx="62970" cy="62970"/>
            </a:xfrm>
            <a:prstGeom prst="ellipse">
              <a:avLst/>
            </a:prstGeom>
            <a:solidFill>
              <a:srgbClr val="4F3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lock Arc 26"/>
            <p:cNvSpPr/>
            <p:nvPr/>
          </p:nvSpPr>
          <p:spPr>
            <a:xfrm rot="10800000">
              <a:off x="5330295" y="11129856"/>
              <a:ext cx="197908" cy="143933"/>
            </a:xfrm>
            <a:prstGeom prst="blockArc">
              <a:avLst>
                <a:gd name="adj1" fmla="val 10800000"/>
                <a:gd name="adj2" fmla="val 0"/>
                <a:gd name="adj3" fmla="val 18000"/>
              </a:avLst>
            </a:prstGeom>
            <a:solidFill>
              <a:srgbClr val="4F3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Wave 27"/>
            <p:cNvSpPr/>
            <p:nvPr/>
          </p:nvSpPr>
          <p:spPr>
            <a:xfrm rot="5400000">
              <a:off x="5121592" y="10140315"/>
              <a:ext cx="97155" cy="388620"/>
            </a:xfrm>
            <a:prstGeom prst="wave">
              <a:avLst/>
            </a:prstGeom>
            <a:solidFill>
              <a:srgbClr val="D8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Wave 28"/>
            <p:cNvSpPr/>
            <p:nvPr/>
          </p:nvSpPr>
          <p:spPr>
            <a:xfrm rot="5400000">
              <a:off x="5380672" y="10140315"/>
              <a:ext cx="97155" cy="388620"/>
            </a:xfrm>
            <a:prstGeom prst="wave">
              <a:avLst/>
            </a:prstGeom>
            <a:solidFill>
              <a:srgbClr val="D8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Wave 29"/>
            <p:cNvSpPr/>
            <p:nvPr/>
          </p:nvSpPr>
          <p:spPr>
            <a:xfrm rot="5400000">
              <a:off x="5639752" y="10140315"/>
              <a:ext cx="97155" cy="388620"/>
            </a:xfrm>
            <a:prstGeom prst="wave">
              <a:avLst/>
            </a:prstGeom>
            <a:solidFill>
              <a:srgbClr val="D8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31" name="Group 30"/>
          <p:cNvGrpSpPr/>
          <p:nvPr/>
        </p:nvGrpSpPr>
        <p:grpSpPr>
          <a:xfrm rot="21000000">
            <a:off x="0" y="0"/>
            <a:ext cx="8334375" cy="11293791"/>
            <a:chOff x="0" y="0"/>
            <a:chExt cx="8334375" cy="11293791"/>
          </a:xfrm>
        </p:grpSpPr>
        <p:sp>
          <p:nvSpPr>
            <p:cNvPr id="32" name="Arc 31"/>
            <p:cNvSpPr/>
            <p:nvPr/>
          </p:nvSpPr>
          <p:spPr>
            <a:xfrm>
              <a:off x="6456045" y="10858538"/>
              <a:ext cx="275272" cy="176822"/>
            </a:xfrm>
            <a:prstGeom prst="arc">
              <a:avLst/>
            </a:prstGeom>
            <a:noFill/>
            <a:ln w="38100">
              <a:solidFill>
                <a:srgbClr val="1568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Arc 32"/>
            <p:cNvSpPr/>
            <p:nvPr/>
          </p:nvSpPr>
          <p:spPr>
            <a:xfrm rot="10800000">
              <a:off x="6196965" y="10872139"/>
              <a:ext cx="275272" cy="176822"/>
            </a:xfrm>
            <a:prstGeom prst="arc">
              <a:avLst/>
            </a:prstGeom>
            <a:noFill/>
            <a:ln w="38100">
              <a:solidFill>
                <a:srgbClr val="1568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Arc 33"/>
            <p:cNvSpPr/>
            <p:nvPr/>
          </p:nvSpPr>
          <p:spPr>
            <a:xfrm>
              <a:off x="5937885" y="10858538"/>
              <a:ext cx="275272" cy="176822"/>
            </a:xfrm>
            <a:prstGeom prst="arc">
              <a:avLst/>
            </a:prstGeom>
            <a:noFill/>
            <a:ln w="38100">
              <a:solidFill>
                <a:srgbClr val="1568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715125" y="10613707"/>
              <a:ext cx="1619250" cy="680084"/>
            </a:xfrm>
            <a:prstGeom prst="roundRect">
              <a:avLst>
                <a:gd name="adj" fmla="val 50000"/>
              </a:avLst>
            </a:prstGeom>
            <a:solidFill>
              <a:srgbClr val="BFD8A6"/>
            </a:solidFill>
            <a:ln w="57150">
              <a:solidFill>
                <a:srgbClr val="FFFFFF"/>
              </a:solidFill>
            </a:ln>
            <a:effectLst>
              <a:outerShdw blurRad="228600" dist="762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575535" y="10893984"/>
              <a:ext cx="51521" cy="51521"/>
            </a:xfrm>
            <a:prstGeom prst="ellipse">
              <a:avLst/>
            </a:prstGeom>
            <a:solidFill>
              <a:srgbClr val="223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811062" y="10893984"/>
              <a:ext cx="51521" cy="51521"/>
            </a:xfrm>
            <a:prstGeom prst="ellipse">
              <a:avLst/>
            </a:prstGeom>
            <a:solidFill>
              <a:srgbClr val="223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lock Arc 37"/>
            <p:cNvSpPr/>
            <p:nvPr/>
          </p:nvSpPr>
          <p:spPr>
            <a:xfrm rot="10800000">
              <a:off x="7638097" y="10934466"/>
              <a:ext cx="161925" cy="117763"/>
            </a:xfrm>
            <a:prstGeom prst="blockArc">
              <a:avLst>
                <a:gd name="adj1" fmla="val 10800000"/>
                <a:gd name="adj2" fmla="val 0"/>
                <a:gd name="adj3" fmla="val 18000"/>
              </a:avLst>
            </a:prstGeom>
            <a:solidFill>
              <a:srgbClr val="223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pic>
        <p:nvPicPr>
          <p:cNvPr id="39" name="Picture 38" descr="trim-dried-flowers-2-1.png"/>
          <p:cNvPicPr>
            <a:picLocks noChangeAspect="1"/>
          </p:cNvPicPr>
          <p:nvPr/>
        </p:nvPicPr>
        <p:blipFill>
          <a:blip r:embed="rId4"/>
          <a:stretch>
            <a:fillRect/>
          </a:stretch>
        </p:blipFill>
        <p:spPr>
          <a:xfrm rot="20100000">
            <a:off x="333375" y="10305788"/>
            <a:ext cx="1619250" cy="2438923"/>
          </a:xfrm>
          <a:prstGeom prst="rect">
            <a:avLst/>
          </a:prstGeom>
        </p:spPr>
      </p:pic>
      <p:pic>
        <p:nvPicPr>
          <p:cNvPr id="40" name="Picture 39" descr="foundation-logo-color.png"/>
          <p:cNvPicPr>
            <a:picLocks noChangeAspect="1"/>
          </p:cNvPicPr>
          <p:nvPr/>
        </p:nvPicPr>
        <p:blipFill>
          <a:blip r:embed="rId5"/>
          <a:stretch>
            <a:fillRect/>
          </a:stretch>
        </p:blipFill>
        <p:spPr>
          <a:xfrm>
            <a:off x="8667750" y="11345262"/>
            <a:ext cx="1047750" cy="941987"/>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