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</p:sldIdLst>
  <p:sldSz cx="10287000" cy="1285875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Myth slide. Sources: Hardgrove and Livesley, Urban Forestry and Urban Greening, 2016, https://doi.org/10.1016/j.ufug.2016.02.015; Summers et al., Journal of Bacteriology, 2012, https://doi.org/10.1128/JB.06637-11; US EPA, 40 CFR Part 503, https://www.ecfr.gov/current/title-40/chapter-I/subchapter-O/part-503. Photos: Photo by Stacy on Unsplash (https://unsplash.com/@stacysuxx?utm_source=sfw_social&amp;utm_medium=referral). Photo by Klim Sergeev on Unsplash (https://unsplash.com/@klimsergeev?utm_source=sfw_social&amp;utm_medium=referral). Stickers (lemon, cup, beans, seedlings, bacteria, pH strip, thermometer) are drawn PowerPoint shapes, grouped and editable.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pH strip: universal indicator colours, 0 to 14. Lemon marks the acid end; the cup sits near neutral, as the slide says. Stickers (lemon, cup, beans, seedlings, bacteria, pH strip, thermometer) are drawn PowerPoint shapes, grouped and editable.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Photo: Photo by Bianca Pătrașcu on Unsplash (https://unsplash.com/@bianncapatrascu?utm_source=sfw_social&amp;utm_medium=referral). Stickers (lemon, cup, beans, seedlings, bacteria, pH strip, thermometer) are drawn PowerPoint shapes, grouped and editable.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Photo: assets/photo/garden-vegetable-beds.jpg (Foundation library). Stickers (lemon, cup, beans, seedlings, bacteria, pH strip, thermometer) are drawn PowerPoint shapes, grouped and editable.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Microscopy: assets/microscopy/sfw-amoeba-still-square.jpg (Foundation). The library has no bacteria-only image; this still shows an amoeba, a bacteria feeder. Swap in a bacteria micrograph if Wes has one [IMAGE NEEDED]. The drawn bacteria are rods with a flagellum, like Pseudomonas. Stickers (lemon, cup, beans, seedlings, bacteria, pH strip, thermometer) are drawn PowerPoint shapes, grouped and editable.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Photo: assets/photo/hand-of-compost.jpg (Foundation library). Thermometer marks 55°C, from the slide text. Stickers (lemon, cup, beans, seedlings, bacteria, pH strip, thermometer) are drawn PowerPoint shapes, grouped and editable.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Sources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Relationship Id="rId4" Type="http://schemas.openxmlformats.org/officeDocument/2006/relationships/image" Target="../media/image2.jpg"/><Relationship Id="rId5" Type="http://schemas.openxmlformats.org/officeDocument/2006/relationships/image" Target="../media/image3.jpg"/><Relationship Id="rId6" Type="http://schemas.openxmlformats.org/officeDocument/2006/relationships/image" Target="../media/image4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jpg"/><Relationship Id="rId4" Type="http://schemas.openxmlformats.org/officeDocument/2006/relationships/image" Target="../media/image5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jpg"/><Relationship Id="rId4" Type="http://schemas.openxmlformats.org/officeDocument/2006/relationships/image" Target="../media/image6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jpg"/><Relationship Id="rId4" Type="http://schemas.openxmlformats.org/officeDocument/2006/relationships/image" Target="../media/image7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jpg"/><Relationship Id="rId4" Type="http://schemas.openxmlformats.org/officeDocument/2006/relationships/image" Target="../media/image8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jpg"/><Relationship Id="rId4" Type="http://schemas.openxmlformats.org/officeDocument/2006/relationships/image" Target="../media/image9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jpg"/><Relationship Id="rId4" Type="http://schemas.openxmlformats.org/officeDocument/2006/relationships/image" Target="../media/image5.png"/><Relationship Id="rId5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aper-grain-cream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0287000" cy="1285875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 rot="21300000">
            <a:off x="666750" y="857250"/>
            <a:ext cx="4834890" cy="5170170"/>
          </a:xfrm>
          <a:prstGeom prst="rect">
            <a:avLst/>
          </a:prstGeom>
          <a:solidFill>
            <a:srgbClr val="FFFDF7"/>
          </a:solidFill>
          <a:ln>
            <a:noFill/>
          </a:ln>
          <a:effectLst>
            <a:outerShdw blurRad="228600" dist="76200" dir="5400000" algn="t" rotWithShape="0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4080242791985097375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300000">
            <a:off x="831209" y="1036957"/>
            <a:ext cx="4476750" cy="447675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 rot="21300000">
            <a:off x="1048710" y="5504211"/>
            <a:ext cx="4476750" cy="5143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600" b="0" i="0">
                <a:solidFill>
                  <a:srgbClr val="6A665C"/>
                </a:solidFill>
                <a:latin typeface="Source Sans 3"/>
              </a:rPr>
              <a:t>Photo: Stacy on Unsplash</a:t>
            </a:r>
          </a:p>
        </p:txBody>
      </p:sp>
      <p:sp>
        <p:nvSpPr>
          <p:cNvPr id="6" name="Rectangle 5"/>
          <p:cNvSpPr/>
          <p:nvPr/>
        </p:nvSpPr>
        <p:spPr>
          <a:xfrm rot="21240000">
            <a:off x="2322195" y="714375"/>
            <a:ext cx="1524000" cy="438150"/>
          </a:xfrm>
          <a:prstGeom prst="rect">
            <a:avLst/>
          </a:prstGeom>
          <a:solidFill>
            <a:srgbClr val="DBE6A7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40000">
            <a:off x="5334000" y="1428750"/>
            <a:ext cx="4217670" cy="4575810"/>
          </a:xfrm>
          <a:prstGeom prst="rect">
            <a:avLst/>
          </a:prstGeom>
          <a:solidFill>
            <a:srgbClr val="FFFDF7"/>
          </a:solidFill>
          <a:ln>
            <a:noFill/>
          </a:ln>
          <a:effectLst>
            <a:outerShdw blurRad="228600" dist="76200" dir="5400000" algn="t" rotWithShape="0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7995214392566356973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40000">
            <a:off x="5502701" y="1585396"/>
            <a:ext cx="3905250" cy="390525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 rot="240000">
            <a:off x="5348553" y="5485263"/>
            <a:ext cx="3905250" cy="5143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600" b="0" i="0">
                <a:solidFill>
                  <a:srgbClr val="6A665C"/>
                </a:solidFill>
                <a:latin typeface="Source Sans 3"/>
              </a:rPr>
              <a:t>Photo: Klim Sergeev on Unsplash</a:t>
            </a:r>
          </a:p>
        </p:txBody>
      </p:sp>
      <p:sp>
        <p:nvSpPr>
          <p:cNvPr id="10" name="Rectangle 9"/>
          <p:cNvSpPr/>
          <p:nvPr/>
        </p:nvSpPr>
        <p:spPr>
          <a:xfrm rot="1920000">
            <a:off x="8408670" y="1314450"/>
            <a:ext cx="1333500" cy="419100"/>
          </a:xfrm>
          <a:prstGeom prst="rect">
            <a:avLst/>
          </a:prstGeom>
          <a:solidFill>
            <a:srgbClr val="DBE6A7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pSp>
        <p:nvGrpSpPr>
          <p:cNvPr id="11" name="Group 10"/>
          <p:cNvGrpSpPr/>
          <p:nvPr/>
        </p:nvGrpSpPr>
        <p:grpSpPr>
          <a:xfrm rot="720000">
            <a:off x="0" y="0"/>
            <a:ext cx="10236993" cy="2047875"/>
            <a:chOff x="0" y="0"/>
            <a:chExt cx="10236993" cy="2047875"/>
          </a:xfrm>
        </p:grpSpPr>
        <p:sp>
          <p:nvSpPr>
            <p:cNvPr id="12" name="Oval 11"/>
            <p:cNvSpPr/>
            <p:nvPr/>
          </p:nvSpPr>
          <p:spPr>
            <a:xfrm rot="19500000">
              <a:off x="9508331" y="266700"/>
              <a:ext cx="728662" cy="364331"/>
            </a:xfrm>
            <a:prstGeom prst="ellipse">
              <a:avLst/>
            </a:prstGeom>
            <a:solidFill>
              <a:srgbClr val="59A66C"/>
            </a:solidFill>
            <a:ln w="571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" name="Oval 12"/>
            <p:cNvSpPr/>
            <p:nvPr/>
          </p:nvSpPr>
          <p:spPr>
            <a:xfrm>
              <a:off x="8334375" y="428625"/>
              <a:ext cx="1619250" cy="1619250"/>
            </a:xfrm>
            <a:prstGeom prst="ellipse">
              <a:avLst/>
            </a:prstGeom>
            <a:solidFill>
              <a:srgbClr val="E9B824"/>
            </a:solidFill>
            <a:ln w="57150">
              <a:solidFill>
                <a:srgbClr val="FFFFFF"/>
              </a:solidFill>
            </a:ln>
            <a:effectLst>
              <a:outerShdw blurRad="228600" dist="76200" dir="5400000" algn="t" rotWithShape="0">
                <a:srgbClr val="000000">
                  <a:alpha val="30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" name="Oval 13"/>
            <p:cNvSpPr/>
            <p:nvPr/>
          </p:nvSpPr>
          <p:spPr>
            <a:xfrm>
              <a:off x="8496300" y="590550"/>
              <a:ext cx="1295400" cy="1295400"/>
            </a:xfrm>
            <a:prstGeom prst="ellipse">
              <a:avLst/>
            </a:prstGeom>
            <a:solidFill>
              <a:srgbClr val="FFE48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" name="Rectangle 14"/>
            <p:cNvSpPr/>
            <p:nvPr/>
          </p:nvSpPr>
          <p:spPr>
            <a:xfrm>
              <a:off x="8496300" y="1209675"/>
              <a:ext cx="1295400" cy="5715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" name="Rectangle 15"/>
            <p:cNvSpPr/>
            <p:nvPr/>
          </p:nvSpPr>
          <p:spPr>
            <a:xfrm rot="2700000">
              <a:off x="8496300" y="1209675"/>
              <a:ext cx="1295400" cy="5715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" name="Rectangle 16"/>
            <p:cNvSpPr/>
            <p:nvPr/>
          </p:nvSpPr>
          <p:spPr>
            <a:xfrm rot="5400000">
              <a:off x="8496300" y="1209675"/>
              <a:ext cx="1295400" cy="5715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" name="Rectangle 17"/>
            <p:cNvSpPr/>
            <p:nvPr/>
          </p:nvSpPr>
          <p:spPr>
            <a:xfrm rot="8100000">
              <a:off x="8496300" y="1209675"/>
              <a:ext cx="1295400" cy="5715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9" name="Oval 18"/>
            <p:cNvSpPr/>
            <p:nvPr/>
          </p:nvSpPr>
          <p:spPr>
            <a:xfrm>
              <a:off x="9046845" y="1141095"/>
              <a:ext cx="194310" cy="19431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20" name="Group 19"/>
          <p:cNvGrpSpPr/>
          <p:nvPr/>
        </p:nvGrpSpPr>
        <p:grpSpPr>
          <a:xfrm rot="21000000">
            <a:off x="0" y="0"/>
            <a:ext cx="5795010" cy="6977062"/>
            <a:chOff x="0" y="0"/>
            <a:chExt cx="5795010" cy="6977062"/>
          </a:xfrm>
        </p:grpSpPr>
        <p:sp>
          <p:nvSpPr>
            <p:cNvPr id="21" name="Oval 20"/>
            <p:cNvSpPr/>
            <p:nvPr/>
          </p:nvSpPr>
          <p:spPr>
            <a:xfrm rot="19800000">
              <a:off x="4143375" y="6442710"/>
              <a:ext cx="647700" cy="421005"/>
            </a:xfrm>
            <a:prstGeom prst="ellipse">
              <a:avLst/>
            </a:prstGeom>
            <a:solidFill>
              <a:srgbClr val="6B4430"/>
            </a:solidFill>
            <a:ln w="57150">
              <a:solidFill>
                <a:srgbClr val="FFFFFF"/>
              </a:solidFill>
            </a:ln>
            <a:effectLst>
              <a:outerShdw blurRad="228600" dist="76200" dir="5400000" algn="t" rotWithShape="0">
                <a:srgbClr val="000000">
                  <a:alpha val="30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2" name="Rectangle 21"/>
            <p:cNvSpPr/>
            <p:nvPr/>
          </p:nvSpPr>
          <p:spPr>
            <a:xfrm rot="20280000">
              <a:off x="4224337" y="6629400"/>
              <a:ext cx="485775" cy="47625"/>
            </a:xfrm>
            <a:prstGeom prst="rect">
              <a:avLst/>
            </a:prstGeom>
            <a:solidFill>
              <a:srgbClr val="3E25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3" name="Oval 22"/>
            <p:cNvSpPr/>
            <p:nvPr/>
          </p:nvSpPr>
          <p:spPr>
            <a:xfrm rot="1200000">
              <a:off x="4710112" y="6167437"/>
              <a:ext cx="647700" cy="421005"/>
            </a:xfrm>
            <a:prstGeom prst="ellipse">
              <a:avLst/>
            </a:prstGeom>
            <a:solidFill>
              <a:srgbClr val="6B4430"/>
            </a:solidFill>
            <a:ln w="57150">
              <a:solidFill>
                <a:srgbClr val="FFFFFF"/>
              </a:solidFill>
            </a:ln>
            <a:effectLst>
              <a:outerShdw blurRad="228600" dist="76200" dir="5400000" algn="t" rotWithShape="0">
                <a:srgbClr val="000000">
                  <a:alpha val="30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4" name="Rectangle 23"/>
            <p:cNvSpPr/>
            <p:nvPr/>
          </p:nvSpPr>
          <p:spPr>
            <a:xfrm rot="1680000">
              <a:off x="4791075" y="6354127"/>
              <a:ext cx="485775" cy="47625"/>
            </a:xfrm>
            <a:prstGeom prst="rect">
              <a:avLst/>
            </a:prstGeom>
            <a:solidFill>
              <a:srgbClr val="3E25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5" name="Oval 24"/>
            <p:cNvSpPr/>
            <p:nvPr/>
          </p:nvSpPr>
          <p:spPr>
            <a:xfrm rot="4200000">
              <a:off x="5147310" y="6556057"/>
              <a:ext cx="647700" cy="421005"/>
            </a:xfrm>
            <a:prstGeom prst="ellipse">
              <a:avLst/>
            </a:prstGeom>
            <a:solidFill>
              <a:srgbClr val="6B4430"/>
            </a:solidFill>
            <a:ln w="57150">
              <a:solidFill>
                <a:srgbClr val="FFFFFF"/>
              </a:solidFill>
            </a:ln>
            <a:effectLst>
              <a:outerShdw blurRad="228600" dist="76200" dir="5400000" algn="t" rotWithShape="0">
                <a:srgbClr val="000000">
                  <a:alpha val="30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6" name="Rectangle 25"/>
            <p:cNvSpPr/>
            <p:nvPr/>
          </p:nvSpPr>
          <p:spPr>
            <a:xfrm rot="4680000">
              <a:off x="5228272" y="6742747"/>
              <a:ext cx="485775" cy="47625"/>
            </a:xfrm>
            <a:prstGeom prst="rect">
              <a:avLst/>
            </a:prstGeom>
            <a:solidFill>
              <a:srgbClr val="3E25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sp>
        <p:nvSpPr>
          <p:cNvPr id="27" name="Rectangle 26"/>
          <p:cNvSpPr/>
          <p:nvPr/>
        </p:nvSpPr>
        <p:spPr>
          <a:xfrm rot="21510000">
            <a:off x="666750" y="7334250"/>
            <a:ext cx="8953500" cy="4095750"/>
          </a:xfrm>
          <a:prstGeom prst="rect">
            <a:avLst/>
          </a:prstGeom>
          <a:solidFill>
            <a:srgbClr val="22371F"/>
          </a:solidFill>
          <a:ln>
            <a:noFill/>
          </a:ln>
          <a:effectLst>
            <a:outerShdw blurRad="228600" dist="76200" dir="5400000" algn="t" rotWithShape="0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19920000">
            <a:off x="523875" y="7181850"/>
            <a:ext cx="1428750" cy="419100"/>
          </a:xfrm>
          <a:prstGeom prst="rect">
            <a:avLst/>
          </a:prstGeom>
          <a:solidFill>
            <a:srgbClr val="DBE6A7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1680000">
            <a:off x="8334375" y="7181850"/>
            <a:ext cx="1428750" cy="419100"/>
          </a:xfrm>
          <a:prstGeom prst="rect">
            <a:avLst/>
          </a:prstGeom>
          <a:solidFill>
            <a:srgbClr val="DBE6A7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 rot="21510000">
            <a:off x="1110586" y="7715674"/>
            <a:ext cx="8001000" cy="8572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6000" b="1" i="0">
                <a:solidFill>
                  <a:srgbClr val="DBE6A7"/>
                </a:solidFill>
                <a:latin typeface="Montserrat"/>
              </a:rPr>
              <a:t>Myth:</a:t>
            </a:r>
          </a:p>
        </p:txBody>
      </p:sp>
      <p:sp>
        <p:nvSpPr>
          <p:cNvPr id="31" name="TextBox 30"/>
          <p:cNvSpPr txBox="1"/>
          <p:nvPr/>
        </p:nvSpPr>
        <p:spPr>
          <a:xfrm rot="21510000">
            <a:off x="1136668" y="8612726"/>
            <a:ext cx="8572500" cy="1047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7000" b="1" i="0">
                <a:solidFill>
                  <a:srgbClr val="F4F1EA"/>
                </a:solidFill>
                <a:latin typeface="Montserrat"/>
              </a:rPr>
              <a:t>“Coffee grounds</a:t>
            </a:r>
          </a:p>
        </p:txBody>
      </p:sp>
      <p:sp>
        <p:nvSpPr>
          <p:cNvPr id="32" name="Rectangle 31"/>
          <p:cNvSpPr/>
          <p:nvPr/>
        </p:nvSpPr>
        <p:spPr>
          <a:xfrm rot="21510000">
            <a:off x="1005482" y="9149531"/>
            <a:ext cx="7849344" cy="152400"/>
          </a:xfrm>
          <a:prstGeom prst="rect">
            <a:avLst/>
          </a:prstGeom>
          <a:solidFill>
            <a:srgbClr val="DBE6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 rot="21510000">
            <a:off x="1165342" y="9707726"/>
            <a:ext cx="8572500" cy="1047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7000" b="1" i="0">
                <a:solidFill>
                  <a:srgbClr val="F4F1EA"/>
                </a:solidFill>
                <a:latin typeface="Montserrat"/>
              </a:rPr>
              <a:t>acidify your soil.”</a:t>
            </a:r>
          </a:p>
        </p:txBody>
      </p:sp>
      <p:sp>
        <p:nvSpPr>
          <p:cNvPr id="34" name="Rectangle 33"/>
          <p:cNvSpPr/>
          <p:nvPr/>
        </p:nvSpPr>
        <p:spPr>
          <a:xfrm rot="21510000">
            <a:off x="1034099" y="10240169"/>
            <a:ext cx="8182570" cy="152400"/>
          </a:xfrm>
          <a:prstGeom prst="rect">
            <a:avLst/>
          </a:prstGeom>
          <a:solidFill>
            <a:srgbClr val="DBE6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62000" y="11572875"/>
            <a:ext cx="7429500" cy="952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3000" b="1" i="0">
                <a:solidFill>
                  <a:srgbClr val="22371F"/>
                </a:solidFill>
                <a:latin typeface="Source Sans 3"/>
              </a:rPr>
              <a:t>Happy International Coffee Day ☕ Let's spill the beans.</a:t>
            </a:r>
          </a:p>
        </p:txBody>
      </p:sp>
      <p:pic>
        <p:nvPicPr>
          <p:cNvPr id="36" name="Picture 35" descr="foundation-logo-color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67750" y="11345262"/>
            <a:ext cx="1047750" cy="94198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aper-grain-cream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0287000" cy="1285875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62000" y="1047750"/>
            <a:ext cx="8763000" cy="31565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6200" b="1" i="0">
                <a:solidFill>
                  <a:srgbClr val="22371F"/>
                </a:solidFill>
                <a:latin typeface="Montserrat"/>
              </a:rPr>
              <a:t>Plot twist: your coffee took the acid with it.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4356734"/>
            <a:ext cx="8763000" cy="22668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800" b="0" i="0">
                <a:solidFill>
                  <a:srgbClr val="333130"/>
                </a:solidFill>
                <a:latin typeface="Source Sans 3"/>
              </a:rPr>
              <a:t>Brewing pulls most of the acids into your cup. The spent grounds left behind sit close to neutral pH.</a:t>
            </a:r>
          </a:p>
        </p:txBody>
      </p:sp>
      <p:sp>
        <p:nvSpPr>
          <p:cNvPr id="5" name="Rectangle 4"/>
          <p:cNvSpPr/>
          <p:nvPr/>
        </p:nvSpPr>
        <p:spPr>
          <a:xfrm>
            <a:off x="723900" y="8776280"/>
            <a:ext cx="8839200" cy="1524000"/>
          </a:xfrm>
          <a:prstGeom prst="rect">
            <a:avLst/>
          </a:prstGeom>
          <a:solidFill>
            <a:srgbClr val="FFFDF7"/>
          </a:solidFill>
          <a:ln>
            <a:noFill/>
          </a:ln>
          <a:effectLst>
            <a:outerShdw blurRad="228600" dist="76200" dir="5400000" algn="t" rotWithShape="0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57250" y="8909630"/>
            <a:ext cx="581025" cy="857250"/>
          </a:xfrm>
          <a:prstGeom prst="rect">
            <a:avLst/>
          </a:prstGeom>
          <a:solidFill>
            <a:srgbClr val="D739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428750" y="8909630"/>
            <a:ext cx="581025" cy="857250"/>
          </a:xfrm>
          <a:prstGeom prst="rect">
            <a:avLst/>
          </a:prstGeom>
          <a:solidFill>
            <a:srgbClr val="E45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000250" y="8909630"/>
            <a:ext cx="581025" cy="857250"/>
          </a:xfrm>
          <a:prstGeom prst="rect">
            <a:avLst/>
          </a:prstGeom>
          <a:solidFill>
            <a:srgbClr val="EC7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571750" y="8909630"/>
            <a:ext cx="581025" cy="857250"/>
          </a:xfrm>
          <a:prstGeom prst="rect">
            <a:avLst/>
          </a:prstGeom>
          <a:solidFill>
            <a:srgbClr val="F1A1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143250" y="8909630"/>
            <a:ext cx="581025" cy="857250"/>
          </a:xfrm>
          <a:prstGeom prst="rect">
            <a:avLst/>
          </a:prstGeom>
          <a:solidFill>
            <a:srgbClr val="F4C4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714750" y="8909630"/>
            <a:ext cx="581025" cy="857250"/>
          </a:xfrm>
          <a:prstGeom prst="rect">
            <a:avLst/>
          </a:prstGeom>
          <a:solidFill>
            <a:srgbClr val="D9D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286250" y="8909630"/>
            <a:ext cx="581025" cy="857250"/>
          </a:xfrm>
          <a:prstGeom prst="rect">
            <a:avLst/>
          </a:prstGeom>
          <a:solidFill>
            <a:srgbClr val="A8C6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857750" y="8909630"/>
            <a:ext cx="581025" cy="857250"/>
          </a:xfrm>
          <a:prstGeom prst="rect">
            <a:avLst/>
          </a:prstGeom>
          <a:solidFill>
            <a:srgbClr val="6FB2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429250" y="8909630"/>
            <a:ext cx="581025" cy="857250"/>
          </a:xfrm>
          <a:prstGeom prst="rect">
            <a:avLst/>
          </a:prstGeom>
          <a:solidFill>
            <a:srgbClr val="3E9F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000750" y="8909630"/>
            <a:ext cx="581025" cy="857250"/>
          </a:xfrm>
          <a:prstGeom prst="rect">
            <a:avLst/>
          </a:prstGeom>
          <a:solidFill>
            <a:srgbClr val="2F8C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572250" y="8909630"/>
            <a:ext cx="581025" cy="857250"/>
          </a:xfrm>
          <a:prstGeom prst="rect">
            <a:avLst/>
          </a:prstGeom>
          <a:solidFill>
            <a:srgbClr val="2C7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143750" y="8909630"/>
            <a:ext cx="581025" cy="857250"/>
          </a:xfrm>
          <a:prstGeom prst="rect">
            <a:avLst/>
          </a:prstGeom>
          <a:solidFill>
            <a:srgbClr val="3465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15250" y="8909630"/>
            <a:ext cx="581025" cy="857250"/>
          </a:xfrm>
          <a:prstGeom prst="rect">
            <a:avLst/>
          </a:prstGeom>
          <a:solidFill>
            <a:srgbClr val="4A4F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286750" y="8909630"/>
            <a:ext cx="581025" cy="857250"/>
          </a:xfrm>
          <a:prstGeom prst="rect">
            <a:avLst/>
          </a:prstGeom>
          <a:solidFill>
            <a:srgbClr val="5B3E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858250" y="8909630"/>
            <a:ext cx="581025" cy="857250"/>
          </a:xfrm>
          <a:prstGeom prst="rect">
            <a:avLst/>
          </a:prstGeom>
          <a:solidFill>
            <a:srgbClr val="6530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66750" y="9824030"/>
            <a:ext cx="9525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2400" b="1" i="0">
                <a:solidFill>
                  <a:srgbClr val="333130"/>
                </a:solidFill>
                <a:latin typeface="Montserrat"/>
              </a:rPr>
              <a:t>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667250" y="9824030"/>
            <a:ext cx="9525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2400" b="1" i="0">
                <a:solidFill>
                  <a:srgbClr val="333130"/>
                </a:solidFill>
                <a:latin typeface="Montserrat"/>
              </a:rPr>
              <a:t>7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67750" y="9824030"/>
            <a:ext cx="9525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2400" b="1" i="0">
                <a:solidFill>
                  <a:srgbClr val="333130"/>
                </a:solidFill>
                <a:latin typeface="Montserrat"/>
              </a:rPr>
              <a:t>14</a:t>
            </a:r>
          </a:p>
        </p:txBody>
      </p:sp>
      <p:grpSp>
        <p:nvGrpSpPr>
          <p:cNvPr id="24" name="Group 23"/>
          <p:cNvGrpSpPr/>
          <p:nvPr/>
        </p:nvGrpSpPr>
        <p:grpSpPr>
          <a:xfrm rot="21000000">
            <a:off x="0" y="0"/>
            <a:ext cx="3186112" cy="8433380"/>
            <a:chOff x="0" y="0"/>
            <a:chExt cx="3186112" cy="8433380"/>
          </a:xfrm>
        </p:grpSpPr>
        <p:sp>
          <p:nvSpPr>
            <p:cNvPr id="25" name="Oval 24"/>
            <p:cNvSpPr/>
            <p:nvPr/>
          </p:nvSpPr>
          <p:spPr>
            <a:xfrm rot="19500000">
              <a:off x="2586037" y="6966530"/>
              <a:ext cx="600075" cy="300037"/>
            </a:xfrm>
            <a:prstGeom prst="ellipse">
              <a:avLst/>
            </a:prstGeom>
            <a:solidFill>
              <a:srgbClr val="59A66C"/>
            </a:solidFill>
            <a:ln w="571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6" name="Oval 25"/>
            <p:cNvSpPr/>
            <p:nvPr/>
          </p:nvSpPr>
          <p:spPr>
            <a:xfrm>
              <a:off x="1619250" y="7099880"/>
              <a:ext cx="1333500" cy="1333500"/>
            </a:xfrm>
            <a:prstGeom prst="ellipse">
              <a:avLst/>
            </a:prstGeom>
            <a:solidFill>
              <a:srgbClr val="E9B824"/>
            </a:solidFill>
            <a:ln w="57150">
              <a:solidFill>
                <a:srgbClr val="FFFFFF"/>
              </a:solidFill>
            </a:ln>
            <a:effectLst>
              <a:outerShdw blurRad="228600" dist="76200" dir="5400000" algn="t" rotWithShape="0">
                <a:srgbClr val="000000">
                  <a:alpha val="30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7" name="Oval 26"/>
            <p:cNvSpPr/>
            <p:nvPr/>
          </p:nvSpPr>
          <p:spPr>
            <a:xfrm>
              <a:off x="1752600" y="7233230"/>
              <a:ext cx="1066800" cy="1066800"/>
            </a:xfrm>
            <a:prstGeom prst="ellipse">
              <a:avLst/>
            </a:prstGeom>
            <a:solidFill>
              <a:srgbClr val="FFE48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8" name="Rectangle 27"/>
            <p:cNvSpPr/>
            <p:nvPr/>
          </p:nvSpPr>
          <p:spPr>
            <a:xfrm>
              <a:off x="1752600" y="7738055"/>
              <a:ext cx="1066800" cy="5715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9" name="Rectangle 28"/>
            <p:cNvSpPr/>
            <p:nvPr/>
          </p:nvSpPr>
          <p:spPr>
            <a:xfrm rot="2700000">
              <a:off x="1752600" y="7738055"/>
              <a:ext cx="1066800" cy="5715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0" name="Rectangle 29"/>
            <p:cNvSpPr/>
            <p:nvPr/>
          </p:nvSpPr>
          <p:spPr>
            <a:xfrm rot="5400000">
              <a:off x="1752600" y="7738055"/>
              <a:ext cx="1066800" cy="5715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1" name="Rectangle 30"/>
            <p:cNvSpPr/>
            <p:nvPr/>
          </p:nvSpPr>
          <p:spPr>
            <a:xfrm rot="8100000">
              <a:off x="1752600" y="7738055"/>
              <a:ext cx="1066800" cy="5715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2" name="Oval 31"/>
            <p:cNvSpPr/>
            <p:nvPr/>
          </p:nvSpPr>
          <p:spPr>
            <a:xfrm>
              <a:off x="2205990" y="7686620"/>
              <a:ext cx="160020" cy="16002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sp>
        <p:nvSpPr>
          <p:cNvPr id="33" name="Isosceles Triangle 32"/>
          <p:cNvSpPr/>
          <p:nvPr/>
        </p:nvSpPr>
        <p:spPr>
          <a:xfrm rot="10800000">
            <a:off x="2133600" y="8528630"/>
            <a:ext cx="304800" cy="247650"/>
          </a:xfrm>
          <a:prstGeom prst="triangle">
            <a:avLst/>
          </a:prstGeom>
          <a:solidFill>
            <a:srgbClr val="2237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pSp>
        <p:nvGrpSpPr>
          <p:cNvPr id="34" name="Group 33"/>
          <p:cNvGrpSpPr/>
          <p:nvPr/>
        </p:nvGrpSpPr>
        <p:grpSpPr>
          <a:xfrm>
            <a:off x="0" y="0"/>
            <a:ext cx="5425440" cy="8494340"/>
            <a:chOff x="0" y="0"/>
            <a:chExt cx="5425440" cy="8494340"/>
          </a:xfrm>
        </p:grpSpPr>
        <p:sp>
          <p:nvSpPr>
            <p:cNvPr id="35" name="Oval 34"/>
            <p:cNvSpPr/>
            <p:nvPr/>
          </p:nvSpPr>
          <p:spPr>
            <a:xfrm>
              <a:off x="3733800" y="8098100"/>
              <a:ext cx="1676400" cy="396240"/>
            </a:xfrm>
            <a:prstGeom prst="ellipse">
              <a:avLst/>
            </a:prstGeom>
            <a:solidFill>
              <a:srgbClr val="FFFDF7"/>
            </a:solidFill>
            <a:ln w="57150">
              <a:solidFill>
                <a:srgbClr val="FFFFFF"/>
              </a:solidFill>
            </a:ln>
            <a:effectLst>
              <a:outerShdw blurRad="228600" dist="76200" dir="5400000" algn="t" rotWithShape="0">
                <a:srgbClr val="000000">
                  <a:alpha val="30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6" name="Donut 35"/>
            <p:cNvSpPr/>
            <p:nvPr/>
          </p:nvSpPr>
          <p:spPr>
            <a:xfrm>
              <a:off x="4968240" y="7488500"/>
              <a:ext cx="457200" cy="457200"/>
            </a:xfrm>
            <a:prstGeom prst="donut">
              <a:avLst/>
            </a:prstGeom>
            <a:solidFill>
              <a:srgbClr val="FFFDF7"/>
            </a:solidFill>
            <a:ln w="571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7" name="Rounded Rectangle 36"/>
            <p:cNvSpPr/>
            <p:nvPr/>
          </p:nvSpPr>
          <p:spPr>
            <a:xfrm>
              <a:off x="3992880" y="7290380"/>
              <a:ext cx="1158240" cy="944880"/>
            </a:xfrm>
            <a:prstGeom prst="roundRect">
              <a:avLst/>
            </a:prstGeom>
            <a:solidFill>
              <a:srgbClr val="FFFDF7"/>
            </a:solidFill>
            <a:ln w="571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8" name="Rectangle 37"/>
            <p:cNvSpPr/>
            <p:nvPr/>
          </p:nvSpPr>
          <p:spPr>
            <a:xfrm>
              <a:off x="4021455" y="7854260"/>
              <a:ext cx="1101090" cy="121920"/>
            </a:xfrm>
            <a:prstGeom prst="rect">
              <a:avLst/>
            </a:prstGeom>
            <a:solidFill>
              <a:srgbClr val="15682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9" name="Oval 38"/>
            <p:cNvSpPr/>
            <p:nvPr/>
          </p:nvSpPr>
          <p:spPr>
            <a:xfrm>
              <a:off x="4023360" y="7183700"/>
              <a:ext cx="1097280" cy="243840"/>
            </a:xfrm>
            <a:prstGeom prst="ellipse">
              <a:avLst/>
            </a:prstGeom>
            <a:solidFill>
              <a:srgbClr val="4F3433"/>
            </a:solidFill>
            <a:ln w="571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0" name="Oval 39"/>
            <p:cNvSpPr/>
            <p:nvPr/>
          </p:nvSpPr>
          <p:spPr>
            <a:xfrm>
              <a:off x="4406900" y="7611267"/>
              <a:ext cx="59266" cy="59266"/>
            </a:xfrm>
            <a:prstGeom prst="ellipse">
              <a:avLst/>
            </a:prstGeom>
            <a:solidFill>
              <a:srgbClr val="4F343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1" name="Oval 40"/>
            <p:cNvSpPr/>
            <p:nvPr/>
          </p:nvSpPr>
          <p:spPr>
            <a:xfrm>
              <a:off x="4677833" y="7611267"/>
              <a:ext cx="59266" cy="59266"/>
            </a:xfrm>
            <a:prstGeom prst="ellipse">
              <a:avLst/>
            </a:prstGeom>
            <a:solidFill>
              <a:srgbClr val="4F343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2" name="Block Arc 41"/>
            <p:cNvSpPr/>
            <p:nvPr/>
          </p:nvSpPr>
          <p:spPr>
            <a:xfrm rot="10800000">
              <a:off x="4478866" y="7657833"/>
              <a:ext cx="186266" cy="135466"/>
            </a:xfrm>
            <a:prstGeom prst="blockArc">
              <a:avLst>
                <a:gd name="adj1" fmla="val 10800000"/>
                <a:gd name="adj2" fmla="val 0"/>
                <a:gd name="adj3" fmla="val 18000"/>
              </a:avLst>
            </a:prstGeom>
            <a:solidFill>
              <a:srgbClr val="4F343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3" name="Wave 42"/>
            <p:cNvSpPr/>
            <p:nvPr/>
          </p:nvSpPr>
          <p:spPr>
            <a:xfrm rot="5400000">
              <a:off x="4282440" y="6726500"/>
              <a:ext cx="91440" cy="365760"/>
            </a:xfrm>
            <a:prstGeom prst="wave">
              <a:avLst/>
            </a:prstGeom>
            <a:solidFill>
              <a:srgbClr val="D8D2C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4" name="Wave 43"/>
            <p:cNvSpPr/>
            <p:nvPr/>
          </p:nvSpPr>
          <p:spPr>
            <a:xfrm rot="5400000">
              <a:off x="4526280" y="6726500"/>
              <a:ext cx="91440" cy="365760"/>
            </a:xfrm>
            <a:prstGeom prst="wave">
              <a:avLst/>
            </a:prstGeom>
            <a:solidFill>
              <a:srgbClr val="D8D2C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5" name="Wave 44"/>
            <p:cNvSpPr/>
            <p:nvPr/>
          </p:nvSpPr>
          <p:spPr>
            <a:xfrm rot="5400000">
              <a:off x="4770120" y="6726500"/>
              <a:ext cx="91440" cy="365760"/>
            </a:xfrm>
            <a:prstGeom prst="wave">
              <a:avLst/>
            </a:prstGeom>
            <a:solidFill>
              <a:srgbClr val="D8D2C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sp>
        <p:nvSpPr>
          <p:cNvPr id="46" name="Isosceles Triangle 45"/>
          <p:cNvSpPr/>
          <p:nvPr/>
        </p:nvSpPr>
        <p:spPr>
          <a:xfrm rot="10800000">
            <a:off x="4419600" y="8528630"/>
            <a:ext cx="304800" cy="247650"/>
          </a:xfrm>
          <a:prstGeom prst="triangle">
            <a:avLst/>
          </a:prstGeom>
          <a:solidFill>
            <a:srgbClr val="2237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pSp>
        <p:nvGrpSpPr>
          <p:cNvPr id="47" name="Group 46"/>
          <p:cNvGrpSpPr/>
          <p:nvPr/>
        </p:nvGrpSpPr>
        <p:grpSpPr>
          <a:xfrm rot="480000">
            <a:off x="0" y="0"/>
            <a:ext cx="3272790" cy="11382374"/>
            <a:chOff x="0" y="0"/>
            <a:chExt cx="3272790" cy="11382374"/>
          </a:xfrm>
        </p:grpSpPr>
        <p:sp>
          <p:nvSpPr>
            <p:cNvPr id="48" name="Oval 47"/>
            <p:cNvSpPr/>
            <p:nvPr/>
          </p:nvSpPr>
          <p:spPr>
            <a:xfrm rot="19800000">
              <a:off x="1524000" y="10816590"/>
              <a:ext cx="685800" cy="445770"/>
            </a:xfrm>
            <a:prstGeom prst="ellipse">
              <a:avLst/>
            </a:prstGeom>
            <a:solidFill>
              <a:srgbClr val="6B4430"/>
            </a:solidFill>
            <a:ln w="57150">
              <a:solidFill>
                <a:srgbClr val="FFFFFF"/>
              </a:solidFill>
            </a:ln>
            <a:effectLst>
              <a:outerShdw blurRad="228600" dist="76200" dir="5400000" algn="t" rotWithShape="0">
                <a:srgbClr val="000000">
                  <a:alpha val="30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9" name="Rectangle 48"/>
            <p:cNvSpPr/>
            <p:nvPr/>
          </p:nvSpPr>
          <p:spPr>
            <a:xfrm rot="20280000">
              <a:off x="1609725" y="11015662"/>
              <a:ext cx="514350" cy="47625"/>
            </a:xfrm>
            <a:prstGeom prst="rect">
              <a:avLst/>
            </a:prstGeom>
            <a:solidFill>
              <a:srgbClr val="3E25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0" name="Oval 49"/>
            <p:cNvSpPr/>
            <p:nvPr/>
          </p:nvSpPr>
          <p:spPr>
            <a:xfrm rot="1200000">
              <a:off x="2124075" y="10525125"/>
              <a:ext cx="685800" cy="445770"/>
            </a:xfrm>
            <a:prstGeom prst="ellipse">
              <a:avLst/>
            </a:prstGeom>
            <a:solidFill>
              <a:srgbClr val="6B4430"/>
            </a:solidFill>
            <a:ln w="57150">
              <a:solidFill>
                <a:srgbClr val="FFFFFF"/>
              </a:solidFill>
            </a:ln>
            <a:effectLst>
              <a:outerShdw blurRad="228600" dist="76200" dir="5400000" algn="t" rotWithShape="0">
                <a:srgbClr val="000000">
                  <a:alpha val="30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1" name="Rectangle 50"/>
            <p:cNvSpPr/>
            <p:nvPr/>
          </p:nvSpPr>
          <p:spPr>
            <a:xfrm rot="1680000">
              <a:off x="2209800" y="10724197"/>
              <a:ext cx="514350" cy="47625"/>
            </a:xfrm>
            <a:prstGeom prst="rect">
              <a:avLst/>
            </a:prstGeom>
            <a:solidFill>
              <a:srgbClr val="3E25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2" name="Oval 51"/>
            <p:cNvSpPr/>
            <p:nvPr/>
          </p:nvSpPr>
          <p:spPr>
            <a:xfrm rot="4200000">
              <a:off x="2586990" y="10936604"/>
              <a:ext cx="685800" cy="445770"/>
            </a:xfrm>
            <a:prstGeom prst="ellipse">
              <a:avLst/>
            </a:prstGeom>
            <a:solidFill>
              <a:srgbClr val="6B4430"/>
            </a:solidFill>
            <a:ln w="57150">
              <a:solidFill>
                <a:srgbClr val="FFFFFF"/>
              </a:solidFill>
            </a:ln>
            <a:effectLst>
              <a:outerShdw blurRad="228600" dist="76200" dir="5400000" algn="t" rotWithShape="0">
                <a:srgbClr val="000000">
                  <a:alpha val="30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3" name="Rectangle 52"/>
            <p:cNvSpPr/>
            <p:nvPr/>
          </p:nvSpPr>
          <p:spPr>
            <a:xfrm rot="4680000">
              <a:off x="2672715" y="11135677"/>
              <a:ext cx="514350" cy="47625"/>
            </a:xfrm>
            <a:prstGeom prst="rect">
              <a:avLst/>
            </a:prstGeom>
            <a:solidFill>
              <a:srgbClr val="3E25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pic>
        <p:nvPicPr>
          <p:cNvPr id="54" name="Picture 53" descr="trim-dried-flowers-2-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320000">
            <a:off x="8143875" y="10496288"/>
            <a:ext cx="1619250" cy="2438923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aper-grain-cream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0287000" cy="1285875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62000" y="1047750"/>
            <a:ext cx="8763000" cy="22678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6600" b="1" i="0">
                <a:solidFill>
                  <a:srgbClr val="22371F"/>
                </a:solidFill>
                <a:latin typeface="Montserrat"/>
              </a:rPr>
              <a:t>So what's the catch? Caffeine. 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3467960"/>
            <a:ext cx="8763000" cy="299077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800" b="0" i="0">
                <a:solidFill>
                  <a:srgbClr val="333130"/>
                </a:solidFill>
                <a:latin typeface="Source Sans 3"/>
              </a:rPr>
              <a:t>Leftover caffeine and chlorogenic acids are allelopathic: plant-speak for chemicals that stop seeds sprouting and roots growing.</a:t>
            </a:r>
          </a:p>
        </p:txBody>
      </p:sp>
      <p:sp>
        <p:nvSpPr>
          <p:cNvPr id="5" name="Rectangle 4"/>
          <p:cNvSpPr/>
          <p:nvPr/>
        </p:nvSpPr>
        <p:spPr>
          <a:xfrm rot="21360000">
            <a:off x="857249" y="6096000"/>
            <a:ext cx="4732020" cy="5071110"/>
          </a:xfrm>
          <a:prstGeom prst="rect">
            <a:avLst/>
          </a:prstGeom>
          <a:solidFill>
            <a:srgbClr val="FFFDF7"/>
          </a:solidFill>
          <a:ln>
            <a:noFill/>
          </a:ln>
          <a:effectLst>
            <a:outerShdw blurRad="228600" dist="76200" dir="5400000" algn="t" rotWithShape="0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500543243627123432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360000">
            <a:off x="1020683" y="6271673"/>
            <a:ext cx="4381500" cy="43815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 rot="21360000">
            <a:off x="1191441" y="10647209"/>
            <a:ext cx="4381500" cy="5143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600" b="0" i="0">
                <a:solidFill>
                  <a:srgbClr val="6A665C"/>
                </a:solidFill>
                <a:latin typeface="Source Sans 3"/>
              </a:rPr>
              <a:t>Photo: Bianca Pătrașcu on Unsplash</a:t>
            </a:r>
          </a:p>
        </p:txBody>
      </p:sp>
      <p:sp>
        <p:nvSpPr>
          <p:cNvPr id="8" name="Rectangle 7"/>
          <p:cNvSpPr/>
          <p:nvPr/>
        </p:nvSpPr>
        <p:spPr>
          <a:xfrm rot="19800000">
            <a:off x="714375" y="5953125"/>
            <a:ext cx="1428750" cy="438150"/>
          </a:xfrm>
          <a:prstGeom prst="rect">
            <a:avLst/>
          </a:prstGeom>
          <a:solidFill>
            <a:srgbClr val="DBE6A7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pSp>
        <p:nvGrpSpPr>
          <p:cNvPr id="9" name="Group 8"/>
          <p:cNvGrpSpPr/>
          <p:nvPr/>
        </p:nvGrpSpPr>
        <p:grpSpPr>
          <a:xfrm>
            <a:off x="0" y="0"/>
            <a:ext cx="8648700" cy="10287000"/>
            <a:chOff x="0" y="0"/>
            <a:chExt cx="8648700" cy="10287000"/>
          </a:xfrm>
        </p:grpSpPr>
        <p:sp>
          <p:nvSpPr>
            <p:cNvPr id="10" name="Rectangle 9"/>
            <p:cNvSpPr/>
            <p:nvPr/>
          </p:nvSpPr>
          <p:spPr>
            <a:xfrm>
              <a:off x="7581900" y="8515350"/>
              <a:ext cx="76200" cy="1771650"/>
            </a:xfrm>
            <a:prstGeom prst="rect">
              <a:avLst/>
            </a:prstGeom>
            <a:solidFill>
              <a:srgbClr val="9C9A5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" name="Oval 10"/>
            <p:cNvSpPr/>
            <p:nvPr/>
          </p:nvSpPr>
          <p:spPr>
            <a:xfrm rot="3900000">
              <a:off x="6591300" y="8572500"/>
              <a:ext cx="1143000" cy="571500"/>
            </a:xfrm>
            <a:prstGeom prst="ellipse">
              <a:avLst/>
            </a:prstGeom>
            <a:solidFill>
              <a:srgbClr val="A7A45C"/>
            </a:solidFill>
            <a:ln w="571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" name="Oval 11"/>
            <p:cNvSpPr/>
            <p:nvPr/>
          </p:nvSpPr>
          <p:spPr>
            <a:xfrm rot="6900000">
              <a:off x="7505700" y="8572500"/>
              <a:ext cx="1143000" cy="571500"/>
            </a:xfrm>
            <a:prstGeom prst="ellipse">
              <a:avLst/>
            </a:prstGeom>
            <a:solidFill>
              <a:srgbClr val="A7A45C"/>
            </a:solidFill>
            <a:ln w="571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" name="Oval 12"/>
            <p:cNvSpPr/>
            <p:nvPr/>
          </p:nvSpPr>
          <p:spPr>
            <a:xfrm>
              <a:off x="6191250" y="10001250"/>
              <a:ext cx="2857500" cy="857250"/>
            </a:xfrm>
            <a:prstGeom prst="ellipse">
              <a:avLst/>
            </a:prstGeom>
            <a:solidFill>
              <a:srgbClr val="4F3433"/>
            </a:solidFill>
            <a:ln w="57150">
              <a:solidFill>
                <a:srgbClr val="FFFFFF"/>
              </a:solidFill>
            </a:ln>
            <a:effectLst>
              <a:outerShdw blurRad="228600" dist="76200" dir="5400000" algn="t" rotWithShape="0">
                <a:srgbClr val="000000">
                  <a:alpha val="30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4" name="Group 13"/>
          <p:cNvGrpSpPr/>
          <p:nvPr/>
        </p:nvGrpSpPr>
        <p:grpSpPr>
          <a:xfrm rot="900000">
            <a:off x="0" y="0"/>
            <a:ext cx="7315200" cy="11596687"/>
            <a:chOff x="0" y="0"/>
            <a:chExt cx="7315200" cy="11596687"/>
          </a:xfrm>
        </p:grpSpPr>
        <p:sp>
          <p:nvSpPr>
            <p:cNvPr id="15" name="Oval 14"/>
            <p:cNvSpPr/>
            <p:nvPr/>
          </p:nvSpPr>
          <p:spPr>
            <a:xfrm rot="19800000">
              <a:off x="5857875" y="11125200"/>
              <a:ext cx="571500" cy="371475"/>
            </a:xfrm>
            <a:prstGeom prst="ellipse">
              <a:avLst/>
            </a:prstGeom>
            <a:solidFill>
              <a:srgbClr val="6B4430"/>
            </a:solidFill>
            <a:ln w="57150">
              <a:solidFill>
                <a:srgbClr val="FFFFFF"/>
              </a:solidFill>
            </a:ln>
            <a:effectLst>
              <a:outerShdw blurRad="228600" dist="76200" dir="5400000" algn="t" rotWithShape="0">
                <a:srgbClr val="000000">
                  <a:alpha val="30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" name="Rectangle 15"/>
            <p:cNvSpPr/>
            <p:nvPr/>
          </p:nvSpPr>
          <p:spPr>
            <a:xfrm rot="20280000">
              <a:off x="5929312" y="11287125"/>
              <a:ext cx="428625" cy="47625"/>
            </a:xfrm>
            <a:prstGeom prst="rect">
              <a:avLst/>
            </a:prstGeom>
            <a:solidFill>
              <a:srgbClr val="3E25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" name="Oval 16"/>
            <p:cNvSpPr/>
            <p:nvPr/>
          </p:nvSpPr>
          <p:spPr>
            <a:xfrm rot="1200000">
              <a:off x="6357937" y="10882312"/>
              <a:ext cx="571500" cy="371475"/>
            </a:xfrm>
            <a:prstGeom prst="ellipse">
              <a:avLst/>
            </a:prstGeom>
            <a:solidFill>
              <a:srgbClr val="6B4430"/>
            </a:solidFill>
            <a:ln w="57150">
              <a:solidFill>
                <a:srgbClr val="FFFFFF"/>
              </a:solidFill>
            </a:ln>
            <a:effectLst>
              <a:outerShdw blurRad="228600" dist="76200" dir="5400000" algn="t" rotWithShape="0">
                <a:srgbClr val="000000">
                  <a:alpha val="30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" name="Rectangle 17"/>
            <p:cNvSpPr/>
            <p:nvPr/>
          </p:nvSpPr>
          <p:spPr>
            <a:xfrm rot="1680000">
              <a:off x="6429375" y="11044237"/>
              <a:ext cx="428625" cy="47625"/>
            </a:xfrm>
            <a:prstGeom prst="rect">
              <a:avLst/>
            </a:prstGeom>
            <a:solidFill>
              <a:srgbClr val="3E25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9" name="Oval 18"/>
            <p:cNvSpPr/>
            <p:nvPr/>
          </p:nvSpPr>
          <p:spPr>
            <a:xfrm rot="4200000">
              <a:off x="6743700" y="11225212"/>
              <a:ext cx="571500" cy="371475"/>
            </a:xfrm>
            <a:prstGeom prst="ellipse">
              <a:avLst/>
            </a:prstGeom>
            <a:solidFill>
              <a:srgbClr val="6B4430"/>
            </a:solidFill>
            <a:ln w="57150">
              <a:solidFill>
                <a:srgbClr val="FFFFFF"/>
              </a:solidFill>
            </a:ln>
            <a:effectLst>
              <a:outerShdw blurRad="228600" dist="76200" dir="5400000" algn="t" rotWithShape="0">
                <a:srgbClr val="000000">
                  <a:alpha val="30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" name="Rectangle 19"/>
            <p:cNvSpPr/>
            <p:nvPr/>
          </p:nvSpPr>
          <p:spPr>
            <a:xfrm rot="4680000">
              <a:off x="6815137" y="11387137"/>
              <a:ext cx="428625" cy="47625"/>
            </a:xfrm>
            <a:prstGeom prst="rect">
              <a:avLst/>
            </a:prstGeom>
            <a:solidFill>
              <a:srgbClr val="3E25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21" name="Group 20"/>
          <p:cNvGrpSpPr/>
          <p:nvPr/>
        </p:nvGrpSpPr>
        <p:grpSpPr>
          <a:xfrm rot="480000">
            <a:off x="0" y="0"/>
            <a:ext cx="9372600" cy="8010525"/>
            <a:chOff x="0" y="0"/>
            <a:chExt cx="9372600" cy="8010525"/>
          </a:xfrm>
        </p:grpSpPr>
        <p:sp>
          <p:nvSpPr>
            <p:cNvPr id="22" name="Oval 21"/>
            <p:cNvSpPr/>
            <p:nvPr/>
          </p:nvSpPr>
          <p:spPr>
            <a:xfrm>
              <a:off x="7786687" y="7639050"/>
              <a:ext cx="1571625" cy="371475"/>
            </a:xfrm>
            <a:prstGeom prst="ellipse">
              <a:avLst/>
            </a:prstGeom>
            <a:solidFill>
              <a:srgbClr val="FFFDF7"/>
            </a:solidFill>
            <a:ln w="57150">
              <a:solidFill>
                <a:srgbClr val="FFFFFF"/>
              </a:solidFill>
            </a:ln>
            <a:effectLst>
              <a:outerShdw blurRad="228600" dist="76200" dir="5400000" algn="t" rotWithShape="0">
                <a:srgbClr val="000000">
                  <a:alpha val="30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3" name="Donut 22"/>
            <p:cNvSpPr/>
            <p:nvPr/>
          </p:nvSpPr>
          <p:spPr>
            <a:xfrm>
              <a:off x="8943975" y="7067550"/>
              <a:ext cx="428625" cy="428625"/>
            </a:xfrm>
            <a:prstGeom prst="donut">
              <a:avLst/>
            </a:prstGeom>
            <a:solidFill>
              <a:srgbClr val="FFFDF7"/>
            </a:solidFill>
            <a:ln w="571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4" name="Rounded Rectangle 23"/>
            <p:cNvSpPr/>
            <p:nvPr/>
          </p:nvSpPr>
          <p:spPr>
            <a:xfrm>
              <a:off x="8029575" y="6881812"/>
              <a:ext cx="1085850" cy="885825"/>
            </a:xfrm>
            <a:prstGeom prst="roundRect">
              <a:avLst/>
            </a:prstGeom>
            <a:solidFill>
              <a:srgbClr val="FFFDF7"/>
            </a:solidFill>
            <a:ln w="571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5" name="Rectangle 24"/>
            <p:cNvSpPr/>
            <p:nvPr/>
          </p:nvSpPr>
          <p:spPr>
            <a:xfrm>
              <a:off x="8058150" y="7410450"/>
              <a:ext cx="1028700" cy="114300"/>
            </a:xfrm>
            <a:prstGeom prst="rect">
              <a:avLst/>
            </a:prstGeom>
            <a:solidFill>
              <a:srgbClr val="15682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6" name="Oval 25"/>
            <p:cNvSpPr/>
            <p:nvPr/>
          </p:nvSpPr>
          <p:spPr>
            <a:xfrm>
              <a:off x="8058150" y="6781800"/>
              <a:ext cx="1028700" cy="228600"/>
            </a:xfrm>
            <a:prstGeom prst="ellipse">
              <a:avLst/>
            </a:prstGeom>
            <a:solidFill>
              <a:srgbClr val="4F3433"/>
            </a:solidFill>
            <a:ln w="571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7" name="Wave 26"/>
            <p:cNvSpPr/>
            <p:nvPr/>
          </p:nvSpPr>
          <p:spPr>
            <a:xfrm rot="5400000">
              <a:off x="8301037" y="6353175"/>
              <a:ext cx="85725" cy="342900"/>
            </a:xfrm>
            <a:prstGeom prst="wave">
              <a:avLst/>
            </a:prstGeom>
            <a:solidFill>
              <a:srgbClr val="D8D2C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8" name="Wave 27"/>
            <p:cNvSpPr/>
            <p:nvPr/>
          </p:nvSpPr>
          <p:spPr>
            <a:xfrm rot="5400000">
              <a:off x="8529637" y="6353175"/>
              <a:ext cx="85725" cy="342900"/>
            </a:xfrm>
            <a:prstGeom prst="wave">
              <a:avLst/>
            </a:prstGeom>
            <a:solidFill>
              <a:srgbClr val="D8D2C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9" name="Wave 28"/>
            <p:cNvSpPr/>
            <p:nvPr/>
          </p:nvSpPr>
          <p:spPr>
            <a:xfrm rot="5400000">
              <a:off x="8758237" y="6353175"/>
              <a:ext cx="85725" cy="342900"/>
            </a:xfrm>
            <a:prstGeom prst="wave">
              <a:avLst/>
            </a:prstGeom>
            <a:solidFill>
              <a:srgbClr val="D8D2C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aper-grain-cream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0287000" cy="1285875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62000" y="1047750"/>
            <a:ext cx="8763000" cy="22678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6600" b="1" i="0">
                <a:solidFill>
                  <a:srgbClr val="22371F"/>
                </a:solidFill>
                <a:latin typeface="Montserrat"/>
              </a:rPr>
              <a:t>Sprinkled straight on the garden?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3467960"/>
            <a:ext cx="8763000" cy="154301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800" b="0" i="0">
                <a:solidFill>
                  <a:srgbClr val="333130"/>
                </a:solidFill>
                <a:latin typeface="Source Sans 3"/>
              </a:rPr>
              <a:t>In trials, fresh grounds spread on beds actually slowed plant growth. 🥀</a:t>
            </a:r>
          </a:p>
        </p:txBody>
      </p:sp>
      <p:sp>
        <p:nvSpPr>
          <p:cNvPr id="5" name="Rectangle 4"/>
          <p:cNvSpPr/>
          <p:nvPr/>
        </p:nvSpPr>
        <p:spPr>
          <a:xfrm rot="180000">
            <a:off x="3143249" y="5334000"/>
            <a:ext cx="5349240" cy="5695950"/>
          </a:xfrm>
          <a:prstGeom prst="rect">
            <a:avLst/>
          </a:prstGeom>
          <a:solidFill>
            <a:srgbClr val="FFFDF7"/>
          </a:solidFill>
          <a:ln>
            <a:noFill/>
          </a:ln>
          <a:effectLst>
            <a:outerShdw blurRad="228600" dist="76200" dir="5400000" algn="t" rotWithShape="0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7311567527219344018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80000">
            <a:off x="3350442" y="5532357"/>
            <a:ext cx="4953000" cy="4953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 rot="180000">
            <a:off x="3206575" y="10481590"/>
            <a:ext cx="4953000" cy="54483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600" b="0" i="0">
                <a:solidFill>
                  <a:srgbClr val="6A665C"/>
                </a:solidFill>
                <a:latin typeface="Source Sans 3"/>
              </a:rPr>
              <a:t>Foundation library</a:t>
            </a:r>
          </a:p>
        </p:txBody>
      </p:sp>
      <p:sp>
        <p:nvSpPr>
          <p:cNvPr id="8" name="Rectangle 7"/>
          <p:cNvSpPr/>
          <p:nvPr/>
        </p:nvSpPr>
        <p:spPr>
          <a:xfrm rot="1800000">
            <a:off x="7206615" y="5210175"/>
            <a:ext cx="1428750" cy="438150"/>
          </a:xfrm>
          <a:prstGeom prst="rect">
            <a:avLst/>
          </a:prstGeom>
          <a:solidFill>
            <a:srgbClr val="DBE6A7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19800000">
            <a:off x="3000375" y="5210175"/>
            <a:ext cx="1428750" cy="438150"/>
          </a:xfrm>
          <a:prstGeom prst="rect">
            <a:avLst/>
          </a:prstGeom>
          <a:solidFill>
            <a:srgbClr val="DBE6A7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pSp>
        <p:nvGrpSpPr>
          <p:cNvPr id="10" name="Group 9"/>
          <p:cNvGrpSpPr/>
          <p:nvPr/>
        </p:nvGrpSpPr>
        <p:grpSpPr>
          <a:xfrm rot="21360000">
            <a:off x="0" y="0"/>
            <a:ext cx="2632710" cy="9620250"/>
            <a:chOff x="0" y="0"/>
            <a:chExt cx="2632710" cy="9620250"/>
          </a:xfrm>
        </p:grpSpPr>
        <p:sp>
          <p:nvSpPr>
            <p:cNvPr id="11" name="Rectangle 10"/>
            <p:cNvSpPr/>
            <p:nvPr/>
          </p:nvSpPr>
          <p:spPr>
            <a:xfrm>
              <a:off x="1771650" y="8202930"/>
              <a:ext cx="76200" cy="1417320"/>
            </a:xfrm>
            <a:prstGeom prst="rect">
              <a:avLst/>
            </a:prstGeom>
            <a:solidFill>
              <a:srgbClr val="9C9A5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" name="Oval 11"/>
            <p:cNvSpPr/>
            <p:nvPr/>
          </p:nvSpPr>
          <p:spPr>
            <a:xfrm rot="3900000">
              <a:off x="986790" y="8248650"/>
              <a:ext cx="914400" cy="457200"/>
            </a:xfrm>
            <a:prstGeom prst="ellipse">
              <a:avLst/>
            </a:prstGeom>
            <a:solidFill>
              <a:srgbClr val="A7A45C"/>
            </a:solidFill>
            <a:ln w="571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" name="Oval 12"/>
            <p:cNvSpPr/>
            <p:nvPr/>
          </p:nvSpPr>
          <p:spPr>
            <a:xfrm rot="6900000">
              <a:off x="1718310" y="8248650"/>
              <a:ext cx="914400" cy="457200"/>
            </a:xfrm>
            <a:prstGeom prst="ellipse">
              <a:avLst/>
            </a:prstGeom>
            <a:solidFill>
              <a:srgbClr val="A7A45C"/>
            </a:solidFill>
            <a:ln w="571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" name="Oval 13"/>
            <p:cNvSpPr/>
            <p:nvPr/>
          </p:nvSpPr>
          <p:spPr>
            <a:xfrm>
              <a:off x="666750" y="9391650"/>
              <a:ext cx="2286000" cy="685800"/>
            </a:xfrm>
            <a:prstGeom prst="ellipse">
              <a:avLst/>
            </a:prstGeom>
            <a:solidFill>
              <a:srgbClr val="4F3433"/>
            </a:solidFill>
            <a:ln w="57150">
              <a:solidFill>
                <a:srgbClr val="FFFFFF"/>
              </a:solidFill>
            </a:ln>
            <a:effectLst>
              <a:outerShdw blurRad="228600" dist="76200" dir="5400000" algn="t" rotWithShape="0">
                <a:srgbClr val="000000">
                  <a:alpha val="30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5" name="Group 14"/>
          <p:cNvGrpSpPr/>
          <p:nvPr/>
        </p:nvGrpSpPr>
        <p:grpSpPr>
          <a:xfrm rot="20880000">
            <a:off x="0" y="0"/>
            <a:ext cx="2747010" cy="11644312"/>
            <a:chOff x="0" y="0"/>
            <a:chExt cx="2747010" cy="11644312"/>
          </a:xfrm>
        </p:grpSpPr>
        <p:sp>
          <p:nvSpPr>
            <p:cNvPr id="16" name="Oval 15"/>
            <p:cNvSpPr/>
            <p:nvPr/>
          </p:nvSpPr>
          <p:spPr>
            <a:xfrm rot="19800000">
              <a:off x="1095375" y="11109960"/>
              <a:ext cx="647700" cy="421005"/>
            </a:xfrm>
            <a:prstGeom prst="ellipse">
              <a:avLst/>
            </a:prstGeom>
            <a:solidFill>
              <a:srgbClr val="6B4430"/>
            </a:solidFill>
            <a:ln w="57150">
              <a:solidFill>
                <a:srgbClr val="FFFFFF"/>
              </a:solidFill>
            </a:ln>
            <a:effectLst>
              <a:outerShdw blurRad="228600" dist="76200" dir="5400000" algn="t" rotWithShape="0">
                <a:srgbClr val="000000">
                  <a:alpha val="30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" name="Rectangle 16"/>
            <p:cNvSpPr/>
            <p:nvPr/>
          </p:nvSpPr>
          <p:spPr>
            <a:xfrm rot="20280000">
              <a:off x="1176337" y="11296650"/>
              <a:ext cx="485775" cy="47625"/>
            </a:xfrm>
            <a:prstGeom prst="rect">
              <a:avLst/>
            </a:prstGeom>
            <a:solidFill>
              <a:srgbClr val="3E25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" name="Oval 17"/>
            <p:cNvSpPr/>
            <p:nvPr/>
          </p:nvSpPr>
          <p:spPr>
            <a:xfrm rot="1200000">
              <a:off x="1662112" y="10834687"/>
              <a:ext cx="647700" cy="421005"/>
            </a:xfrm>
            <a:prstGeom prst="ellipse">
              <a:avLst/>
            </a:prstGeom>
            <a:solidFill>
              <a:srgbClr val="6B4430"/>
            </a:solidFill>
            <a:ln w="57150">
              <a:solidFill>
                <a:srgbClr val="FFFFFF"/>
              </a:solidFill>
            </a:ln>
            <a:effectLst>
              <a:outerShdw blurRad="228600" dist="76200" dir="5400000" algn="t" rotWithShape="0">
                <a:srgbClr val="000000">
                  <a:alpha val="30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9" name="Rectangle 18"/>
            <p:cNvSpPr/>
            <p:nvPr/>
          </p:nvSpPr>
          <p:spPr>
            <a:xfrm rot="1680000">
              <a:off x="1743075" y="11021377"/>
              <a:ext cx="485775" cy="47625"/>
            </a:xfrm>
            <a:prstGeom prst="rect">
              <a:avLst/>
            </a:prstGeom>
            <a:solidFill>
              <a:srgbClr val="3E25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" name="Oval 19"/>
            <p:cNvSpPr/>
            <p:nvPr/>
          </p:nvSpPr>
          <p:spPr>
            <a:xfrm rot="4200000">
              <a:off x="2099310" y="11223307"/>
              <a:ext cx="647700" cy="421005"/>
            </a:xfrm>
            <a:prstGeom prst="ellipse">
              <a:avLst/>
            </a:prstGeom>
            <a:solidFill>
              <a:srgbClr val="6B4430"/>
            </a:solidFill>
            <a:ln w="57150">
              <a:solidFill>
                <a:srgbClr val="FFFFFF"/>
              </a:solidFill>
            </a:ln>
            <a:effectLst>
              <a:outerShdw blurRad="228600" dist="76200" dir="5400000" algn="t" rotWithShape="0">
                <a:srgbClr val="000000">
                  <a:alpha val="30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1" name="Rectangle 20"/>
            <p:cNvSpPr/>
            <p:nvPr/>
          </p:nvSpPr>
          <p:spPr>
            <a:xfrm rot="4680000">
              <a:off x="2180272" y="11409997"/>
              <a:ext cx="485775" cy="47625"/>
            </a:xfrm>
            <a:prstGeom prst="rect">
              <a:avLst/>
            </a:prstGeom>
            <a:solidFill>
              <a:srgbClr val="3E25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22" name="Group 21"/>
          <p:cNvGrpSpPr/>
          <p:nvPr/>
        </p:nvGrpSpPr>
        <p:grpSpPr>
          <a:xfrm rot="21120000">
            <a:off x="0" y="0"/>
            <a:ext cx="9319260" cy="12150090"/>
            <a:chOff x="0" y="0"/>
            <a:chExt cx="9319260" cy="12150090"/>
          </a:xfrm>
        </p:grpSpPr>
        <p:sp>
          <p:nvSpPr>
            <p:cNvPr id="23" name="Oval 22"/>
            <p:cNvSpPr/>
            <p:nvPr/>
          </p:nvSpPr>
          <p:spPr>
            <a:xfrm>
              <a:off x="7839075" y="11803380"/>
              <a:ext cx="1466850" cy="346710"/>
            </a:xfrm>
            <a:prstGeom prst="ellipse">
              <a:avLst/>
            </a:prstGeom>
            <a:solidFill>
              <a:srgbClr val="FFFDF7"/>
            </a:solidFill>
            <a:ln w="57150">
              <a:solidFill>
                <a:srgbClr val="FFFFFF"/>
              </a:solidFill>
            </a:ln>
            <a:effectLst>
              <a:outerShdw blurRad="228600" dist="76200" dir="5400000" algn="t" rotWithShape="0">
                <a:srgbClr val="000000">
                  <a:alpha val="30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4" name="Donut 23"/>
            <p:cNvSpPr/>
            <p:nvPr/>
          </p:nvSpPr>
          <p:spPr>
            <a:xfrm>
              <a:off x="8919210" y="11269980"/>
              <a:ext cx="400050" cy="400050"/>
            </a:xfrm>
            <a:prstGeom prst="donut">
              <a:avLst/>
            </a:prstGeom>
            <a:solidFill>
              <a:srgbClr val="FFFDF7"/>
            </a:solidFill>
            <a:ln w="571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5" name="Rounded Rectangle 24"/>
            <p:cNvSpPr/>
            <p:nvPr/>
          </p:nvSpPr>
          <p:spPr>
            <a:xfrm>
              <a:off x="8065770" y="11096625"/>
              <a:ext cx="1013460" cy="826770"/>
            </a:xfrm>
            <a:prstGeom prst="roundRect">
              <a:avLst/>
            </a:prstGeom>
            <a:solidFill>
              <a:srgbClr val="FFFDF7"/>
            </a:solidFill>
            <a:ln w="571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6" name="Rectangle 25"/>
            <p:cNvSpPr/>
            <p:nvPr/>
          </p:nvSpPr>
          <p:spPr>
            <a:xfrm>
              <a:off x="8094345" y="11590020"/>
              <a:ext cx="956310" cy="106680"/>
            </a:xfrm>
            <a:prstGeom prst="rect">
              <a:avLst/>
            </a:prstGeom>
            <a:solidFill>
              <a:srgbClr val="15682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7" name="Oval 26"/>
            <p:cNvSpPr/>
            <p:nvPr/>
          </p:nvSpPr>
          <p:spPr>
            <a:xfrm>
              <a:off x="8092440" y="11003280"/>
              <a:ext cx="960120" cy="213360"/>
            </a:xfrm>
            <a:prstGeom prst="ellipse">
              <a:avLst/>
            </a:prstGeom>
            <a:solidFill>
              <a:srgbClr val="4F3433"/>
            </a:solidFill>
            <a:ln w="571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8" name="Wave 27"/>
            <p:cNvSpPr/>
            <p:nvPr/>
          </p:nvSpPr>
          <p:spPr>
            <a:xfrm rot="5400000">
              <a:off x="8319135" y="10603230"/>
              <a:ext cx="80010" cy="320040"/>
            </a:xfrm>
            <a:prstGeom prst="wave">
              <a:avLst/>
            </a:prstGeom>
            <a:solidFill>
              <a:srgbClr val="D8D2C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9" name="Wave 28"/>
            <p:cNvSpPr/>
            <p:nvPr/>
          </p:nvSpPr>
          <p:spPr>
            <a:xfrm rot="5400000">
              <a:off x="8532495" y="10603230"/>
              <a:ext cx="80010" cy="320040"/>
            </a:xfrm>
            <a:prstGeom prst="wave">
              <a:avLst/>
            </a:prstGeom>
            <a:solidFill>
              <a:srgbClr val="D8D2C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0" name="Wave 29"/>
            <p:cNvSpPr/>
            <p:nvPr/>
          </p:nvSpPr>
          <p:spPr>
            <a:xfrm rot="5400000">
              <a:off x="8745855" y="10603230"/>
              <a:ext cx="80010" cy="320040"/>
            </a:xfrm>
            <a:prstGeom prst="wave">
              <a:avLst/>
            </a:prstGeom>
            <a:solidFill>
              <a:srgbClr val="D8D2C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aper-grain-cream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0287000" cy="1285875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 rot="21420000">
            <a:off x="762000" y="762000"/>
            <a:ext cx="5349240" cy="5695950"/>
          </a:xfrm>
          <a:prstGeom prst="rect">
            <a:avLst/>
          </a:prstGeom>
          <a:solidFill>
            <a:srgbClr val="FFFDF7"/>
          </a:solidFill>
          <a:ln>
            <a:noFill/>
          </a:ln>
          <a:effectLst>
            <a:outerShdw blurRad="228600" dist="76200" dir="5400000" algn="t" rotWithShape="0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3989643155962724162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420000">
            <a:off x="951047" y="960357"/>
            <a:ext cx="4953000" cy="4953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 rot="21420000">
            <a:off x="1094914" y="5909590"/>
            <a:ext cx="4953000" cy="54483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600" b="0" i="0">
                <a:solidFill>
                  <a:srgbClr val="6A665C"/>
                </a:solidFill>
                <a:latin typeface="Source Sans 3"/>
              </a:rPr>
              <a:t>Soil Food Web Foundation</a:t>
            </a:r>
          </a:p>
        </p:txBody>
      </p:sp>
      <p:sp>
        <p:nvSpPr>
          <p:cNvPr id="6" name="Rectangle 5"/>
          <p:cNvSpPr/>
          <p:nvPr/>
        </p:nvSpPr>
        <p:spPr>
          <a:xfrm rot="240000">
            <a:off x="2674620" y="600075"/>
            <a:ext cx="1524000" cy="438150"/>
          </a:xfrm>
          <a:prstGeom prst="rect">
            <a:avLst/>
          </a:prstGeom>
          <a:solidFill>
            <a:srgbClr val="DBE6A7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pSp>
        <p:nvGrpSpPr>
          <p:cNvPr id="7" name="Group 6"/>
          <p:cNvGrpSpPr/>
          <p:nvPr/>
        </p:nvGrpSpPr>
        <p:grpSpPr>
          <a:xfrm rot="20520000">
            <a:off x="0" y="0"/>
            <a:ext cx="8858250" cy="2345054"/>
            <a:chOff x="0" y="0"/>
            <a:chExt cx="8858250" cy="2345054"/>
          </a:xfrm>
        </p:grpSpPr>
        <p:sp>
          <p:nvSpPr>
            <p:cNvPr id="8" name="Arc 7"/>
            <p:cNvSpPr/>
            <p:nvPr/>
          </p:nvSpPr>
          <p:spPr>
            <a:xfrm>
              <a:off x="6427470" y="1781784"/>
              <a:ext cx="356235" cy="228828"/>
            </a:xfrm>
            <a:prstGeom prst="arc">
              <a:avLst/>
            </a:prstGeom>
            <a:noFill/>
            <a:ln w="38100">
              <a:solidFill>
                <a:srgbClr val="15682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" name="Arc 8"/>
            <p:cNvSpPr/>
            <p:nvPr/>
          </p:nvSpPr>
          <p:spPr>
            <a:xfrm rot="10800000">
              <a:off x="6092190" y="1799386"/>
              <a:ext cx="356235" cy="228828"/>
            </a:xfrm>
            <a:prstGeom prst="arc">
              <a:avLst/>
            </a:prstGeom>
            <a:noFill/>
            <a:ln w="38100">
              <a:solidFill>
                <a:srgbClr val="15682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" name="Arc 9"/>
            <p:cNvSpPr/>
            <p:nvPr/>
          </p:nvSpPr>
          <p:spPr>
            <a:xfrm>
              <a:off x="5756910" y="1781784"/>
              <a:ext cx="356235" cy="228828"/>
            </a:xfrm>
            <a:prstGeom prst="arc">
              <a:avLst/>
            </a:prstGeom>
            <a:noFill/>
            <a:ln w="38100">
              <a:solidFill>
                <a:srgbClr val="15682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" name="Rounded Rectangle 10"/>
            <p:cNvSpPr/>
            <p:nvPr/>
          </p:nvSpPr>
          <p:spPr>
            <a:xfrm>
              <a:off x="6762750" y="1464945"/>
              <a:ext cx="2095500" cy="880109"/>
            </a:xfrm>
            <a:prstGeom prst="roundRect">
              <a:avLst>
                <a:gd name="adj" fmla="val 50000"/>
              </a:avLst>
            </a:prstGeom>
            <a:solidFill>
              <a:srgbClr val="BFD8A6"/>
            </a:solidFill>
            <a:ln w="57150">
              <a:solidFill>
                <a:srgbClr val="FFFFFF"/>
              </a:solidFill>
            </a:ln>
            <a:effectLst>
              <a:outerShdw blurRad="228600" dist="76200" dir="5400000" algn="t" rotWithShape="0">
                <a:srgbClr val="000000">
                  <a:alpha val="30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" name="Oval 11"/>
            <p:cNvSpPr/>
            <p:nvPr/>
          </p:nvSpPr>
          <p:spPr>
            <a:xfrm>
              <a:off x="7876222" y="1827657"/>
              <a:ext cx="66675" cy="66675"/>
            </a:xfrm>
            <a:prstGeom prst="ellipse">
              <a:avLst/>
            </a:prstGeom>
            <a:solidFill>
              <a:srgbClr val="22371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" name="Oval 12"/>
            <p:cNvSpPr/>
            <p:nvPr/>
          </p:nvSpPr>
          <p:spPr>
            <a:xfrm>
              <a:off x="8181022" y="1827657"/>
              <a:ext cx="66675" cy="66675"/>
            </a:xfrm>
            <a:prstGeom prst="ellipse">
              <a:avLst/>
            </a:prstGeom>
            <a:solidFill>
              <a:srgbClr val="22371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" name="Block Arc 13"/>
            <p:cNvSpPr/>
            <p:nvPr/>
          </p:nvSpPr>
          <p:spPr>
            <a:xfrm rot="10800000">
              <a:off x="7957185" y="1880044"/>
              <a:ext cx="209550" cy="152400"/>
            </a:xfrm>
            <a:prstGeom prst="blockArc">
              <a:avLst>
                <a:gd name="adj1" fmla="val 10800000"/>
                <a:gd name="adj2" fmla="val 0"/>
                <a:gd name="adj3" fmla="val 18000"/>
              </a:avLst>
            </a:prstGeom>
            <a:solidFill>
              <a:srgbClr val="22371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5" name="Group 14"/>
          <p:cNvGrpSpPr/>
          <p:nvPr/>
        </p:nvGrpSpPr>
        <p:grpSpPr>
          <a:xfrm rot="720000">
            <a:off x="0" y="0"/>
            <a:ext cx="9286875" cy="4571047"/>
            <a:chOff x="0" y="0"/>
            <a:chExt cx="9286875" cy="4571047"/>
          </a:xfrm>
        </p:grpSpPr>
        <p:sp>
          <p:nvSpPr>
            <p:cNvPr id="16" name="Arc 15"/>
            <p:cNvSpPr/>
            <p:nvPr/>
          </p:nvSpPr>
          <p:spPr>
            <a:xfrm>
              <a:off x="7187565" y="4084586"/>
              <a:ext cx="307657" cy="197624"/>
            </a:xfrm>
            <a:prstGeom prst="arc">
              <a:avLst/>
            </a:prstGeom>
            <a:noFill/>
            <a:ln w="38100">
              <a:solidFill>
                <a:srgbClr val="15682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" name="Arc 16"/>
            <p:cNvSpPr/>
            <p:nvPr/>
          </p:nvSpPr>
          <p:spPr>
            <a:xfrm rot="10800000">
              <a:off x="6898005" y="4099788"/>
              <a:ext cx="307657" cy="197624"/>
            </a:xfrm>
            <a:prstGeom prst="arc">
              <a:avLst/>
            </a:prstGeom>
            <a:noFill/>
            <a:ln w="38100">
              <a:solidFill>
                <a:srgbClr val="15682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" name="Arc 17"/>
            <p:cNvSpPr/>
            <p:nvPr/>
          </p:nvSpPr>
          <p:spPr>
            <a:xfrm>
              <a:off x="6608445" y="4084586"/>
              <a:ext cx="307657" cy="197624"/>
            </a:xfrm>
            <a:prstGeom prst="arc">
              <a:avLst/>
            </a:prstGeom>
            <a:noFill/>
            <a:ln w="38100">
              <a:solidFill>
                <a:srgbClr val="15682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9" name="Rounded Rectangle 18"/>
            <p:cNvSpPr/>
            <p:nvPr/>
          </p:nvSpPr>
          <p:spPr>
            <a:xfrm>
              <a:off x="7477125" y="3810952"/>
              <a:ext cx="1809750" cy="760095"/>
            </a:xfrm>
            <a:prstGeom prst="roundRect">
              <a:avLst>
                <a:gd name="adj" fmla="val 50000"/>
              </a:avLst>
            </a:prstGeom>
            <a:solidFill>
              <a:srgbClr val="D6E3A8"/>
            </a:solidFill>
            <a:ln w="57150">
              <a:solidFill>
                <a:srgbClr val="FFFFFF"/>
              </a:solidFill>
            </a:ln>
            <a:effectLst>
              <a:outerShdw blurRad="228600" dist="76200" dir="5400000" algn="t" rotWithShape="0">
                <a:srgbClr val="000000">
                  <a:alpha val="30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" name="Oval 19"/>
            <p:cNvSpPr/>
            <p:nvPr/>
          </p:nvSpPr>
          <p:spPr>
            <a:xfrm>
              <a:off x="8438760" y="4124203"/>
              <a:ext cx="57582" cy="57582"/>
            </a:xfrm>
            <a:prstGeom prst="ellipse">
              <a:avLst/>
            </a:prstGeom>
            <a:solidFill>
              <a:srgbClr val="22371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1" name="Oval 20"/>
            <p:cNvSpPr/>
            <p:nvPr/>
          </p:nvSpPr>
          <p:spPr>
            <a:xfrm>
              <a:off x="8701996" y="4124203"/>
              <a:ext cx="57582" cy="57582"/>
            </a:xfrm>
            <a:prstGeom prst="ellipse">
              <a:avLst/>
            </a:prstGeom>
            <a:solidFill>
              <a:srgbClr val="22371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2" name="Block Arc 21"/>
            <p:cNvSpPr/>
            <p:nvPr/>
          </p:nvSpPr>
          <p:spPr>
            <a:xfrm rot="10800000">
              <a:off x="8508682" y="4169447"/>
              <a:ext cx="180975" cy="131618"/>
            </a:xfrm>
            <a:prstGeom prst="blockArc">
              <a:avLst>
                <a:gd name="adj1" fmla="val 10800000"/>
                <a:gd name="adj2" fmla="val 0"/>
                <a:gd name="adj3" fmla="val 18000"/>
              </a:avLst>
            </a:prstGeom>
            <a:solidFill>
              <a:srgbClr val="22371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23" name="Group 22"/>
          <p:cNvGrpSpPr/>
          <p:nvPr/>
        </p:nvGrpSpPr>
        <p:grpSpPr>
          <a:xfrm rot="21240000">
            <a:off x="0" y="0"/>
            <a:ext cx="8048625" cy="6436041"/>
            <a:chOff x="0" y="0"/>
            <a:chExt cx="8048625" cy="6436041"/>
          </a:xfrm>
        </p:grpSpPr>
        <p:sp>
          <p:nvSpPr>
            <p:cNvPr id="24" name="Arc 23"/>
            <p:cNvSpPr/>
            <p:nvPr/>
          </p:nvSpPr>
          <p:spPr>
            <a:xfrm>
              <a:off x="6170295" y="6000788"/>
              <a:ext cx="275272" cy="176822"/>
            </a:xfrm>
            <a:prstGeom prst="arc">
              <a:avLst/>
            </a:prstGeom>
            <a:noFill/>
            <a:ln w="38100">
              <a:solidFill>
                <a:srgbClr val="15682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5" name="Arc 24"/>
            <p:cNvSpPr/>
            <p:nvPr/>
          </p:nvSpPr>
          <p:spPr>
            <a:xfrm rot="10800000">
              <a:off x="5911215" y="6014389"/>
              <a:ext cx="275272" cy="176822"/>
            </a:xfrm>
            <a:prstGeom prst="arc">
              <a:avLst/>
            </a:prstGeom>
            <a:noFill/>
            <a:ln w="38100">
              <a:solidFill>
                <a:srgbClr val="15682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6" name="Arc 25"/>
            <p:cNvSpPr/>
            <p:nvPr/>
          </p:nvSpPr>
          <p:spPr>
            <a:xfrm>
              <a:off x="5652135" y="6000788"/>
              <a:ext cx="275272" cy="176822"/>
            </a:xfrm>
            <a:prstGeom prst="arc">
              <a:avLst/>
            </a:prstGeom>
            <a:noFill/>
            <a:ln w="38100">
              <a:solidFill>
                <a:srgbClr val="15682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7" name="Rounded Rectangle 26"/>
            <p:cNvSpPr/>
            <p:nvPr/>
          </p:nvSpPr>
          <p:spPr>
            <a:xfrm>
              <a:off x="6429375" y="5755957"/>
              <a:ext cx="1619250" cy="680084"/>
            </a:xfrm>
            <a:prstGeom prst="roundRect">
              <a:avLst>
                <a:gd name="adj" fmla="val 50000"/>
              </a:avLst>
            </a:prstGeom>
            <a:solidFill>
              <a:srgbClr val="C9DDB6"/>
            </a:solidFill>
            <a:ln w="57150">
              <a:solidFill>
                <a:srgbClr val="FFFFFF"/>
              </a:solidFill>
            </a:ln>
            <a:effectLst>
              <a:outerShdw blurRad="228600" dist="76200" dir="5400000" algn="t" rotWithShape="0">
                <a:srgbClr val="000000">
                  <a:alpha val="30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8" name="Oval 27"/>
            <p:cNvSpPr/>
            <p:nvPr/>
          </p:nvSpPr>
          <p:spPr>
            <a:xfrm>
              <a:off x="7289785" y="6036234"/>
              <a:ext cx="51521" cy="51521"/>
            </a:xfrm>
            <a:prstGeom prst="ellipse">
              <a:avLst/>
            </a:prstGeom>
            <a:solidFill>
              <a:srgbClr val="22371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9" name="Oval 28"/>
            <p:cNvSpPr/>
            <p:nvPr/>
          </p:nvSpPr>
          <p:spPr>
            <a:xfrm>
              <a:off x="7525312" y="6036234"/>
              <a:ext cx="51521" cy="51521"/>
            </a:xfrm>
            <a:prstGeom prst="ellipse">
              <a:avLst/>
            </a:prstGeom>
            <a:solidFill>
              <a:srgbClr val="22371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0" name="Block Arc 29"/>
            <p:cNvSpPr/>
            <p:nvPr/>
          </p:nvSpPr>
          <p:spPr>
            <a:xfrm rot="10800000">
              <a:off x="7352347" y="6076716"/>
              <a:ext cx="161925" cy="117763"/>
            </a:xfrm>
            <a:prstGeom prst="blockArc">
              <a:avLst>
                <a:gd name="adj1" fmla="val 10800000"/>
                <a:gd name="adj2" fmla="val 0"/>
                <a:gd name="adj3" fmla="val 18000"/>
              </a:avLst>
            </a:prstGeom>
            <a:solidFill>
              <a:srgbClr val="22371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31" name="Group 30"/>
          <p:cNvGrpSpPr/>
          <p:nvPr/>
        </p:nvGrpSpPr>
        <p:grpSpPr>
          <a:xfrm rot="1200000">
            <a:off x="0" y="0"/>
            <a:ext cx="9974580" cy="5881687"/>
            <a:chOff x="0" y="0"/>
            <a:chExt cx="9974580" cy="5881687"/>
          </a:xfrm>
        </p:grpSpPr>
        <p:sp>
          <p:nvSpPr>
            <p:cNvPr id="32" name="Oval 31"/>
            <p:cNvSpPr/>
            <p:nvPr/>
          </p:nvSpPr>
          <p:spPr>
            <a:xfrm rot="19800000">
              <a:off x="8905875" y="5535930"/>
              <a:ext cx="419100" cy="272415"/>
            </a:xfrm>
            <a:prstGeom prst="ellipse">
              <a:avLst/>
            </a:prstGeom>
            <a:solidFill>
              <a:srgbClr val="6B4430"/>
            </a:solidFill>
            <a:ln w="57150">
              <a:solidFill>
                <a:srgbClr val="FFFFFF"/>
              </a:solidFill>
            </a:ln>
            <a:effectLst>
              <a:outerShdw blurRad="228600" dist="76200" dir="5400000" algn="t" rotWithShape="0">
                <a:srgbClr val="000000">
                  <a:alpha val="30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3" name="Rectangle 32"/>
            <p:cNvSpPr/>
            <p:nvPr/>
          </p:nvSpPr>
          <p:spPr>
            <a:xfrm rot="20280000">
              <a:off x="8958262" y="5648325"/>
              <a:ext cx="314325" cy="47625"/>
            </a:xfrm>
            <a:prstGeom prst="rect">
              <a:avLst/>
            </a:prstGeom>
            <a:solidFill>
              <a:srgbClr val="3E25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4" name="Oval 33"/>
            <p:cNvSpPr/>
            <p:nvPr/>
          </p:nvSpPr>
          <p:spPr>
            <a:xfrm rot="1200000">
              <a:off x="9272587" y="5357812"/>
              <a:ext cx="419100" cy="272415"/>
            </a:xfrm>
            <a:prstGeom prst="ellipse">
              <a:avLst/>
            </a:prstGeom>
            <a:solidFill>
              <a:srgbClr val="6B4430"/>
            </a:solidFill>
            <a:ln w="57150">
              <a:solidFill>
                <a:srgbClr val="FFFFFF"/>
              </a:solidFill>
            </a:ln>
            <a:effectLst>
              <a:outerShdw blurRad="228600" dist="76200" dir="5400000" algn="t" rotWithShape="0">
                <a:srgbClr val="000000">
                  <a:alpha val="30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5" name="Rectangle 34"/>
            <p:cNvSpPr/>
            <p:nvPr/>
          </p:nvSpPr>
          <p:spPr>
            <a:xfrm rot="1680000">
              <a:off x="9324975" y="5470207"/>
              <a:ext cx="314325" cy="47625"/>
            </a:xfrm>
            <a:prstGeom prst="rect">
              <a:avLst/>
            </a:prstGeom>
            <a:solidFill>
              <a:srgbClr val="3E25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6" name="Oval 35"/>
            <p:cNvSpPr/>
            <p:nvPr/>
          </p:nvSpPr>
          <p:spPr>
            <a:xfrm rot="4200000">
              <a:off x="9555480" y="5609272"/>
              <a:ext cx="419100" cy="272415"/>
            </a:xfrm>
            <a:prstGeom prst="ellipse">
              <a:avLst/>
            </a:prstGeom>
            <a:solidFill>
              <a:srgbClr val="6B4430"/>
            </a:solidFill>
            <a:ln w="57150">
              <a:solidFill>
                <a:srgbClr val="FFFFFF"/>
              </a:solidFill>
            </a:ln>
            <a:effectLst>
              <a:outerShdw blurRad="228600" dist="76200" dir="5400000" algn="t" rotWithShape="0">
                <a:srgbClr val="000000">
                  <a:alpha val="30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7" name="Rectangle 36"/>
            <p:cNvSpPr/>
            <p:nvPr/>
          </p:nvSpPr>
          <p:spPr>
            <a:xfrm rot="4680000">
              <a:off x="9607867" y="5721667"/>
              <a:ext cx="314325" cy="47625"/>
            </a:xfrm>
            <a:prstGeom prst="rect">
              <a:avLst/>
            </a:prstGeom>
            <a:solidFill>
              <a:srgbClr val="3E25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sp>
        <p:nvSpPr>
          <p:cNvPr id="38" name="TextBox 37"/>
          <p:cNvSpPr txBox="1"/>
          <p:nvPr/>
        </p:nvSpPr>
        <p:spPr>
          <a:xfrm>
            <a:off x="762000" y="7334250"/>
            <a:ext cx="8763000" cy="2070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6000" b="1" i="0">
                <a:solidFill>
                  <a:srgbClr val="22371F"/>
                </a:solidFill>
                <a:latin typeface="Montserrat"/>
              </a:rPr>
              <a:t>Enter the compost crew. 🦠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62000" y="9556954"/>
            <a:ext cx="8763000" cy="283838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600" b="0" i="0">
                <a:solidFill>
                  <a:srgbClr val="333130"/>
                </a:solidFill>
                <a:latin typeface="Source Sans 3"/>
              </a:rPr>
              <a:t>Composting breaks caffeine down. Some soil bacteria eat it for breakfast, lunch and dinner: Pseudomonas putida CBB5 uses caffeine as its only carbon and nitrogen source.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aper-grain-cream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0287000" cy="1285875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62000" y="1047750"/>
            <a:ext cx="8763000" cy="22678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6600" b="1" i="0">
                <a:solidFill>
                  <a:srgbClr val="22371F"/>
                </a:solidFill>
                <a:latin typeface="Montserrat"/>
              </a:rPr>
              <a:t>The fix: compost them first. 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3467960"/>
            <a:ext cx="8763000" cy="299077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800" b="0" i="0">
                <a:solidFill>
                  <a:srgbClr val="333130"/>
                </a:solidFill>
                <a:latin typeface="Source Sans 3"/>
              </a:rPr>
              <a:t>Grounds are a nitrogen-rich green. Mix them with woody browns like leaves or wood chips, and keep the pile hot: 55°C (131°F) or more.</a:t>
            </a:r>
          </a:p>
        </p:txBody>
      </p:sp>
      <p:sp>
        <p:nvSpPr>
          <p:cNvPr id="5" name="Rectangle 4"/>
          <p:cNvSpPr/>
          <p:nvPr/>
        </p:nvSpPr>
        <p:spPr>
          <a:xfrm rot="21360000">
            <a:off x="857249" y="6667500"/>
            <a:ext cx="4732020" cy="5071110"/>
          </a:xfrm>
          <a:prstGeom prst="rect">
            <a:avLst/>
          </a:prstGeom>
          <a:solidFill>
            <a:srgbClr val="FFFDF7"/>
          </a:solidFill>
          <a:ln>
            <a:noFill/>
          </a:ln>
          <a:effectLst>
            <a:outerShdw blurRad="228600" dist="76200" dir="5400000" algn="t" rotWithShape="0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6447911635842332023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360000">
            <a:off x="1020683" y="6843173"/>
            <a:ext cx="4381500" cy="43815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 rot="21360000">
            <a:off x="1191441" y="11218709"/>
            <a:ext cx="4381500" cy="5143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600" b="0" i="0">
                <a:solidFill>
                  <a:srgbClr val="6A665C"/>
                </a:solidFill>
                <a:latin typeface="Source Sans 3"/>
              </a:rPr>
              <a:t>Foundation library</a:t>
            </a:r>
          </a:p>
        </p:txBody>
      </p:sp>
      <p:sp>
        <p:nvSpPr>
          <p:cNvPr id="8" name="Rectangle 7"/>
          <p:cNvSpPr/>
          <p:nvPr/>
        </p:nvSpPr>
        <p:spPr>
          <a:xfrm rot="19800000">
            <a:off x="809625" y="6524625"/>
            <a:ext cx="1428750" cy="438150"/>
          </a:xfrm>
          <a:prstGeom prst="rect">
            <a:avLst/>
          </a:prstGeom>
          <a:solidFill>
            <a:srgbClr val="DBE6A7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572250" y="6572250"/>
            <a:ext cx="594360" cy="4477512"/>
          </a:xfrm>
          <a:prstGeom prst="roundRect">
            <a:avLst>
              <a:gd name="adj" fmla="val 50000"/>
            </a:avLst>
          </a:prstGeom>
          <a:solidFill>
            <a:srgbClr val="FFFDF7"/>
          </a:solidFill>
          <a:ln w="28575">
            <a:solidFill>
              <a:srgbClr val="2237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750558" y="7992427"/>
            <a:ext cx="237744" cy="3152584"/>
          </a:xfrm>
          <a:prstGeom prst="rect">
            <a:avLst/>
          </a:prstGeom>
          <a:solidFill>
            <a:srgbClr val="D9A5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275070" y="10431780"/>
            <a:ext cx="1188720" cy="1188720"/>
          </a:xfrm>
          <a:prstGeom prst="ellipse">
            <a:avLst/>
          </a:prstGeom>
          <a:solidFill>
            <a:srgbClr val="D9A521"/>
          </a:solidFill>
          <a:ln w="28575">
            <a:solidFill>
              <a:srgbClr val="2237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204710" y="7973377"/>
            <a:ext cx="342900" cy="47625"/>
          </a:xfrm>
          <a:prstGeom prst="rect">
            <a:avLst/>
          </a:prstGeom>
          <a:solidFill>
            <a:srgbClr val="2237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29500" y="7687627"/>
            <a:ext cx="2476500" cy="609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4400" b="1" i="0">
                <a:solidFill>
                  <a:srgbClr val="22371F"/>
                </a:solidFill>
                <a:latin typeface="Montserrat"/>
              </a:rPr>
              <a:t>55°C</a:t>
            </a:r>
          </a:p>
        </p:txBody>
      </p:sp>
      <p:grpSp>
        <p:nvGrpSpPr>
          <p:cNvPr id="14" name="Group 13"/>
          <p:cNvGrpSpPr/>
          <p:nvPr/>
        </p:nvGrpSpPr>
        <p:grpSpPr>
          <a:xfrm rot="360000">
            <a:off x="0" y="0"/>
            <a:ext cx="9563100" cy="12487275"/>
            <a:chOff x="0" y="0"/>
            <a:chExt cx="9563100" cy="12487275"/>
          </a:xfrm>
        </p:grpSpPr>
        <p:sp>
          <p:nvSpPr>
            <p:cNvPr id="15" name="Oval 14"/>
            <p:cNvSpPr/>
            <p:nvPr/>
          </p:nvSpPr>
          <p:spPr>
            <a:xfrm>
              <a:off x="7977187" y="12115800"/>
              <a:ext cx="1571625" cy="371475"/>
            </a:xfrm>
            <a:prstGeom prst="ellipse">
              <a:avLst/>
            </a:prstGeom>
            <a:solidFill>
              <a:srgbClr val="FFFDF7"/>
            </a:solidFill>
            <a:ln w="57150">
              <a:solidFill>
                <a:srgbClr val="FFFFFF"/>
              </a:solidFill>
            </a:ln>
            <a:effectLst>
              <a:outerShdw blurRad="228600" dist="76200" dir="5400000" algn="t" rotWithShape="0">
                <a:srgbClr val="000000">
                  <a:alpha val="30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" name="Donut 15"/>
            <p:cNvSpPr/>
            <p:nvPr/>
          </p:nvSpPr>
          <p:spPr>
            <a:xfrm>
              <a:off x="9134475" y="11544300"/>
              <a:ext cx="428625" cy="428625"/>
            </a:xfrm>
            <a:prstGeom prst="donut">
              <a:avLst/>
            </a:prstGeom>
            <a:solidFill>
              <a:srgbClr val="FFFDF7"/>
            </a:solidFill>
            <a:ln w="571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" name="Rounded Rectangle 16"/>
            <p:cNvSpPr/>
            <p:nvPr/>
          </p:nvSpPr>
          <p:spPr>
            <a:xfrm>
              <a:off x="8220075" y="11358562"/>
              <a:ext cx="1085850" cy="885825"/>
            </a:xfrm>
            <a:prstGeom prst="roundRect">
              <a:avLst/>
            </a:prstGeom>
            <a:solidFill>
              <a:srgbClr val="FFFDF7"/>
            </a:solidFill>
            <a:ln w="571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" name="Rectangle 17"/>
            <p:cNvSpPr/>
            <p:nvPr/>
          </p:nvSpPr>
          <p:spPr>
            <a:xfrm>
              <a:off x="8248650" y="11887200"/>
              <a:ext cx="1028700" cy="114300"/>
            </a:xfrm>
            <a:prstGeom prst="rect">
              <a:avLst/>
            </a:prstGeom>
            <a:solidFill>
              <a:srgbClr val="15682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9" name="Oval 18"/>
            <p:cNvSpPr/>
            <p:nvPr/>
          </p:nvSpPr>
          <p:spPr>
            <a:xfrm>
              <a:off x="8248650" y="11258550"/>
              <a:ext cx="1028700" cy="228600"/>
            </a:xfrm>
            <a:prstGeom prst="ellipse">
              <a:avLst/>
            </a:prstGeom>
            <a:solidFill>
              <a:srgbClr val="4F3433"/>
            </a:solidFill>
            <a:ln w="571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" name="Oval 19"/>
            <p:cNvSpPr/>
            <p:nvPr/>
          </p:nvSpPr>
          <p:spPr>
            <a:xfrm>
              <a:off x="8608218" y="11659393"/>
              <a:ext cx="55562" cy="55562"/>
            </a:xfrm>
            <a:prstGeom prst="ellipse">
              <a:avLst/>
            </a:prstGeom>
            <a:solidFill>
              <a:srgbClr val="4F343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1" name="Oval 20"/>
            <p:cNvSpPr/>
            <p:nvPr/>
          </p:nvSpPr>
          <p:spPr>
            <a:xfrm>
              <a:off x="8862218" y="11659393"/>
              <a:ext cx="55562" cy="55562"/>
            </a:xfrm>
            <a:prstGeom prst="ellipse">
              <a:avLst/>
            </a:prstGeom>
            <a:solidFill>
              <a:srgbClr val="4F343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2" name="Block Arc 21"/>
            <p:cNvSpPr/>
            <p:nvPr/>
          </p:nvSpPr>
          <p:spPr>
            <a:xfrm rot="10800000">
              <a:off x="8675687" y="11703050"/>
              <a:ext cx="174625" cy="127000"/>
            </a:xfrm>
            <a:prstGeom prst="blockArc">
              <a:avLst>
                <a:gd name="adj1" fmla="val 10800000"/>
                <a:gd name="adj2" fmla="val 0"/>
                <a:gd name="adj3" fmla="val 18000"/>
              </a:avLst>
            </a:prstGeom>
            <a:solidFill>
              <a:srgbClr val="4F343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3" name="Wave 22"/>
            <p:cNvSpPr/>
            <p:nvPr/>
          </p:nvSpPr>
          <p:spPr>
            <a:xfrm rot="5400000">
              <a:off x="8491537" y="10829925"/>
              <a:ext cx="85725" cy="342900"/>
            </a:xfrm>
            <a:prstGeom prst="wave">
              <a:avLst/>
            </a:prstGeom>
            <a:solidFill>
              <a:srgbClr val="D8D2C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4" name="Wave 23"/>
            <p:cNvSpPr/>
            <p:nvPr/>
          </p:nvSpPr>
          <p:spPr>
            <a:xfrm rot="5400000">
              <a:off x="8720137" y="10829925"/>
              <a:ext cx="85725" cy="342900"/>
            </a:xfrm>
            <a:prstGeom prst="wave">
              <a:avLst/>
            </a:prstGeom>
            <a:solidFill>
              <a:srgbClr val="D8D2C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5" name="Wave 24"/>
            <p:cNvSpPr/>
            <p:nvPr/>
          </p:nvSpPr>
          <p:spPr>
            <a:xfrm rot="5400000">
              <a:off x="8948737" y="10829925"/>
              <a:ext cx="85725" cy="342900"/>
            </a:xfrm>
            <a:prstGeom prst="wave">
              <a:avLst/>
            </a:prstGeom>
            <a:solidFill>
              <a:srgbClr val="D8D2C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aper-grain-cream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0287000" cy="1285875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 rot="21540000">
            <a:off x="666750" y="1428750"/>
            <a:ext cx="8953500" cy="7239000"/>
          </a:xfrm>
          <a:prstGeom prst="rect">
            <a:avLst/>
          </a:prstGeom>
          <a:solidFill>
            <a:srgbClr val="FFFDF7"/>
          </a:solidFill>
          <a:ln>
            <a:noFill/>
          </a:ln>
          <a:effectLst>
            <a:outerShdw blurRad="228600" dist="76200" dir="5400000" algn="t" rotWithShape="0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19920000">
            <a:off x="523875" y="1276350"/>
            <a:ext cx="1428750" cy="419100"/>
          </a:xfrm>
          <a:prstGeom prst="rect">
            <a:avLst/>
          </a:prstGeom>
          <a:solidFill>
            <a:srgbClr val="DBE6A7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1680000">
            <a:off x="8334375" y="1276350"/>
            <a:ext cx="1428750" cy="419100"/>
          </a:xfrm>
          <a:prstGeom prst="rect">
            <a:avLst/>
          </a:prstGeom>
          <a:solidFill>
            <a:srgbClr val="DBE6A7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 rot="21540000">
            <a:off x="1096454" y="1905406"/>
            <a:ext cx="8001000" cy="952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6400" b="1" i="0">
                <a:solidFill>
                  <a:srgbClr val="22371F"/>
                </a:solidFill>
                <a:latin typeface="Montserrat"/>
              </a:rPr>
              <a:t>Sources.</a:t>
            </a:r>
          </a:p>
        </p:txBody>
      </p:sp>
      <p:sp>
        <p:nvSpPr>
          <p:cNvPr id="7" name="TextBox 6"/>
          <p:cNvSpPr txBox="1"/>
          <p:nvPr/>
        </p:nvSpPr>
        <p:spPr>
          <a:xfrm rot="21540000">
            <a:off x="1117898" y="3143469"/>
            <a:ext cx="8001000" cy="93342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200" b="0" i="0">
                <a:solidFill>
                  <a:srgbClr val="333130"/>
                </a:solidFill>
                <a:latin typeface="Source Sans 3"/>
              </a:rPr>
              <a:t>Hardgrove and Livesley, Urban Forestry and Urban Greening, 2016: https://doi.org/10.1016/j.ufug.2016.02.015</a:t>
            </a:r>
          </a:p>
        </p:txBody>
      </p:sp>
      <p:sp>
        <p:nvSpPr>
          <p:cNvPr id="8" name="TextBox 7"/>
          <p:cNvSpPr txBox="1"/>
          <p:nvPr/>
        </p:nvSpPr>
        <p:spPr>
          <a:xfrm rot="21540000">
            <a:off x="1142500" y="4552933"/>
            <a:ext cx="8001000" cy="93342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200" b="0" i="0">
                <a:solidFill>
                  <a:srgbClr val="333130"/>
                </a:solidFill>
                <a:latin typeface="Source Sans 3"/>
              </a:rPr>
              <a:t>Summers et al., Journal of Bacteriology, 2012: https://doi.org/10.1128/JB.06637-11</a:t>
            </a:r>
          </a:p>
        </p:txBody>
      </p:sp>
      <p:sp>
        <p:nvSpPr>
          <p:cNvPr id="9" name="TextBox 8"/>
          <p:cNvSpPr txBox="1"/>
          <p:nvPr/>
        </p:nvSpPr>
        <p:spPr>
          <a:xfrm rot="21540000">
            <a:off x="1167103" y="5962397"/>
            <a:ext cx="8001000" cy="93342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200" b="0" i="0">
                <a:solidFill>
                  <a:srgbClr val="333130"/>
                </a:solidFill>
                <a:latin typeface="Source Sans 3"/>
              </a:rPr>
              <a:t>US EPA, 40 CFR Part 503: https://www.ecfr.gov/current/title-40/chapter-I/subchapter-O/part-503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2000" y="9191625"/>
            <a:ext cx="8763000" cy="666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3600" b="1" i="0">
                <a:solidFill>
                  <a:srgbClr val="22371F"/>
                </a:solidFill>
                <a:latin typeface="Montserrat"/>
              </a:rPr>
              <a:t>Save this for your next coffee run. ☕</a:t>
            </a:r>
          </a:p>
        </p:txBody>
      </p:sp>
      <p:grpSp>
        <p:nvGrpSpPr>
          <p:cNvPr id="11" name="Group 10"/>
          <p:cNvGrpSpPr/>
          <p:nvPr/>
        </p:nvGrpSpPr>
        <p:grpSpPr>
          <a:xfrm rot="20880000">
            <a:off x="0" y="0"/>
            <a:ext cx="4171950" cy="11811000"/>
            <a:chOff x="0" y="0"/>
            <a:chExt cx="4171950" cy="11811000"/>
          </a:xfrm>
        </p:grpSpPr>
        <p:sp>
          <p:nvSpPr>
            <p:cNvPr id="12" name="Oval 11"/>
            <p:cNvSpPr/>
            <p:nvPr/>
          </p:nvSpPr>
          <p:spPr>
            <a:xfrm rot="19500000">
              <a:off x="3486150" y="10134600"/>
              <a:ext cx="685800" cy="342900"/>
            </a:xfrm>
            <a:prstGeom prst="ellipse">
              <a:avLst/>
            </a:prstGeom>
            <a:solidFill>
              <a:srgbClr val="59A66C"/>
            </a:solidFill>
            <a:ln w="571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" name="Oval 12"/>
            <p:cNvSpPr/>
            <p:nvPr/>
          </p:nvSpPr>
          <p:spPr>
            <a:xfrm>
              <a:off x="2381250" y="10287000"/>
              <a:ext cx="1524000" cy="1524000"/>
            </a:xfrm>
            <a:prstGeom prst="ellipse">
              <a:avLst/>
            </a:prstGeom>
            <a:solidFill>
              <a:srgbClr val="E9B824"/>
            </a:solidFill>
            <a:ln w="57150">
              <a:solidFill>
                <a:srgbClr val="FFFFFF"/>
              </a:solidFill>
            </a:ln>
            <a:effectLst>
              <a:outerShdw blurRad="228600" dist="76200" dir="5400000" algn="t" rotWithShape="0">
                <a:srgbClr val="000000">
                  <a:alpha val="30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" name="Oval 13"/>
            <p:cNvSpPr/>
            <p:nvPr/>
          </p:nvSpPr>
          <p:spPr>
            <a:xfrm>
              <a:off x="2533650" y="10439400"/>
              <a:ext cx="1219200" cy="1219200"/>
            </a:xfrm>
            <a:prstGeom prst="ellipse">
              <a:avLst/>
            </a:prstGeom>
            <a:solidFill>
              <a:srgbClr val="FFE48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" name="Rectangle 14"/>
            <p:cNvSpPr/>
            <p:nvPr/>
          </p:nvSpPr>
          <p:spPr>
            <a:xfrm>
              <a:off x="2533650" y="11020425"/>
              <a:ext cx="1219200" cy="5715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" name="Rectangle 15"/>
            <p:cNvSpPr/>
            <p:nvPr/>
          </p:nvSpPr>
          <p:spPr>
            <a:xfrm rot="2700000">
              <a:off x="2533650" y="11020425"/>
              <a:ext cx="1219200" cy="5715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" name="Rectangle 16"/>
            <p:cNvSpPr/>
            <p:nvPr/>
          </p:nvSpPr>
          <p:spPr>
            <a:xfrm rot="5400000">
              <a:off x="2533650" y="11020425"/>
              <a:ext cx="1219200" cy="5715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" name="Rectangle 17"/>
            <p:cNvSpPr/>
            <p:nvPr/>
          </p:nvSpPr>
          <p:spPr>
            <a:xfrm rot="8100000">
              <a:off x="2533650" y="11020425"/>
              <a:ext cx="1219200" cy="5715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9" name="Oval 18"/>
            <p:cNvSpPr/>
            <p:nvPr/>
          </p:nvSpPr>
          <p:spPr>
            <a:xfrm>
              <a:off x="3051810" y="10957560"/>
              <a:ext cx="182880" cy="18288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20" name="Group 19"/>
          <p:cNvGrpSpPr/>
          <p:nvPr/>
        </p:nvGrpSpPr>
        <p:grpSpPr>
          <a:xfrm rot="240000">
            <a:off x="0" y="0"/>
            <a:ext cx="6336030" cy="12018645"/>
            <a:chOff x="0" y="0"/>
            <a:chExt cx="6336030" cy="12018645"/>
          </a:xfrm>
        </p:grpSpPr>
        <p:sp>
          <p:nvSpPr>
            <p:cNvPr id="21" name="Oval 20"/>
            <p:cNvSpPr/>
            <p:nvPr/>
          </p:nvSpPr>
          <p:spPr>
            <a:xfrm>
              <a:off x="4538662" y="11597640"/>
              <a:ext cx="1781175" cy="421005"/>
            </a:xfrm>
            <a:prstGeom prst="ellipse">
              <a:avLst/>
            </a:prstGeom>
            <a:solidFill>
              <a:srgbClr val="FFFDF7"/>
            </a:solidFill>
            <a:ln w="57150">
              <a:solidFill>
                <a:srgbClr val="FFFFFF"/>
              </a:solidFill>
            </a:ln>
            <a:effectLst>
              <a:outerShdw blurRad="228600" dist="76200" dir="5400000" algn="t" rotWithShape="0">
                <a:srgbClr val="000000">
                  <a:alpha val="30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2" name="Donut 21"/>
            <p:cNvSpPr/>
            <p:nvPr/>
          </p:nvSpPr>
          <p:spPr>
            <a:xfrm>
              <a:off x="5850255" y="10949940"/>
              <a:ext cx="485775" cy="485775"/>
            </a:xfrm>
            <a:prstGeom prst="donut">
              <a:avLst/>
            </a:prstGeom>
            <a:solidFill>
              <a:srgbClr val="FFFDF7"/>
            </a:solidFill>
            <a:ln w="571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3" name="Rounded Rectangle 22"/>
            <p:cNvSpPr/>
            <p:nvPr/>
          </p:nvSpPr>
          <p:spPr>
            <a:xfrm>
              <a:off x="4813935" y="10739437"/>
              <a:ext cx="1230630" cy="1003935"/>
            </a:xfrm>
            <a:prstGeom prst="roundRect">
              <a:avLst/>
            </a:prstGeom>
            <a:solidFill>
              <a:srgbClr val="FFFDF7"/>
            </a:solidFill>
            <a:ln w="571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4" name="Rectangle 23"/>
            <p:cNvSpPr/>
            <p:nvPr/>
          </p:nvSpPr>
          <p:spPr>
            <a:xfrm>
              <a:off x="4842510" y="11338560"/>
              <a:ext cx="1173480" cy="129540"/>
            </a:xfrm>
            <a:prstGeom prst="rect">
              <a:avLst/>
            </a:prstGeom>
            <a:solidFill>
              <a:srgbClr val="15682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5" name="Oval 24"/>
            <p:cNvSpPr/>
            <p:nvPr/>
          </p:nvSpPr>
          <p:spPr>
            <a:xfrm>
              <a:off x="4846320" y="10626090"/>
              <a:ext cx="1165860" cy="259080"/>
            </a:xfrm>
            <a:prstGeom prst="ellipse">
              <a:avLst/>
            </a:prstGeom>
            <a:solidFill>
              <a:srgbClr val="4F3433"/>
            </a:solidFill>
            <a:ln w="571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6" name="Oval 25"/>
            <p:cNvSpPr/>
            <p:nvPr/>
          </p:nvSpPr>
          <p:spPr>
            <a:xfrm>
              <a:off x="5253831" y="11080379"/>
              <a:ext cx="62970" cy="62970"/>
            </a:xfrm>
            <a:prstGeom prst="ellipse">
              <a:avLst/>
            </a:prstGeom>
            <a:solidFill>
              <a:srgbClr val="4F343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7" name="Oval 26"/>
            <p:cNvSpPr/>
            <p:nvPr/>
          </p:nvSpPr>
          <p:spPr>
            <a:xfrm>
              <a:off x="5541697" y="11080379"/>
              <a:ext cx="62970" cy="62970"/>
            </a:xfrm>
            <a:prstGeom prst="ellipse">
              <a:avLst/>
            </a:prstGeom>
            <a:solidFill>
              <a:srgbClr val="4F343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8" name="Block Arc 27"/>
            <p:cNvSpPr/>
            <p:nvPr/>
          </p:nvSpPr>
          <p:spPr>
            <a:xfrm rot="10800000">
              <a:off x="5330295" y="11129856"/>
              <a:ext cx="197908" cy="143933"/>
            </a:xfrm>
            <a:prstGeom prst="blockArc">
              <a:avLst>
                <a:gd name="adj1" fmla="val 10800000"/>
                <a:gd name="adj2" fmla="val 0"/>
                <a:gd name="adj3" fmla="val 18000"/>
              </a:avLst>
            </a:prstGeom>
            <a:solidFill>
              <a:srgbClr val="4F343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9" name="Wave 28"/>
            <p:cNvSpPr/>
            <p:nvPr/>
          </p:nvSpPr>
          <p:spPr>
            <a:xfrm rot="5400000">
              <a:off x="5121592" y="10140315"/>
              <a:ext cx="97155" cy="388620"/>
            </a:xfrm>
            <a:prstGeom prst="wave">
              <a:avLst/>
            </a:prstGeom>
            <a:solidFill>
              <a:srgbClr val="D8D2C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0" name="Wave 29"/>
            <p:cNvSpPr/>
            <p:nvPr/>
          </p:nvSpPr>
          <p:spPr>
            <a:xfrm rot="5400000">
              <a:off x="5380672" y="10140315"/>
              <a:ext cx="97155" cy="388620"/>
            </a:xfrm>
            <a:prstGeom prst="wave">
              <a:avLst/>
            </a:prstGeom>
            <a:solidFill>
              <a:srgbClr val="D8D2C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1" name="Wave 30"/>
            <p:cNvSpPr/>
            <p:nvPr/>
          </p:nvSpPr>
          <p:spPr>
            <a:xfrm rot="5400000">
              <a:off x="5639752" y="10140315"/>
              <a:ext cx="97155" cy="388620"/>
            </a:xfrm>
            <a:prstGeom prst="wave">
              <a:avLst/>
            </a:prstGeom>
            <a:solidFill>
              <a:srgbClr val="D8D2C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32" name="Group 31"/>
          <p:cNvGrpSpPr/>
          <p:nvPr/>
        </p:nvGrpSpPr>
        <p:grpSpPr>
          <a:xfrm rot="21000000">
            <a:off x="0" y="0"/>
            <a:ext cx="8334375" cy="11293791"/>
            <a:chOff x="0" y="0"/>
            <a:chExt cx="8334375" cy="11293791"/>
          </a:xfrm>
        </p:grpSpPr>
        <p:sp>
          <p:nvSpPr>
            <p:cNvPr id="33" name="Arc 32"/>
            <p:cNvSpPr/>
            <p:nvPr/>
          </p:nvSpPr>
          <p:spPr>
            <a:xfrm>
              <a:off x="6456045" y="10858538"/>
              <a:ext cx="275272" cy="176822"/>
            </a:xfrm>
            <a:prstGeom prst="arc">
              <a:avLst/>
            </a:prstGeom>
            <a:noFill/>
            <a:ln w="38100">
              <a:solidFill>
                <a:srgbClr val="15682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4" name="Arc 33"/>
            <p:cNvSpPr/>
            <p:nvPr/>
          </p:nvSpPr>
          <p:spPr>
            <a:xfrm rot="10800000">
              <a:off x="6196965" y="10872139"/>
              <a:ext cx="275272" cy="176822"/>
            </a:xfrm>
            <a:prstGeom prst="arc">
              <a:avLst/>
            </a:prstGeom>
            <a:noFill/>
            <a:ln w="38100">
              <a:solidFill>
                <a:srgbClr val="15682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5" name="Arc 34"/>
            <p:cNvSpPr/>
            <p:nvPr/>
          </p:nvSpPr>
          <p:spPr>
            <a:xfrm>
              <a:off x="5937885" y="10858538"/>
              <a:ext cx="275272" cy="176822"/>
            </a:xfrm>
            <a:prstGeom prst="arc">
              <a:avLst/>
            </a:prstGeom>
            <a:noFill/>
            <a:ln w="38100">
              <a:solidFill>
                <a:srgbClr val="15682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6" name="Rounded Rectangle 35"/>
            <p:cNvSpPr/>
            <p:nvPr/>
          </p:nvSpPr>
          <p:spPr>
            <a:xfrm>
              <a:off x="6715125" y="10613707"/>
              <a:ext cx="1619250" cy="680084"/>
            </a:xfrm>
            <a:prstGeom prst="roundRect">
              <a:avLst>
                <a:gd name="adj" fmla="val 50000"/>
              </a:avLst>
            </a:prstGeom>
            <a:solidFill>
              <a:srgbClr val="BFD8A6"/>
            </a:solidFill>
            <a:ln w="57150">
              <a:solidFill>
                <a:srgbClr val="FFFFFF"/>
              </a:solidFill>
            </a:ln>
            <a:effectLst>
              <a:outerShdw blurRad="228600" dist="76200" dir="5400000" algn="t" rotWithShape="0">
                <a:srgbClr val="000000">
                  <a:alpha val="30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7" name="Oval 36"/>
            <p:cNvSpPr/>
            <p:nvPr/>
          </p:nvSpPr>
          <p:spPr>
            <a:xfrm>
              <a:off x="7575535" y="10893984"/>
              <a:ext cx="51521" cy="51521"/>
            </a:xfrm>
            <a:prstGeom prst="ellipse">
              <a:avLst/>
            </a:prstGeom>
            <a:solidFill>
              <a:srgbClr val="22371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8" name="Oval 37"/>
            <p:cNvSpPr/>
            <p:nvPr/>
          </p:nvSpPr>
          <p:spPr>
            <a:xfrm>
              <a:off x="7811062" y="10893984"/>
              <a:ext cx="51521" cy="51521"/>
            </a:xfrm>
            <a:prstGeom prst="ellipse">
              <a:avLst/>
            </a:prstGeom>
            <a:solidFill>
              <a:srgbClr val="22371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9" name="Block Arc 38"/>
            <p:cNvSpPr/>
            <p:nvPr/>
          </p:nvSpPr>
          <p:spPr>
            <a:xfrm rot="10800000">
              <a:off x="7638097" y="10934466"/>
              <a:ext cx="161925" cy="117763"/>
            </a:xfrm>
            <a:prstGeom prst="blockArc">
              <a:avLst>
                <a:gd name="adj1" fmla="val 10800000"/>
                <a:gd name="adj2" fmla="val 0"/>
                <a:gd name="adj3" fmla="val 18000"/>
              </a:avLst>
            </a:prstGeom>
            <a:solidFill>
              <a:srgbClr val="22371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pic>
        <p:nvPicPr>
          <p:cNvPr id="40" name="Picture 39" descr="trim-dried-flowers-2-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0100000">
            <a:off x="333375" y="10305788"/>
            <a:ext cx="1619250" cy="2438923"/>
          </a:xfrm>
          <a:prstGeom prst="rect">
            <a:avLst/>
          </a:prstGeom>
        </p:spPr>
      </p:pic>
      <p:pic>
        <p:nvPicPr>
          <p:cNvPr id="41" name="Picture 40" descr="foundation-logo-color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67750" y="11345262"/>
            <a:ext cx="1047750" cy="941987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