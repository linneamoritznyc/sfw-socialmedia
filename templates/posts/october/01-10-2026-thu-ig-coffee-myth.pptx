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2A myth. Sources: Hardgrove and Livesley, Urban Forestry and Urban Greening, 2016, https://doi.org/10.1016/j.ufug.2016.02.015; Summers et al., Journal of Bacteriology, 2012, https://doi.org/10.1128/JB.06637-11; US EPA, 40 CFR Part 503, https://www.ecfr.gov/current/title-40/chapter-I/subchapter-O/part-503. Photo: Photo by Klim Sergeev on Unsplash (https://unsplash.com/@klimsergeev?utm_source=sfw_social&amp;utm_medium=referral).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Microscopy: assets/microscopy/sfw-amoeba-still-square.jpg. The library has no bacteria-only image; this Foundation still shows an amoeba (a bacteria feeder). Swap in a bacteria micrograph if Wes has one [IMAGE NEEDED].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Collage: coffee-cup-spilled-grounds. Not generated (Replicate throttled): type-only [COLLAGE NEEDED: coffee cup with spilled grounds].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2524969123299031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5715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715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7048500"/>
            <a:ext cx="8763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DBE6A7"/>
                </a:solidFill>
                <a:latin typeface="Montserrat"/>
              </a:rPr>
              <a:t>Myth: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001000"/>
            <a:ext cx="9144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“Coffee grounds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8650" y="8524875"/>
            <a:ext cx="8011864" cy="1524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9124950"/>
            <a:ext cx="9144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acidify your soil.”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650" y="9648825"/>
            <a:ext cx="8352383" cy="1524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2000" y="3604849"/>
            <a:ext cx="1333500" cy="9525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4176349"/>
            <a:ext cx="8763000" cy="460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600" b="1" i="0">
                <a:solidFill>
                  <a:srgbClr val="22371F"/>
                </a:solidFill>
                <a:latin typeface="Montserrat"/>
              </a:rPr>
              <a:t>Brewing extracts most of the acids. Spent grounds sit close to neutral pH.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2000" y="2392995"/>
            <a:ext cx="1333500" cy="9525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2964495"/>
            <a:ext cx="8763000" cy="7025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800" b="1" i="0">
                <a:solidFill>
                  <a:srgbClr val="22371F"/>
                </a:solidFill>
                <a:latin typeface="Montserrat"/>
              </a:rPr>
              <a:t>The real issue: residual caffeine and chlorogenic acids. Both are allelopathic. They inhibit germination and root growth.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2000" y="3604849"/>
            <a:ext cx="1333500" cy="9525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4176349"/>
            <a:ext cx="8763000" cy="460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600" b="1" i="0">
                <a:solidFill>
                  <a:srgbClr val="22371F"/>
                </a:solidFill>
                <a:latin typeface="Montserrat"/>
              </a:rPr>
              <a:t>Fresh grounds spread on beds have reduced plant growth in trials.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Picture 2" descr="738885077724234697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8763000" cy="5715000"/>
          </a:xfrm>
          <a:prstGeom prst="roundRect">
            <a:avLst>
              <a:gd name="adj" fmla="val 4666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762000" y="7048500"/>
            <a:ext cx="8763000" cy="49323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Composting breaks them down. Some soil bacteria, like Pseudomonas putida CBB5, use caffeine as their only carbon and nitrogen source.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2000" y="2683157"/>
            <a:ext cx="1333500" cy="95250"/>
          </a:xfrm>
          <a:prstGeom prst="rect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254657"/>
            <a:ext cx="8763000" cy="64446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6200" b="1" i="0">
                <a:solidFill>
                  <a:srgbClr val="22371F"/>
                </a:solidFill>
                <a:latin typeface="Montserrat"/>
              </a:rPr>
              <a:t>Grounds are a green, nitrogen-rich input. Mix with woody browns and compost them hot, at 55°C or more.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428750"/>
            <a:ext cx="8763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>
                <a:solidFill>
                  <a:srgbClr val="22371F"/>
                </a:solidFill>
                <a:latin typeface="Montserrat"/>
              </a:rPr>
              <a:t>Sources.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43250"/>
            <a:ext cx="8382000" cy="9334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Hardgrove and Livesley, Urban Forestry and Urban Greening, 2016: https://doi.org/10.1016/j.ufug.2016.02.015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476750"/>
            <a:ext cx="8382000" cy="9334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Summers et al., Journal of Bacteriology, 2012: https://doi.org/10.1128/JB.06637-11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810250"/>
            <a:ext cx="8382000" cy="9334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333130"/>
                </a:solidFill>
                <a:latin typeface="Source Sans 3"/>
              </a:rPr>
              <a:t>US EPA, 40 CFR Part 503: https://www.ecfr.gov/current/title-40/chapter-I/subchapter-O/part-503</a:t>
            </a:r>
          </a:p>
        </p:txBody>
      </p:sp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7750" y="1134526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