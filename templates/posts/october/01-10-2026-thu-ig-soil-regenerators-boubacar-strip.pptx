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boubacar-portrait-bananas-closer.jpg. Seam photo to next slide: young-tree-with-pineapples.jpg.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farm-overview-with-tanks.jpeg. Seam photo to next slide: man-by-water-tanks.jpeg.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vegetable-beds-by-building.jpeg. Seam photo to next slide: still-biochar-kiln-smoke-73s.png.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boubacar-compost-pile.jpeg. Seam photo to next slide: still-biochar-charcoal-16s.png.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carrying-mulch.jpg. Seam photo to next slide: banana-bunch.jpg.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planting-seedling-in-agroforest.jpeg. Seam photo to next slide: barrel-brew-under-shelter.jpeg.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buckets-of-tubers.jpg. Seam photo to next slide: boubacar-hand-compost-worm.jpg.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millipede-leaf-litter.jpg. Seam photo to next slide: caterpillar-on-leaf.jpg.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yellow-caterpillar-on-stem.jpg. Seam photo to next slide: two-men-at-shade-house.jpeg.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group-of-five-farmers.jpeg. Seam photo to next slide: young-tree-yellow-new-leaves.jpg.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young-coffee-plant.jpg.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Relationship Id="rId6" Type="http://schemas.openxmlformats.org/officeDocument/2006/relationships/image" Target="../media/image1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image" Target="../media/image2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Relationship Id="rId6" Type="http://schemas.openxmlformats.org/officeDocument/2006/relationships/image" Target="../media/image2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Relationship Id="rId5" Type="http://schemas.openxmlformats.org/officeDocument/2006/relationships/image" Target="../media/image31.jpg"/><Relationship Id="rId6" Type="http://schemas.openxmlformats.org/officeDocument/2006/relationships/image" Target="../media/image3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3.jpg"/><Relationship Id="rId4" Type="http://schemas.openxmlformats.org/officeDocument/2006/relationships/image" Target="../media/image34.jpg"/><Relationship Id="rId5" Type="http://schemas.openxmlformats.org/officeDocument/2006/relationships/image" Target="../media/image35.jpg"/><Relationship Id="rId6" Type="http://schemas.openxmlformats.org/officeDocument/2006/relationships/image" Target="../media/image3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7.jpg"/><Relationship Id="rId4" Type="http://schemas.openxmlformats.org/officeDocument/2006/relationships/image" Target="../media/image38.jpg"/><Relationship Id="rId5" Type="http://schemas.openxmlformats.org/officeDocument/2006/relationships/image" Target="../media/image39.jpg"/><Relationship Id="rId6" Type="http://schemas.openxmlformats.org/officeDocument/2006/relationships/image" Target="../media/image4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1.jpg"/><Relationship Id="rId4" Type="http://schemas.openxmlformats.org/officeDocument/2006/relationships/image" Target="../media/image42.jpg"/><Relationship Id="rId5" Type="http://schemas.openxmlformats.org/officeDocument/2006/relationships/image" Target="../media/image43.jp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young-tree-with-pineapples-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68449638838655176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8510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111111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9471146"/>
            <a:ext cx="87630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11111"/>
                </a:solidFill>
                <a:latin typeface="Source Sans 3"/>
              </a:rPr>
              <a:t>Guinea-Conakry</a:t>
            </a:r>
          </a:p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11111"/>
                </a:solidFill>
                <a:latin typeface="Source Sans 3"/>
              </a:rPr>
              <a:t>Graduated from the Soil Food Web School in July 2026</a:t>
            </a:r>
          </a:p>
        </p:txBody>
      </p:sp>
      <p:pic>
        <p:nvPicPr>
          <p:cNvPr id="9" name="Picture 8" descr="foundation-logo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7875" y="952500"/>
            <a:ext cx="1905000" cy="171270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57875" y="3048000"/>
            <a:ext cx="2809875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3F1EA"/>
                </a:solidFill>
                <a:latin typeface="Montserrat"/>
              </a:rPr>
              <a:t>Happy</a:t>
            </a:r>
          </a:p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3F1EA"/>
                </a:solidFill>
                <a:latin typeface="Montserrat"/>
              </a:rPr>
              <a:t>International</a:t>
            </a:r>
          </a:p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3F1EA"/>
                </a:solidFill>
                <a:latin typeface="Montserrat"/>
              </a:rPr>
              <a:t>Coffee 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young-tree-with-pineapples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mp-man-by-water-tanks-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894849784318413954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1256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1111"/>
                </a:solidFill>
                <a:latin typeface="Montserrat"/>
              </a:rPr>
              <a:t>When he started, the land was worn 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9876787"/>
            <a:ext cx="8763000" cy="1735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11111"/>
                </a:solidFill>
                <a:latin typeface="Source Sans 3"/>
              </a:rPr>
              <a:t>The soil at Gnaly Coffee &amp; AgroÉcole Bio, in the Fouta Djallon highlands of Guinea-Conakry, had been degraded and poorly managed for years.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man-by-water-tanks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mp-still-biochar-kiln-smoke-73s-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5812309930565404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15686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111111"/>
                </a:solidFill>
                <a:latin typeface="Montserrat"/>
              </a:rPr>
              <a:t>So he changed the question: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0188818"/>
            <a:ext cx="8763000" cy="15305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still-biochar-kiln-smoke-73s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mp-still-biochar-charcoal-16s-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920484857031124226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7262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11111"/>
                </a:solidFill>
                <a:latin typeface="Montserrat"/>
              </a:rPr>
              <a:t>How he feeds his soil: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9346334"/>
            <a:ext cx="8763000" cy="1838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11111"/>
                </a:solidFill>
                <a:latin typeface="Source Sans 3"/>
              </a:rPr>
              <a:t>living groundcover, mulch from his farm and the forest, and compost with biochar activated with fish hydrolysate and compost tea.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still-biochar-charcoal-16s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mp-banana-bunch-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80789302752844818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2453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0" i="1">
                <a:solidFill>
                  <a:srgbClr val="111111"/>
                </a:solidFill>
                <a:latin typeface="EB Garamond"/>
              </a:rPr>
              <a:t>“I apply compost regularly around young trees and whenever I add new mulch.”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banana-bunch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mp-barrel-brew-under-shelter-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59149540681176055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882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>
                <a:solidFill>
                  <a:srgbClr val="111111"/>
                </a:solidFill>
                <a:latin typeface="Montserrat"/>
              </a:rPr>
              <a:t>What he grows together: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9502349"/>
            <a:ext cx="8763000" cy="16672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0" i="0">
                <a:solidFill>
                  <a:srgbClr val="111111"/>
                </a:solidFill>
                <a:latin typeface="Source Sans 3"/>
              </a:rPr>
              <a:t>coffee, cacao, bananas, citrus, and pineapple.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barrel-brew-under-shelter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mp-boubacar-hand-compost-worm-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2789851356001341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2965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“My compost includes plant residues, animal manure when available, biochar activated with fish hydrolysate and compost tea, and local organic materials.”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boubacar-hand-compost-worm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mp-caterpillar-on-leaf-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652319095115435361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8510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111111"/>
                </a:solidFill>
                <a:latin typeface="Montserrat"/>
              </a:rPr>
              <a:t>What he's seeing: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9471146"/>
            <a:ext cx="87630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11111"/>
                </a:solidFill>
                <a:latin typeface="Source Sans 3"/>
              </a:rPr>
              <a:t>more earthworms, more mushrooms, active decomposition, and better soil structure.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caterpillar-on-leaf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mp-two-men-at-shade-house-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6937519779530867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“I can already see signs of healthier soil in the field, including more earthworms, mushrooms, and active decomposition.”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two-men-at-shade-house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mp-young-tree-yellow-new-leaves-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382893484916786182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“Your training changed the way I see agriculture. I now believe that agriculture is biology, not chemical fertilizer.”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young-tree-yellow-new-leaves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38988002956164862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2453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0" i="1">
                <a:solidFill>
                  <a:srgbClr val="111111"/>
                </a:solidFill>
                <a:latin typeface="EB Garamond"/>
              </a:rPr>
              <a:t>“My dream is to restore degraded land in the Fouta Djallon and help my community learn living-soil practices.”</a:t>
            </a:r>
          </a:p>
        </p:txBody>
      </p:sp>
      <p:pic>
        <p:nvPicPr>
          <p:cNvPr id="8" name="Picture 7" descr="foundation-logo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6250" y="1143000"/>
            <a:ext cx="1619250" cy="14557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Subscribe on YouTube: @boubacartidianediallo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