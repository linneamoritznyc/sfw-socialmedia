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boubacar-portrait-bananas-closer.jpg. Seam photo to next slide: young-tree-with-pineapples.jpg.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farm-overview-with-tanks.jpeg. Seam photo to next slide: man-by-water-tanks.jpeg.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vegetable-beds-by-building.jpeg. Seam photo to next slide: still-biochar-kiln-smoke-73s.png.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boubacar-compost-pile.jpeg. Seam photo to next slide: still-biochar-charcoal-16s.png.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carrying-mulch.jpg. Seam photo to next slide: banana-bunch.jpg.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planting-seedling-in-agroforest.jpeg. Seam photo to next slide: barrel-brew-under-shelter.jpeg.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buckets-of-tubers.jpg. Seam photo to next slide: boubacar-hand-compost-worm.jpg.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millipede-leaf-litter.jpg. Seam photo to next slide: caterpillar-on-leaf.jpg.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group-of-five-farmers.jpeg. Seam photo to next slide: young-tree-yellow-new-leaves.jpg.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Photo-strip seamless carousel (after the Will Khoury reference). Backdrop assets/collage/boubacar-strip/ (his photos, flat Deep Green tint). Main photo: young-coffee-plant.jpg. His words from his email to Allison, 30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15375" y="3067050"/>
            <a:ext cx="1647825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young-tree-with-pineapples-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75" y="3143250"/>
            <a:ext cx="1571625" cy="4000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905630932778722097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620125"/>
            <a:ext cx="8763000" cy="851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11111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471146"/>
            <a:ext cx="87630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11111"/>
                </a:solidFill>
                <a:latin typeface="Source Sans 3"/>
              </a:rPr>
              <a:t>Guinea-Conakry</a:t>
            </a:r>
          </a:p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11111"/>
                </a:solidFill>
                <a:latin typeface="Source Sans 3"/>
              </a:rPr>
              <a:t>Graduated from the Soil Food Web School in July 2026</a:t>
            </a:r>
          </a:p>
        </p:txBody>
      </p:sp>
      <p:pic>
        <p:nvPicPr>
          <p:cNvPr id="9" name="Picture 8" descr="foundation-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952500"/>
            <a:ext cx="1905000" cy="17127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7875" y="3048000"/>
            <a:ext cx="280987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3F1EA"/>
                </a:solidFill>
                <a:latin typeface="Montserrat"/>
              </a:rPr>
              <a:t>Happy</a:t>
            </a:r>
          </a:p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3F1EA"/>
                </a:solidFill>
                <a:latin typeface="Montserrat"/>
              </a:rPr>
              <a:t>International</a:t>
            </a:r>
          </a:p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3F1EA"/>
                </a:solidFill>
                <a:latin typeface="Montserrat"/>
              </a:rPr>
              <a:t>Coffee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6200" y="3067050"/>
            <a:ext cx="1647825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young-tree-with-pineapples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571625" cy="4000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5333187445325998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19800" y="3543300"/>
            <a:ext cx="3486150" cy="3390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902364362166836722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619500"/>
            <a:ext cx="3333750" cy="3238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8620125"/>
            <a:ext cx="8763000" cy="125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1111"/>
                </a:solidFill>
                <a:latin typeface="Montserrat"/>
              </a:rPr>
              <a:t>When he started, the land was worn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876787"/>
            <a:ext cx="8763000" cy="1735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11111"/>
                </a:solidFill>
                <a:latin typeface="Source Sans 3"/>
              </a:rPr>
              <a:t>The soil at Gnaly Coffee &amp; AgroÉcole Bio, in the Fouta Djallon highlands of Guinea-Conakry, had been degraded and poorly managed for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93393245157452254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19800" y="2781300"/>
            <a:ext cx="3486150" cy="3390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19736178354364694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857500"/>
            <a:ext cx="3333750" cy="323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620125"/>
            <a:ext cx="8763000" cy="15686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11111"/>
                </a:solidFill>
                <a:latin typeface="Montserrat"/>
              </a:rPr>
              <a:t>So he changed the question: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188818"/>
            <a:ext cx="8763000" cy="1530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111111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15375" y="3067050"/>
            <a:ext cx="1647825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still-biochar-charcoal-16s-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75" y="3143250"/>
            <a:ext cx="1571625" cy="4000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79503578196169126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620125"/>
            <a:ext cx="8763000" cy="7262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11111"/>
                </a:solidFill>
                <a:latin typeface="Montserrat"/>
              </a:rPr>
              <a:t>How he feeds his soil: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346334"/>
            <a:ext cx="8763000" cy="1838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11111"/>
                </a:solidFill>
                <a:latin typeface="Source Sans 3"/>
              </a:rPr>
              <a:t>living groundcover, mulch from his farm and the forest, and compost with biochar activated with fish hydrolysate and compost tea.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6200" y="3067050"/>
            <a:ext cx="1647825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still-biochar-charcoal-16s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571625" cy="4000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73910785227668134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19800" y="3543300"/>
            <a:ext cx="3486150" cy="3390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52176749766600047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619500"/>
            <a:ext cx="3333750" cy="3238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8620125"/>
            <a:ext cx="8763000" cy="2453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1">
                <a:solidFill>
                  <a:srgbClr val="111111"/>
                </a:solidFill>
                <a:latin typeface="EB Garamond"/>
              </a:rPr>
              <a:t>“I apply compost regularly around young trees and whenever I add new mulch.”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007066423366581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19800" y="2781300"/>
            <a:ext cx="3486150" cy="3390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58257381389546123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857500"/>
            <a:ext cx="3333750" cy="323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620125"/>
            <a:ext cx="8763000" cy="88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111111"/>
                </a:solidFill>
                <a:latin typeface="Montserrat"/>
              </a:rPr>
              <a:t>What he grows together: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502349"/>
            <a:ext cx="8763000" cy="1667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0">
                <a:solidFill>
                  <a:srgbClr val="111111"/>
                </a:solidFill>
                <a:latin typeface="Source Sans 3"/>
              </a:rPr>
              <a:t>coffee, cacao, bananas, citrus, and pineapple.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15375" y="3067050"/>
            <a:ext cx="1647825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boubacar-hand-compost-worm-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75" y="3143250"/>
            <a:ext cx="1571625" cy="4000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03212550065440599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620125"/>
            <a:ext cx="8763000" cy="2965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111111"/>
                </a:solidFill>
                <a:latin typeface="EB Garamond"/>
              </a:rPr>
              <a:t>“My compost includes plant residues, animal manure when available, biochar activated with fish hydrolysate and compost tea, and local organic materials.”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6200" y="3067050"/>
            <a:ext cx="1647825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boubacar-hand-compost-worm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571625" cy="4000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5572258461287208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19800" y="3543300"/>
            <a:ext cx="3486150" cy="3390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640694025385006695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619500"/>
            <a:ext cx="3333750" cy="3238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8620125"/>
            <a:ext cx="8763000" cy="8510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11111"/>
                </a:solidFill>
                <a:latin typeface="Montserrat"/>
              </a:rPr>
              <a:t>What he's seeing: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471146"/>
            <a:ext cx="87630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11111"/>
                </a:solidFill>
                <a:latin typeface="Source Sans 3"/>
              </a:rPr>
              <a:t>more earthworms, more mushrooms, active decomposition, and better soil 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715375" y="3067050"/>
            <a:ext cx="1647825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young-tree-yellow-new-leaves-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75" y="3143250"/>
            <a:ext cx="1571625" cy="4000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194529124635508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620125"/>
            <a:ext cx="87630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111111"/>
                </a:solidFill>
                <a:latin typeface="EB Garamond"/>
              </a:rPr>
              <a:t>“Your training changed the way I see agriculture. I now believe that agriculture is biology, not chemical fertilizer.”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6200" y="3067050"/>
            <a:ext cx="1647825" cy="4152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-young-tree-yellow-new-leaves-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3250"/>
            <a:ext cx="1571625" cy="4000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1050" y="781050"/>
            <a:ext cx="4629150" cy="6248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05721991247101107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857250"/>
            <a:ext cx="4476750" cy="609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620125"/>
            <a:ext cx="8763000" cy="2453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1">
                <a:solidFill>
                  <a:srgbClr val="111111"/>
                </a:solidFill>
                <a:latin typeface="EB Garamond"/>
              </a:rPr>
              <a:t>“My dream is to restore degraded land in the Fouta Djallon and help my community learn living-soil practices.”</a:t>
            </a:r>
          </a:p>
        </p:txBody>
      </p:sp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1143000"/>
            <a:ext cx="1619250" cy="14557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2096750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4C3634"/>
                </a:solidFill>
                <a:latin typeface="Montserrat"/>
              </a:rPr>
              <a:t>Subscribe on YouTube: @boubacartidianediallo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