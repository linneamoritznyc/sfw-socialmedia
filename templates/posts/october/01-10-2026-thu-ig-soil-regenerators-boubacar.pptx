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1, scrapbook.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Photo: assets/photo/boubacar/boubacar-portrait-bananas.jpg. Guinea flag sticker: vertical red, yellow and green bands, drawn as shapes.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wall: assets/photo/boubacar/farm-overview-with-tanks.jpeg, man-by-water-tanks.jpeg, young-tree-with-pineapples.jpg (WhatsApp, 17 Aug 2026, and Allison, Sep 2026). Caption: farm name and region from his email signature (30 Sep 2026).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slide. Photo: assets/photo/boubacar/vegetable-beds-by-building.jpeg (Boubacar in his vegetable beds, WhatsApp, 17 Aug 2026), cropped to remove a blurred fingertip at the bottom.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slide. Main: assets/photo/boubacar/boubacar-compost-pile.jpeg (WhatsApp, 17 Aug 2026). Inset: assets/photo/boubacar/still-biochar-kiln-smoke-73s.png, from assets/video/boubacar/making-biochar-in-barrel-kiln.mp4 (WhatsApp Video 2026-08-17 at 13.46.34) at 1:13.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wall: assets/photo/boubacar/carrying-mulch.jpg (cropped from a phone screenshot), still-biochar-charcoal-16s.png (making-biochar-in-barrel-kiln.mp4 at 0:16), barrel-brew-under-shelter.jpeg. New slide: the caption is Boubacar's own words, quoted from his email to Allison, 30 September 2026. Include it in the text he approves.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slide. Main: assets/photo/boubacar/planting-seedling-in-agroforest.jpeg (planting a coffee seedling, WhatsApp, 17 Aug 2026). Inset: assets/photo/boubacar/banana-bunch.jpg. Stickers: coffee, cacao, cocoa beans, orange, pineapple.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wall: assets/photo/boubacar/buckets-of-tubers.jpg, young-tree-yellow-new-leaves.jpg, man-with-harvested-tubers.jpeg (confirm who is in it [VERIFY]). New slide: the caption is Boubacar's own words, quoted from his email to Allison, 30 September 2026. Include it in the text he approves.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slide. Main: assets/photo/boubacar/millipede-leaf-litter.jpg (active decomposition). Inset: assets/photo/boubacar/boubacar-hand-compost-worm.jpg (earthworm).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wall: assets/photo/boubacar/caterpillar-on-leaf.jpg, yellow-caterpillar-on-stem.jpg, still-young-plants-buckets-29s.png (watering-young-plants-in-buckets.mp4 at 0:29). New slide: the caption is Boubacar's own words, quoted from his email to Allison, 30 September 2026. Include it in the text he approves.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wall: assets/photo/boubacar/group-of-five-farmers.jpeg, two-men-at-shade-house.jpeg, shade-house.jpg (cropped from a phone screenshot). Confirm where and when these were taken and who is in them [VERIFY]. New slide: the caption is Boubacar's own words, quoted from his email to Allison, 30 September 2026. Include it in the text he approves.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slide. Photo: assets/photo/boubacar/young-coffee-plant.jpg. Cut-paper pieces are objects only (flux-2-pro); nothing generated shows Boubacar or his farm.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4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10.png"/><Relationship Id="rId10" Type="http://schemas.openxmlformats.org/officeDocument/2006/relationships/image" Target="../media/image26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12.png"/><Relationship Id="rId8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8.jp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33550" y="1257300"/>
            <a:ext cx="6819900" cy="8153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4872682198554413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6477000" cy="781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1428750" y="1123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334250" y="1123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571500"/>
            <a:ext cx="6667500" cy="685800"/>
          </a:xfrm>
          <a:prstGeom prst="roundRect">
            <a:avLst>
              <a:gd name="adj" fmla="val 50000"/>
            </a:avLst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6667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DBE6A7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9810750"/>
            <a:ext cx="9144000" cy="2381250"/>
          </a:xfrm>
          <a:prstGeom prst="rect">
            <a:avLst/>
          </a:prstGeom>
          <a:solidFill>
            <a:srgbClr val="223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9920000">
            <a:off x="238125" y="9572625"/>
            <a:ext cx="1619250" cy="4762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680000">
            <a:off x="8429625" y="9572625"/>
            <a:ext cx="1619250" cy="4762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10191750"/>
            <a:ext cx="733425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4F1EA"/>
                </a:solidFill>
                <a:latin typeface="Montserrat"/>
              </a:rPr>
              <a:t>Boubacar Tidiane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4F1EA"/>
                </a:solidFill>
                <a:latin typeface="Montserrat"/>
              </a:rPr>
              <a:t>Diallo, Guinea-Conakry</a:t>
            </a:r>
          </a:p>
        </p:txBody>
      </p:sp>
      <p:pic>
        <p:nvPicPr>
          <p:cNvPr id="13" name="Picture 12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1144250"/>
            <a:ext cx="857250" cy="77071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 rot="480000">
            <a:off x="0" y="0"/>
            <a:ext cx="9763125" cy="2508250"/>
            <a:chOff x="0" y="0"/>
            <a:chExt cx="9763125" cy="2508250"/>
          </a:xfrm>
        </p:grpSpPr>
        <p:sp>
          <p:nvSpPr>
            <p:cNvPr id="15" name="Rectangle 14"/>
            <p:cNvSpPr/>
            <p:nvPr/>
          </p:nvSpPr>
          <p:spPr>
            <a:xfrm>
              <a:off x="7953375" y="1301750"/>
              <a:ext cx="1809750" cy="12065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953375" y="1301750"/>
              <a:ext cx="612775" cy="12065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556625" y="1301750"/>
              <a:ext cx="612775" cy="1206500"/>
            </a:xfrm>
            <a:prstGeom prst="rect">
              <a:avLst/>
            </a:prstGeom>
            <a:solidFill>
              <a:srgbClr val="FCD1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59875" y="1301750"/>
              <a:ext cx="603250" cy="1206500"/>
            </a:xfrm>
            <a:prstGeom prst="rect">
              <a:avLst/>
            </a:prstGeom>
            <a:solidFill>
              <a:srgbClr val="0094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9" name="Picture 18" descr="trim-coffee-cherries-branch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7477125" y="6972262"/>
            <a:ext cx="2762250" cy="2819474"/>
          </a:xfrm>
          <a:prstGeom prst="rect">
            <a:avLst/>
          </a:prstGeom>
        </p:spPr>
      </p:pic>
      <p:pic>
        <p:nvPicPr>
          <p:cNvPr id="20" name="Picture 19" descr="trim-coffee-cup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240000">
            <a:off x="142875" y="7589217"/>
            <a:ext cx="2000250" cy="1585564"/>
          </a:xfrm>
          <a:prstGeom prst="rect">
            <a:avLst/>
          </a:prstGeom>
        </p:spPr>
      </p:pic>
      <p:pic>
        <p:nvPicPr>
          <p:cNvPr id="21" name="Picture 20" descr="trim-leaf-sprig-paper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400000">
            <a:off x="333375" y="1028700"/>
            <a:ext cx="180975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876300"/>
            <a:ext cx="4533900" cy="5676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3709358744988952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047750"/>
            <a:ext cx="4191000" cy="533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381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4000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53050" y="876300"/>
            <a:ext cx="4248150" cy="34861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9443127233821927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0" y="1047750"/>
            <a:ext cx="3905250" cy="3143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504825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382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53050" y="4591050"/>
            <a:ext cx="4248150" cy="4343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664625028027901916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4762500"/>
            <a:ext cx="3905250" cy="4000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800000">
            <a:off x="504825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838200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" name="Group 14"/>
          <p:cNvGrpSpPr/>
          <p:nvPr/>
        </p:nvGrpSpPr>
        <p:grpSpPr>
          <a:xfrm rot="21240000">
            <a:off x="0" y="0"/>
            <a:ext cx="3190875" cy="8159750"/>
            <a:chOff x="0" y="0"/>
            <a:chExt cx="3190875" cy="8159750"/>
          </a:xfrm>
        </p:grpSpPr>
        <p:sp>
          <p:nvSpPr>
            <p:cNvPr id="16" name="Rectangle 15"/>
            <p:cNvSpPr/>
            <p:nvPr/>
          </p:nvSpPr>
          <p:spPr>
            <a:xfrm>
              <a:off x="1571625" y="7080250"/>
              <a:ext cx="1619250" cy="10795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571625" y="7080250"/>
              <a:ext cx="549275" cy="10795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111375" y="7080250"/>
              <a:ext cx="549275" cy="1079500"/>
            </a:xfrm>
            <a:prstGeom prst="rect">
              <a:avLst/>
            </a:prstGeom>
            <a:solidFill>
              <a:srgbClr val="FCD1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51125" y="7080250"/>
              <a:ext cx="539750" cy="1079500"/>
            </a:xfrm>
            <a:prstGeom prst="rect">
              <a:avLst/>
            </a:prstGeom>
            <a:solidFill>
              <a:srgbClr val="0094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trim-pineappl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0000">
            <a:off x="3524250" y="6663780"/>
            <a:ext cx="1333500" cy="248393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71500" y="10786897"/>
            <a:ext cx="9144000" cy="1595602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11072647"/>
            <a:ext cx="8382000" cy="1024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2371F"/>
                </a:solidFill>
                <a:latin typeface="Montserrat"/>
              </a:rPr>
              <a:t>Gnaly Coffee &amp; AgroÉcole Bio, Fouta Djallon, Guinea-Conakry</a:t>
            </a:r>
          </a:p>
        </p:txBody>
      </p:sp>
      <p:pic>
        <p:nvPicPr>
          <p:cNvPr id="23" name="Picture 22" descr="trim-coffee-beans-paper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0">
            <a:off x="8382000" y="9087287"/>
            <a:ext cx="1524000" cy="1446924"/>
          </a:xfrm>
          <a:prstGeom prst="rect">
            <a:avLst/>
          </a:prstGeom>
        </p:spPr>
      </p:pic>
      <p:pic>
        <p:nvPicPr>
          <p:cNvPr id="24" name="Picture 23" descr="trim-banana-bunch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120000">
            <a:off x="3667125" y="9053313"/>
            <a:ext cx="1619250" cy="15148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81000"/>
            <a:ext cx="3810000" cy="2724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1" i="0">
                <a:solidFill>
                  <a:srgbClr val="C9A227"/>
                </a:solidFill>
                <a:latin typeface="Montserrat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381250"/>
            <a:ext cx="8572500" cy="321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200" b="0" i="1">
                <a:solidFill>
                  <a:srgbClr val="22371F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9800" y="5994576"/>
            <a:ext cx="5867400" cy="6178373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9417936920971747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6166026"/>
            <a:ext cx="5524500" cy="58354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800000">
            <a:off x="1905000" y="5861226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6858000" y="5861226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im-happy-seedling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333375" y="10327964"/>
            <a:ext cx="1619250" cy="1823071"/>
          </a:xfrm>
          <a:prstGeom prst="rect">
            <a:avLst/>
          </a:prstGeom>
        </p:spPr>
      </p:pic>
      <p:pic>
        <p:nvPicPr>
          <p:cNvPr id="10" name="Picture 9" descr="trim-mushroom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8477250" y="10517741"/>
            <a:ext cx="1524000" cy="1634016"/>
          </a:xfrm>
          <a:prstGeom prst="rect">
            <a:avLst/>
          </a:prstGeom>
        </p:spPr>
      </p:pic>
      <p:pic>
        <p:nvPicPr>
          <p:cNvPr id="11" name="Picture 10" descr="trim-coffee-cherries-branch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0">
            <a:off x="8191500" y="5860543"/>
            <a:ext cx="1905000" cy="19444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876300"/>
            <a:ext cx="5676900" cy="6819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130727620102692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047750"/>
            <a:ext cx="5334000" cy="6477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571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5334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86550" y="2971800"/>
            <a:ext cx="2819400" cy="4152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0830633432544552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143250"/>
            <a:ext cx="2476500" cy="381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6381750" y="2838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286750" y="2838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im-tithonia-flow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00000">
            <a:off x="7239000" y="-14161"/>
            <a:ext cx="1905000" cy="36478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71500" y="8191500"/>
            <a:ext cx="9144000" cy="40957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8477250"/>
            <a:ext cx="8382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156826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9239250"/>
            <a:ext cx="8382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876300"/>
            <a:ext cx="4152900" cy="7010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2794613934228827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047750"/>
            <a:ext cx="3810000" cy="666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381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3619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62550" y="876300"/>
            <a:ext cx="4343400" cy="34861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5288452964733629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1047750"/>
            <a:ext cx="4000500" cy="3143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485775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28675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2550" y="4591050"/>
            <a:ext cx="4343400" cy="44386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37434879472404959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762500"/>
            <a:ext cx="4000500" cy="40957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800000">
            <a:off x="485775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828675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m-tithonia-flow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120000">
            <a:off x="3619500" y="6740479"/>
            <a:ext cx="1714500" cy="328304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71500" y="10513803"/>
            <a:ext cx="9144000" cy="1868696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10799553"/>
            <a:ext cx="8382000" cy="12971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pic>
        <p:nvPicPr>
          <p:cNvPr id="18" name="Picture 17" descr="trim-leaf-sprig-paper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0">
            <a:off x="8810625" y="8001000"/>
            <a:ext cx="142875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876300"/>
            <a:ext cx="5486400" cy="7010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8917249946266091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047750"/>
            <a:ext cx="5143500" cy="666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571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5143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86550" y="3543300"/>
            <a:ext cx="2914650" cy="3771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8018937870753052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714750"/>
            <a:ext cx="257175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6381750" y="3409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382000" y="3409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im-coffee-cherries-branch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6953250" y="641097"/>
            <a:ext cx="2476500" cy="2527804"/>
          </a:xfrm>
          <a:prstGeom prst="rect">
            <a:avLst/>
          </a:prstGeom>
        </p:spPr>
      </p:pic>
      <p:pic>
        <p:nvPicPr>
          <p:cNvPr id="12" name="Picture 11" descr="trim-cacao-pod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285750" y="6314722"/>
            <a:ext cx="1238250" cy="261055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1500" y="8572500"/>
            <a:ext cx="9144000" cy="2857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8858250"/>
            <a:ext cx="8382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156826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9620250"/>
            <a:ext cx="8382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coffee, cacao, bananas, citrus, and pineapple.</a:t>
            </a:r>
          </a:p>
        </p:txBody>
      </p:sp>
      <p:pic>
        <p:nvPicPr>
          <p:cNvPr id="16" name="Picture 15" descr="trim-citrus-orange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120000">
            <a:off x="8715375" y="7113024"/>
            <a:ext cx="1333500" cy="1204451"/>
          </a:xfrm>
          <a:prstGeom prst="rect">
            <a:avLst/>
          </a:prstGeom>
        </p:spPr>
      </p:pic>
      <p:pic>
        <p:nvPicPr>
          <p:cNvPr id="17" name="Picture 16" descr="trim-pineapple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00000">
            <a:off x="8667750" y="10385068"/>
            <a:ext cx="1428750" cy="2661363"/>
          </a:xfrm>
          <a:prstGeom prst="rect">
            <a:avLst/>
          </a:prstGeom>
        </p:spPr>
      </p:pic>
      <p:pic>
        <p:nvPicPr>
          <p:cNvPr id="18" name="Picture 17" descr="trim-cocoa-beans-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240000">
            <a:off x="523875" y="10965606"/>
            <a:ext cx="1809750" cy="1881286"/>
          </a:xfrm>
          <a:prstGeom prst="rect">
            <a:avLst/>
          </a:prstGeom>
        </p:spPr>
      </p:pic>
      <p:pic>
        <p:nvPicPr>
          <p:cNvPr id="19" name="Picture 18" descr="trim-coffee-cup-paper-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40000">
            <a:off x="6762750" y="11425353"/>
            <a:ext cx="1333500" cy="10570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876300"/>
            <a:ext cx="5295900" cy="6057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1727707363567924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047750"/>
            <a:ext cx="4953000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381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4762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0300" y="876300"/>
            <a:ext cx="3390900" cy="4343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822026515660983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047750"/>
            <a:ext cx="3048000" cy="4000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5905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382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5448300"/>
            <a:ext cx="3390900" cy="34861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34254873485250673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5619750"/>
            <a:ext cx="3048000" cy="31432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800000">
            <a:off x="5905500" y="5314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8382000" y="5314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m-banana-bunch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00000">
            <a:off x="381000" y="6818008"/>
            <a:ext cx="1714500" cy="1603983"/>
          </a:xfrm>
          <a:prstGeom prst="rect">
            <a:avLst/>
          </a:prstGeom>
        </p:spPr>
      </p:pic>
      <p:pic>
        <p:nvPicPr>
          <p:cNvPr id="16" name="Picture 15" descr="trim-cocoa-beans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80000">
            <a:off x="3762375" y="6778371"/>
            <a:ext cx="1619250" cy="168325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" y="9216607"/>
            <a:ext cx="9144000" cy="3165892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" y="9502357"/>
            <a:ext cx="8382000" cy="2594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876300"/>
            <a:ext cx="5486400" cy="7010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86806545597370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047750"/>
            <a:ext cx="5143500" cy="666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571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5143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86550" y="2971800"/>
            <a:ext cx="2914650" cy="41529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5376110405097701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143250"/>
            <a:ext cx="2571750" cy="381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6381750" y="2838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382000" y="2838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im-mushroom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7381875" y="941678"/>
            <a:ext cx="1619250" cy="1736142"/>
          </a:xfrm>
          <a:prstGeom prst="rect">
            <a:avLst/>
          </a:prstGeom>
        </p:spPr>
      </p:pic>
      <p:pic>
        <p:nvPicPr>
          <p:cNvPr id="12" name="Picture 11" descr="trim-happy-seedling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240000">
            <a:off x="5857875" y="7101453"/>
            <a:ext cx="1428750" cy="16085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1500" y="8572500"/>
            <a:ext cx="9144000" cy="3429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8858250"/>
            <a:ext cx="8382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156826"/>
                </a:solidFill>
                <a:latin typeface="Montserrat"/>
              </a:rPr>
              <a:t>What he's seeing: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9620250"/>
            <a:ext cx="83820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876300"/>
            <a:ext cx="4533900" cy="6248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6310702308793456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047750"/>
            <a:ext cx="4191000" cy="590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381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4000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8300" y="876300"/>
            <a:ext cx="4152900" cy="34861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93148475965629232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1047750"/>
            <a:ext cx="3810000" cy="3143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51435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382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8300" y="4591050"/>
            <a:ext cx="4152900" cy="43434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77102568681663477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0" y="4762500"/>
            <a:ext cx="3810000" cy="4000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800000">
            <a:off x="514350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8382000" y="445770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m-mushroom-paper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3667125" y="7330304"/>
            <a:ext cx="1428750" cy="1531890"/>
          </a:xfrm>
          <a:prstGeom prst="rect">
            <a:avLst/>
          </a:prstGeom>
        </p:spPr>
      </p:pic>
      <p:pic>
        <p:nvPicPr>
          <p:cNvPr id="16" name="Picture 15" descr="trim-tithonia-flower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00000">
            <a:off x="428625" y="6545924"/>
            <a:ext cx="1619250" cy="3100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" y="9865205"/>
            <a:ext cx="9144000" cy="2517294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" y="10150955"/>
            <a:ext cx="8382000" cy="1945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876300"/>
            <a:ext cx="8915400" cy="48196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5150736459229006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047750"/>
            <a:ext cx="8572500" cy="44767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381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8382000" y="7429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019800"/>
            <a:ext cx="4438650" cy="32956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2188289027952852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6191250"/>
            <a:ext cx="4095750" cy="2952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 rot="19800000">
            <a:off x="381000" y="5886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905250" y="5886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6019800"/>
            <a:ext cx="4343400" cy="32956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8805781240138867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6191250"/>
            <a:ext cx="4000500" cy="29527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 rot="19800000">
            <a:off x="4953000" y="5886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8382000" y="5886450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" name="Group 14"/>
          <p:cNvGrpSpPr/>
          <p:nvPr/>
        </p:nvGrpSpPr>
        <p:grpSpPr>
          <a:xfrm rot="600000">
            <a:off x="0" y="0"/>
            <a:ext cx="9858375" cy="1524000"/>
            <a:chOff x="0" y="0"/>
            <a:chExt cx="9858375" cy="1524000"/>
          </a:xfrm>
        </p:grpSpPr>
        <p:sp>
          <p:nvSpPr>
            <p:cNvPr id="16" name="Rectangle 15"/>
            <p:cNvSpPr/>
            <p:nvPr/>
          </p:nvSpPr>
          <p:spPr>
            <a:xfrm>
              <a:off x="8429625" y="571500"/>
              <a:ext cx="1428750" cy="9525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429625" y="571500"/>
              <a:ext cx="485775" cy="9525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905875" y="571500"/>
              <a:ext cx="485775" cy="952500"/>
            </a:xfrm>
            <a:prstGeom prst="rect">
              <a:avLst/>
            </a:prstGeom>
            <a:solidFill>
              <a:srgbClr val="FCD1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382125" y="571500"/>
              <a:ext cx="476250" cy="952500"/>
            </a:xfrm>
            <a:prstGeom prst="rect">
              <a:avLst/>
            </a:prstGeom>
            <a:solidFill>
              <a:srgbClr val="0094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571500" y="9865205"/>
            <a:ext cx="9144000" cy="2517294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500" y="10150955"/>
            <a:ext cx="8382000" cy="1945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0" i="1">
                <a:solidFill>
                  <a:srgbClr val="22371F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12363450"/>
            <a:ext cx="10287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5750"/>
            <a:ext cx="38100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4000" b="1" i="0">
                <a:solidFill>
                  <a:srgbClr val="C9A227"/>
                </a:solidFill>
                <a:latin typeface="Montserrat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190750"/>
            <a:ext cx="8572500" cy="4789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0" i="1">
                <a:solidFill>
                  <a:srgbClr val="22371F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0800" y="7284602"/>
            <a:ext cx="5105400" cy="3840597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98854822736731677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7456052"/>
            <a:ext cx="4762500" cy="34976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9800000">
            <a:off x="2286000" y="7151252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6477000" y="7151252"/>
            <a:ext cx="1524000" cy="4572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" y="11334750"/>
            <a:ext cx="9144000" cy="72390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11334750"/>
            <a:ext cx="9144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4F1EA"/>
                </a:solidFill>
                <a:latin typeface="Montserrat"/>
              </a:rPr>
              <a:t>Subscribe on YouTube: @boubacartidianediallo</a:t>
            </a:r>
          </a:p>
        </p:txBody>
      </p:sp>
      <p:pic>
        <p:nvPicPr>
          <p:cNvPr id="11" name="Picture 10" descr="trim-coffee-cup-pap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40000">
            <a:off x="476250" y="8769969"/>
            <a:ext cx="1905000" cy="1510060"/>
          </a:xfrm>
          <a:prstGeom prst="rect">
            <a:avLst/>
          </a:prstGeom>
        </p:spPr>
      </p:pic>
      <p:pic>
        <p:nvPicPr>
          <p:cNvPr id="12" name="Picture 11" descr="trim-coffee-beans-pap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0">
            <a:off x="8048625" y="8756321"/>
            <a:ext cx="1619250" cy="153735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360000">
            <a:off x="0" y="0"/>
            <a:ext cx="9763125" cy="7080250"/>
            <a:chOff x="0" y="0"/>
            <a:chExt cx="9763125" cy="7080250"/>
          </a:xfrm>
        </p:grpSpPr>
        <p:sp>
          <p:nvSpPr>
            <p:cNvPr id="14" name="Rectangle 13"/>
            <p:cNvSpPr/>
            <p:nvPr/>
          </p:nvSpPr>
          <p:spPr>
            <a:xfrm>
              <a:off x="8524875" y="6254750"/>
              <a:ext cx="1238250" cy="8255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24875" y="6254750"/>
              <a:ext cx="422275" cy="825500"/>
            </a:xfrm>
            <a:prstGeom prst="rect">
              <a:avLst/>
            </a:prstGeom>
            <a:solidFill>
              <a:srgbClr val="CE11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37625" y="6254750"/>
              <a:ext cx="422275" cy="825500"/>
            </a:xfrm>
            <a:prstGeom prst="rect">
              <a:avLst/>
            </a:prstGeom>
            <a:solidFill>
              <a:srgbClr val="FCD1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350375" y="6254750"/>
              <a:ext cx="412750" cy="825500"/>
            </a:xfrm>
            <a:prstGeom prst="rect">
              <a:avLst/>
            </a:prstGeom>
            <a:solidFill>
              <a:srgbClr val="0094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8" name="Picture 17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476250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