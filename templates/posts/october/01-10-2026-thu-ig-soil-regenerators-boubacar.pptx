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1, scrapbook. Instagram collab: @tidia.diallo.1 (from Boubacar's reply to Allison) [VERIFY]. Sources: Impact story sheet, Boubacar Tidiane Diallo: https://docs.google.com/spreadsheets/d/10UHLwzJLBQAsmJqmg4hiCQRjBKXPAx7UnOudU-Vsg5U/edit; YouTube: https://www.youtube.com/@boubacartidianediallo; Facebook: https://www.facebook.com/btidja; Photos: sent by Boubacar to Stephanie on WhatsApp, 17 August 2026. [TAG @Stephanie] Send Boubacar the final caption and slides to approve before posting, and confirm he studied on a scholarship. Photo: assets/photo/boubacar/boubacar-raincoat-seedlings-cropped-2x.jpg, cropped from the phone screenshot of his Facebook post of 17 July 2024 (status bar, Facebook header and buttons removed) and upscaled 2x. [PHOTO NEEDED: the original file from Boubacar].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 slide. No microscope photo: Boubacar wrote (reply to Allison) that he does not have a microscope yet, and that he sees healthier soil as more earthworms, mushrooms and active decomposition. The cut-paper earthworm, mushroom and seedling show those signs. [PHOTO NEEDED: Boubacar on his farm or his mulched soil, which he says he will send].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 slide. Main photo: assets/photo/boubacar/boubacar-compost-pile.jpeg (WhatsApp, 17 Aug 2026). Small print: assets/photo/boubacar/still-biochar-kiln-smoke-73s.png, from assets/video/boubacar/making-biochar-in-barrel-kiln.mp4 (WhatsApp Video 2026-08-17 at 13.46.34) at 1:13.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 slide. Photo: assets/photo/boubacar/planting-seedling-in-agroforest.jpeg (WhatsApp, 17 Aug 2026). [PHOTO NEEDED: coffee growing between cacao, banana and citrus, a still from his YouTube channel]. Cut-paper crops: coffee, cacao, banana, citrus, pineapple.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 slide. Photo: assets/photo/boubacar/still-young-plants-buckets-29s.png, from assets/video/boubacar/watering-young-plants-in-buckets.mp4 (WhatsApp Video 2026-08-17 at 13.45.52) at 0:29. Low resolution (478 x 850 video). [PHOTO NEEDED: earthworms in his soil, a still from his YouTube channel].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 slide. Photo: assets/photo/boubacar/group-of-five-farmers.jpeg (WhatsApp, 17 Aug 2026). Confirm with Boubacar where and when it was taken, and that it shows him with farmers at Gnaly [VERIFY].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6.png"/><Relationship Id="rId7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11.jpg"/><Relationship Id="rId5" Type="http://schemas.openxmlformats.org/officeDocument/2006/relationships/image" Target="../media/image4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16.jp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17.jp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733550" y="1257300"/>
            <a:ext cx="6819900" cy="81534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2101592505236134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1428750"/>
            <a:ext cx="6477000" cy="781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1428750" y="1123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7334250" y="1123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1500" y="571500"/>
            <a:ext cx="5905500" cy="685800"/>
          </a:xfrm>
          <a:prstGeom prst="roundRect">
            <a:avLst>
              <a:gd name="adj" fmla="val 50000"/>
            </a:avLst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" y="571500"/>
            <a:ext cx="5905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9810750"/>
            <a:ext cx="9144000" cy="2381250"/>
          </a:xfrm>
          <a:prstGeom prst="rect">
            <a:avLst/>
          </a:prstGeom>
          <a:solidFill>
            <a:srgbClr val="22371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9920000">
            <a:off x="238125" y="957262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1680000">
            <a:off x="8429625" y="957262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7750" y="10191750"/>
            <a:ext cx="7239000" cy="171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Boubacar Tidiane Diallo, Guinea</a:t>
            </a:r>
          </a:p>
        </p:txBody>
      </p:sp>
      <p:pic>
        <p:nvPicPr>
          <p:cNvPr id="13" name="Picture 12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11144250"/>
            <a:ext cx="857250" cy="770717"/>
          </a:xfrm>
          <a:prstGeom prst="rect">
            <a:avLst/>
          </a:prstGeom>
        </p:spPr>
      </p:pic>
      <p:pic>
        <p:nvPicPr>
          <p:cNvPr id="14" name="Picture 13" descr="trim-coffee-cherries-branch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000000">
            <a:off x="7429500" y="7114151"/>
            <a:ext cx="2857500" cy="2916697"/>
          </a:xfrm>
          <a:prstGeom prst="rect">
            <a:avLst/>
          </a:prstGeom>
        </p:spPr>
      </p:pic>
      <p:pic>
        <p:nvPicPr>
          <p:cNvPr id="15" name="Picture 14" descr="trim-leaf-sprig-paper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400000">
            <a:off x="285750" y="952500"/>
            <a:ext cx="1905000" cy="304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3810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30000" b="1" i="0">
                <a:solidFill>
                  <a:srgbClr val="C9A227"/>
                </a:solidFill>
                <a:latin typeface="Montserrat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3143250"/>
            <a:ext cx="8572500" cy="5291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200" b="1" i="0">
                <a:solidFill>
                  <a:srgbClr val="22371F"/>
                </a:solidFill>
                <a:latin typeface="Montserrat"/>
              </a:rPr>
              <a:t>“Today, I ask a different question: What does the soil food web need to thrive?”</a:t>
            </a:r>
          </a:p>
        </p:txBody>
      </p:sp>
      <p:pic>
        <p:nvPicPr>
          <p:cNvPr id="5" name="Picture 4" descr="trim-earthworm-pap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952500" y="8875025"/>
            <a:ext cx="2857500" cy="2823948"/>
          </a:xfrm>
          <a:prstGeom prst="rect">
            <a:avLst/>
          </a:prstGeom>
        </p:spPr>
      </p:pic>
      <p:pic>
        <p:nvPicPr>
          <p:cNvPr id="6" name="Picture 5" descr="trim-mushroom-pap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60000">
            <a:off x="4667250" y="8973113"/>
            <a:ext cx="2095500" cy="2246772"/>
          </a:xfrm>
          <a:prstGeom prst="rect">
            <a:avLst/>
          </a:prstGeom>
        </p:spPr>
      </p:pic>
      <p:pic>
        <p:nvPicPr>
          <p:cNvPr id="7" name="Picture 6" descr="trim-happy-seedling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8500" y="9012115"/>
            <a:ext cx="2095500" cy="2359269"/>
          </a:xfrm>
          <a:prstGeom prst="rect">
            <a:avLst/>
          </a:prstGeom>
        </p:spPr>
      </p:pic>
      <p:pic>
        <p:nvPicPr>
          <p:cNvPr id="8" name="Picture 7" descr="trim-leaf-sprig-paper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500000">
            <a:off x="8524875" y="6515100"/>
            <a:ext cx="1619250" cy="2590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6300" y="876300"/>
            <a:ext cx="5676900" cy="70104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90551198430781297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1047750"/>
            <a:ext cx="5334000" cy="666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5715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53340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86550" y="2971800"/>
            <a:ext cx="2819400" cy="4152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7946656054846558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3143250"/>
            <a:ext cx="2476500" cy="3810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 rot="19800000">
            <a:off x="6381750" y="28384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00000">
            <a:off x="8286750" y="28384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im-earthworm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600000">
            <a:off x="7143750" y="868433"/>
            <a:ext cx="1905000" cy="188263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71500" y="8382000"/>
            <a:ext cx="9144000" cy="371475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8667750"/>
            <a:ext cx="8382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>
                <a:solidFill>
                  <a:srgbClr val="156826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9429750"/>
            <a:ext cx="8382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compost, vermicompost, activated biochar, permanent mulch, and cover crops.</a:t>
            </a:r>
          </a:p>
        </p:txBody>
      </p:sp>
      <p:pic>
        <p:nvPicPr>
          <p:cNvPr id="15" name="Picture 14" descr="trim-leaf-sprig-paper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500000">
            <a:off x="8620125" y="7086600"/>
            <a:ext cx="1619250" cy="2590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6300" y="876300"/>
            <a:ext cx="5295900" cy="691515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76200980337598864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1047750"/>
            <a:ext cx="4953000" cy="65722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5715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49530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im-coffee-cherries-branch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0000">
            <a:off x="6762750" y="639124"/>
            <a:ext cx="2667000" cy="2722251"/>
          </a:xfrm>
          <a:prstGeom prst="rect">
            <a:avLst/>
          </a:prstGeom>
        </p:spPr>
      </p:pic>
      <p:pic>
        <p:nvPicPr>
          <p:cNvPr id="8" name="Picture 7" descr="trim-cacao-pod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700000">
            <a:off x="7191375" y="2769848"/>
            <a:ext cx="1619250" cy="3413803"/>
          </a:xfrm>
          <a:prstGeom prst="rect">
            <a:avLst/>
          </a:prstGeom>
        </p:spPr>
      </p:pic>
      <p:pic>
        <p:nvPicPr>
          <p:cNvPr id="9" name="Picture 8" descr="trim-banana-bunch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60000">
            <a:off x="6953250" y="5598177"/>
            <a:ext cx="2286000" cy="213864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71500" y="8382000"/>
            <a:ext cx="9144000" cy="371475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500" y="8667750"/>
            <a:ext cx="8382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>
                <a:solidFill>
                  <a:srgbClr val="156826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9429750"/>
            <a:ext cx="8382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coffee, cacao, bananas, citrus, and pineapple, in a syntropic agroforestry system.</a:t>
            </a:r>
          </a:p>
        </p:txBody>
      </p:sp>
      <p:pic>
        <p:nvPicPr>
          <p:cNvPr id="13" name="Picture 12" descr="trim-citrus-orange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120000">
            <a:off x="7858125" y="7165258"/>
            <a:ext cx="1428750" cy="1290483"/>
          </a:xfrm>
          <a:prstGeom prst="rect">
            <a:avLst/>
          </a:prstGeom>
        </p:spPr>
      </p:pic>
      <p:pic>
        <p:nvPicPr>
          <p:cNvPr id="14" name="Picture 13" descr="trim-pineapple-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600000">
            <a:off x="8667750" y="10385068"/>
            <a:ext cx="1428750" cy="26613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6300" y="876300"/>
            <a:ext cx="4914900" cy="70104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966888824197829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1047750"/>
            <a:ext cx="4572000" cy="666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5715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45720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im-earthworm-pap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240000">
            <a:off x="6381750" y="1064525"/>
            <a:ext cx="2857500" cy="2823948"/>
          </a:xfrm>
          <a:prstGeom prst="rect">
            <a:avLst/>
          </a:prstGeom>
        </p:spPr>
      </p:pic>
      <p:pic>
        <p:nvPicPr>
          <p:cNvPr id="8" name="Picture 7" descr="trim-happy-seedling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4261604"/>
            <a:ext cx="1905000" cy="2144790"/>
          </a:xfrm>
          <a:prstGeom prst="rect">
            <a:avLst/>
          </a:prstGeom>
        </p:spPr>
      </p:pic>
      <p:pic>
        <p:nvPicPr>
          <p:cNvPr id="9" name="Picture 8" descr="trim-mushroom-paper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480000">
            <a:off x="7715250" y="6129365"/>
            <a:ext cx="1714500" cy="18382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71500" y="8382000"/>
            <a:ext cx="9144000" cy="371475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500" y="8667750"/>
            <a:ext cx="8382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>
                <a:solidFill>
                  <a:srgbClr val="156826"/>
                </a:solidFill>
                <a:latin typeface="Montserrat"/>
              </a:rPr>
              <a:t>What he's seeing: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9429750"/>
            <a:ext cx="8382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more earthworms, better soil structure, better moisture, and stronger young plants.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381000"/>
            <a:ext cx="3810000" cy="272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1" i="0">
                <a:solidFill>
                  <a:srgbClr val="C9A227"/>
                </a:solidFill>
                <a:latin typeface="Montserrat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76500"/>
            <a:ext cx="8572500" cy="398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22371F"/>
                </a:solidFill>
                <a:latin typeface="Montserrat"/>
              </a:rPr>
              <a:t>“I am cultivating the life that makes healthy agriculture possible.”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1257300" y="6765700"/>
            <a:ext cx="7772400" cy="43434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79151844955299930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750" y="6937150"/>
            <a:ext cx="7429500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 rot="19800000">
            <a:off x="952500" y="66323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800000">
            <a:off x="7810500" y="66323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71500" y="11334750"/>
            <a:ext cx="9144000" cy="723900"/>
          </a:xfrm>
          <a:prstGeom prst="roundRect">
            <a:avLst>
              <a:gd name="adj" fmla="val 50000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" y="11334750"/>
            <a:ext cx="91440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F4F1EA"/>
                </a:solidFill>
                <a:latin typeface="Montserrat"/>
              </a:rPr>
              <a:t>Follow him on YouTube: @boubacartidianediallo</a:t>
            </a:r>
          </a:p>
        </p:txBody>
      </p:sp>
      <p:pic>
        <p:nvPicPr>
          <p:cNvPr id="11" name="Picture 10" descr="trim-coffee-cherries-branch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0">
            <a:off x="8382000" y="6155418"/>
            <a:ext cx="1905000" cy="1944465"/>
          </a:xfrm>
          <a:prstGeom prst="rect">
            <a:avLst/>
          </a:prstGeom>
        </p:spPr>
      </p:pic>
      <p:pic>
        <p:nvPicPr>
          <p:cNvPr id="12" name="Picture 11" descr="trim-happy-seedling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240000">
            <a:off x="333375" y="9371354"/>
            <a:ext cx="1428750" cy="1608592"/>
          </a:xfrm>
          <a:prstGeom prst="rect">
            <a:avLst/>
          </a:prstGeom>
        </p:spPr>
      </p:pic>
      <p:pic>
        <p:nvPicPr>
          <p:cNvPr id="13" name="Picture 12" descr="foundation-logo-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3000" y="476250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