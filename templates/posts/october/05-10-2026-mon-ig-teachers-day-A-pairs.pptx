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World Teachers' Day, 5 October. Cut-paper flowers from the collage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Tommy Tepper, Loida Vasquez. About and advice lines: drafts from the team notes, confirm with each mentor (05-10-2026-mon-ig-teachers-day-mentors.md). Photo boxes marked PHOTO NEEDED: drop the mentor's photo in (written consent).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Carla Portugal, Wesley Sanders. About and advice lines: drafts from the team notes, confirm with each mentor (05-10-2026-mon-ig-teachers-day-mentors.md). Photo boxes marked PHOTO NEEDED: drop the mentor's photo in (written consent).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Casey Williams, Brian Daubenspeck. About and advice lines: drafts from the team notes, confirm with each mentor (05-10-2026-mon-ig-teachers-day-mentors.md). Photo boxes marked PHOTO NEEDED: drop the mentor's photo in (written consent).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Isadora Schmidt, Aysen Ustunay. About and advice lines: drafts from the team notes, confirm with each mentor (05-10-2026-mon-ig-teachers-day-mentors.md). Photo boxes marked PHOTO NEEDED: drop the mentor's photo in (written consent).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Dora Tkalec, Gerald Ramirez. About and advice lines: drafts from the team notes, confirm with each mentor (05-10-2026-mon-ig-teachers-day-mentors.md). Photo boxes marked PHOTO NEEDED: drop the mentor's photo in (written consent).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Elena Kalli, Ib Borup Pederson. About and advice lines: drafts from the team notes, confirm with each mentor (05-10-2026-mon-ig-teachers-day-mentors.md). Photo boxes marked PHOTO NEEDED: drop the mentor's photo in (written consent).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Nick Padwick, Delvin Solkinson. About and advice lines: drafts from the team notes, confirm with each mentor (05-10-2026-mon-ig-teachers-day-mentors.md). Photo boxes marked PHOTO NEEDED: drop the mentor's photo in (written consent).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Closing: every mentor on the roster thanked by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jpg"/><Relationship Id="rId4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jpg"/><Relationship Id="rId4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jpg"/><Relationship Id="rId4" Type="http://schemas.openxmlformats.org/officeDocument/2006/relationships/image" Target="../media/image2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14300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300">
                <a:solidFill>
                  <a:srgbClr val="31662F"/>
                </a:solidFill>
                <a:latin typeface="Montserrat"/>
              </a:rPr>
              <a:t>WORLD TEACHERS' DAY · 5 OCTOBER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8763000" cy="342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>
                <a:solidFill>
                  <a:srgbClr val="31662F"/>
                </a:solidFill>
                <a:latin typeface="Montserrat"/>
              </a:rPr>
              <a:t>Happy World Teachers' 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143500"/>
            <a:ext cx="876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0" i="1">
                <a:solidFill>
                  <a:srgbClr val="1A1A1A"/>
                </a:solidFill>
                <a:latin typeface="EB Garamond"/>
              </a:rPr>
              <a:t>Meet the mentors who teach our students to see soil.</a:t>
            </a:r>
          </a:p>
        </p:txBody>
      </p:sp>
      <p:pic>
        <p:nvPicPr>
          <p:cNvPr id="5" name="Picture 4" descr="td-tithonia-flower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689728"/>
            <a:ext cx="1619250" cy="3099043"/>
          </a:xfrm>
          <a:prstGeom prst="rect">
            <a:avLst/>
          </a:prstGeom>
        </p:spPr>
      </p:pic>
      <p:pic>
        <p:nvPicPr>
          <p:cNvPr id="6" name="Picture 5" descr="td-dried-flowers-1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8194572"/>
            <a:ext cx="1619250" cy="2089354"/>
          </a:xfrm>
          <a:prstGeom prst="rect">
            <a:avLst/>
          </a:prstGeom>
        </p:spPr>
      </p:pic>
      <p:pic>
        <p:nvPicPr>
          <p:cNvPr id="7" name="Picture 6" descr="td-dried-flowers-2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0" y="8019475"/>
            <a:ext cx="1619250" cy="2439548"/>
          </a:xfrm>
          <a:prstGeom prst="rect">
            <a:avLst/>
          </a:prstGeom>
        </p:spPr>
      </p:pic>
      <p:pic>
        <p:nvPicPr>
          <p:cNvPr id="8" name="Picture 7" descr="td-leaf-sprig-paper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9800" y="7943850"/>
            <a:ext cx="1619250" cy="2590800"/>
          </a:xfrm>
          <a:prstGeom prst="rect">
            <a:avLst/>
          </a:prstGeom>
        </p:spPr>
      </p:pic>
      <p:pic>
        <p:nvPicPr>
          <p:cNvPr id="9" name="Picture 8" descr="td-happy-seedling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8328279"/>
            <a:ext cx="1619250" cy="1821940"/>
          </a:xfrm>
          <a:prstGeom prst="rect">
            <a:avLst/>
          </a:prstGeom>
        </p:spPr>
      </p:pic>
      <p:pic>
        <p:nvPicPr>
          <p:cNvPr id="10" name="Picture 9" descr="foundation-logo-col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0" y="11250012"/>
            <a:ext cx="1047750" cy="9419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39934004121555186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62000"/>
            <a:ext cx="3810000" cy="4953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53000" y="857250"/>
            <a:ext cx="4572000" cy="63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31662F"/>
                </a:solidFill>
                <a:latin typeface="Montserrat"/>
              </a:rPr>
              <a:t>Tommy Tepper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3000" y="1449310"/>
            <a:ext cx="4572000" cy="4028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A1A1A"/>
                </a:solidFill>
                <a:latin typeface="Source Sans 3"/>
              </a:rPr>
              <a:t>Director of Education &amp; Mentor</a:t>
            </a:r>
          </a:p>
        </p:txBody>
      </p:sp>
      <p:pic>
        <p:nvPicPr>
          <p:cNvPr id="5" name="Picture 4" descr="458891011049175745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477000"/>
            <a:ext cx="3810000" cy="495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53000" y="6572250"/>
            <a:ext cx="4572000" cy="63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31662F"/>
                </a:solidFill>
                <a:latin typeface="Montserrat"/>
              </a:rPr>
              <a:t>Loida Vasquez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0" y="7164310"/>
            <a:ext cx="4572000" cy="4028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A1A1A"/>
                </a:solidFill>
                <a:latin typeface="Source Sans 3"/>
              </a:rPr>
              <a:t>Advanced Programs Lead &amp; Mentor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6096000"/>
            <a:ext cx="8763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7500" y="1228725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777345401917861113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62000"/>
            <a:ext cx="3810000" cy="4953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53000" y="857250"/>
            <a:ext cx="4572000" cy="63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31662F"/>
                </a:solidFill>
                <a:latin typeface="Montserrat"/>
              </a:rPr>
              <a:t>Dr. Carla Portugal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3000" y="1449310"/>
            <a:ext cx="4572000" cy="4028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A1A1A"/>
                </a:solidFill>
                <a:latin typeface="Source Sans 3"/>
              </a:rPr>
              <a:t>Science Lead &amp; Mentor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3000" y="1928334"/>
            <a:ext cx="4572000" cy="9154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1A1A1A"/>
                </a:solidFill>
                <a:latin typeface="EB Garamond"/>
              </a:rPr>
              <a:t>“Bare soil erodes. Living roots and cover hold the aggregates together.”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0" y="2862830"/>
            <a:ext cx="4572000" cy="10692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31662F"/>
                </a:solidFill>
                <a:latin typeface="Source Sans 3"/>
              </a:rPr>
              <a:t>PhD in Environmental Sciences. 20 years of environmental and farm consulting. Mentoring since 2019.</a:t>
            </a:r>
          </a:p>
        </p:txBody>
      </p:sp>
      <p:pic>
        <p:nvPicPr>
          <p:cNvPr id="7" name="Picture 6" descr="734692966401504044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477000"/>
            <a:ext cx="3810000" cy="4953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53000" y="6572250"/>
            <a:ext cx="4572000" cy="63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31662F"/>
                </a:solidFill>
                <a:latin typeface="Montserrat"/>
              </a:rPr>
              <a:t>Wesley Sanders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0" y="7164310"/>
            <a:ext cx="4572000" cy="4028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3000" y="7643334"/>
            <a:ext cx="4572000" cy="1325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1A1A1A"/>
                </a:solidFill>
                <a:latin typeface="EB Garamond"/>
              </a:rPr>
              <a:t>“Compost can look finished and still lack the biology you need. Check it under the microscope before you apply it.”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3000" y="8987928"/>
            <a:ext cx="4572000" cy="1393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31662F"/>
                </a:solidFill>
                <a:latin typeface="Source Sans 3"/>
              </a:rPr>
              <a:t>A farmer and agricultural journalist, then our first lab tech. Runs Foothill Biological Soil Health Services in California's Sierra Nevada foothills.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6096000"/>
            <a:ext cx="8763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67500" y="1228725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7356005731962086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62000"/>
            <a:ext cx="3810000" cy="4953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53000" y="857250"/>
            <a:ext cx="4572000" cy="63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31662F"/>
                </a:solidFill>
                <a:latin typeface="Montserrat"/>
              </a:rPr>
              <a:t>Casey Williams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3000" y="1449310"/>
            <a:ext cx="4572000" cy="4028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3000" y="1928334"/>
            <a:ext cx="4572000" cy="10692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A1A1A"/>
                </a:solidFill>
                <a:latin typeface="Source Sans 3"/>
              </a:rPr>
              <a:t>Around ten years of farming and gardening. A long-time student, now teaching. Favourite microbe: rotifers.</a:t>
            </a:r>
          </a:p>
        </p:txBody>
      </p:sp>
      <p:pic>
        <p:nvPicPr>
          <p:cNvPr id="6" name="Picture 5" descr="525244002470717347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477000"/>
            <a:ext cx="3810000" cy="4953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53000" y="6572250"/>
            <a:ext cx="4572000" cy="116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31662F"/>
                </a:solidFill>
                <a:latin typeface="Montserrat"/>
              </a:rPr>
              <a:t>Brian Daubenspeck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000" y="7699221"/>
            <a:ext cx="4572000" cy="4028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0" y="8178244"/>
            <a:ext cx="4572000" cy="10692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A1A1A"/>
                </a:solidFill>
                <a:latin typeface="Source Sans 3"/>
              </a:rPr>
              <a:t>Manages orchards in California, after years in New Mexico. Favourite microbes: the small underdogs.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6096000"/>
            <a:ext cx="8763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500" y="1228725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609707492544757677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62000"/>
            <a:ext cx="3810000" cy="4953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53000" y="857250"/>
            <a:ext cx="4572000" cy="63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31662F"/>
                </a:solidFill>
                <a:latin typeface="Montserrat"/>
              </a:rPr>
              <a:t>Isadora Schmidt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3000" y="1449310"/>
            <a:ext cx="4572000" cy="4028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3000" y="1928334"/>
            <a:ext cx="4572000" cy="10692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A1A1A"/>
                </a:solidFill>
                <a:latin typeface="Source Sans 3"/>
              </a:rPr>
              <a:t>From Florianópolis, Brazil, now living in Spain. Favourite: lichens, though she loves all her microbes equally.</a:t>
            </a:r>
          </a:p>
        </p:txBody>
      </p:sp>
      <p:pic>
        <p:nvPicPr>
          <p:cNvPr id="6" name="Picture 5" descr="432877429421511410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477000"/>
            <a:ext cx="3810000" cy="4953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53000" y="6572250"/>
            <a:ext cx="4572000" cy="63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31662F"/>
                </a:solidFill>
                <a:latin typeface="Montserrat"/>
              </a:rPr>
              <a:t>Aysen Ustunay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000" y="7164310"/>
            <a:ext cx="4572000" cy="4028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0" y="7643334"/>
            <a:ext cx="4572000" cy="7445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A1A1A"/>
                </a:solidFill>
                <a:latin typeface="Source Sans 3"/>
              </a:rPr>
              <a:t>Favourite microbe: flagellates. She loves watching them as babies, running around.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6096000"/>
            <a:ext cx="8763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500" y="1228725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3032976513602863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62000"/>
            <a:ext cx="3810000" cy="4953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53000" y="857250"/>
            <a:ext cx="4572000" cy="63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31662F"/>
                </a:solidFill>
                <a:latin typeface="Montserrat"/>
              </a:rPr>
              <a:t>Dora Tkalec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3000" y="1449310"/>
            <a:ext cx="4572000" cy="4028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pic>
        <p:nvPicPr>
          <p:cNvPr id="5" name="Picture 4" descr="853448679885962221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477000"/>
            <a:ext cx="3810000" cy="495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53000" y="6572250"/>
            <a:ext cx="4572000" cy="63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31662F"/>
                </a:solidFill>
                <a:latin typeface="Montserrat"/>
              </a:rPr>
              <a:t>Gerald Ramirez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0" y="7164310"/>
            <a:ext cx="4572000" cy="4028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000" y="7643334"/>
            <a:ext cx="4572000" cy="1325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1A1A1A"/>
                </a:solidFill>
                <a:latin typeface="EB Garamond"/>
              </a:rPr>
              <a:t>“Extracts pull organisms off the compost into solution, so you can apply biology across a whole field.”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0" y="8987928"/>
            <a:ext cx="4572000" cy="1393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31662F"/>
                </a:solidFill>
                <a:latin typeface="Source Sans 3"/>
              </a:rPr>
              <a:t>An agronomist from the University of Costa Rica, who went looking for Dr. Elaine's teaching. Now he teaches it, from compost extracts to teas.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6096000"/>
            <a:ext cx="8763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500" y="1228725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83268711032258239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62000"/>
            <a:ext cx="3810000" cy="4953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53000" y="857250"/>
            <a:ext cx="4572000" cy="63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31662F"/>
                </a:solidFill>
                <a:latin typeface="Montserrat"/>
              </a:rPr>
              <a:t>Elena Kalli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3000" y="1449310"/>
            <a:ext cx="4572000" cy="4028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A1A1A"/>
                </a:solidFill>
                <a:latin typeface="Source Sans 3"/>
              </a:rPr>
              <a:t>Advanced Programs Admin</a:t>
            </a:r>
          </a:p>
        </p:txBody>
      </p:sp>
      <p:pic>
        <p:nvPicPr>
          <p:cNvPr id="5" name="Picture 4" descr="314250943694172239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477000"/>
            <a:ext cx="3810000" cy="495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53000" y="6572250"/>
            <a:ext cx="4572000" cy="63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31662F"/>
                </a:solidFill>
                <a:latin typeface="Montserrat"/>
              </a:rPr>
              <a:t>Ib Borup Pederson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0" y="7164310"/>
            <a:ext cx="4572000" cy="4028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6096000"/>
            <a:ext cx="8763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7500" y="1228725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61913007495539836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62000"/>
            <a:ext cx="3810000" cy="4953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53000" y="857250"/>
            <a:ext cx="4572000" cy="63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31662F"/>
                </a:solidFill>
                <a:latin typeface="Montserrat"/>
              </a:rPr>
              <a:t>Nick Padwick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3000" y="1449310"/>
            <a:ext cx="4572000" cy="4028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3000" y="1928334"/>
            <a:ext cx="4572000" cy="9154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1A1A1A"/>
                </a:solidFill>
                <a:latin typeface="EB Garamond"/>
              </a:rPr>
              <a:t>“I make 750 tons of compost a year. Biology works at any scale.”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0" y="2862830"/>
            <a:ext cx="4572000" cy="10692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31662F"/>
                </a:solidFill>
                <a:latin typeface="Source Sans 3"/>
              </a:rPr>
              <a:t>Manages Ken Hill Estate, home of Wild Ken Hill, in West Norfolk, England. Farmers Weekly Farmer of the Year, 2009.</a:t>
            </a:r>
          </a:p>
        </p:txBody>
      </p:sp>
      <p:pic>
        <p:nvPicPr>
          <p:cNvPr id="7" name="Picture 6" descr="527271665446492377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477000"/>
            <a:ext cx="3810000" cy="4953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53000" y="6572250"/>
            <a:ext cx="4572000" cy="63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31662F"/>
                </a:solidFill>
                <a:latin typeface="Montserrat"/>
              </a:rPr>
              <a:t>Delvin Solkinson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0" y="7164310"/>
            <a:ext cx="4572000" cy="4028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A1A1A"/>
                </a:solidFill>
                <a:latin typeface="Source Sans 3"/>
              </a:rPr>
              <a:t>Permaculture Lead Teacher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6096000"/>
            <a:ext cx="8763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500" y="1228725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333500"/>
            <a:ext cx="87630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200" b="1" i="0">
                <a:solidFill>
                  <a:srgbClr val="31662F"/>
                </a:solidFill>
                <a:latin typeface="Montserrat"/>
              </a:rPr>
              <a:t>Thank you to every mentor who teaches our students to see soil.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476750"/>
            <a:ext cx="8763000" cy="361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0" i="1">
                <a:solidFill>
                  <a:srgbClr val="1A1A1A"/>
                </a:solidFill>
                <a:latin typeface="EB Garamond"/>
              </a:rPr>
              <a:t>Tommy Tepper · Loida Vasquez · Carla Portugal · Wesley Sanders · Casey Williams · Brian Daubenspeck · Isadora Schmidt · Aysen Ustunay · Dora Tkalec · Gerald Ramirez · Elena Kalli · Ib Borup Pederson · Nick Padwick · Delvin Solkinson</a:t>
            </a:r>
          </a:p>
        </p:txBody>
      </p:sp>
      <p:pic>
        <p:nvPicPr>
          <p:cNvPr id="4" name="Picture 3" descr="td-leaf-sprig-paper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8991600"/>
            <a:ext cx="1619250" cy="2590800"/>
          </a:xfrm>
          <a:prstGeom prst="rect">
            <a:avLst/>
          </a:prstGeom>
        </p:spPr>
      </p:pic>
      <p:pic>
        <p:nvPicPr>
          <p:cNvPr id="5" name="Picture 4" descr="td-dried-flowers-2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750" y="9067225"/>
            <a:ext cx="1619250" cy="2439548"/>
          </a:xfrm>
          <a:prstGeom prst="rect">
            <a:avLst/>
          </a:prstGeom>
        </p:spPr>
      </p:pic>
      <p:pic>
        <p:nvPicPr>
          <p:cNvPr id="6" name="Picture 5" descr="td-tithonia-flower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4603" y="8858250"/>
            <a:ext cx="1493043" cy="2857500"/>
          </a:xfrm>
          <a:prstGeom prst="rect">
            <a:avLst/>
          </a:prstGeom>
        </p:spPr>
      </p:pic>
      <p:pic>
        <p:nvPicPr>
          <p:cNvPr id="7" name="Picture 6" descr="td-dried-flowers-1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9242322"/>
            <a:ext cx="1619250" cy="2089354"/>
          </a:xfrm>
          <a:prstGeom prst="rect">
            <a:avLst/>
          </a:prstGeom>
        </p:spPr>
      </p:pic>
      <p:pic>
        <p:nvPicPr>
          <p:cNvPr id="8" name="Picture 7" descr="foundation-logo-col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0" y="11250012"/>
            <a:ext cx="1047750" cy="9419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