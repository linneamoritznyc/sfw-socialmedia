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World Teachers' Day, 5 October. Cut-paper flowers from the collage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Tommy Tepper, Loida Vasquez.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Portugal, Wesley Sanders.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Casey Williams, Brian Daubenspeck.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Isadora Schmidt, Aysen Ustunay.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Gerald Ramirez.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Ib Borup Pederson.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Nick Padwick, Delvin Solkinson.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every mentor on the roster thanked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300">
                <a:solidFill>
                  <a:srgbClr val="B1BCB1"/>
                </a:solidFill>
                <a:latin typeface="Montserrat"/>
              </a:rPr>
              <a:t>WORLD TEACHERS' DAY · 5 OCTOBER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87630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 i="0">
                <a:solidFill>
                  <a:srgbClr val="F3F1EA"/>
                </a:solidFill>
                <a:latin typeface="Montserrat"/>
              </a:rPr>
              <a:t>Happy World Teachers'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435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F3F1EA"/>
                </a:solidFill>
                <a:latin typeface="EB Garamond"/>
              </a:rPr>
              <a:t>Meet the mentors who teach our students to see soil.</a:t>
            </a:r>
          </a:p>
        </p:txBody>
      </p:sp>
      <p:pic>
        <p:nvPicPr>
          <p:cNvPr id="5" name="Picture 4" descr="td-tithonia-flow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89728"/>
            <a:ext cx="1619250" cy="3099043"/>
          </a:xfrm>
          <a:prstGeom prst="rect">
            <a:avLst/>
          </a:prstGeom>
        </p:spPr>
      </p:pic>
      <p:pic>
        <p:nvPicPr>
          <p:cNvPr id="6" name="Picture 5" descr="td-dried-flowers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8194572"/>
            <a:ext cx="1619250" cy="2089354"/>
          </a:xfrm>
          <a:prstGeom prst="rect">
            <a:avLst/>
          </a:prstGeom>
        </p:spPr>
      </p:pic>
      <p:pic>
        <p:nvPicPr>
          <p:cNvPr id="7" name="Picture 6" descr="td-dried-flowers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8019475"/>
            <a:ext cx="1619250" cy="2439548"/>
          </a:xfrm>
          <a:prstGeom prst="rect">
            <a:avLst/>
          </a:prstGeom>
        </p:spPr>
      </p:pic>
      <p:pic>
        <p:nvPicPr>
          <p:cNvPr id="8" name="Picture 7" descr="td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800" y="7943850"/>
            <a:ext cx="1619250" cy="2590800"/>
          </a:xfrm>
          <a:prstGeom prst="rect">
            <a:avLst/>
          </a:prstGeom>
        </p:spPr>
      </p:pic>
      <p:pic>
        <p:nvPicPr>
          <p:cNvPr id="9" name="Picture 8" descr="td-happy-seedling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8328279"/>
            <a:ext cx="1619250" cy="1821940"/>
          </a:xfrm>
          <a:prstGeom prst="rect">
            <a:avLst/>
          </a:prstGeom>
        </p:spPr>
      </p:pic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475191821378075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Director of Education &amp; Mentor</a:t>
            </a:r>
          </a:p>
        </p:txBody>
      </p:sp>
      <p:pic>
        <p:nvPicPr>
          <p:cNvPr id="5" name="Picture 4" descr="35388687406623282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15387496034989434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“Bare soil erodes. Living roots and cover hold the aggregates together.”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2862830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PhD in Environmental Sciences. 20 years of environmental and farm consulting. Mentoring since 2019.</a:t>
            </a:r>
          </a:p>
        </p:txBody>
      </p:sp>
      <p:pic>
        <p:nvPicPr>
          <p:cNvPr id="7" name="Picture 6" descr="39491469082963912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7643334"/>
            <a:ext cx="45720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“Compost can look finished and still lack the biology you need. Check it under the microscope before you apply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8987928"/>
            <a:ext cx="45720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A farmer and agricultural journalist, then our first lab tech. Runs Foothill Biological Soil Health Services in California's Sierra Nevada foothills.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3169002540358159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  <p:pic>
        <p:nvPicPr>
          <p:cNvPr id="6" name="Picture 5" descr="9319370637023721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53000" y="6572250"/>
            <a:ext cx="4572000" cy="116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7699221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817824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2763139034830087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  <p:pic>
        <p:nvPicPr>
          <p:cNvPr id="6" name="Picture 5" descr="209897395156324028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643334"/>
            <a:ext cx="4572000" cy="744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82460657202812577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5" name="Picture 4" descr="316732976413795509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7643334"/>
            <a:ext cx="45720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“Extracts pull organisms off the compost into solution, so you can apply biology across a whole field.”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8987928"/>
            <a:ext cx="45720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An agronomist from the University of Costa Rica, who went looking for Dr. Elaine's teaching. Now he teaches it, from compost extracts to teas.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8509996571773769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Admin</a:t>
            </a:r>
          </a:p>
        </p:txBody>
      </p:sp>
      <p:pic>
        <p:nvPicPr>
          <p:cNvPr id="5" name="Picture 4" descr="801268053489612997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7082000617062119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“I make 750 tons of compost a year. Biology works at any scale.”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2862830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Manages Ken Hill Estate, home of Wild Ken Hill, in West Norfolk, England. Farmers Weekly Farmer of the Year, 2009.</a:t>
            </a:r>
          </a:p>
        </p:txBody>
      </p:sp>
      <p:pic>
        <p:nvPicPr>
          <p:cNvPr id="7" name="Picture 6" descr="29071071698724981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Permaculture Lead Teacher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333500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47675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0" i="1">
                <a:solidFill>
                  <a:srgbClr val="F3F1EA"/>
                </a:solidFill>
                <a:latin typeface="EB Garamond"/>
              </a:rPr>
              <a:t>Tommy Tepper · Loida Vasquez · Carla Portugal · Wesley Sanders · Casey Williams · Brian Daubenspeck · Isadora Schmidt · Aysen Ustunay · Dora Tkalec · Gerald Ramirez · Elena Kalli · Ib Borup Pederson · Nick Padwick · Delvin Solkinson</a:t>
            </a:r>
          </a:p>
        </p:txBody>
      </p:sp>
      <p:pic>
        <p:nvPicPr>
          <p:cNvPr id="4" name="Picture 3" descr="td-leaf-sprig-pap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8991600"/>
            <a:ext cx="1619250" cy="2590800"/>
          </a:xfrm>
          <a:prstGeom prst="rect">
            <a:avLst/>
          </a:prstGeom>
        </p:spPr>
      </p:pic>
      <p:pic>
        <p:nvPicPr>
          <p:cNvPr id="5" name="Picture 4" descr="td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750" y="9067225"/>
            <a:ext cx="1619250" cy="2439548"/>
          </a:xfrm>
          <a:prstGeom prst="rect">
            <a:avLst/>
          </a:prstGeom>
        </p:spPr>
      </p:pic>
      <p:pic>
        <p:nvPicPr>
          <p:cNvPr id="6" name="Picture 5" descr="td-tithonia-flow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4603" y="8858250"/>
            <a:ext cx="1493043" cy="2857500"/>
          </a:xfrm>
          <a:prstGeom prst="rect">
            <a:avLst/>
          </a:prstGeom>
        </p:spPr>
      </p:pic>
      <p:pic>
        <p:nvPicPr>
          <p:cNvPr id="7" name="Picture 6" descr="td-dried-flowers-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0" y="9242322"/>
            <a:ext cx="1619250" cy="2089354"/>
          </a:xfrm>
          <a:prstGeom prst="rect">
            <a:avLst/>
          </a:prstGeom>
        </p:spPr>
      </p:pic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